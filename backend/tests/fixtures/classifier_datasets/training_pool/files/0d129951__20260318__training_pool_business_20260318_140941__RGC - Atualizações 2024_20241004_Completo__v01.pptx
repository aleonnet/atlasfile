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tags/tag21.xml" ContentType="application/vnd.openxmlformats-officedocument.presentationml.tags+xml"/>
  <Override PartName="/ppt/notesSlides/notesSlide19.xml" ContentType="application/vnd.openxmlformats-officedocument.presentationml.notesSlide+xml"/>
  <Override PartName="/ppt/tags/tag22.xml" ContentType="application/vnd.openxmlformats-officedocument.presentationml.tags+xml"/>
  <Override PartName="/ppt/notesSlides/notesSlide20.xml" ContentType="application/vnd.openxmlformats-officedocument.presentationml.notesSlide+xml"/>
  <Override PartName="/ppt/tags/tag23.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5"/>
  </p:notesMasterIdLst>
  <p:sldIdLst>
    <p:sldId id="274" r:id="rId3"/>
    <p:sldId id="258" r:id="rId4"/>
    <p:sldId id="281" r:id="rId5"/>
    <p:sldId id="282" r:id="rId6"/>
    <p:sldId id="284" r:id="rId7"/>
    <p:sldId id="288" r:id="rId8"/>
    <p:sldId id="312" r:id="rId9"/>
    <p:sldId id="326" r:id="rId10"/>
    <p:sldId id="321" r:id="rId11"/>
    <p:sldId id="290" r:id="rId12"/>
    <p:sldId id="313" r:id="rId13"/>
    <p:sldId id="297" r:id="rId14"/>
    <p:sldId id="298" r:id="rId15"/>
    <p:sldId id="322" r:id="rId16"/>
    <p:sldId id="285" r:id="rId17"/>
    <p:sldId id="311" r:id="rId18"/>
    <p:sldId id="292" r:id="rId19"/>
    <p:sldId id="317" r:id="rId20"/>
    <p:sldId id="295" r:id="rId21"/>
    <p:sldId id="283" r:id="rId22"/>
    <p:sldId id="280" r:id="rId23"/>
    <p:sldId id="287" r:id="rId2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C9471BFD-B253-4D85-ACC0-B24AAF46BC0C}">
          <p14:sldIdLst>
            <p14:sldId id="274"/>
            <p14:sldId id="258"/>
          </p14:sldIdLst>
        </p14:section>
        <p14:section name="Bruno Macedo" id="{DDBE970E-A902-4E91-8624-44F4719C6895}">
          <p14:sldIdLst>
            <p14:sldId id="281"/>
            <p14:sldId id="282"/>
            <p14:sldId id="284"/>
            <p14:sldId id="288"/>
          </p14:sldIdLst>
        </p14:section>
        <p14:section name="Jomerson" id="{AFD7ACE3-64F4-4AE9-9931-840D876BEC7D}">
          <p14:sldIdLst>
            <p14:sldId id="312"/>
            <p14:sldId id="326"/>
            <p14:sldId id="321"/>
            <p14:sldId id="290"/>
            <p14:sldId id="313"/>
          </p14:sldIdLst>
        </p14:section>
        <p14:section name="Luiz Meira" id="{098A46AB-3B7A-4A28-90DE-51383ECB1A82}">
          <p14:sldIdLst>
            <p14:sldId id="297"/>
            <p14:sldId id="298"/>
            <p14:sldId id="322"/>
            <p14:sldId id="285"/>
          </p14:sldIdLst>
        </p14:section>
        <p14:section name="Luiz Meira e Jomerson" id="{6EA134D9-9E74-436F-B51D-7EC52FEDD142}">
          <p14:sldIdLst>
            <p14:sldId id="311"/>
            <p14:sldId id="292"/>
          </p14:sldIdLst>
        </p14:section>
        <p14:section name="Luiz Meira e Bruno Macedo" id="{862CA0D6-A380-4D18-9886-C145FD1041EC}">
          <p14:sldIdLst>
            <p14:sldId id="317"/>
            <p14:sldId id="295"/>
          </p14:sldIdLst>
        </p14:section>
        <p14:section name="Bruno Macedo e Jomerson" id="{E5397997-8976-4094-8822-B8C0547B0488}">
          <p14:sldIdLst>
            <p14:sldId id="283"/>
            <p14:sldId id="280"/>
            <p14:sldId id="287"/>
          </p14:sldIdLst>
        </p14:section>
      </p14:sectionLst>
    </p:ext>
    <p:ext uri="{EFAFB233-063F-42B5-8137-9DF3F51BA10A}">
      <p15:sldGuideLst xmlns:p15="http://schemas.microsoft.com/office/powerpoint/2012/main">
        <p15:guide id="1" orient="horz" pos="867" userDrawn="1">
          <p15:clr>
            <a:srgbClr val="A4A3A4"/>
          </p15:clr>
        </p15:guide>
        <p15:guide id="2" pos="166" userDrawn="1">
          <p15:clr>
            <a:srgbClr val="A4A3A4"/>
          </p15:clr>
        </p15:guide>
        <p15:guide id="3" pos="7355" userDrawn="1">
          <p15:clr>
            <a:srgbClr val="A4A3A4"/>
          </p15:clr>
        </p15:guide>
        <p15:guide id="4" orient="horz" pos="39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343" autoAdjust="0"/>
  </p:normalViewPr>
  <p:slideViewPr>
    <p:cSldViewPr snapToGrid="0" showGuides="1">
      <p:cViewPr varScale="1">
        <p:scale>
          <a:sx n="73" d="100"/>
          <a:sy n="73" d="100"/>
        </p:scale>
        <p:origin x="558" y="72"/>
      </p:cViewPr>
      <p:guideLst>
        <p:guide orient="horz" pos="867"/>
        <p:guide pos="166"/>
        <p:guide pos="7355"/>
        <p:guide orient="horz" pos="3929"/>
      </p:guideLst>
    </p:cSldViewPr>
  </p:slideViewPr>
  <p:outlineViewPr>
    <p:cViewPr>
      <p:scale>
        <a:sx n="33" d="100"/>
        <a:sy n="33" d="100"/>
      </p:scale>
      <p:origin x="0" y="-864"/>
    </p:cViewPr>
  </p:outlineViewPr>
  <p:notesTextViewPr>
    <p:cViewPr>
      <p:scale>
        <a:sx n="3" d="2"/>
        <a:sy n="3" d="2"/>
      </p:scale>
      <p:origin x="0" y="0"/>
    </p:cViewPr>
  </p:notesTextViewPr>
  <p:sorterViewPr>
    <p:cViewPr>
      <p:scale>
        <a:sx n="125" d="100"/>
        <a:sy n="125" d="100"/>
      </p:scale>
      <p:origin x="0" y="-2782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AF81D-9ABB-4A6F-82F0-D375780ED444}" type="datetimeFigureOut">
              <a:rPr lang="pt-BR" smtClean="0"/>
              <a:t>04/10/2024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8E1D1-07EA-4006-B1DC-0E91B7002003}" type="slidenum">
              <a:rPr lang="pt-BR" smtClean="0"/>
              <a:t>‹nº›</a:t>
            </a:fld>
            <a:endParaRPr lang="pt-BR"/>
          </a:p>
        </p:txBody>
      </p:sp>
    </p:spTree>
    <p:extLst>
      <p:ext uri="{BB962C8B-B14F-4D97-AF65-F5344CB8AC3E}">
        <p14:creationId xmlns:p14="http://schemas.microsoft.com/office/powerpoint/2010/main" val="1578671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989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533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000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6552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6841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5146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8834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51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591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9938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0927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6946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6844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2015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22732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3670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2595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3112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6123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3405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C4B28-DC12-440E-BAC1-55D94911DDEE}"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3047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95097274-ADBA-41E3-B877-6EDAC583907C}" type="datetimeFigureOut">
              <a:rPr lang="pt-BR" smtClean="0"/>
              <a:t>04/10/2024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419132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95097274-ADBA-41E3-B877-6EDAC583907C}" type="datetimeFigureOut">
              <a:rPr lang="pt-BR" smtClean="0"/>
              <a:t>04/10/2024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122744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Editar estilos de texto Mestre</a:t>
            </a:r>
          </a:p>
        </p:txBody>
      </p:sp>
      <p:sp>
        <p:nvSpPr>
          <p:cNvPr id="4" name="Espaço Reservado para Data 3"/>
          <p:cNvSpPr>
            <a:spLocks noGrp="1"/>
          </p:cNvSpPr>
          <p:nvPr>
            <p:ph type="dt" sz="half" idx="10"/>
          </p:nvPr>
        </p:nvSpPr>
        <p:spPr/>
        <p:txBody>
          <a:bodyPr/>
          <a:lstStyle/>
          <a:p>
            <a:fld id="{95097274-ADBA-41E3-B877-6EDAC583907C}" type="datetimeFigureOut">
              <a:rPr lang="pt-BR" smtClean="0"/>
              <a:t>04/10/2024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869502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95097274-ADBA-41E3-B877-6EDAC583907C}" type="datetimeFigureOut">
              <a:rPr lang="pt-BR" smtClean="0"/>
              <a:t>04/10/2024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3382914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95097274-ADBA-41E3-B877-6EDAC583907C}" type="datetimeFigureOut">
              <a:rPr lang="pt-BR" smtClean="0"/>
              <a:t>04/10/2024</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346824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95097274-ADBA-41E3-B877-6EDAC583907C}" type="datetimeFigureOut">
              <a:rPr lang="pt-BR" smtClean="0"/>
              <a:t>04/10/2024</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302988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5097274-ADBA-41E3-B877-6EDAC583907C}" type="datetimeFigureOut">
              <a:rPr lang="pt-BR" smtClean="0"/>
              <a:t>04/10/2024</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4035496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95097274-ADBA-41E3-B877-6EDAC583907C}" type="datetimeFigureOut">
              <a:rPr lang="pt-BR" smtClean="0"/>
              <a:t>04/10/2024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3509306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95097274-ADBA-41E3-B877-6EDAC583907C}" type="datetimeFigureOut">
              <a:rPr lang="pt-BR" smtClean="0"/>
              <a:t>04/10/2024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1731481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95097274-ADBA-41E3-B877-6EDAC583907C}" type="datetimeFigureOut">
              <a:rPr lang="pt-BR" smtClean="0"/>
              <a:t>04/10/2024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330603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95097274-ADBA-41E3-B877-6EDAC583907C}" type="datetimeFigureOut">
              <a:rPr lang="pt-BR" smtClean="0"/>
              <a:t>04/10/2024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3A94D5D8-03B3-45F0-9A6B-E1FA9F4654E0}" type="slidenum">
              <a:rPr lang="pt-BR" smtClean="0"/>
              <a:t>‹nº›</a:t>
            </a:fld>
            <a:endParaRPr lang="pt-BR"/>
          </a:p>
        </p:txBody>
      </p:sp>
    </p:spTree>
    <p:extLst>
      <p:ext uri="{BB962C8B-B14F-4D97-AF65-F5344CB8AC3E}">
        <p14:creationId xmlns:p14="http://schemas.microsoft.com/office/powerpoint/2010/main" val="2327612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23703725-6BA6-43C9-998A-14C5F26CD58A}"/>
              </a:ext>
            </a:extLst>
          </p:cNvPr>
          <p:cNvGraphicFramePr>
            <a:graphicFrameLocks noChangeAspect="1"/>
          </p:cNvGraphicFramePr>
          <p:nvPr userDrawn="1">
            <p:custDataLst>
              <p:tags r:id="rId2"/>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spid="_x0000_s1220" name="think-cell Slide" r:id="rId5" imgW="471" imgH="472" progId="TCLayout.ActiveDocument.1">
                  <p:embed/>
                </p:oleObj>
              </mc:Choice>
              <mc:Fallback>
                <p:oleObj name="think-cell Slide" r:id="rId5" imgW="471" imgH="472" progId="TCLayout.ActiveDocument.1">
                  <p:embed/>
                  <p:pic>
                    <p:nvPicPr>
                      <p:cNvPr id="13" name="Object 12" hidden="1">
                        <a:extLst>
                          <a:ext uri="{FF2B5EF4-FFF2-40B4-BE49-F238E27FC236}">
                            <a16:creationId xmlns:a16="http://schemas.microsoft.com/office/drawing/2014/main" id="{23703725-6BA6-43C9-998A-14C5F26CD58A}"/>
                          </a:ext>
                        </a:extLst>
                      </p:cNvPr>
                      <p:cNvPicPr/>
                      <p:nvPr/>
                    </p:nvPicPr>
                    <p:blipFill>
                      <a:blip r:embed="rId6"/>
                      <a:stretch>
                        <a:fillRect/>
                      </a:stretch>
                    </p:blipFill>
                    <p:spPr>
                      <a:xfrm>
                        <a:off x="2119" y="2119"/>
                        <a:ext cx="2117" cy="2117"/>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D4B05918-B8A3-4901-8FFA-375243ECF7A5}"/>
              </a:ext>
            </a:extLst>
          </p:cNvPr>
          <p:cNvSpPr/>
          <p:nvPr userDrawn="1">
            <p:custDataLst>
              <p:tags r:id="rId3"/>
            </p:custDataLst>
          </p:nvPr>
        </p:nvSpPr>
        <p:spPr>
          <a:xfrm>
            <a:off x="1" y="1"/>
            <a:ext cx="211667" cy="211667"/>
          </a:xfrm>
          <a:prstGeom prst="rect">
            <a:avLst/>
          </a:prstGeom>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lvl="0" indent="0" algn="ctr" rtl="0"/>
            <a:endParaRPr lang="pt-BR" sz="3200" b="0" i="0" baseline="0">
              <a:latin typeface="Simplon Oi Headline" pitchFamily="2" charset="0"/>
              <a:ea typeface="ＭＳ Ｐゴシック" panose="020B0600070205080204" pitchFamily="34" charset="-128"/>
              <a:sym typeface="Simplon Oi Headline" pitchFamily="2" charset="0"/>
            </a:endParaRPr>
          </a:p>
        </p:txBody>
      </p:sp>
      <p:sp>
        <p:nvSpPr>
          <p:cNvPr id="2" name="Title 1"/>
          <p:cNvSpPr>
            <a:spLocks noGrp="1"/>
          </p:cNvSpPr>
          <p:nvPr>
            <p:ph type="title"/>
          </p:nvPr>
        </p:nvSpPr>
        <p:spPr>
          <a:xfrm>
            <a:off x="156477" y="153360"/>
            <a:ext cx="11883123" cy="696581"/>
          </a:xfrm>
        </p:spPr>
        <p:txBody>
          <a:bodyPr vert="horz" lIns="0" tIns="0" rIns="0" bIns="0" anchor="ctr">
            <a:noAutofit/>
          </a:bodyPr>
          <a:lstStyle>
            <a:lvl1pPr algn="l" rtl="0">
              <a:defRPr kumimoji="0" lang="pt-BR" sz="3200" b="0" i="0" u="none" strike="noStrike" cap="none" spc="-133" normalizeH="0" baseline="0">
                <a:ln>
                  <a:noFill/>
                </a:ln>
                <a:solidFill>
                  <a:schemeClr val="tx1"/>
                </a:solidFill>
                <a:effectLst/>
                <a:uLnTx/>
                <a:uFillTx/>
                <a:latin typeface="Simplon Oi Headline"/>
                <a:ea typeface="ＭＳ Ｐゴシック" charset="0"/>
                <a:cs typeface="Simplon Oi Headline"/>
              </a:defRPr>
            </a:lvl1pPr>
          </a:lstStyle>
          <a:p>
            <a:pPr marL="0" marR="0" lvl="0" indent="0" algn="l" fontAlgn="auto">
              <a:lnSpc>
                <a:spcPts val="4800"/>
              </a:lnSpc>
              <a:spcAft>
                <a:spcPts val="0"/>
              </a:spcAft>
              <a:buClrTx/>
              <a:buSzTx/>
              <a:buFontTx/>
              <a:tabLst/>
            </a:pPr>
            <a:r>
              <a:rPr lang="pt-BR"/>
              <a:t>Click to edit Master title style</a:t>
            </a:r>
          </a:p>
        </p:txBody>
      </p:sp>
      <p:sp>
        <p:nvSpPr>
          <p:cNvPr id="6" name="Slide Number Placeholder 5">
            <a:extLst>
              <a:ext uri="{FF2B5EF4-FFF2-40B4-BE49-F238E27FC236}">
                <a16:creationId xmlns:a16="http://schemas.microsoft.com/office/drawing/2014/main" id="{1F52DD1F-6D83-4BE6-BA0F-22D9F7875FA8}"/>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rtl="0">
              <a:defRPr sz="1200">
                <a:solidFill>
                  <a:schemeClr val="tx1">
                    <a:tint val="75000"/>
                  </a:schemeClr>
                </a:solidFill>
              </a:defRPr>
            </a:lvl1pPr>
          </a:lstStyle>
          <a:p>
            <a:fld id="{CD705563-861B-4B86-BD72-951609E46B64}" type="slidenum">
              <a:rPr lang="pt-BR" smtClean="0"/>
              <a:pPr/>
              <a:t>‹nº›</a:t>
            </a:fld>
            <a:endParaRPr lang="pt-BR"/>
          </a:p>
        </p:txBody>
      </p:sp>
    </p:spTree>
    <p:extLst>
      <p:ext uri="{BB962C8B-B14F-4D97-AF65-F5344CB8AC3E}">
        <p14:creationId xmlns:p14="http://schemas.microsoft.com/office/powerpoint/2010/main" val="218516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_Slide de Título" preserve="1">
  <p:cSld name="16_Slide de Título">
    <p:spTree>
      <p:nvGrpSpPr>
        <p:cNvPr id="1" name="Shape 10"/>
        <p:cNvGrpSpPr/>
        <p:nvPr/>
      </p:nvGrpSpPr>
      <p:grpSpPr>
        <a:xfrm>
          <a:off x="0" y="0"/>
          <a:ext cx="0" cy="0"/>
          <a:chOff x="0" y="0"/>
          <a:chExt cx="0" cy="0"/>
        </a:xfrm>
      </p:grpSpPr>
      <p:grpSp>
        <p:nvGrpSpPr>
          <p:cNvPr id="12" name="Google Shape;12;p20"/>
          <p:cNvGrpSpPr/>
          <p:nvPr/>
        </p:nvGrpSpPr>
        <p:grpSpPr>
          <a:xfrm>
            <a:off x="8797290" y="6001216"/>
            <a:ext cx="3081580" cy="753914"/>
            <a:chOff x="8797290" y="6001216"/>
            <a:chExt cx="3081580" cy="753914"/>
          </a:xfrm>
        </p:grpSpPr>
        <p:cxnSp>
          <p:nvCxnSpPr>
            <p:cNvPr id="13" name="Google Shape;13;p20"/>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14" name="Google Shape;14;p20"/>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15" name="Google Shape;15;p20"/>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16" name="Google Shape;16;p20"/>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17" name="Google Shape;17;p20"/>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18" name="Google Shape;18;p20"/>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9" name="Google Shape;19;p20"/>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0" name="Google Shape;20;p20"/>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1" name="Google Shape;21;p20"/>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2" name="Google Shape;22;p20"/>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3" name="Google Shape;23;p20"/>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 name="Google Shape;24;p20"/>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 name="Google Shape;25;p20"/>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6" name="Google Shape;26;p20"/>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7" name="Google Shape;27;p20"/>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 name="Google Shape;28;p20"/>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9" name="Google Shape;29;p20"/>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 name="Google Shape;30;p20"/>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 name="Google Shape;31;p20"/>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2" name="Google Shape;32;p20"/>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 name="Google Shape;33;p20"/>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34" name="Google Shape;34;p20"/>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35" name="Google Shape;35;p20"/>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36" name="Google Shape;36;p20"/>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37" name="Google Shape;37;p20"/>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43" name="Google Shape;68;p21">
            <a:extLst>
              <a:ext uri="{FF2B5EF4-FFF2-40B4-BE49-F238E27FC236}">
                <a16:creationId xmlns:a16="http://schemas.microsoft.com/office/drawing/2014/main" id="{2614AF7A-99D4-4B49-BC50-B79F952D186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7976912" y="-198214"/>
            <a:ext cx="4684105" cy="4684105"/>
          </a:xfrm>
          <a:prstGeom prst="rect">
            <a:avLst/>
          </a:prstGeom>
          <a:noFill/>
          <a:ln>
            <a:noFill/>
          </a:ln>
        </p:spPr>
      </p:pic>
    </p:spTree>
    <p:extLst>
      <p:ext uri="{BB962C8B-B14F-4D97-AF65-F5344CB8AC3E}">
        <p14:creationId xmlns:p14="http://schemas.microsoft.com/office/powerpoint/2010/main" val="2138114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_Slide de Título" preserve="1">
  <p:cSld name="17_Slide de Título">
    <p:spTree>
      <p:nvGrpSpPr>
        <p:cNvPr id="1" name="Shape 40"/>
        <p:cNvGrpSpPr/>
        <p:nvPr/>
      </p:nvGrpSpPr>
      <p:grpSpPr>
        <a:xfrm>
          <a:off x="0" y="0"/>
          <a:ext cx="0" cy="0"/>
          <a:chOff x="0" y="0"/>
          <a:chExt cx="0" cy="0"/>
        </a:xfrm>
      </p:grpSpPr>
      <p:grpSp>
        <p:nvGrpSpPr>
          <p:cNvPr id="42" name="Google Shape;42;p21"/>
          <p:cNvGrpSpPr/>
          <p:nvPr/>
        </p:nvGrpSpPr>
        <p:grpSpPr>
          <a:xfrm>
            <a:off x="8797290" y="6001216"/>
            <a:ext cx="3081580" cy="753914"/>
            <a:chOff x="8797290" y="6001216"/>
            <a:chExt cx="3081580" cy="753914"/>
          </a:xfrm>
        </p:grpSpPr>
        <p:cxnSp>
          <p:nvCxnSpPr>
            <p:cNvPr id="43" name="Google Shape;43;p21"/>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44" name="Google Shape;44;p21"/>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45" name="Google Shape;45;p21"/>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46" name="Google Shape;46;p21"/>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47" name="Google Shape;47;p21"/>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48" name="Google Shape;48;p21"/>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9" name="Google Shape;49;p21"/>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0" name="Google Shape;50;p21"/>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1" name="Google Shape;51;p21"/>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2" name="Google Shape;52;p21"/>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3" name="Google Shape;53;p21"/>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4" name="Google Shape;54;p21"/>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5" name="Google Shape;55;p21"/>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6" name="Google Shape;56;p21"/>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7" name="Google Shape;57;p21"/>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8" name="Google Shape;58;p21"/>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59" name="Google Shape;59;p21"/>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60" name="Google Shape;60;p21"/>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61" name="Google Shape;61;p21"/>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62" name="Google Shape;62;p21"/>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63" name="Google Shape;63;p21"/>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64" name="Google Shape;64;p21"/>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65" name="Google Shape;65;p21"/>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66" name="Google Shape;66;p21"/>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67" name="Google Shape;67;p21"/>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68" name="Google Shape;68;p21"/>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976912" y="-198214"/>
            <a:ext cx="4684105" cy="4684105"/>
          </a:xfrm>
          <a:prstGeom prst="rect">
            <a:avLst/>
          </a:prstGeom>
          <a:noFill/>
          <a:ln>
            <a:noFill/>
          </a:ln>
        </p:spPr>
      </p:pic>
    </p:spTree>
    <p:extLst>
      <p:ext uri="{BB962C8B-B14F-4D97-AF65-F5344CB8AC3E}">
        <p14:creationId xmlns:p14="http://schemas.microsoft.com/office/powerpoint/2010/main" val="2576090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_Slide de Título" preserve="1">
  <p:cSld name="17_Slide de Título">
    <p:spTree>
      <p:nvGrpSpPr>
        <p:cNvPr id="1" name="Shape 40"/>
        <p:cNvGrpSpPr/>
        <p:nvPr/>
      </p:nvGrpSpPr>
      <p:grpSpPr>
        <a:xfrm>
          <a:off x="0" y="0"/>
          <a:ext cx="0" cy="0"/>
          <a:chOff x="0" y="0"/>
          <a:chExt cx="0" cy="0"/>
        </a:xfrm>
      </p:grpSpPr>
      <p:sp>
        <p:nvSpPr>
          <p:cNvPr id="33" name="Rectangle 32">
            <a:extLst>
              <a:ext uri="{FF2B5EF4-FFF2-40B4-BE49-F238E27FC236}">
                <a16:creationId xmlns:a16="http://schemas.microsoft.com/office/drawing/2014/main" id="{69E83F73-3FF0-C94A-AA5D-FB1EB2320D91}"/>
              </a:ext>
            </a:extLst>
          </p:cNvPr>
          <p:cNvSpPr/>
          <p:nvPr userDrawn="1"/>
        </p:nvSpPr>
        <p:spPr>
          <a:xfrm flipH="1">
            <a:off x="0" y="0"/>
            <a:ext cx="748197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22A200F-C0C4-9B49-B9B7-65A5078D6E6B}"/>
              </a:ext>
            </a:extLst>
          </p:cNvPr>
          <p:cNvSpPr/>
          <p:nvPr userDrawn="1"/>
        </p:nvSpPr>
        <p:spPr>
          <a:xfrm flipV="1">
            <a:off x="1031769" y="6132114"/>
            <a:ext cx="3600000" cy="18000"/>
          </a:xfrm>
          <a:prstGeom prst="rect">
            <a:avLst/>
          </a:prstGeom>
          <a:solidFill>
            <a:schemeClr val="tx2"/>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844607B-58CA-534A-87D1-4F0838525DBB}"/>
              </a:ext>
            </a:extLst>
          </p:cNvPr>
          <p:cNvSpPr/>
          <p:nvPr userDrawn="1"/>
        </p:nvSpPr>
        <p:spPr>
          <a:xfrm>
            <a:off x="339306" y="1155941"/>
            <a:ext cx="5250611" cy="6671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2499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6_Slide de Título" preserve="1">
  <p:cSld name="17_Slide de Título">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2870073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de Título">
  <p:cSld name="Slide de Título">
    <p:spTree>
      <p:nvGrpSpPr>
        <p:cNvPr id="1" name="Shape 220"/>
        <p:cNvGrpSpPr/>
        <p:nvPr/>
      </p:nvGrpSpPr>
      <p:grpSpPr>
        <a:xfrm>
          <a:off x="0" y="0"/>
          <a:ext cx="0" cy="0"/>
          <a:chOff x="0" y="0"/>
          <a:chExt cx="0" cy="0"/>
        </a:xfrm>
      </p:grpSpPr>
      <p:pic>
        <p:nvPicPr>
          <p:cNvPr id="221" name="Google Shape;221;p29"/>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1092760" y="-71537"/>
            <a:ext cx="1121337" cy="1121337"/>
          </a:xfrm>
          <a:prstGeom prst="rect">
            <a:avLst/>
          </a:prstGeom>
          <a:noFill/>
          <a:ln>
            <a:noFill/>
          </a:ln>
        </p:spPr>
      </p:pic>
      <p:sp>
        <p:nvSpPr>
          <p:cNvPr id="3" name="Retângulo 2"/>
          <p:cNvSpPr/>
          <p:nvPr userDrawn="1"/>
        </p:nvSpPr>
        <p:spPr>
          <a:xfrm>
            <a:off x="0" y="-100"/>
            <a:ext cx="1919115" cy="246221"/>
          </a:xfrm>
          <a:prstGeom prst="rect">
            <a:avLst/>
          </a:prstGeom>
        </p:spPr>
        <p:txBody>
          <a:bodyPr wrap="none">
            <a:spAutoFit/>
          </a:bodyPr>
          <a:lstStyle/>
          <a:p>
            <a:r>
              <a:rPr lang="pt-BR" sz="1000" dirty="0">
                <a:solidFill>
                  <a:schemeClr val="bg2">
                    <a:lumMod val="50000"/>
                    <a:lumOff val="50000"/>
                  </a:schemeClr>
                </a:solidFill>
                <a:latin typeface="Simplon BP Light" pitchFamily="2" charset="0"/>
              </a:rPr>
              <a:t>NOVO RGC: Resolução 765/2023 </a:t>
            </a:r>
            <a:endParaRPr lang="pt-BR" sz="1000" dirty="0">
              <a:solidFill>
                <a:schemeClr val="bg2">
                  <a:lumMod val="50000"/>
                  <a:lumOff val="50000"/>
                </a:schemeClr>
              </a:solidFill>
            </a:endParaRPr>
          </a:p>
        </p:txBody>
      </p:sp>
    </p:spTree>
    <p:extLst>
      <p:ext uri="{BB962C8B-B14F-4D97-AF65-F5344CB8AC3E}">
        <p14:creationId xmlns:p14="http://schemas.microsoft.com/office/powerpoint/2010/main" val="1366620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6_Slide de Título">
  <p:cSld name="17_Slide de Título">
    <p:spTree>
      <p:nvGrpSpPr>
        <p:cNvPr id="1" name="Shape 234"/>
        <p:cNvGrpSpPr/>
        <p:nvPr/>
      </p:nvGrpSpPr>
      <p:grpSpPr>
        <a:xfrm>
          <a:off x="0" y="0"/>
          <a:ext cx="0" cy="0"/>
          <a:chOff x="0" y="0"/>
          <a:chExt cx="0" cy="0"/>
        </a:xfrm>
      </p:grpSpPr>
      <p:grpSp>
        <p:nvGrpSpPr>
          <p:cNvPr id="236" name="Google Shape;236;p35"/>
          <p:cNvGrpSpPr/>
          <p:nvPr/>
        </p:nvGrpSpPr>
        <p:grpSpPr>
          <a:xfrm>
            <a:off x="8797290" y="6001216"/>
            <a:ext cx="3081580" cy="753914"/>
            <a:chOff x="8797290" y="6001216"/>
            <a:chExt cx="3081580" cy="753914"/>
          </a:xfrm>
        </p:grpSpPr>
        <p:cxnSp>
          <p:nvCxnSpPr>
            <p:cNvPr id="237" name="Google Shape;237;p35"/>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238" name="Google Shape;238;p35"/>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239" name="Google Shape;239;p35"/>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240" name="Google Shape;240;p35"/>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241" name="Google Shape;241;p35"/>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242" name="Google Shape;242;p35"/>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3" name="Google Shape;243;p35"/>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4" name="Google Shape;244;p35"/>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5" name="Google Shape;245;p35"/>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6" name="Google Shape;246;p35"/>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7" name="Google Shape;247;p35"/>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8" name="Google Shape;248;p35"/>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9" name="Google Shape;249;p35"/>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0" name="Google Shape;250;p35"/>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1" name="Google Shape;251;p35"/>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2" name="Google Shape;252;p35"/>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3" name="Google Shape;253;p35"/>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4" name="Google Shape;254;p35"/>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5" name="Google Shape;255;p35"/>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6" name="Google Shape;256;p35"/>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57" name="Google Shape;257;p35"/>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258" name="Google Shape;258;p35"/>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259" name="Google Shape;259;p35"/>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260" name="Google Shape;260;p35"/>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261" name="Google Shape;261;p35"/>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262" name="Google Shape;262;p3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826059" y="919308"/>
            <a:ext cx="4684105" cy="4684105"/>
          </a:xfrm>
          <a:prstGeom prst="rect">
            <a:avLst/>
          </a:prstGeom>
          <a:noFill/>
          <a:ln>
            <a:noFill/>
          </a:ln>
        </p:spPr>
      </p:pic>
      <p:sp>
        <p:nvSpPr>
          <p:cNvPr id="263" name="Google Shape;263;p35"/>
          <p:cNvSpPr/>
          <p:nvPr/>
        </p:nvSpPr>
        <p:spPr>
          <a:xfrm>
            <a:off x="1178560" y="4356100"/>
            <a:ext cx="2621274" cy="195580"/>
          </a:xfrm>
          <a:prstGeom prst="round2SameRect">
            <a:avLst>
              <a:gd name="adj1" fmla="val 0"/>
              <a:gd name="adj2" fmla="val 16418"/>
            </a:avLst>
          </a:prstGeom>
          <a:gradFill>
            <a:gsLst>
              <a:gs pos="0">
                <a:srgbClr val="ECE425"/>
              </a:gs>
              <a:gs pos="95000">
                <a:srgbClr val="56B14B"/>
              </a:gs>
              <a:gs pos="100000">
                <a:srgbClr val="56B14B"/>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880733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6_Slide de Título">
  <p:cSld name="17_Slide de Título">
    <p:spTree>
      <p:nvGrpSpPr>
        <p:cNvPr id="1" name="Shape 264"/>
        <p:cNvGrpSpPr/>
        <p:nvPr/>
      </p:nvGrpSpPr>
      <p:grpSpPr>
        <a:xfrm>
          <a:off x="0" y="0"/>
          <a:ext cx="0" cy="0"/>
          <a:chOff x="0" y="0"/>
          <a:chExt cx="0" cy="0"/>
        </a:xfrm>
      </p:grpSpPr>
      <p:pic>
        <p:nvPicPr>
          <p:cNvPr id="266" name="Google Shape;266;p36" descr="Logotipo, Ícone&#10;&#10;Descrição gerada automaticamente"/>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826059" y="919308"/>
            <a:ext cx="4684105" cy="4684105"/>
          </a:xfrm>
          <a:prstGeom prst="rect">
            <a:avLst/>
          </a:prstGeom>
          <a:noFill/>
          <a:ln>
            <a:noFill/>
          </a:ln>
        </p:spPr>
      </p:pic>
      <p:sp>
        <p:nvSpPr>
          <p:cNvPr id="267" name="Google Shape;267;p36"/>
          <p:cNvSpPr/>
          <p:nvPr/>
        </p:nvSpPr>
        <p:spPr>
          <a:xfrm>
            <a:off x="1178560" y="4356100"/>
            <a:ext cx="2621274" cy="195580"/>
          </a:xfrm>
          <a:prstGeom prst="round2SameRect">
            <a:avLst>
              <a:gd name="adj1" fmla="val 0"/>
              <a:gd name="adj2" fmla="val 16418"/>
            </a:avLst>
          </a:prstGeom>
          <a:gradFill>
            <a:gsLst>
              <a:gs pos="0">
                <a:srgbClr val="ECE425"/>
              </a:gs>
              <a:gs pos="95000">
                <a:srgbClr val="56B14B"/>
              </a:gs>
              <a:gs pos="100000">
                <a:srgbClr val="56B14B"/>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268" name="Google Shape;268;p36"/>
          <p:cNvGrpSpPr/>
          <p:nvPr/>
        </p:nvGrpSpPr>
        <p:grpSpPr>
          <a:xfrm>
            <a:off x="8797290" y="6001216"/>
            <a:ext cx="3081580" cy="753914"/>
            <a:chOff x="8797290" y="6001216"/>
            <a:chExt cx="3081580" cy="753914"/>
          </a:xfrm>
        </p:grpSpPr>
        <p:cxnSp>
          <p:nvCxnSpPr>
            <p:cNvPr id="269" name="Google Shape;269;p36"/>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270" name="Google Shape;270;p36"/>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271" name="Google Shape;271;p36"/>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272" name="Google Shape;272;p36"/>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273" name="Google Shape;273;p36"/>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274" name="Google Shape;274;p36"/>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75" name="Google Shape;275;p36"/>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76" name="Google Shape;276;p36"/>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77" name="Google Shape;277;p36"/>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78" name="Google Shape;278;p36"/>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79" name="Google Shape;279;p36"/>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0" name="Google Shape;280;p36"/>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1" name="Google Shape;281;p36"/>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2" name="Google Shape;282;p36"/>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3" name="Google Shape;283;p36"/>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4" name="Google Shape;284;p36"/>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5" name="Google Shape;285;p36"/>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6" name="Google Shape;286;p36"/>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7" name="Google Shape;287;p36"/>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8" name="Google Shape;288;p36"/>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89" name="Google Shape;289;p36"/>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290" name="Google Shape;290;p36"/>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291" name="Google Shape;291;p36"/>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292" name="Google Shape;292;p36"/>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293" name="Google Shape;293;p36"/>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spTree>
    <p:extLst>
      <p:ext uri="{BB962C8B-B14F-4D97-AF65-F5344CB8AC3E}">
        <p14:creationId xmlns:p14="http://schemas.microsoft.com/office/powerpoint/2010/main" val="653255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6_Slide de Título">
  <p:cSld name="17_Slide de Título">
    <p:spTree>
      <p:nvGrpSpPr>
        <p:cNvPr id="1" name="Shape 294"/>
        <p:cNvGrpSpPr/>
        <p:nvPr/>
      </p:nvGrpSpPr>
      <p:grpSpPr>
        <a:xfrm>
          <a:off x="0" y="0"/>
          <a:ext cx="0" cy="0"/>
          <a:chOff x="0" y="0"/>
          <a:chExt cx="0" cy="0"/>
        </a:xfrm>
      </p:grpSpPr>
      <p:grpSp>
        <p:nvGrpSpPr>
          <p:cNvPr id="296" name="Google Shape;296;p37"/>
          <p:cNvGrpSpPr/>
          <p:nvPr/>
        </p:nvGrpSpPr>
        <p:grpSpPr>
          <a:xfrm>
            <a:off x="8797290" y="6001216"/>
            <a:ext cx="3081580" cy="753914"/>
            <a:chOff x="8797290" y="6001216"/>
            <a:chExt cx="3081580" cy="753914"/>
          </a:xfrm>
        </p:grpSpPr>
        <p:cxnSp>
          <p:nvCxnSpPr>
            <p:cNvPr id="297" name="Google Shape;297;p37"/>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298" name="Google Shape;298;p37"/>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299" name="Google Shape;299;p37"/>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300" name="Google Shape;300;p37"/>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301" name="Google Shape;301;p37"/>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302" name="Google Shape;302;p37"/>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3" name="Google Shape;303;p37"/>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4" name="Google Shape;304;p37"/>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5" name="Google Shape;305;p37"/>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6" name="Google Shape;306;p37"/>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7" name="Google Shape;307;p37"/>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8" name="Google Shape;308;p37"/>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09" name="Google Shape;309;p37"/>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0" name="Google Shape;310;p37"/>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1" name="Google Shape;311;p37"/>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2" name="Google Shape;312;p37"/>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3" name="Google Shape;313;p37"/>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4" name="Google Shape;314;p37"/>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5" name="Google Shape;315;p37"/>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6" name="Google Shape;316;p37"/>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17" name="Google Shape;317;p37"/>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318" name="Google Shape;318;p37"/>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319" name="Google Shape;319;p37"/>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320" name="Google Shape;320;p37"/>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321" name="Google Shape;321;p37"/>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322" name="Google Shape;322;p37"/>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826059" y="919308"/>
            <a:ext cx="4684105" cy="4684105"/>
          </a:xfrm>
          <a:prstGeom prst="rect">
            <a:avLst/>
          </a:prstGeom>
          <a:noFill/>
          <a:ln>
            <a:noFill/>
          </a:ln>
        </p:spPr>
      </p:pic>
      <p:sp>
        <p:nvSpPr>
          <p:cNvPr id="323" name="Google Shape;323;p37"/>
          <p:cNvSpPr/>
          <p:nvPr/>
        </p:nvSpPr>
        <p:spPr>
          <a:xfrm>
            <a:off x="1178560" y="4356100"/>
            <a:ext cx="2621274" cy="195580"/>
          </a:xfrm>
          <a:prstGeom prst="round2SameRect">
            <a:avLst>
              <a:gd name="adj1" fmla="val 0"/>
              <a:gd name="adj2" fmla="val 16418"/>
            </a:avLst>
          </a:prstGeom>
          <a:gradFill>
            <a:gsLst>
              <a:gs pos="0">
                <a:srgbClr val="ECE425"/>
              </a:gs>
              <a:gs pos="95000">
                <a:srgbClr val="56B14B"/>
              </a:gs>
              <a:gs pos="100000">
                <a:srgbClr val="56B14B"/>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205097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6_Slide de Título">
  <p:cSld name="17_Slide de Título">
    <p:spTree>
      <p:nvGrpSpPr>
        <p:cNvPr id="1" name="Shape 324"/>
        <p:cNvGrpSpPr/>
        <p:nvPr/>
      </p:nvGrpSpPr>
      <p:grpSpPr>
        <a:xfrm>
          <a:off x="0" y="0"/>
          <a:ext cx="0" cy="0"/>
          <a:chOff x="0" y="0"/>
          <a:chExt cx="0" cy="0"/>
        </a:xfrm>
      </p:grpSpPr>
      <p:grpSp>
        <p:nvGrpSpPr>
          <p:cNvPr id="326" name="Google Shape;326;p38"/>
          <p:cNvGrpSpPr/>
          <p:nvPr/>
        </p:nvGrpSpPr>
        <p:grpSpPr>
          <a:xfrm>
            <a:off x="8797290" y="6001216"/>
            <a:ext cx="3081580" cy="753914"/>
            <a:chOff x="8797290" y="6001216"/>
            <a:chExt cx="3081580" cy="753914"/>
          </a:xfrm>
        </p:grpSpPr>
        <p:cxnSp>
          <p:nvCxnSpPr>
            <p:cNvPr id="327" name="Google Shape;327;p38"/>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328" name="Google Shape;328;p38"/>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329" name="Google Shape;329;p38"/>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330" name="Google Shape;330;p38"/>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331" name="Google Shape;331;p38"/>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332" name="Google Shape;332;p38"/>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3" name="Google Shape;333;p38"/>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4" name="Google Shape;334;p38"/>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5" name="Google Shape;335;p38"/>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6" name="Google Shape;336;p38"/>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7" name="Google Shape;337;p38"/>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8" name="Google Shape;338;p38"/>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39" name="Google Shape;339;p38"/>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0" name="Google Shape;340;p38"/>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1" name="Google Shape;341;p38"/>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2" name="Google Shape;342;p38"/>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3" name="Google Shape;343;p38"/>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4" name="Google Shape;344;p38"/>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5" name="Google Shape;345;p38"/>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6" name="Google Shape;346;p38"/>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47" name="Google Shape;347;p38"/>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348" name="Google Shape;348;p38"/>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349" name="Google Shape;349;p38"/>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350" name="Google Shape;350;p38"/>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351" name="Google Shape;351;p38"/>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352" name="Google Shape;352;p38"/>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826059" y="919308"/>
            <a:ext cx="4684105" cy="4684105"/>
          </a:xfrm>
          <a:prstGeom prst="rect">
            <a:avLst/>
          </a:prstGeom>
          <a:noFill/>
          <a:ln>
            <a:noFill/>
          </a:ln>
        </p:spPr>
      </p:pic>
      <p:sp>
        <p:nvSpPr>
          <p:cNvPr id="2" name="Rectangle 1">
            <a:extLst>
              <a:ext uri="{FF2B5EF4-FFF2-40B4-BE49-F238E27FC236}">
                <a16:creationId xmlns:a16="http://schemas.microsoft.com/office/drawing/2014/main" id="{2FF38065-2E1F-864E-9EDB-1814DC39BA53}"/>
              </a:ext>
            </a:extLst>
          </p:cNvPr>
          <p:cNvSpPr/>
          <p:nvPr userDrawn="1"/>
        </p:nvSpPr>
        <p:spPr>
          <a:xfrm>
            <a:off x="1178560" y="4275587"/>
            <a:ext cx="2621274" cy="195580"/>
          </a:xfrm>
          <a:prstGeom prst="rect">
            <a:avLst/>
          </a:prstGeom>
          <a:gradFill>
            <a:gsLst>
              <a:gs pos="0">
                <a:schemeClr val="accent4"/>
              </a:gs>
              <a:gs pos="70000">
                <a:schemeClr val="accent1"/>
              </a:gs>
              <a:gs pos="100000">
                <a:schemeClr val="accent1"/>
              </a:gs>
            </a:gsLst>
            <a:lin ang="2700000" scaled="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23349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6_Slide de Título">
  <p:cSld name="17_Slide de Título">
    <p:spTree>
      <p:nvGrpSpPr>
        <p:cNvPr id="1" name="Shape 354"/>
        <p:cNvGrpSpPr/>
        <p:nvPr/>
      </p:nvGrpSpPr>
      <p:grpSpPr>
        <a:xfrm>
          <a:off x="0" y="0"/>
          <a:ext cx="0" cy="0"/>
          <a:chOff x="0" y="0"/>
          <a:chExt cx="0" cy="0"/>
        </a:xfrm>
      </p:grpSpPr>
      <p:pic>
        <p:nvPicPr>
          <p:cNvPr id="356" name="Google Shape;356;p40" descr="Logotipo, Ícone&#10;&#10;Descrição gerada automaticamente"/>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826059" y="919308"/>
            <a:ext cx="4684105" cy="4684105"/>
          </a:xfrm>
          <a:prstGeom prst="rect">
            <a:avLst/>
          </a:prstGeom>
          <a:noFill/>
          <a:ln>
            <a:noFill/>
          </a:ln>
        </p:spPr>
      </p:pic>
      <p:grpSp>
        <p:nvGrpSpPr>
          <p:cNvPr id="358" name="Google Shape;358;p40"/>
          <p:cNvGrpSpPr/>
          <p:nvPr/>
        </p:nvGrpSpPr>
        <p:grpSpPr>
          <a:xfrm>
            <a:off x="8776729" y="6001216"/>
            <a:ext cx="3081580" cy="753914"/>
            <a:chOff x="8797290" y="6001216"/>
            <a:chExt cx="3081580" cy="753914"/>
          </a:xfrm>
        </p:grpSpPr>
        <p:cxnSp>
          <p:nvCxnSpPr>
            <p:cNvPr id="359" name="Google Shape;359;p40"/>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360" name="Google Shape;360;p40"/>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361" name="Google Shape;361;p40"/>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362" name="Google Shape;362;p40"/>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363" name="Google Shape;363;p40"/>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364" name="Google Shape;364;p40"/>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65" name="Google Shape;365;p40"/>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66" name="Google Shape;366;p40"/>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67" name="Google Shape;367;p40"/>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68" name="Google Shape;368;p40"/>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69" name="Google Shape;369;p40"/>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0" name="Google Shape;370;p40"/>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1" name="Google Shape;371;p40"/>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2" name="Google Shape;372;p40"/>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3" name="Google Shape;373;p40"/>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4" name="Google Shape;374;p40"/>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5" name="Google Shape;375;p40"/>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6" name="Google Shape;376;p40"/>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7" name="Google Shape;377;p40"/>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8" name="Google Shape;378;p40"/>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79" name="Google Shape;379;p40"/>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380" name="Google Shape;380;p40"/>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381" name="Google Shape;381;p40"/>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382" name="Google Shape;382;p40"/>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383" name="Google Shape;383;p40"/>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sp>
        <p:nvSpPr>
          <p:cNvPr id="31" name="Rectangle 30">
            <a:extLst>
              <a:ext uri="{FF2B5EF4-FFF2-40B4-BE49-F238E27FC236}">
                <a16:creationId xmlns:a16="http://schemas.microsoft.com/office/drawing/2014/main" id="{C3D27DAA-EE97-E947-9F2D-917CCE0B14E6}"/>
              </a:ext>
            </a:extLst>
          </p:cNvPr>
          <p:cNvSpPr/>
          <p:nvPr userDrawn="1"/>
        </p:nvSpPr>
        <p:spPr>
          <a:xfrm>
            <a:off x="1178560" y="4275587"/>
            <a:ext cx="2621274" cy="195580"/>
          </a:xfrm>
          <a:prstGeom prst="rect">
            <a:avLst/>
          </a:prstGeom>
          <a:gradFill>
            <a:gsLst>
              <a:gs pos="0">
                <a:schemeClr val="accent4"/>
              </a:gs>
              <a:gs pos="70000">
                <a:schemeClr val="accent1"/>
              </a:gs>
              <a:gs pos="100000">
                <a:schemeClr val="accent1"/>
              </a:gs>
            </a:gsLst>
            <a:lin ang="2700000" scaled="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496395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6_Slide de Título">
  <p:cSld name="17_Slide de Título">
    <p:spTree>
      <p:nvGrpSpPr>
        <p:cNvPr id="1" name="Shape 384"/>
        <p:cNvGrpSpPr/>
        <p:nvPr/>
      </p:nvGrpSpPr>
      <p:grpSpPr>
        <a:xfrm>
          <a:off x="0" y="0"/>
          <a:ext cx="0" cy="0"/>
          <a:chOff x="0" y="0"/>
          <a:chExt cx="0" cy="0"/>
        </a:xfrm>
      </p:grpSpPr>
      <p:grpSp>
        <p:nvGrpSpPr>
          <p:cNvPr id="386" name="Google Shape;386;p42"/>
          <p:cNvGrpSpPr/>
          <p:nvPr/>
        </p:nvGrpSpPr>
        <p:grpSpPr>
          <a:xfrm>
            <a:off x="8797290" y="6001216"/>
            <a:ext cx="3081580" cy="753914"/>
            <a:chOff x="8797290" y="6001216"/>
            <a:chExt cx="3081580" cy="753914"/>
          </a:xfrm>
        </p:grpSpPr>
        <p:cxnSp>
          <p:nvCxnSpPr>
            <p:cNvPr id="387" name="Google Shape;387;p42"/>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388" name="Google Shape;388;p42"/>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389" name="Google Shape;389;p42"/>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390" name="Google Shape;390;p42"/>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391" name="Google Shape;391;p42"/>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392" name="Google Shape;392;p42"/>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3" name="Google Shape;393;p42"/>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4" name="Google Shape;394;p42"/>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5" name="Google Shape;395;p42"/>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6" name="Google Shape;396;p42"/>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7" name="Google Shape;397;p42"/>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8" name="Google Shape;398;p42"/>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399" name="Google Shape;399;p42"/>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0" name="Google Shape;400;p42"/>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1" name="Google Shape;401;p42"/>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2" name="Google Shape;402;p42"/>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3" name="Google Shape;403;p42"/>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4" name="Google Shape;404;p42"/>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5" name="Google Shape;405;p42"/>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6" name="Google Shape;406;p42"/>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407" name="Google Shape;407;p42"/>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408" name="Google Shape;408;p42"/>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409" name="Google Shape;409;p42"/>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410" name="Google Shape;410;p42"/>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411" name="Google Shape;411;p42"/>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412" name="Google Shape;412;p42"/>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7826059" y="919308"/>
            <a:ext cx="4684105" cy="4684105"/>
          </a:xfrm>
          <a:prstGeom prst="rect">
            <a:avLst/>
          </a:prstGeom>
          <a:noFill/>
          <a:ln>
            <a:noFill/>
          </a:ln>
        </p:spPr>
      </p:pic>
      <p:sp>
        <p:nvSpPr>
          <p:cNvPr id="31" name="Rectangle 30">
            <a:extLst>
              <a:ext uri="{FF2B5EF4-FFF2-40B4-BE49-F238E27FC236}">
                <a16:creationId xmlns:a16="http://schemas.microsoft.com/office/drawing/2014/main" id="{A6D1108F-85F9-4942-99D3-8EB879D3352D}"/>
              </a:ext>
            </a:extLst>
          </p:cNvPr>
          <p:cNvSpPr/>
          <p:nvPr userDrawn="1"/>
        </p:nvSpPr>
        <p:spPr>
          <a:xfrm>
            <a:off x="1178560" y="4275587"/>
            <a:ext cx="2621274" cy="195580"/>
          </a:xfrm>
          <a:prstGeom prst="rect">
            <a:avLst/>
          </a:prstGeom>
          <a:gradFill>
            <a:gsLst>
              <a:gs pos="0">
                <a:schemeClr val="accent4"/>
              </a:gs>
              <a:gs pos="70000">
                <a:schemeClr val="accent1"/>
              </a:gs>
              <a:gs pos="100000">
                <a:schemeClr val="accent1"/>
              </a:gs>
            </a:gsLst>
            <a:lin ang="2700000" scaled="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77744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de Título">
  <p:cSld name="1_Slide de Título">
    <p:spTree>
      <p:nvGrpSpPr>
        <p:cNvPr id="1" name="Shape 419"/>
        <p:cNvGrpSpPr/>
        <p:nvPr/>
      </p:nvGrpSpPr>
      <p:grpSpPr>
        <a:xfrm>
          <a:off x="0" y="0"/>
          <a:ext cx="0" cy="0"/>
          <a:chOff x="0" y="0"/>
          <a:chExt cx="0" cy="0"/>
        </a:xfrm>
      </p:grpSpPr>
      <p:pic>
        <p:nvPicPr>
          <p:cNvPr id="420" name="Google Shape;420;p4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1092760" y="-71537"/>
            <a:ext cx="1121337" cy="1121337"/>
          </a:xfrm>
          <a:prstGeom prst="rect">
            <a:avLst/>
          </a:prstGeom>
          <a:noFill/>
          <a:ln>
            <a:noFill/>
          </a:ln>
        </p:spPr>
      </p:pic>
    </p:spTree>
    <p:extLst>
      <p:ext uri="{BB962C8B-B14F-4D97-AF65-F5344CB8AC3E}">
        <p14:creationId xmlns:p14="http://schemas.microsoft.com/office/powerpoint/2010/main" val="3842018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de Título">
  <p:cSld name="1_Slide de Título">
    <p:spTree>
      <p:nvGrpSpPr>
        <p:cNvPr id="1" name="Shape 421"/>
        <p:cNvGrpSpPr/>
        <p:nvPr/>
      </p:nvGrpSpPr>
      <p:grpSpPr>
        <a:xfrm>
          <a:off x="0" y="0"/>
          <a:ext cx="0" cy="0"/>
          <a:chOff x="0" y="0"/>
          <a:chExt cx="0" cy="0"/>
        </a:xfrm>
      </p:grpSpPr>
      <p:pic>
        <p:nvPicPr>
          <p:cNvPr id="422" name="Google Shape;422;p4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1092760" y="-71537"/>
            <a:ext cx="1121337" cy="1121337"/>
          </a:xfrm>
          <a:prstGeom prst="rect">
            <a:avLst/>
          </a:prstGeom>
          <a:noFill/>
          <a:ln>
            <a:noFill/>
          </a:ln>
        </p:spPr>
      </p:pic>
    </p:spTree>
    <p:extLst>
      <p:ext uri="{BB962C8B-B14F-4D97-AF65-F5344CB8AC3E}">
        <p14:creationId xmlns:p14="http://schemas.microsoft.com/office/powerpoint/2010/main" val="274280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5_Slide de Título">
  <p:cSld name="25_Slide de Título">
    <p:spTree>
      <p:nvGrpSpPr>
        <p:cNvPr id="1" name="Shape 423"/>
        <p:cNvGrpSpPr/>
        <p:nvPr/>
      </p:nvGrpSpPr>
      <p:grpSpPr>
        <a:xfrm>
          <a:off x="0" y="0"/>
          <a:ext cx="0" cy="0"/>
          <a:chOff x="0" y="0"/>
          <a:chExt cx="0" cy="0"/>
        </a:xfrm>
      </p:grpSpPr>
    </p:spTree>
    <p:extLst>
      <p:ext uri="{BB962C8B-B14F-4D97-AF65-F5344CB8AC3E}">
        <p14:creationId xmlns:p14="http://schemas.microsoft.com/office/powerpoint/2010/main" val="3147565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yout Personalizado">
    <p:bg>
      <p:bgPr>
        <a:solidFill>
          <a:srgbClr val="4D4D4D"/>
        </a:solidFill>
        <a:effectLst/>
      </p:bgPr>
    </p:bg>
    <p:spTree>
      <p:nvGrpSpPr>
        <p:cNvPr id="1" name=""/>
        <p:cNvGrpSpPr/>
        <p:nvPr/>
      </p:nvGrpSpPr>
      <p:grpSpPr>
        <a:xfrm>
          <a:off x="0" y="0"/>
          <a:ext cx="0" cy="0"/>
          <a:chOff x="0" y="0"/>
          <a:chExt cx="0" cy="0"/>
        </a:xfrm>
      </p:grpSpPr>
      <p:grpSp>
        <p:nvGrpSpPr>
          <p:cNvPr id="3" name="Google Shape;106;p25"/>
          <p:cNvGrpSpPr/>
          <p:nvPr userDrawn="1"/>
        </p:nvGrpSpPr>
        <p:grpSpPr>
          <a:xfrm>
            <a:off x="8521140" y="0"/>
            <a:ext cx="3081580" cy="753914"/>
            <a:chOff x="8797290" y="6001216"/>
            <a:chExt cx="3081580" cy="753914"/>
          </a:xfrm>
        </p:grpSpPr>
        <p:cxnSp>
          <p:nvCxnSpPr>
            <p:cNvPr id="4" name="Google Shape;107;p25"/>
            <p:cNvCxnSpPr/>
            <p:nvPr/>
          </p:nvCxnSpPr>
          <p:spPr>
            <a:xfrm>
              <a:off x="8797290" y="6652260"/>
              <a:ext cx="93273" cy="91187"/>
            </a:xfrm>
            <a:prstGeom prst="straightConnector1">
              <a:avLst/>
            </a:prstGeom>
            <a:noFill/>
            <a:ln w="9525" cap="flat" cmpd="sng">
              <a:solidFill>
                <a:srgbClr val="B7B7B7"/>
              </a:solidFill>
              <a:prstDash val="solid"/>
              <a:round/>
              <a:headEnd type="none" w="sm" len="sm"/>
              <a:tailEnd type="none" w="sm" len="sm"/>
            </a:ln>
          </p:spPr>
        </p:cxnSp>
        <p:cxnSp>
          <p:nvCxnSpPr>
            <p:cNvPr id="5" name="Google Shape;108;p25"/>
            <p:cNvCxnSpPr/>
            <p:nvPr/>
          </p:nvCxnSpPr>
          <p:spPr>
            <a:xfrm>
              <a:off x="8799295" y="6502175"/>
              <a:ext cx="252040" cy="252955"/>
            </a:xfrm>
            <a:prstGeom prst="straightConnector1">
              <a:avLst/>
            </a:prstGeom>
            <a:noFill/>
            <a:ln w="9525" cap="flat" cmpd="sng">
              <a:solidFill>
                <a:srgbClr val="B7B7B7"/>
              </a:solidFill>
              <a:prstDash val="solid"/>
              <a:round/>
              <a:headEnd type="none" w="sm" len="sm"/>
              <a:tailEnd type="none" w="sm" len="sm"/>
            </a:ln>
          </p:spPr>
        </p:cxnSp>
        <p:cxnSp>
          <p:nvCxnSpPr>
            <p:cNvPr id="6" name="Google Shape;109;p25"/>
            <p:cNvCxnSpPr/>
            <p:nvPr/>
          </p:nvCxnSpPr>
          <p:spPr>
            <a:xfrm>
              <a:off x="8808430" y="6361246"/>
              <a:ext cx="388285" cy="393884"/>
            </a:xfrm>
            <a:prstGeom prst="straightConnector1">
              <a:avLst/>
            </a:prstGeom>
            <a:noFill/>
            <a:ln w="9525" cap="flat" cmpd="sng">
              <a:solidFill>
                <a:srgbClr val="B7B7B7"/>
              </a:solidFill>
              <a:prstDash val="solid"/>
              <a:round/>
              <a:headEnd type="none" w="sm" len="sm"/>
              <a:tailEnd type="none" w="sm" len="sm"/>
            </a:ln>
          </p:spPr>
        </p:cxnSp>
        <p:cxnSp>
          <p:nvCxnSpPr>
            <p:cNvPr id="7" name="Google Shape;110;p25"/>
            <p:cNvCxnSpPr/>
            <p:nvPr/>
          </p:nvCxnSpPr>
          <p:spPr>
            <a:xfrm>
              <a:off x="8806000" y="6206289"/>
              <a:ext cx="540772" cy="548841"/>
            </a:xfrm>
            <a:prstGeom prst="straightConnector1">
              <a:avLst/>
            </a:prstGeom>
            <a:noFill/>
            <a:ln w="9525" cap="flat" cmpd="sng">
              <a:solidFill>
                <a:srgbClr val="B7B7B7"/>
              </a:solidFill>
              <a:prstDash val="solid"/>
              <a:round/>
              <a:headEnd type="none" w="sm" len="sm"/>
              <a:tailEnd type="none" w="sm" len="sm"/>
            </a:ln>
          </p:spPr>
        </p:cxnSp>
        <p:cxnSp>
          <p:nvCxnSpPr>
            <p:cNvPr id="8" name="Google Shape;111;p25"/>
            <p:cNvCxnSpPr/>
            <p:nvPr/>
          </p:nvCxnSpPr>
          <p:spPr>
            <a:xfrm>
              <a:off x="8801771" y="6055895"/>
              <a:ext cx="697041" cy="699235"/>
            </a:xfrm>
            <a:prstGeom prst="straightConnector1">
              <a:avLst/>
            </a:prstGeom>
            <a:noFill/>
            <a:ln w="9525" cap="flat" cmpd="sng">
              <a:solidFill>
                <a:srgbClr val="B7B7B7"/>
              </a:solidFill>
              <a:prstDash val="solid"/>
              <a:round/>
              <a:headEnd type="none" w="sm" len="sm"/>
              <a:tailEnd type="none" w="sm" len="sm"/>
            </a:ln>
          </p:spPr>
        </p:cxnSp>
        <p:cxnSp>
          <p:nvCxnSpPr>
            <p:cNvPr id="9" name="Google Shape;112;p25"/>
            <p:cNvCxnSpPr/>
            <p:nvPr/>
          </p:nvCxnSpPr>
          <p:spPr>
            <a:xfrm>
              <a:off x="889815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0" name="Google Shape;113;p25"/>
            <p:cNvCxnSpPr/>
            <p:nvPr/>
          </p:nvCxnSpPr>
          <p:spPr>
            <a:xfrm>
              <a:off x="904647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1" name="Google Shape;114;p25"/>
            <p:cNvCxnSpPr/>
            <p:nvPr/>
          </p:nvCxnSpPr>
          <p:spPr>
            <a:xfrm>
              <a:off x="919685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2" name="Google Shape;115;p25"/>
            <p:cNvCxnSpPr/>
            <p:nvPr/>
          </p:nvCxnSpPr>
          <p:spPr>
            <a:xfrm>
              <a:off x="934722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3" name="Google Shape;116;p25"/>
            <p:cNvCxnSpPr/>
            <p:nvPr/>
          </p:nvCxnSpPr>
          <p:spPr>
            <a:xfrm>
              <a:off x="949607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4" name="Google Shape;117;p25"/>
            <p:cNvCxnSpPr/>
            <p:nvPr/>
          </p:nvCxnSpPr>
          <p:spPr>
            <a:xfrm>
              <a:off x="9644921"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5" name="Google Shape;118;p25"/>
            <p:cNvCxnSpPr/>
            <p:nvPr/>
          </p:nvCxnSpPr>
          <p:spPr>
            <a:xfrm>
              <a:off x="9793769"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6" name="Google Shape;119;p25"/>
            <p:cNvCxnSpPr/>
            <p:nvPr/>
          </p:nvCxnSpPr>
          <p:spPr>
            <a:xfrm>
              <a:off x="9944622"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7" name="Google Shape;120;p25"/>
            <p:cNvCxnSpPr/>
            <p:nvPr/>
          </p:nvCxnSpPr>
          <p:spPr>
            <a:xfrm>
              <a:off x="10099485"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8" name="Google Shape;121;p25"/>
            <p:cNvCxnSpPr/>
            <p:nvPr/>
          </p:nvCxnSpPr>
          <p:spPr>
            <a:xfrm>
              <a:off x="1024432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19" name="Google Shape;122;p25"/>
            <p:cNvCxnSpPr/>
            <p:nvPr/>
          </p:nvCxnSpPr>
          <p:spPr>
            <a:xfrm>
              <a:off x="1039517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0" name="Google Shape;123;p25"/>
            <p:cNvCxnSpPr/>
            <p:nvPr/>
          </p:nvCxnSpPr>
          <p:spPr>
            <a:xfrm>
              <a:off x="1054807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1" name="Google Shape;124;p25"/>
            <p:cNvCxnSpPr/>
            <p:nvPr/>
          </p:nvCxnSpPr>
          <p:spPr>
            <a:xfrm>
              <a:off x="10694943"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2" name="Google Shape;125;p25"/>
            <p:cNvCxnSpPr/>
            <p:nvPr/>
          </p:nvCxnSpPr>
          <p:spPr>
            <a:xfrm>
              <a:off x="10845818"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3" name="Google Shape;126;p25"/>
            <p:cNvCxnSpPr/>
            <p:nvPr/>
          </p:nvCxnSpPr>
          <p:spPr>
            <a:xfrm>
              <a:off x="10994666" y="6001216"/>
              <a:ext cx="748686" cy="752577"/>
            </a:xfrm>
            <a:prstGeom prst="straightConnector1">
              <a:avLst/>
            </a:prstGeom>
            <a:noFill/>
            <a:ln w="9525" cap="flat" cmpd="sng">
              <a:solidFill>
                <a:srgbClr val="B7B7B7"/>
              </a:solidFill>
              <a:prstDash val="solid"/>
              <a:round/>
              <a:headEnd type="none" w="sm" len="sm"/>
              <a:tailEnd type="none" w="sm" len="sm"/>
            </a:ln>
          </p:spPr>
        </p:cxnSp>
        <p:cxnSp>
          <p:nvCxnSpPr>
            <p:cNvPr id="24" name="Google Shape;127;p25"/>
            <p:cNvCxnSpPr/>
            <p:nvPr/>
          </p:nvCxnSpPr>
          <p:spPr>
            <a:xfrm rot="10800000">
              <a:off x="11735741" y="6001216"/>
              <a:ext cx="126796" cy="123847"/>
            </a:xfrm>
            <a:prstGeom prst="straightConnector1">
              <a:avLst/>
            </a:prstGeom>
            <a:noFill/>
            <a:ln w="9525" cap="flat" cmpd="sng">
              <a:solidFill>
                <a:srgbClr val="B7B7B7"/>
              </a:solidFill>
              <a:prstDash val="solid"/>
              <a:round/>
              <a:headEnd type="none" w="sm" len="sm"/>
              <a:tailEnd type="none" w="sm" len="sm"/>
            </a:ln>
          </p:spPr>
        </p:cxnSp>
        <p:cxnSp>
          <p:nvCxnSpPr>
            <p:cNvPr id="25" name="Google Shape;128;p25"/>
            <p:cNvCxnSpPr/>
            <p:nvPr/>
          </p:nvCxnSpPr>
          <p:spPr>
            <a:xfrm rot="10800000">
              <a:off x="11588951" y="6001216"/>
              <a:ext cx="271163" cy="272147"/>
            </a:xfrm>
            <a:prstGeom prst="straightConnector1">
              <a:avLst/>
            </a:prstGeom>
            <a:noFill/>
            <a:ln w="9525" cap="flat" cmpd="sng">
              <a:solidFill>
                <a:srgbClr val="B7B7B7"/>
              </a:solidFill>
              <a:prstDash val="solid"/>
              <a:round/>
              <a:headEnd type="none" w="sm" len="sm"/>
              <a:tailEnd type="none" w="sm" len="sm"/>
            </a:ln>
          </p:spPr>
        </p:cxnSp>
        <p:cxnSp>
          <p:nvCxnSpPr>
            <p:cNvPr id="26" name="Google Shape;129;p25"/>
            <p:cNvCxnSpPr/>
            <p:nvPr/>
          </p:nvCxnSpPr>
          <p:spPr>
            <a:xfrm rot="10800000">
              <a:off x="11440564" y="6001216"/>
              <a:ext cx="417745" cy="423769"/>
            </a:xfrm>
            <a:prstGeom prst="straightConnector1">
              <a:avLst/>
            </a:prstGeom>
            <a:noFill/>
            <a:ln w="9525" cap="flat" cmpd="sng">
              <a:solidFill>
                <a:srgbClr val="B7B7B7"/>
              </a:solidFill>
              <a:prstDash val="solid"/>
              <a:round/>
              <a:headEnd type="none" w="sm" len="sm"/>
              <a:tailEnd type="none" w="sm" len="sm"/>
            </a:ln>
          </p:spPr>
        </p:cxnSp>
        <p:cxnSp>
          <p:nvCxnSpPr>
            <p:cNvPr id="27" name="Google Shape;130;p25"/>
            <p:cNvCxnSpPr/>
            <p:nvPr/>
          </p:nvCxnSpPr>
          <p:spPr>
            <a:xfrm rot="10800000">
              <a:off x="11291174" y="6001217"/>
              <a:ext cx="569359" cy="575390"/>
            </a:xfrm>
            <a:prstGeom prst="straightConnector1">
              <a:avLst/>
            </a:prstGeom>
            <a:noFill/>
            <a:ln w="9525" cap="flat" cmpd="sng">
              <a:solidFill>
                <a:srgbClr val="B7B7B7"/>
              </a:solidFill>
              <a:prstDash val="solid"/>
              <a:round/>
              <a:headEnd type="none" w="sm" len="sm"/>
              <a:tailEnd type="none" w="sm" len="sm"/>
            </a:ln>
          </p:spPr>
        </p:cxnSp>
        <p:cxnSp>
          <p:nvCxnSpPr>
            <p:cNvPr id="28" name="Google Shape;131;p25"/>
            <p:cNvCxnSpPr/>
            <p:nvPr/>
          </p:nvCxnSpPr>
          <p:spPr>
            <a:xfrm rot="10800000">
              <a:off x="11141878" y="6001217"/>
              <a:ext cx="736992" cy="742229"/>
            </a:xfrm>
            <a:prstGeom prst="straightConnector1">
              <a:avLst/>
            </a:prstGeom>
            <a:noFill/>
            <a:ln w="9525" cap="flat" cmpd="sng">
              <a:solidFill>
                <a:srgbClr val="B7B7B7"/>
              </a:solidFill>
              <a:prstDash val="solid"/>
              <a:round/>
              <a:headEnd type="none" w="sm" len="sm"/>
              <a:tailEnd type="none" w="sm" len="sm"/>
            </a:ln>
          </p:spPr>
        </p:cxnSp>
      </p:grpSp>
      <p:pic>
        <p:nvPicPr>
          <p:cNvPr id="29" name="Google Shape;132;p25"/>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0517593" y="5296896"/>
            <a:ext cx="1641750" cy="1641750"/>
          </a:xfrm>
          <a:prstGeom prst="rect">
            <a:avLst/>
          </a:prstGeom>
          <a:noFill/>
          <a:ln>
            <a:noFill/>
          </a:ln>
        </p:spPr>
      </p:pic>
      <p:sp>
        <p:nvSpPr>
          <p:cNvPr id="30" name="Rectangle 31">
            <a:extLst>
              <a:ext uri="{FF2B5EF4-FFF2-40B4-BE49-F238E27FC236}">
                <a16:creationId xmlns:a16="http://schemas.microsoft.com/office/drawing/2014/main" id="{BE7E7CEC-8C95-FF4F-A547-E6A239B07F20}"/>
              </a:ext>
            </a:extLst>
          </p:cNvPr>
          <p:cNvSpPr/>
          <p:nvPr userDrawn="1"/>
        </p:nvSpPr>
        <p:spPr>
          <a:xfrm>
            <a:off x="149396" y="150443"/>
            <a:ext cx="2175677" cy="360030"/>
          </a:xfrm>
          <a:prstGeom prst="rect">
            <a:avLst/>
          </a:prstGeom>
          <a:solidFill>
            <a:srgbClr val="FFFF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28702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Pr>
        <a:solidFill>
          <a:srgbClr val="00D31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432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DEFAULT">
    <p:bg>
      <p:bgPr>
        <a:solidFill>
          <a:srgbClr val="009E0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712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97274-ADBA-41E3-B877-6EDAC583907C}" type="datetimeFigureOut">
              <a:rPr lang="pt-BR" smtClean="0"/>
              <a:t>04/10/2024</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4D5D8-03B3-45F0-9A6B-E1FA9F4654E0}" type="slidenum">
              <a:rPr lang="pt-BR" smtClean="0"/>
              <a:t>‹nº›</a:t>
            </a:fld>
            <a:endParaRPr lang="pt-BR"/>
          </a:p>
        </p:txBody>
      </p:sp>
    </p:spTree>
    <p:extLst>
      <p:ext uri="{BB962C8B-B14F-4D97-AF65-F5344CB8AC3E}">
        <p14:creationId xmlns:p14="http://schemas.microsoft.com/office/powerpoint/2010/main" val="650601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708865248"/>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xml"/><Relationship Id="rId1" Type="http://schemas.openxmlformats.org/officeDocument/2006/relationships/vmlDrawing" Target="../drawings/vmlDrawing11.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xml"/><Relationship Id="rId1" Type="http://schemas.openxmlformats.org/officeDocument/2006/relationships/vmlDrawing" Target="../drawings/vmlDrawing12.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xml"/><Relationship Id="rId1" Type="http://schemas.openxmlformats.org/officeDocument/2006/relationships/vmlDrawing" Target="../drawings/vmlDrawing16.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9.xml"/><Relationship Id="rId1" Type="http://schemas.openxmlformats.org/officeDocument/2006/relationships/vmlDrawing" Target="../drawings/vmlDrawing18.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0.xml"/><Relationship Id="rId1" Type="http://schemas.openxmlformats.org/officeDocument/2006/relationships/vmlDrawing" Target="../drawings/vmlDrawing19.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1.xml"/><Relationship Id="rId1" Type="http://schemas.openxmlformats.org/officeDocument/2006/relationships/vmlDrawing" Target="../drawings/vmlDrawing20.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2.xml"/><Relationship Id="rId1" Type="http://schemas.openxmlformats.org/officeDocument/2006/relationships/vmlDrawing" Target="../drawings/vmlDrawing21.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3.xml"/><Relationship Id="rId1" Type="http://schemas.openxmlformats.org/officeDocument/2006/relationships/vmlDrawing" Target="../drawings/vmlDrawing22.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29;p1">
            <a:extLst>
              <a:ext uri="{FF2B5EF4-FFF2-40B4-BE49-F238E27FC236}">
                <a16:creationId xmlns:a16="http://schemas.microsoft.com/office/drawing/2014/main" id="{C3820216-8A37-534C-8A87-AA0DBAE8AF29}"/>
              </a:ext>
            </a:extLst>
          </p:cNvPr>
          <p:cNvSpPr txBox="1"/>
          <p:nvPr/>
        </p:nvSpPr>
        <p:spPr>
          <a:xfrm>
            <a:off x="801060" y="5379589"/>
            <a:ext cx="7964117" cy="4000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2000" b="0" i="0" u="none" strike="noStrike" kern="0" cap="none" spc="0" normalizeH="0" baseline="0" noProof="0" dirty="0">
                <a:ln>
                  <a:noFill/>
                </a:ln>
                <a:solidFill>
                  <a:srgbClr val="00D318"/>
                </a:solidFill>
                <a:effectLst/>
                <a:uLnTx/>
                <a:uFillTx/>
                <a:latin typeface="Simplon BP Medium" pitchFamily="50" charset="0"/>
                <a:cs typeface="Arial"/>
                <a:sym typeface="Arial"/>
              </a:rPr>
              <a:t>Gerência </a:t>
            </a:r>
            <a:r>
              <a:rPr kumimoji="0" lang="pt-BR" sz="2000" b="0" i="0" u="none" strike="noStrike" kern="0" cap="none" spc="0" normalizeH="0" baseline="0" noProof="0" dirty="0" smtClean="0">
                <a:ln>
                  <a:noFill/>
                </a:ln>
                <a:solidFill>
                  <a:srgbClr val="00D318"/>
                </a:solidFill>
                <a:effectLst/>
                <a:uLnTx/>
                <a:uFillTx/>
                <a:latin typeface="Simplon BP Medium" pitchFamily="50" charset="0"/>
                <a:cs typeface="Arial"/>
                <a:sym typeface="Arial"/>
              </a:rPr>
              <a:t>de Controle de Obrigações Regulatórias</a:t>
            </a:r>
            <a:endParaRPr kumimoji="0" sz="2000" b="0" i="0" u="none" strike="noStrike" kern="0" cap="none" spc="0" normalizeH="0" baseline="0" noProof="0" dirty="0">
              <a:ln>
                <a:noFill/>
              </a:ln>
              <a:solidFill>
                <a:srgbClr val="00D318"/>
              </a:solidFill>
              <a:effectLst/>
              <a:uLnTx/>
              <a:uFillTx/>
              <a:latin typeface="Simplon BP Medium" pitchFamily="50" charset="0"/>
              <a:cs typeface="Arial"/>
              <a:sym typeface="Arial"/>
            </a:endParaRPr>
          </a:p>
        </p:txBody>
      </p:sp>
      <p:sp>
        <p:nvSpPr>
          <p:cNvPr id="3" name="Google Shape;430;p1">
            <a:extLst>
              <a:ext uri="{FF2B5EF4-FFF2-40B4-BE49-F238E27FC236}">
                <a16:creationId xmlns:a16="http://schemas.microsoft.com/office/drawing/2014/main" id="{F47F13FB-3DF6-6D45-9068-3EE932EF76F6}"/>
              </a:ext>
            </a:extLst>
          </p:cNvPr>
          <p:cNvSpPr txBox="1"/>
          <p:nvPr/>
        </p:nvSpPr>
        <p:spPr>
          <a:xfrm>
            <a:off x="801060" y="6137601"/>
            <a:ext cx="2811459" cy="27542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85000"/>
              </a:lnSpc>
              <a:spcBef>
                <a:spcPts val="0"/>
              </a:spcBef>
              <a:spcAft>
                <a:spcPts val="0"/>
              </a:spcAft>
              <a:buClr>
                <a:srgbClr val="000000"/>
              </a:buClr>
              <a:buSzPts val="1600"/>
              <a:buFont typeface="Arial"/>
              <a:buNone/>
              <a:tabLst/>
              <a:defRPr/>
            </a:pPr>
            <a:r>
              <a:rPr lang="pt-BR" sz="1400" kern="0" dirty="0" smtClean="0">
                <a:solidFill>
                  <a:srgbClr val="4D4D4D"/>
                </a:solidFill>
                <a:latin typeface="Simplon BP Medium" pitchFamily="50" charset="0"/>
                <a:cs typeface="Arial"/>
                <a:sym typeface="Arial"/>
              </a:rPr>
              <a:t>Setembro</a:t>
            </a:r>
            <a:r>
              <a:rPr kumimoji="0" lang="pt-BR" sz="1400" b="0" i="0" u="none" strike="noStrike" kern="0" cap="none" spc="0" normalizeH="0" baseline="0" noProof="0" dirty="0" smtClean="0">
                <a:ln>
                  <a:noFill/>
                </a:ln>
                <a:solidFill>
                  <a:srgbClr val="4D4D4D"/>
                </a:solidFill>
                <a:effectLst/>
                <a:uLnTx/>
                <a:uFillTx/>
                <a:latin typeface="Simplon BP Medium" pitchFamily="50" charset="0"/>
                <a:cs typeface="Arial"/>
                <a:sym typeface="Arial"/>
              </a:rPr>
              <a:t> </a:t>
            </a:r>
            <a:r>
              <a:rPr kumimoji="0" lang="pt-BR" sz="1400" b="0" i="0" u="none" strike="noStrike" kern="0" cap="none" spc="0" normalizeH="0" baseline="0" noProof="0" dirty="0">
                <a:ln>
                  <a:noFill/>
                </a:ln>
                <a:solidFill>
                  <a:srgbClr val="4D4D4D"/>
                </a:solidFill>
                <a:effectLst/>
                <a:uLnTx/>
                <a:uFillTx/>
                <a:latin typeface="Simplon BP Medium" pitchFamily="50" charset="0"/>
                <a:cs typeface="Arial"/>
                <a:sym typeface="Arial"/>
              </a:rPr>
              <a:t>- </a:t>
            </a:r>
            <a:r>
              <a:rPr kumimoji="0" lang="pt-BR" sz="1400" b="0" i="0" u="none" strike="noStrike" kern="0" cap="none" spc="0" normalizeH="0" baseline="0" noProof="0" dirty="0" smtClean="0">
                <a:ln>
                  <a:noFill/>
                </a:ln>
                <a:solidFill>
                  <a:srgbClr val="4D4D4D"/>
                </a:solidFill>
                <a:effectLst/>
                <a:uLnTx/>
                <a:uFillTx/>
                <a:latin typeface="Simplon BP Medium" pitchFamily="50" charset="0"/>
                <a:cs typeface="Arial"/>
                <a:sym typeface="Arial"/>
              </a:rPr>
              <a:t>2024</a:t>
            </a:r>
            <a:endParaRPr kumimoji="0" sz="1400" b="0" i="0" u="none" strike="noStrike" kern="0" cap="none" spc="0" normalizeH="0" baseline="0" noProof="0" dirty="0">
              <a:ln>
                <a:noFill/>
              </a:ln>
              <a:solidFill>
                <a:srgbClr val="4D4D4D"/>
              </a:solidFill>
              <a:effectLst/>
              <a:uLnTx/>
              <a:uFillTx/>
              <a:latin typeface="Simplon BP Medium" pitchFamily="50" charset="0"/>
              <a:cs typeface="Arial"/>
              <a:sym typeface="Arial"/>
            </a:endParaRPr>
          </a:p>
        </p:txBody>
      </p:sp>
      <p:sp>
        <p:nvSpPr>
          <p:cNvPr id="5" name="Text 2"/>
          <p:cNvSpPr/>
          <p:nvPr/>
        </p:nvSpPr>
        <p:spPr>
          <a:xfrm>
            <a:off x="494236" y="720342"/>
            <a:ext cx="8715077" cy="2499598"/>
          </a:xfrm>
          <a:prstGeom prst="rect">
            <a:avLst/>
          </a:prstGeom>
          <a:noFill/>
          <a:ln/>
        </p:spPr>
        <p:txBody>
          <a:bodyPr wrap="square" rtlCol="0" anchor="t"/>
          <a:lstStyle/>
          <a:p>
            <a:pPr marL="0" marR="0" lvl="0" indent="0" algn="l" defTabSz="914400" rtl="0" eaLnBrk="1" fontAlgn="auto" latinLnBrk="0" hangingPunct="1">
              <a:lnSpc>
                <a:spcPts val="6561"/>
              </a:lnSpc>
              <a:spcBef>
                <a:spcPts val="0"/>
              </a:spcBef>
              <a:spcAft>
                <a:spcPts val="0"/>
              </a:spcAft>
              <a:buClr>
                <a:srgbClr val="000000"/>
              </a:buClr>
              <a:buSzTx/>
              <a:buFont typeface="Arial"/>
              <a:buNone/>
              <a:tabLst/>
              <a:defRPr/>
            </a:pPr>
            <a:r>
              <a:rPr kumimoji="0" lang="en-US" sz="5249" b="1" i="0" u="none" strike="noStrike" kern="0" cap="none" spc="-157" normalizeH="0" baseline="0" noProof="0" dirty="0">
                <a:ln>
                  <a:noFill/>
                </a:ln>
                <a:solidFill>
                  <a:srgbClr val="000000"/>
                </a:solidFill>
                <a:effectLst/>
                <a:uLnTx/>
                <a:uFillTx/>
                <a:latin typeface="Simplon Oi Headline" pitchFamily="50" charset="0"/>
                <a:ea typeface="Inter" pitchFamily="34" charset="-122"/>
                <a:cs typeface="Inter" pitchFamily="34" charset="-120"/>
                <a:sym typeface="Arial"/>
              </a:rPr>
              <a:t>RESOLUÇÃO ANATEL Nº 765/2023 – Novo </a:t>
            </a:r>
            <a:r>
              <a:rPr kumimoji="0" lang="en-US" sz="5249" b="1" i="0" u="none" strike="noStrike" kern="0" cap="none" spc="-157" normalizeH="0" baseline="0" noProof="0" dirty="0" smtClean="0">
                <a:ln>
                  <a:noFill/>
                </a:ln>
                <a:solidFill>
                  <a:srgbClr val="000000"/>
                </a:solidFill>
                <a:effectLst/>
                <a:uLnTx/>
                <a:uFillTx/>
                <a:latin typeface="Simplon Oi Headline" pitchFamily="50" charset="0"/>
                <a:ea typeface="Inter" pitchFamily="34" charset="-122"/>
                <a:cs typeface="Inter" pitchFamily="34" charset="-120"/>
                <a:sym typeface="Arial"/>
              </a:rPr>
              <a:t>RGC</a:t>
            </a:r>
          </a:p>
          <a:p>
            <a:pPr marL="0" marR="0" lvl="0" indent="0" algn="l" defTabSz="914400" rtl="0" eaLnBrk="1" fontAlgn="auto" latinLnBrk="0" hangingPunct="1">
              <a:lnSpc>
                <a:spcPts val="6561"/>
              </a:lnSpc>
              <a:spcBef>
                <a:spcPts val="0"/>
              </a:spcBef>
              <a:spcAft>
                <a:spcPts val="0"/>
              </a:spcAft>
              <a:buClr>
                <a:srgbClr val="000000"/>
              </a:buClr>
              <a:buSzTx/>
              <a:buFont typeface="Arial"/>
              <a:buNone/>
              <a:tabLst/>
              <a:defRPr/>
            </a:pPr>
            <a:r>
              <a:rPr kumimoji="0" lang="en-US" sz="5249" b="1" i="0" u="none" strike="noStrike" kern="0" cap="none" spc="-157" normalizeH="0" baseline="0" noProof="0" dirty="0" smtClean="0">
                <a:ln>
                  <a:noFill/>
                </a:ln>
                <a:solidFill>
                  <a:srgbClr val="000000"/>
                </a:solidFill>
                <a:effectLst/>
                <a:uLnTx/>
                <a:uFillTx/>
                <a:latin typeface="Simplon Oi Headline" pitchFamily="50" charset="0"/>
                <a:ea typeface="Inter" pitchFamily="34" charset="-122"/>
                <a:cs typeface="Arial"/>
                <a:sym typeface="Arial"/>
              </a:rPr>
              <a:t>Compliance </a:t>
            </a:r>
            <a:r>
              <a:rPr kumimoji="0" lang="en-US" sz="5249" b="1" i="0" u="none" strike="noStrike" kern="0" cap="none" spc="-157" normalizeH="0" baseline="0" noProof="0" dirty="0">
                <a:ln>
                  <a:noFill/>
                </a:ln>
                <a:solidFill>
                  <a:srgbClr val="000000"/>
                </a:solidFill>
                <a:effectLst/>
                <a:uLnTx/>
                <a:uFillTx/>
                <a:latin typeface="Simplon Oi Headline" pitchFamily="50" charset="0"/>
                <a:ea typeface="Inter" pitchFamily="34" charset="-122"/>
                <a:cs typeface="Arial"/>
                <a:sym typeface="Arial"/>
              </a:rPr>
              <a:t>R</a:t>
            </a:r>
            <a:r>
              <a:rPr kumimoji="0" lang="en-US" sz="5249" b="1" i="0" u="none" strike="noStrike" kern="0" cap="none" spc="-157" normalizeH="0" baseline="0" noProof="0" dirty="0" smtClean="0">
                <a:ln>
                  <a:noFill/>
                </a:ln>
                <a:solidFill>
                  <a:srgbClr val="000000"/>
                </a:solidFill>
                <a:effectLst/>
                <a:uLnTx/>
                <a:uFillTx/>
                <a:latin typeface="Simplon Oi Headline" pitchFamily="50" charset="0"/>
                <a:ea typeface="Inter" pitchFamily="34" charset="-122"/>
                <a:cs typeface="Arial"/>
                <a:sym typeface="Arial"/>
              </a:rPr>
              <a:t>egulatório</a:t>
            </a:r>
            <a:endParaRPr kumimoji="0" lang="en-US" sz="5249" b="0" i="0" u="none" strike="noStrike" kern="0" cap="none" spc="0" normalizeH="0" baseline="0" noProof="0" dirty="0">
              <a:ln>
                <a:noFill/>
              </a:ln>
              <a:solidFill>
                <a:srgbClr val="000000"/>
              </a:solidFill>
              <a:effectLst/>
              <a:uLnTx/>
              <a:uFillTx/>
              <a:latin typeface="Simplon Oi Headline" pitchFamily="50" charset="0"/>
              <a:cs typeface="Arial"/>
              <a:sym typeface="Arial"/>
            </a:endParaRPr>
          </a:p>
        </p:txBody>
      </p:sp>
    </p:spTree>
    <p:extLst>
      <p:ext uri="{BB962C8B-B14F-4D97-AF65-F5344CB8AC3E}">
        <p14:creationId xmlns:p14="http://schemas.microsoft.com/office/powerpoint/2010/main" val="502306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3281"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591865"/>
            <a:ext cx="11629932" cy="696581"/>
          </a:xfrm>
        </p:spPr>
        <p:txBody>
          <a:bodyPr vert="horz"/>
          <a:lstStyle/>
          <a:p>
            <a:r>
              <a:rPr lang="pt-BR" dirty="0" smtClean="0"/>
              <a:t>Novo RGC – REGULAMENTO GERAL CONSUMIDOR</a:t>
            </a:r>
            <a:r>
              <a:rPr lang="pt-BR" dirty="0"/>
              <a:t/>
            </a:r>
            <a:br>
              <a:rPr lang="pt-BR" dirty="0"/>
            </a:br>
            <a:endParaRPr lang="pt-BR" dirty="0"/>
          </a:p>
        </p:txBody>
      </p:sp>
      <p:sp>
        <p:nvSpPr>
          <p:cNvPr id="12" name="TextBox 1">
            <a:extLst>
              <a:ext uri="{FF2B5EF4-FFF2-40B4-BE49-F238E27FC236}">
                <a16:creationId xmlns:a16="http://schemas.microsoft.com/office/drawing/2014/main" id="{78C73662-F2B9-EA54-760E-817ED3732111}"/>
              </a:ext>
            </a:extLst>
          </p:cNvPr>
          <p:cNvSpPr txBox="1"/>
          <p:nvPr/>
        </p:nvSpPr>
        <p:spPr>
          <a:xfrm>
            <a:off x="461202" y="1509102"/>
            <a:ext cx="4572396" cy="600164"/>
          </a:xfrm>
          <a:prstGeom prst="rect">
            <a:avLst/>
          </a:prstGeom>
          <a:noFill/>
        </p:spPr>
        <p:txBody>
          <a:bodyPr wrap="square">
            <a:spAutoFit/>
          </a:bodyPr>
          <a:lstStyle/>
          <a:p>
            <a:pPr lvl="0" algn="ctr">
              <a:defRPr/>
            </a:pPr>
            <a:r>
              <a:rPr lang="pt-BR" sz="1100" b="1" dirty="0" smtClean="0">
                <a:solidFill>
                  <a:schemeClr val="bg1"/>
                </a:solidFill>
                <a:latin typeface="Simplon BP"/>
              </a:rPr>
              <a:t>OS ITENS DA RGC SÃO ACOMPANHADOS DESDE A VERSÃO DE 2014, HAVENDO 64 (61%) NOVOS ITENS A PARTIR DE 2024, ESTANDO EM UA MAIORIA COMPLIANCE ÀS REGRAS</a:t>
            </a:r>
            <a:endParaRPr lang="pt-BR" sz="1100" b="1" dirty="0">
              <a:solidFill>
                <a:schemeClr val="bg1"/>
              </a:solidFill>
              <a:latin typeface="Simplon BP"/>
            </a:endParaRPr>
          </a:p>
        </p:txBody>
      </p:sp>
      <p:sp>
        <p:nvSpPr>
          <p:cNvPr id="16" name="TextBox 1">
            <a:extLst>
              <a:ext uri="{FF2B5EF4-FFF2-40B4-BE49-F238E27FC236}">
                <a16:creationId xmlns:a16="http://schemas.microsoft.com/office/drawing/2014/main" id="{78C73662-F2B9-EA54-760E-817ED3732111}"/>
              </a:ext>
            </a:extLst>
          </p:cNvPr>
          <p:cNvSpPr txBox="1"/>
          <p:nvPr/>
        </p:nvSpPr>
        <p:spPr>
          <a:xfrm>
            <a:off x="6409200" y="5637182"/>
            <a:ext cx="2799187" cy="600164"/>
          </a:xfrm>
          <a:prstGeom prst="rect">
            <a:avLst/>
          </a:prstGeom>
          <a:noFill/>
        </p:spPr>
        <p:txBody>
          <a:bodyPr wrap="square">
            <a:spAutoFit/>
          </a:bodyPr>
          <a:lstStyle/>
          <a:p>
            <a:pPr lvl="0" algn="ctr">
              <a:defRPr/>
            </a:pPr>
            <a:r>
              <a:rPr lang="pt-BR" sz="1100" b="1" dirty="0" smtClean="0">
                <a:solidFill>
                  <a:schemeClr val="bg1"/>
                </a:solidFill>
                <a:latin typeface="Simplon BP"/>
              </a:rPr>
              <a:t>SÃO 23 ITENS QUE REQUEREM ATENÇÃO UMA VEZ QUE PODEM INCORRER PENALIDADES E MULTAS</a:t>
            </a:r>
            <a:endParaRPr lang="pt-BR" sz="1100" b="1" dirty="0">
              <a:solidFill>
                <a:schemeClr val="bg1"/>
              </a:solidFill>
              <a:latin typeface="Simplon BP"/>
            </a:endParaRPr>
          </a:p>
        </p:txBody>
      </p:sp>
      <p:sp>
        <p:nvSpPr>
          <p:cNvPr id="41" name="Retângulo 40"/>
          <p:cNvSpPr/>
          <p:nvPr/>
        </p:nvSpPr>
        <p:spPr>
          <a:xfrm>
            <a:off x="9413490" y="5534830"/>
            <a:ext cx="1363200" cy="7173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R$ 146 MM</a:t>
            </a:r>
          </a:p>
          <a:p>
            <a:pPr algn="ctr"/>
            <a:r>
              <a:rPr lang="en-US" sz="1200" dirty="0" err="1" smtClean="0">
                <a:solidFill>
                  <a:schemeClr val="bg1"/>
                </a:solidFill>
              </a:rPr>
              <a:t>Previsão</a:t>
            </a:r>
            <a:r>
              <a:rPr lang="en-US" sz="1200" dirty="0" smtClean="0">
                <a:solidFill>
                  <a:schemeClr val="bg1"/>
                </a:solidFill>
              </a:rPr>
              <a:t> de </a:t>
            </a:r>
            <a:r>
              <a:rPr lang="en-US" sz="1200" dirty="0" err="1" smtClean="0">
                <a:solidFill>
                  <a:schemeClr val="bg1"/>
                </a:solidFill>
              </a:rPr>
              <a:t>multa</a:t>
            </a:r>
            <a:endParaRPr lang="pt-BR" sz="1200" dirty="0">
              <a:solidFill>
                <a:schemeClr val="bg1"/>
              </a:solidFill>
            </a:endParaRPr>
          </a:p>
        </p:txBody>
      </p:sp>
      <p:sp>
        <p:nvSpPr>
          <p:cNvPr id="42" name="CaixaDeTexto 41"/>
          <p:cNvSpPr txBox="1"/>
          <p:nvPr/>
        </p:nvSpPr>
        <p:spPr>
          <a:xfrm>
            <a:off x="263527" y="6353918"/>
            <a:ext cx="8828224" cy="246221"/>
          </a:xfrm>
          <a:prstGeom prst="rect">
            <a:avLst/>
          </a:prstGeom>
          <a:noFill/>
        </p:spPr>
        <p:txBody>
          <a:bodyPr wrap="square" rtlCol="0">
            <a:spAutoFit/>
          </a:bodyPr>
          <a:lstStyle/>
          <a:p>
            <a:r>
              <a:rPr lang="pt-BR" sz="1000" dirty="0" err="1" smtClean="0"/>
              <a:t>Obs</a:t>
            </a:r>
            <a:r>
              <a:rPr lang="pt-BR" sz="1000" dirty="0" smtClean="0"/>
              <a:t> 1: O cálculo da estimativa de multa foi realizado tendo como referência a mesma metodologia aplicada pela Anatel e o lapso temporal de até 12 meses.</a:t>
            </a:r>
          </a:p>
        </p:txBody>
      </p:sp>
      <p:sp>
        <p:nvSpPr>
          <p:cNvPr id="43" name="Title 4"/>
          <p:cNvSpPr txBox="1">
            <a:spLocks/>
          </p:cNvSpPr>
          <p:nvPr/>
        </p:nvSpPr>
        <p:spPr>
          <a:xfrm>
            <a:off x="156477" y="1129626"/>
            <a:ext cx="11351900" cy="758952"/>
          </a:xfrm>
          <a:prstGeom prst="rect">
            <a:avLst/>
          </a:prstGeom>
        </p:spPr>
        <p:txBody>
          <a:bodyPr vert="horz" lIns="0" tIns="0" rIns="0" bIns="0" rtlCol="0" anchor="t" anchorCtr="0">
            <a:noAutofit/>
          </a:bodyPr>
          <a:lstStyle>
            <a:lvl1pPr algn="l" defTabSz="914341" rtl="0" eaLnBrk="1" latinLnBrk="0" hangingPunct="1">
              <a:lnSpc>
                <a:spcPct val="88000"/>
              </a:lnSpc>
              <a:spcBef>
                <a:spcPct val="0"/>
              </a:spcBef>
              <a:buNone/>
              <a:defRPr sz="2000" kern="0" baseline="0">
                <a:solidFill>
                  <a:schemeClr val="tx2"/>
                </a:solidFill>
                <a:latin typeface="+mj-lt"/>
                <a:ea typeface="+mj-ea"/>
                <a:cs typeface="+mj-cs"/>
              </a:defRPr>
            </a:lvl1pPr>
          </a:lstStyle>
          <a:p>
            <a:pPr marL="285750" lvl="0" indent="-285750">
              <a:buClrTx/>
              <a:buFont typeface="Wingdings" panose="05000000000000000000" pitchFamily="2" charset="2"/>
              <a:buChar char="ü"/>
            </a:pPr>
            <a:r>
              <a:rPr lang="pt-BR" sz="1400" dirty="0">
                <a:solidFill>
                  <a:schemeClr val="tx1"/>
                </a:solidFill>
                <a:latin typeface="Simplon BP Regular" pitchFamily="2" charset="0"/>
              </a:rPr>
              <a:t>A Resolução nº 765/2023 (Novo RGC) estabelece regras sobre direitos do </a:t>
            </a:r>
            <a:r>
              <a:rPr lang="pt-BR" sz="1400" dirty="0" smtClean="0">
                <a:solidFill>
                  <a:schemeClr val="tx1"/>
                </a:solidFill>
                <a:latin typeface="Simplon BP Regular" pitchFamily="2" charset="0"/>
              </a:rPr>
              <a:t>Consumidor, e teve sua vigência postergada para set/25.</a:t>
            </a:r>
          </a:p>
          <a:p>
            <a:pPr marL="285750" lvl="0" indent="-285750">
              <a:buClrTx/>
              <a:buFont typeface="Wingdings" panose="05000000000000000000" pitchFamily="2" charset="2"/>
              <a:buChar char="ü"/>
            </a:pPr>
            <a:endParaRPr lang="pt-BR" sz="1400" dirty="0">
              <a:solidFill>
                <a:schemeClr val="tx1"/>
              </a:solidFill>
              <a:latin typeface="Simplon BP Regular" pitchFamily="2" charset="0"/>
            </a:endParaRPr>
          </a:p>
          <a:p>
            <a:pPr marL="285750" lvl="0" indent="-285750">
              <a:buClrTx/>
              <a:buFont typeface="Wingdings" panose="05000000000000000000" pitchFamily="2" charset="2"/>
              <a:buChar char="ü"/>
            </a:pPr>
            <a:r>
              <a:rPr lang="pt-BR" sz="1400" dirty="0" smtClean="0">
                <a:solidFill>
                  <a:schemeClr val="tx1"/>
                </a:solidFill>
                <a:latin typeface="Simplon BP Regular" pitchFamily="2" charset="0"/>
              </a:rPr>
              <a:t>Desta forma, até set/25 fica vigente o RGC aprovado pela Resolução 632/2014;</a:t>
            </a:r>
          </a:p>
          <a:p>
            <a:pPr marL="285750" lvl="0" indent="-285750">
              <a:buClrTx/>
              <a:buFont typeface="Wingdings" panose="05000000000000000000" pitchFamily="2" charset="2"/>
              <a:buChar char="ü"/>
            </a:pPr>
            <a:endParaRPr lang="pt-BR" sz="1400" dirty="0">
              <a:solidFill>
                <a:schemeClr val="tx1"/>
              </a:solidFill>
              <a:latin typeface="Simplon BP Regular" pitchFamily="2" charset="0"/>
            </a:endParaRPr>
          </a:p>
          <a:p>
            <a:pPr marL="285750" lvl="0" indent="-285750">
              <a:buClrTx/>
              <a:buFont typeface="Wingdings" panose="05000000000000000000" pitchFamily="2" charset="2"/>
              <a:buChar char="ü"/>
            </a:pPr>
            <a:r>
              <a:rPr lang="pt-BR" sz="1400" dirty="0" smtClean="0">
                <a:solidFill>
                  <a:schemeClr val="tx1"/>
                </a:solidFill>
                <a:latin typeface="Simplon BP Regular" pitchFamily="2" charset="0"/>
              </a:rPr>
              <a:t>Atualmente foram mapeadas </a:t>
            </a:r>
            <a:r>
              <a:rPr lang="pt-BR" sz="1400" dirty="0" smtClean="0">
                <a:solidFill>
                  <a:schemeClr val="tx1"/>
                </a:solidFill>
                <a:latin typeface="Simplon BP Regular" pitchFamily="2" charset="0"/>
              </a:rPr>
              <a:t>20 </a:t>
            </a:r>
            <a:r>
              <a:rPr lang="pt-BR" sz="1400" dirty="0" smtClean="0">
                <a:solidFill>
                  <a:schemeClr val="tx1"/>
                </a:solidFill>
                <a:latin typeface="Simplon BP Regular" pitchFamily="2" charset="0"/>
              </a:rPr>
              <a:t>condutas que não estão 100% </a:t>
            </a:r>
            <a:r>
              <a:rPr lang="pt-BR" sz="1400" dirty="0" err="1" smtClean="0">
                <a:solidFill>
                  <a:schemeClr val="tx1"/>
                </a:solidFill>
                <a:latin typeface="Simplon BP Regular" pitchFamily="2" charset="0"/>
              </a:rPr>
              <a:t>compliance</a:t>
            </a:r>
            <a:r>
              <a:rPr lang="pt-BR" sz="1400" dirty="0" smtClean="0">
                <a:solidFill>
                  <a:schemeClr val="tx1"/>
                </a:solidFill>
                <a:latin typeface="Simplon BP Regular" pitchFamily="2" charset="0"/>
              </a:rPr>
              <a:t>, que apresenta um potencial risco de multa de R$ </a:t>
            </a:r>
            <a:r>
              <a:rPr lang="pt-BR" sz="1400" dirty="0" smtClean="0">
                <a:solidFill>
                  <a:schemeClr val="tx1"/>
                </a:solidFill>
                <a:latin typeface="Simplon BP Regular" pitchFamily="2" charset="0"/>
              </a:rPr>
              <a:t>127MM</a:t>
            </a:r>
            <a:r>
              <a:rPr lang="pt-BR" sz="1400" dirty="0" smtClean="0">
                <a:solidFill>
                  <a:schemeClr val="tx1"/>
                </a:solidFill>
                <a:latin typeface="Simplon BP Regular" pitchFamily="2" charset="0"/>
              </a:rPr>
              <a:t>.</a:t>
            </a:r>
          </a:p>
          <a:p>
            <a:pPr lvl="0">
              <a:buClrTx/>
            </a:pPr>
            <a:endParaRPr lang="pt-BR" sz="1400" dirty="0">
              <a:solidFill>
                <a:schemeClr val="tx1"/>
              </a:solidFill>
              <a:latin typeface="Simplon BP Regular" pitchFamily="2" charset="0"/>
            </a:endParaRPr>
          </a:p>
          <a:p>
            <a:pPr lvl="0">
              <a:buClrTx/>
            </a:pPr>
            <a:endParaRPr lang="pt-BR" sz="1400" dirty="0">
              <a:solidFill>
                <a:schemeClr val="tx1"/>
              </a:solidFill>
              <a:latin typeface="Simplon BP Regular" pitchFamily="2" charset="0"/>
            </a:endParaRPr>
          </a:p>
        </p:txBody>
      </p:sp>
      <p:graphicFrame>
        <p:nvGraphicFramePr>
          <p:cNvPr id="2" name="Tabela 1"/>
          <p:cNvGraphicFramePr>
            <a:graphicFrameLocks noGrp="1"/>
          </p:cNvGraphicFramePr>
          <p:nvPr>
            <p:extLst>
              <p:ext uri="{D42A27DB-BD31-4B8C-83A1-F6EECF244321}">
                <p14:modId xmlns:p14="http://schemas.microsoft.com/office/powerpoint/2010/main" val="1225768411"/>
              </p:ext>
            </p:extLst>
          </p:nvPr>
        </p:nvGraphicFramePr>
        <p:xfrm>
          <a:off x="461202" y="2363099"/>
          <a:ext cx="10892597" cy="3770130"/>
        </p:xfrm>
        <a:graphic>
          <a:graphicData uri="http://schemas.openxmlformats.org/drawingml/2006/table">
            <a:tbl>
              <a:tblPr/>
              <a:tblGrid>
                <a:gridCol w="1055077">
                  <a:extLst>
                    <a:ext uri="{9D8B030D-6E8A-4147-A177-3AD203B41FA5}">
                      <a16:colId xmlns:a16="http://schemas.microsoft.com/office/drawing/2014/main" val="2367868118"/>
                    </a:ext>
                  </a:extLst>
                </a:gridCol>
                <a:gridCol w="3725069">
                  <a:extLst>
                    <a:ext uri="{9D8B030D-6E8A-4147-A177-3AD203B41FA5}">
                      <a16:colId xmlns:a16="http://schemas.microsoft.com/office/drawing/2014/main" val="3668752446"/>
                    </a:ext>
                  </a:extLst>
                </a:gridCol>
                <a:gridCol w="928575">
                  <a:extLst>
                    <a:ext uri="{9D8B030D-6E8A-4147-A177-3AD203B41FA5}">
                      <a16:colId xmlns:a16="http://schemas.microsoft.com/office/drawing/2014/main" val="1861352561"/>
                    </a:ext>
                  </a:extLst>
                </a:gridCol>
                <a:gridCol w="1001247">
                  <a:extLst>
                    <a:ext uri="{9D8B030D-6E8A-4147-A177-3AD203B41FA5}">
                      <a16:colId xmlns:a16="http://schemas.microsoft.com/office/drawing/2014/main" val="4234861086"/>
                    </a:ext>
                  </a:extLst>
                </a:gridCol>
                <a:gridCol w="904352">
                  <a:extLst>
                    <a:ext uri="{9D8B030D-6E8A-4147-A177-3AD203B41FA5}">
                      <a16:colId xmlns:a16="http://schemas.microsoft.com/office/drawing/2014/main" val="2026115305"/>
                    </a:ext>
                  </a:extLst>
                </a:gridCol>
                <a:gridCol w="1994420">
                  <a:extLst>
                    <a:ext uri="{9D8B030D-6E8A-4147-A177-3AD203B41FA5}">
                      <a16:colId xmlns:a16="http://schemas.microsoft.com/office/drawing/2014/main" val="2023961867"/>
                    </a:ext>
                  </a:extLst>
                </a:gridCol>
                <a:gridCol w="1283857">
                  <a:extLst>
                    <a:ext uri="{9D8B030D-6E8A-4147-A177-3AD203B41FA5}">
                      <a16:colId xmlns:a16="http://schemas.microsoft.com/office/drawing/2014/main" val="2260557128"/>
                    </a:ext>
                  </a:extLst>
                </a:gridCol>
              </a:tblGrid>
              <a:tr h="179530">
                <a:tc>
                  <a:txBody>
                    <a:bodyPr/>
                    <a:lstStyle/>
                    <a:p>
                      <a:pPr algn="ctr" fontAlgn="b"/>
                      <a:r>
                        <a:rPr lang="pt-BR" sz="900" b="1" i="0" u="none" strike="noStrike">
                          <a:solidFill>
                            <a:srgbClr val="000000"/>
                          </a:solidFill>
                          <a:effectLst/>
                          <a:latin typeface="Calibri" panose="020F0502020204030204" pitchFamily="34" charset="0"/>
                        </a:rPr>
                        <a:t>Artigo Res 765/2023</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1" i="0" u="none" strike="noStrike">
                          <a:solidFill>
                            <a:srgbClr val="000000"/>
                          </a:solidFill>
                          <a:effectLst/>
                          <a:latin typeface="Calibri" panose="020F0502020204030204" pitchFamily="34" charset="0"/>
                        </a:rPr>
                        <a:t>Tema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1" i="0" u="none" strike="noStrike">
                          <a:solidFill>
                            <a:srgbClr val="000000"/>
                          </a:solidFill>
                          <a:effectLst/>
                          <a:latin typeface="Calibri" panose="020F0502020204030204" pitchFamily="34" charset="0"/>
                        </a:rPr>
                        <a:t>Descumprimento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1" i="0" u="none" strike="noStrike">
                          <a:solidFill>
                            <a:srgbClr val="000000"/>
                          </a:solidFill>
                          <a:effectLst/>
                          <a:latin typeface="Calibri" panose="020F0502020204030204" pitchFamily="34" charset="0"/>
                        </a:rPr>
                        <a:t>Pedido de Recurso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1" i="0" u="none" strike="noStrike">
                          <a:solidFill>
                            <a:srgbClr val="000000"/>
                          </a:solidFill>
                          <a:effectLst/>
                          <a:latin typeface="Calibri" panose="020F0502020204030204" pitchFamily="34" charset="0"/>
                        </a:rPr>
                        <a:t>Estimativa Multa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1" i="0" u="none" strike="noStrike">
                          <a:solidFill>
                            <a:srgbClr val="000000"/>
                          </a:solidFill>
                          <a:effectLst/>
                          <a:latin typeface="Calibri" panose="020F0502020204030204" pitchFamily="34" charset="0"/>
                        </a:rPr>
                        <a:t>Responsável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900" b="1" i="0" u="none" strike="noStrike">
                          <a:solidFill>
                            <a:srgbClr val="000000"/>
                          </a:solidFill>
                          <a:effectLst/>
                          <a:latin typeface="Calibri" panose="020F0502020204030204" pitchFamily="34" charset="0"/>
                        </a:rPr>
                        <a:t>Histórico Multa aplicada</a:t>
                      </a:r>
                    </a:p>
                  </a:txBody>
                  <a:tcPr marL="7801" marR="7801" marT="78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116596085"/>
                  </a:ext>
                </a:extLst>
              </a:tr>
              <a:tr h="179530">
                <a:tc>
                  <a:txBody>
                    <a:bodyPr/>
                    <a:lstStyle/>
                    <a:p>
                      <a:pPr algn="ctr" fontAlgn="b"/>
                      <a:r>
                        <a:rPr lang="pt-BR" sz="900" b="0" i="0" u="none" strike="noStrike">
                          <a:solidFill>
                            <a:srgbClr val="000000"/>
                          </a:solidFill>
                          <a:effectLst/>
                          <a:latin typeface="Calibri" panose="020F0502020204030204" pitchFamily="34" charset="0"/>
                        </a:rPr>
                        <a:t>56</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Documento Cobrança (separado por serviço contratado)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093784"/>
                  </a:ext>
                </a:extLst>
              </a:tr>
              <a:tr h="179530">
                <a:tc>
                  <a:txBody>
                    <a:bodyPr/>
                    <a:lstStyle/>
                    <a:p>
                      <a:pPr algn="ctr" fontAlgn="b"/>
                      <a:r>
                        <a:rPr lang="pt-BR" sz="900" b="0" i="0" u="none" strike="noStrike">
                          <a:solidFill>
                            <a:srgbClr val="000000"/>
                          </a:solidFill>
                          <a:effectLst/>
                          <a:latin typeface="Calibri" panose="020F0502020204030204" pitchFamily="34" charset="0"/>
                        </a:rPr>
                        <a:t>59</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Documento Cobrança (pós acordo débito)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2782070"/>
                  </a:ext>
                </a:extLst>
              </a:tr>
              <a:tr h="179530">
                <a:tc>
                  <a:txBody>
                    <a:bodyPr/>
                    <a:lstStyle/>
                    <a:p>
                      <a:pPr algn="ctr" fontAlgn="b"/>
                      <a:r>
                        <a:rPr lang="pt-BR" sz="900" b="0" i="0" u="none" strike="noStrike">
                          <a:solidFill>
                            <a:srgbClr val="000000"/>
                          </a:solidFill>
                          <a:effectLst/>
                          <a:latin typeface="Calibri" panose="020F0502020204030204" pitchFamily="34" charset="0"/>
                        </a:rPr>
                        <a:t>61</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Contestação (fluência dos prazos)</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panose="020F0502020204030204" pitchFamily="34" charset="0"/>
                        </a:rPr>
                        <a:t>R$ 6.159.652,75</a:t>
                      </a:r>
                    </a:p>
                  </a:txBody>
                  <a:tcPr marL="7801" marR="7801" marT="78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8464907"/>
                  </a:ext>
                </a:extLst>
              </a:tr>
              <a:tr h="179530">
                <a:tc>
                  <a:txBody>
                    <a:bodyPr/>
                    <a:lstStyle/>
                    <a:p>
                      <a:pPr algn="ctr" fontAlgn="b"/>
                      <a:r>
                        <a:rPr lang="pt-BR" sz="900" b="0" i="0" u="none" strike="noStrike">
                          <a:solidFill>
                            <a:srgbClr val="000000"/>
                          </a:solidFill>
                          <a:effectLst/>
                          <a:latin typeface="Calibri" panose="020F0502020204030204" pitchFamily="34" charset="0"/>
                        </a:rPr>
                        <a:t>67</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Pagamento Duplicidade</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8,13M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8907608"/>
                  </a:ext>
                </a:extLst>
              </a:tr>
              <a:tr h="179530">
                <a:tc>
                  <a:txBody>
                    <a:bodyPr/>
                    <a:lstStyle/>
                    <a:p>
                      <a:pPr algn="ctr" fontAlgn="b"/>
                      <a:r>
                        <a:rPr lang="pt-BR" sz="900" b="0" i="0" u="none" strike="noStrike">
                          <a:solidFill>
                            <a:srgbClr val="000000"/>
                          </a:solidFill>
                          <a:effectLst/>
                          <a:latin typeface="Calibri" panose="020F0502020204030204" pitchFamily="34" charset="0"/>
                        </a:rPr>
                        <a:t>9</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Formato de Protocolo e Rastreabilidade de Demandas (geral)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Sim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9177224"/>
                  </a:ext>
                </a:extLst>
              </a:tr>
              <a:tr h="179530">
                <a:tc>
                  <a:txBody>
                    <a:bodyPr/>
                    <a:lstStyle/>
                    <a:p>
                      <a:pPr algn="ctr" fontAlgn="b"/>
                      <a:r>
                        <a:rPr lang="pt-BR" sz="900" b="0" i="0" u="none" strike="noStrike">
                          <a:solidFill>
                            <a:srgbClr val="000000"/>
                          </a:solidFill>
                          <a:effectLst/>
                          <a:latin typeface="Calibri" panose="020F0502020204030204" pitchFamily="34" charset="0"/>
                        </a:rPr>
                        <a:t>13; V</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Atendimento por Meio Digital - Gravação e Cópia das Interações</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670726"/>
                  </a:ext>
                </a:extLst>
              </a:tr>
              <a:tr h="179530">
                <a:tc>
                  <a:txBody>
                    <a:bodyPr/>
                    <a:lstStyle/>
                    <a:p>
                      <a:pPr algn="ctr" fontAlgn="b"/>
                      <a:r>
                        <a:rPr lang="pt-BR" sz="900" b="0" i="0" u="none" strike="noStrike">
                          <a:solidFill>
                            <a:srgbClr val="000000"/>
                          </a:solidFill>
                          <a:effectLst/>
                          <a:latin typeface="Calibri" panose="020F0502020204030204" pitchFamily="34" charset="0"/>
                        </a:rPr>
                        <a:t>18 3º, II</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Conceito de Primeiro Menu</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Sim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1762049"/>
                  </a:ext>
                </a:extLst>
              </a:tr>
              <a:tr h="179530">
                <a:tc>
                  <a:txBody>
                    <a:bodyPr/>
                    <a:lstStyle/>
                    <a:p>
                      <a:pPr algn="ctr" fontAlgn="b"/>
                      <a:r>
                        <a:rPr lang="pt-BR" sz="900" b="0" i="0" u="none" strike="noStrike">
                          <a:solidFill>
                            <a:srgbClr val="000000"/>
                          </a:solidFill>
                          <a:effectLst/>
                          <a:latin typeface="Calibri" panose="020F0502020204030204" pitchFamily="34" charset="0"/>
                        </a:rPr>
                        <a:t>85</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Rescisão Contratual (comprovante)</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panose="020F0502020204030204" pitchFamily="34" charset="0"/>
                        </a:rPr>
                        <a:t>R$ 12.618,97</a:t>
                      </a:r>
                    </a:p>
                  </a:txBody>
                  <a:tcPr marL="7801" marR="7801" marT="78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7225188"/>
                  </a:ext>
                </a:extLst>
              </a:tr>
              <a:tr h="179530">
                <a:tc>
                  <a:txBody>
                    <a:bodyPr/>
                    <a:lstStyle/>
                    <a:p>
                      <a:pPr algn="ctr" fontAlgn="b"/>
                      <a:r>
                        <a:rPr lang="pt-BR" sz="900" b="0" i="0" u="none" strike="noStrike">
                          <a:solidFill>
                            <a:srgbClr val="000000"/>
                          </a:solidFill>
                          <a:effectLst/>
                          <a:latin typeface="Calibri" panose="020F0502020204030204" pitchFamily="34" charset="0"/>
                        </a:rPr>
                        <a:t>87</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Formato de Protocolo e Rastreabilidade de Demandas (ouvidoria)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Sim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0693984"/>
                  </a:ext>
                </a:extLst>
              </a:tr>
              <a:tr h="179530">
                <a:tc>
                  <a:txBody>
                    <a:bodyPr/>
                    <a:lstStyle/>
                    <a:p>
                      <a:pPr algn="ctr" fontAlgn="b"/>
                      <a:r>
                        <a:rPr lang="pt-BR" sz="900" b="0" i="0" u="none" strike="noStrike">
                          <a:solidFill>
                            <a:srgbClr val="000000"/>
                          </a:solidFill>
                          <a:effectLst/>
                          <a:latin typeface="Calibri" panose="020F0502020204030204" pitchFamily="34" charset="0"/>
                        </a:rPr>
                        <a:t>34</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Remuneração de Terceiros</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Sim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210k</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Luiz Felipe Meira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3705627"/>
                  </a:ext>
                </a:extLst>
              </a:tr>
              <a:tr h="179530">
                <a:tc>
                  <a:txBody>
                    <a:bodyPr/>
                    <a:lstStyle/>
                    <a:p>
                      <a:pPr algn="ctr" fontAlgn="b"/>
                      <a:r>
                        <a:rPr lang="pt-BR" sz="900" b="0" i="0" u="none" strike="noStrike">
                          <a:solidFill>
                            <a:srgbClr val="000000"/>
                          </a:solidFill>
                          <a:effectLst/>
                          <a:latin typeface="Calibri" panose="020F0502020204030204" pitchFamily="34" charset="0"/>
                        </a:rPr>
                        <a:t>39</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Ofertas&gt;Reajuste de Ofertas</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Sim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Luiz Felipe Meira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092220"/>
                  </a:ext>
                </a:extLst>
              </a:tr>
              <a:tr h="179530">
                <a:tc>
                  <a:txBody>
                    <a:bodyPr/>
                    <a:lstStyle/>
                    <a:p>
                      <a:pPr algn="ctr" fontAlgn="b"/>
                      <a:r>
                        <a:rPr lang="pt-BR" sz="900" b="0" i="0" u="none" strike="noStrike">
                          <a:solidFill>
                            <a:srgbClr val="000000"/>
                          </a:solidFill>
                          <a:effectLst/>
                          <a:latin typeface="Calibri" panose="020F0502020204030204" pitchFamily="34" charset="0"/>
                        </a:rPr>
                        <a:t>42</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Gravação e Cópia das Interações (informações primeiro acesso)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Luiz Felipe Meira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7597455"/>
                  </a:ext>
                </a:extLst>
              </a:tr>
              <a:tr h="179530">
                <a:tc>
                  <a:txBody>
                    <a:bodyPr/>
                    <a:lstStyle/>
                    <a:p>
                      <a:pPr algn="ctr" fontAlgn="b"/>
                      <a:r>
                        <a:rPr lang="pt-BR" sz="900" b="0" i="0" u="none" strike="noStrike">
                          <a:solidFill>
                            <a:srgbClr val="000000"/>
                          </a:solidFill>
                          <a:effectLst/>
                          <a:latin typeface="Calibri" panose="020F0502020204030204" pitchFamily="34" charset="0"/>
                        </a:rPr>
                        <a:t>64</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Devolução de Valores</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Sim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Luiz Felipe Meira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0510444"/>
                  </a:ext>
                </a:extLst>
              </a:tr>
              <a:tr h="179530">
                <a:tc>
                  <a:txBody>
                    <a:bodyPr/>
                    <a:lstStyle/>
                    <a:p>
                      <a:pPr algn="ctr" fontAlgn="b"/>
                      <a:r>
                        <a:rPr lang="pt-BR" sz="900" b="0" i="0" u="none" strike="noStrike">
                          <a:solidFill>
                            <a:srgbClr val="000000"/>
                          </a:solidFill>
                          <a:effectLst/>
                          <a:latin typeface="Calibri" panose="020F0502020204030204" pitchFamily="34" charset="0"/>
                        </a:rPr>
                        <a:t>8</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Regras de Atendimento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Luiz Felipe Meira e 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7188348"/>
                  </a:ext>
                </a:extLst>
              </a:tr>
              <a:tr h="179530">
                <a:tc>
                  <a:txBody>
                    <a:bodyPr/>
                    <a:lstStyle/>
                    <a:p>
                      <a:pPr algn="ctr" fontAlgn="b"/>
                      <a:r>
                        <a:rPr lang="pt-BR" sz="900" b="0" i="0" u="none" strike="noStrike">
                          <a:solidFill>
                            <a:srgbClr val="000000"/>
                          </a:solidFill>
                          <a:effectLst/>
                          <a:latin typeface="Calibri" panose="020F0502020204030204" pitchFamily="34" charset="0"/>
                        </a:rPr>
                        <a:t>13; I</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Ofertas - Atendimento por Meio Digital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Luiz Felipe Meira e 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0108289"/>
                  </a:ext>
                </a:extLst>
              </a:tr>
              <a:tr h="179530">
                <a:tc>
                  <a:txBody>
                    <a:bodyPr/>
                    <a:lstStyle/>
                    <a:p>
                      <a:pPr algn="ctr" fontAlgn="b"/>
                      <a:r>
                        <a:rPr lang="pt-BR" sz="900" b="0" i="0" u="none" strike="noStrike">
                          <a:solidFill>
                            <a:srgbClr val="000000"/>
                          </a:solidFill>
                          <a:effectLst/>
                          <a:latin typeface="Calibri" panose="020F0502020204030204" pitchFamily="34" charset="0"/>
                        </a:rPr>
                        <a:t>13; IV</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Atendimento por Meio Digital - Relatório detalhado Valores Restituídos</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 e Luiz Felipe Meira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5358715"/>
                  </a:ext>
                </a:extLst>
              </a:tr>
              <a:tr h="179530">
                <a:tc>
                  <a:txBody>
                    <a:bodyPr/>
                    <a:lstStyle/>
                    <a:p>
                      <a:pPr algn="ctr" fontAlgn="b"/>
                      <a:r>
                        <a:rPr lang="pt-BR" sz="900" b="0" i="0" u="none" strike="noStrike">
                          <a:solidFill>
                            <a:srgbClr val="000000"/>
                          </a:solidFill>
                          <a:effectLst/>
                          <a:latin typeface="Calibri" panose="020F0502020204030204" pitchFamily="34" charset="0"/>
                        </a:rPr>
                        <a:t>30</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Recusa Venda Inadimp</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 e Luiz Felipe Meira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panose="020F0502020204030204" pitchFamily="34" charset="0"/>
                        </a:rPr>
                        <a:t>R$ 13.911.918,68</a:t>
                      </a:r>
                    </a:p>
                  </a:txBody>
                  <a:tcPr marL="7801" marR="7801" marT="78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4446011"/>
                  </a:ext>
                </a:extLst>
              </a:tr>
              <a:tr h="179530">
                <a:tc>
                  <a:txBody>
                    <a:bodyPr/>
                    <a:lstStyle/>
                    <a:p>
                      <a:pPr algn="ctr" fontAlgn="b"/>
                      <a:r>
                        <a:rPr lang="pt-BR" sz="900" b="0" i="0" u="none" strike="noStrike">
                          <a:solidFill>
                            <a:srgbClr val="000000"/>
                          </a:solidFill>
                          <a:effectLst/>
                          <a:latin typeface="Calibri" panose="020F0502020204030204" pitchFamily="34" charset="0"/>
                        </a:rPr>
                        <a:t>60</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Contestação (prazo e emissão documento cobrança)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Parcial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 e 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panose="020F0502020204030204" pitchFamily="34" charset="0"/>
                        </a:rPr>
                        <a:t>R$ 9.561.381,56</a:t>
                      </a:r>
                    </a:p>
                  </a:txBody>
                  <a:tcPr marL="7801" marR="7801" marT="78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4083459"/>
                  </a:ext>
                </a:extLst>
              </a:tr>
              <a:tr h="179530">
                <a:tc>
                  <a:txBody>
                    <a:bodyPr/>
                    <a:lstStyle/>
                    <a:p>
                      <a:pPr algn="ctr" fontAlgn="b"/>
                      <a:r>
                        <a:rPr lang="pt-BR" sz="900" b="0" i="0" u="none" strike="noStrike">
                          <a:solidFill>
                            <a:srgbClr val="000000"/>
                          </a:solidFill>
                          <a:effectLst/>
                          <a:latin typeface="Calibri" panose="020F0502020204030204" pitchFamily="34" charset="0"/>
                        </a:rPr>
                        <a:t>68</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Notificação a ex cliente</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6,5M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 e 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panose="020F0502020204030204" pitchFamily="34" charset="0"/>
                        </a:rPr>
                        <a:t>R$ 31.516.660,26</a:t>
                      </a:r>
                    </a:p>
                  </a:txBody>
                  <a:tcPr marL="7801" marR="7801" marT="78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1798548"/>
                  </a:ext>
                </a:extLst>
              </a:tr>
              <a:tr h="179530">
                <a:tc>
                  <a:txBody>
                    <a:bodyPr/>
                    <a:lstStyle/>
                    <a:p>
                      <a:pPr algn="ctr" fontAlgn="b"/>
                      <a:r>
                        <a:rPr lang="pt-BR" sz="900" b="0" i="0" u="none" strike="noStrike">
                          <a:solidFill>
                            <a:srgbClr val="000000"/>
                          </a:solidFill>
                          <a:effectLst/>
                          <a:latin typeface="Calibri" panose="020F0502020204030204" pitchFamily="34" charset="0"/>
                        </a:rPr>
                        <a:t>69</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Fundo Direito Difuso (FDD)</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Total</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Não</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8,13M</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panose="020F0502020204030204" pitchFamily="34" charset="0"/>
                        </a:rPr>
                        <a:t>Bruno Macedo e Jomerson Almeida</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900" b="0" i="0" u="none" strike="noStrike" dirty="0">
                          <a:solidFill>
                            <a:srgbClr val="000000"/>
                          </a:solidFill>
                          <a:effectLst/>
                          <a:latin typeface="Calibri" panose="020F0502020204030204" pitchFamily="34" charset="0"/>
                        </a:rPr>
                        <a:t> </a:t>
                      </a:r>
                    </a:p>
                  </a:txBody>
                  <a:tcPr marL="7801" marR="7801" marT="78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1849104"/>
                  </a:ext>
                </a:extLst>
              </a:tr>
            </a:tbl>
          </a:graphicData>
        </a:graphic>
      </p:graphicFrame>
    </p:spTree>
    <p:extLst>
      <p:ext uri="{BB962C8B-B14F-4D97-AF65-F5344CB8AC3E}">
        <p14:creationId xmlns:p14="http://schemas.microsoft.com/office/powerpoint/2010/main" val="16673178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4741"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latin typeface="Simplon Oi Headline"/>
                <a:cs typeface="+mj-cs"/>
              </a:rPr>
              <a:t>Art. 56 – Documento Cobrança (separado por serviço contratado)</a:t>
            </a:r>
            <a:endParaRPr lang="pt-BR" sz="2800"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20934" y="1502328"/>
            <a:ext cx="4600814" cy="830997"/>
          </a:xfrm>
          <a:prstGeom prst="rect">
            <a:avLst/>
          </a:prstGeom>
          <a:noFill/>
        </p:spPr>
        <p:txBody>
          <a:bodyPr wrap="square">
            <a:spAutoFit/>
          </a:bodyPr>
          <a:lstStyle/>
          <a:p>
            <a:pPr lvl="0">
              <a:defRPr/>
            </a:pPr>
            <a:r>
              <a:rPr lang="pt-BR" sz="1200" dirty="0">
                <a:solidFill>
                  <a:prstClr val="black"/>
                </a:solidFill>
                <a:latin typeface="Simplon BP Regular" pitchFamily="2" charset="0"/>
              </a:rPr>
              <a:t>Art. 56. Durante a vigência do contrato, o Consumidor poderá requerer, sem ônus, a emissão do documento de cobrança em separado para cada serviço prestado, de forma permanente ou eventual.</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9746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8" y="4123087"/>
            <a:ext cx="4580358" cy="276999"/>
          </a:xfrm>
          <a:prstGeom prst="rect">
            <a:avLst/>
          </a:prstGeom>
          <a:noFill/>
        </p:spPr>
        <p:txBody>
          <a:bodyPr wrap="square">
            <a:spAutoFit/>
          </a:bodyPr>
          <a:lstStyle/>
          <a:p>
            <a:pPr marL="85725"/>
            <a:r>
              <a:rPr lang="pt-BR" sz="1200" dirty="0" smtClean="0">
                <a:latin typeface="Simplon BP Regular" pitchFamily="50" charset="0"/>
              </a:rPr>
              <a:t>Não há essa funcionalidade nos sistemas de faturamento</a:t>
            </a:r>
            <a:endParaRPr lang="pt-BR" sz="1200" dirty="0">
              <a:latin typeface="Simplon BP Regular" pitchFamily="50"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200329"/>
          </a:xfrm>
          <a:prstGeom prst="rect">
            <a:avLst/>
          </a:prstGeom>
          <a:noFill/>
        </p:spPr>
        <p:txBody>
          <a:bodyPr wrap="square">
            <a:spAutoFit/>
          </a:bodyPr>
          <a:lstStyle/>
          <a:p>
            <a:pPr marL="85725"/>
            <a:r>
              <a:rPr lang="pt-BR" sz="1200" dirty="0" smtClean="0">
                <a:latin typeface="Simplon BP Regular" pitchFamily="50" charset="0"/>
              </a:rPr>
              <a:t>Necessário desenvolver demanda para adequação ao regulamento.</a:t>
            </a:r>
            <a:endParaRPr lang="pt-BR" sz="1200" dirty="0">
              <a:latin typeface="Simplon BP Regular" pitchFamily="50" charset="0"/>
            </a:endParaRPr>
          </a:p>
          <a:p>
            <a:endParaRPr lang="pt-BR" sz="1200" dirty="0">
              <a:latin typeface="Simplon BP Regular" pitchFamily="50" charset="0"/>
            </a:endParaRPr>
          </a:p>
          <a:p>
            <a:r>
              <a:rPr lang="pt-BR" sz="1200" b="1" u="sng" dirty="0" err="1">
                <a:solidFill>
                  <a:srgbClr val="FF0000"/>
                </a:solidFill>
                <a:latin typeface="Simplon BP Regular" pitchFamily="50" charset="0"/>
              </a:rPr>
              <a:t>Obs</a:t>
            </a:r>
            <a:r>
              <a:rPr lang="pt-BR" sz="1200" b="1" u="sng" dirty="0">
                <a:solidFill>
                  <a:srgbClr val="FF0000"/>
                </a:solidFill>
                <a:latin typeface="Simplon BP Regular" pitchFamily="50" charset="0"/>
              </a:rPr>
              <a:t>: Aguardando decisão executiva para definir próximos passos</a:t>
            </a: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smtClean="0">
                <a:solidFill>
                  <a:schemeClr val="accent6"/>
                </a:solidFill>
                <a:latin typeface="Simplon BP"/>
              </a:rPr>
              <a:t>Já</a:t>
            </a:r>
            <a:r>
              <a:rPr lang="en-US" sz="1100" b="1" dirty="0" smtClean="0">
                <a:solidFill>
                  <a:schemeClr val="accent6"/>
                </a:solidFill>
                <a:latin typeface="Simplon BP"/>
              </a:rPr>
              <a:t> </a:t>
            </a:r>
            <a:r>
              <a:rPr lang="en-US" sz="1100" b="1" dirty="0" err="1" smtClean="0">
                <a:solidFill>
                  <a:schemeClr val="accent6"/>
                </a:solidFill>
                <a:latin typeface="Simplon BP"/>
              </a:rPr>
              <a:t>vigente</a:t>
            </a:r>
            <a:r>
              <a:rPr lang="en-US" sz="1100" b="1" dirty="0" smtClean="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44688" y="4004320"/>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65506" y="5408608"/>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6719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Ciclo da </a:t>
            </a:r>
            <a:r>
              <a:rPr lang="pt-BR" sz="1200" b="1" dirty="0" smtClean="0">
                <a:solidFill>
                  <a:prstClr val="black"/>
                </a:solidFill>
                <a:latin typeface="Simplon BP Regular" pitchFamily="2" charset="0"/>
              </a:rPr>
              <a:t>Receita</a:t>
            </a:r>
            <a:endParaRPr lang="pt-BR" sz="1200" b="1" dirty="0">
              <a:solidFill>
                <a:prstClr val="black"/>
              </a:solidFill>
              <a:latin typeface="Simplon BP Regular" pitchFamily="2" charset="0"/>
            </a:endParaRPr>
          </a:p>
          <a:p>
            <a:pPr lvl="0">
              <a:defRPr/>
            </a:pPr>
            <a:endParaRPr lang="pt-BR" sz="1200" b="1" dirty="0" smtClean="0">
              <a:solidFill>
                <a:prstClr val="black"/>
              </a:solidFill>
              <a:latin typeface="Simplon BP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NOME DO RESPONSÁVEL</a:t>
            </a:r>
          </a:p>
          <a:p>
            <a:pPr lvl="0">
              <a:defRPr/>
            </a:pPr>
            <a:r>
              <a:rPr lang="pt-BR" sz="1200" b="1" dirty="0" smtClean="0">
                <a:solidFill>
                  <a:prstClr val="black"/>
                </a:solidFill>
                <a:latin typeface="Simplon BP Regular" pitchFamily="2" charset="0"/>
              </a:rPr>
              <a:t>Bruno Macedo</a:t>
            </a:r>
            <a:endParaRPr kumimoji="0" lang="pt-BR" sz="1200" b="1" i="0" u="none" strike="noStrike" kern="1200" cap="none" spc="0" normalizeH="0" baseline="0" noProof="0" dirty="0">
              <a:ln>
                <a:noFill/>
              </a:ln>
              <a:solidFill>
                <a:prstClr val="black"/>
              </a:solidFill>
              <a:effectLst/>
              <a:uLnTx/>
              <a:uFillTx/>
              <a:latin typeface="Simplon BP Regular" pitchFamily="2" charset="0"/>
            </a:endParaRP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11354897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5764"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latin typeface="Simplon Oi Headline"/>
                <a:cs typeface="+mj-cs"/>
              </a:rPr>
              <a:t>Art. 59 – Documento Cobrança (pós acordo débito)</a:t>
            </a:r>
            <a:endParaRPr lang="pt-BR" sz="2800"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1569660"/>
          </a:xfrm>
          <a:prstGeom prst="rect">
            <a:avLst/>
          </a:prstGeom>
          <a:noFill/>
        </p:spPr>
        <p:txBody>
          <a:bodyPr wrap="square">
            <a:spAutoFit/>
          </a:bodyPr>
          <a:lstStyle/>
          <a:p>
            <a:pPr lvl="0">
              <a:defRPr/>
            </a:pPr>
            <a:r>
              <a:rPr lang="pt-BR" sz="1200" dirty="0">
                <a:solidFill>
                  <a:prstClr val="black"/>
                </a:solidFill>
                <a:latin typeface="Simplon BP Regular" pitchFamily="2" charset="0"/>
              </a:rPr>
              <a:t>Art. 59. No caso de celebração de acordo, a Prestadora será obrigada a encaminhar, sob demanda do Consumidor e sem ônus, documento de cobrança em separado contendo os valores acordados, observado o disposto no § 3º do art. 78.</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Parágrafo único. A Prestadora deverá informar ao Consumidor sobre a faculdade prevista no caput no momento da celebração do acordo.</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9746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8" y="4123087"/>
            <a:ext cx="4580358" cy="276999"/>
          </a:xfrm>
          <a:prstGeom prst="rect">
            <a:avLst/>
          </a:prstGeom>
          <a:noFill/>
        </p:spPr>
        <p:txBody>
          <a:bodyPr wrap="square">
            <a:spAutoFit/>
          </a:bodyPr>
          <a:lstStyle/>
          <a:p>
            <a:pPr marL="85725"/>
            <a:r>
              <a:rPr lang="pt-BR" sz="1200" dirty="0" smtClean="0">
                <a:latin typeface="Simplon BP Regular" pitchFamily="50" charset="0"/>
              </a:rPr>
              <a:t>Não há essa funcionalidade nos sistemas de faturamento</a:t>
            </a:r>
            <a:endParaRPr lang="pt-BR" sz="1200" dirty="0">
              <a:latin typeface="Simplon BP Regular" pitchFamily="50"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200329"/>
          </a:xfrm>
          <a:prstGeom prst="rect">
            <a:avLst/>
          </a:prstGeom>
          <a:noFill/>
        </p:spPr>
        <p:txBody>
          <a:bodyPr wrap="square">
            <a:spAutoFit/>
          </a:bodyPr>
          <a:lstStyle/>
          <a:p>
            <a:pPr marL="85725"/>
            <a:r>
              <a:rPr lang="pt-BR" sz="1200" dirty="0" smtClean="0">
                <a:latin typeface="Simplon BP Regular" pitchFamily="50" charset="0"/>
              </a:rPr>
              <a:t>Necessário desenvolver demanda para adequação ao regulamento.</a:t>
            </a:r>
            <a:endParaRPr lang="pt-BR" sz="1200" dirty="0">
              <a:latin typeface="Simplon BP Regular" pitchFamily="50" charset="0"/>
            </a:endParaRPr>
          </a:p>
          <a:p>
            <a:endParaRPr lang="pt-BR" sz="1200" dirty="0">
              <a:latin typeface="Simplon BP Regular" pitchFamily="50" charset="0"/>
            </a:endParaRPr>
          </a:p>
          <a:p>
            <a:r>
              <a:rPr lang="pt-BR" sz="1200" b="1" u="sng" dirty="0" err="1">
                <a:solidFill>
                  <a:srgbClr val="FF0000"/>
                </a:solidFill>
                <a:latin typeface="Simplon BP Regular" pitchFamily="50" charset="0"/>
              </a:rPr>
              <a:t>Obs</a:t>
            </a:r>
            <a:r>
              <a:rPr lang="pt-BR" sz="1200" b="1" u="sng" dirty="0">
                <a:solidFill>
                  <a:srgbClr val="FF0000"/>
                </a:solidFill>
                <a:latin typeface="Simplon BP Regular" pitchFamily="50" charset="0"/>
              </a:rPr>
              <a:t>: Aguardando decisão executiva para definir próximos passos</a:t>
            </a: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517" y="419764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65506" y="5408608"/>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6719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Ciclo da </a:t>
            </a:r>
            <a:r>
              <a:rPr lang="pt-BR" sz="1200" b="1" dirty="0" smtClean="0">
                <a:solidFill>
                  <a:prstClr val="black"/>
                </a:solidFill>
                <a:latin typeface="Simplon BP Regular" pitchFamily="2" charset="0"/>
              </a:rPr>
              <a:t>Receita</a:t>
            </a:r>
            <a:endParaRPr lang="pt-BR" sz="1200" b="1" dirty="0">
              <a:solidFill>
                <a:prstClr val="black"/>
              </a:solidFill>
              <a:latin typeface="Simplon BP Regular" pitchFamily="2" charset="0"/>
            </a:endParaRPr>
          </a:p>
          <a:p>
            <a:pPr lvl="0">
              <a:defRPr/>
            </a:pPr>
            <a:endParaRPr lang="pt-BR" sz="1200" b="1" dirty="0" smtClean="0">
              <a:solidFill>
                <a:prstClr val="black"/>
              </a:solidFill>
              <a:latin typeface="Simplon BP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NOME DO RESPONSÁVEL</a:t>
            </a:r>
          </a:p>
          <a:p>
            <a:pPr lvl="0">
              <a:defRPr/>
            </a:pPr>
            <a:r>
              <a:rPr lang="pt-BR" sz="1200" b="1" dirty="0" smtClean="0">
                <a:solidFill>
                  <a:prstClr val="black"/>
                </a:solidFill>
                <a:latin typeface="Simplon BP Regular" pitchFamily="2" charset="0"/>
              </a:rPr>
              <a:t>Bruno Macedo</a:t>
            </a:r>
            <a:endParaRPr kumimoji="0" lang="pt-BR" sz="1200" b="1" i="0" u="none" strike="noStrike" kern="1200" cap="none" spc="0" normalizeH="0" baseline="0" noProof="0" dirty="0">
              <a:ln>
                <a:noFill/>
              </a:ln>
              <a:solidFill>
                <a:prstClr val="black"/>
              </a:solidFill>
              <a:effectLst/>
              <a:uLnTx/>
              <a:uFillTx/>
              <a:latin typeface="Simplon BP Regular" pitchFamily="2" charset="0"/>
            </a:endParaRP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3595156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7810"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latin typeface="Simplon Oi Headline"/>
                <a:cs typeface="+mj-cs"/>
              </a:rPr>
              <a:t>Art. 61 – Contestação (fluência dos prazos)</a:t>
            </a:r>
            <a:endParaRPr lang="pt-BR" sz="2800"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2308324"/>
          </a:xfrm>
          <a:prstGeom prst="rect">
            <a:avLst/>
          </a:prstGeom>
          <a:noFill/>
        </p:spPr>
        <p:txBody>
          <a:bodyPr wrap="square">
            <a:spAutoFit/>
          </a:bodyPr>
          <a:lstStyle/>
          <a:p>
            <a:pPr lvl="0">
              <a:defRPr/>
            </a:pPr>
            <a:r>
              <a:rPr lang="pt-BR" sz="1200" dirty="0">
                <a:solidFill>
                  <a:prstClr val="black"/>
                </a:solidFill>
                <a:latin typeface="Simplon BP Regular" pitchFamily="2" charset="0"/>
              </a:rPr>
              <a:t>Art. 61. A contestação de débito suspende a fluência dos prazos para suspensão e rescisão contratual, até que o Consumidor seja notificado da resposta da Prestadora à sua contestação.</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 1º A Prestadora deverá analisar a contestação de débito e notificar o Consumidor de sua resposta no prazo máximo de 30 (trinta) dias, a contar da contestação.</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 2º O valor contestado poderá ser cobrado novamente após notificação do Consumidor sobre as razões pelas quais a contestação foi considerada improcedente, desde que a análise seja realizada no prazo previsto no § 1º.</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9746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8" y="4123087"/>
            <a:ext cx="4580358" cy="461665"/>
          </a:xfrm>
          <a:prstGeom prst="rect">
            <a:avLst/>
          </a:prstGeom>
          <a:noFill/>
        </p:spPr>
        <p:txBody>
          <a:bodyPr wrap="square">
            <a:spAutoFit/>
          </a:bodyPr>
          <a:lstStyle/>
          <a:p>
            <a:pPr marL="85725"/>
            <a:r>
              <a:rPr lang="pt-BR" sz="1200" dirty="0">
                <a:latin typeface="Simplon BP Regular" pitchFamily="50" charset="0"/>
              </a:rPr>
              <a:t>Nova Fibra não interrompemos - não estamos </a:t>
            </a:r>
            <a:r>
              <a:rPr lang="pt-BR" sz="1200" dirty="0" err="1">
                <a:latin typeface="Simplon BP Regular" pitchFamily="50" charset="0"/>
              </a:rPr>
              <a:t>compliance</a:t>
            </a:r>
            <a:endParaRPr lang="pt-BR" sz="1200" dirty="0">
              <a:latin typeface="Simplon BP Regular" pitchFamily="50" charset="0"/>
            </a:endParaRPr>
          </a:p>
          <a:p>
            <a:pPr marL="85725"/>
            <a:r>
              <a:rPr lang="pt-BR" sz="1200" dirty="0">
                <a:latin typeface="Simplon BP Regular" pitchFamily="50" charset="0"/>
              </a:rPr>
              <a:t>Fibra Legado - </a:t>
            </a:r>
            <a:r>
              <a:rPr lang="pt-BR" sz="1200" dirty="0" smtClean="0">
                <a:latin typeface="Simplon BP Regular" pitchFamily="50" charset="0"/>
              </a:rPr>
              <a:t>ok</a:t>
            </a:r>
            <a:endParaRPr lang="pt-BR" sz="1200" dirty="0">
              <a:latin typeface="Simplon BP Regular" pitchFamily="50"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200329"/>
          </a:xfrm>
          <a:prstGeom prst="rect">
            <a:avLst/>
          </a:prstGeom>
          <a:noFill/>
        </p:spPr>
        <p:txBody>
          <a:bodyPr wrap="square">
            <a:spAutoFit/>
          </a:bodyPr>
          <a:lstStyle/>
          <a:p>
            <a:pPr marL="85725"/>
            <a:r>
              <a:rPr lang="pt-BR" sz="1200" dirty="0" smtClean="0">
                <a:latin typeface="Simplon BP Regular" pitchFamily="50" charset="0"/>
              </a:rPr>
              <a:t>Necessário desenvolver demanda para adequação ao regulamento.</a:t>
            </a:r>
            <a:endParaRPr lang="pt-BR" sz="1200" dirty="0">
              <a:latin typeface="Simplon BP Regular" pitchFamily="50" charset="0"/>
            </a:endParaRPr>
          </a:p>
          <a:p>
            <a:endParaRPr lang="pt-BR" sz="1200" dirty="0">
              <a:latin typeface="Simplon BP Regular" pitchFamily="50" charset="0"/>
            </a:endParaRPr>
          </a:p>
          <a:p>
            <a:r>
              <a:rPr lang="pt-BR" sz="1200" b="1" u="sng" dirty="0" err="1">
                <a:solidFill>
                  <a:srgbClr val="FF0000"/>
                </a:solidFill>
                <a:latin typeface="Simplon BP Regular" pitchFamily="50" charset="0"/>
              </a:rPr>
              <a:t>Obs</a:t>
            </a:r>
            <a:r>
              <a:rPr lang="pt-BR" sz="1200" b="1" u="sng" dirty="0">
                <a:solidFill>
                  <a:srgbClr val="FF0000"/>
                </a:solidFill>
                <a:latin typeface="Simplon BP Regular" pitchFamily="50" charset="0"/>
              </a:rPr>
              <a:t>: Aguardando decisão executiva para definir próximos passos</a:t>
            </a: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517" y="419764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51900" y="525458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6719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Ciclo da </a:t>
            </a:r>
            <a:r>
              <a:rPr lang="pt-BR" sz="1200" b="1" dirty="0" smtClean="0">
                <a:solidFill>
                  <a:prstClr val="black"/>
                </a:solidFill>
                <a:latin typeface="Simplon BP Regular" pitchFamily="2" charset="0"/>
              </a:rPr>
              <a:t>Receita</a:t>
            </a:r>
            <a:endParaRPr lang="pt-BR" sz="1200" b="1" dirty="0">
              <a:solidFill>
                <a:prstClr val="black"/>
              </a:solidFill>
              <a:latin typeface="Simplon BP Regular" pitchFamily="2" charset="0"/>
            </a:endParaRPr>
          </a:p>
          <a:p>
            <a:pPr lvl="0">
              <a:defRPr/>
            </a:pPr>
            <a:endParaRPr lang="pt-BR" sz="1200" b="1" dirty="0" smtClean="0">
              <a:solidFill>
                <a:prstClr val="black"/>
              </a:solidFill>
              <a:latin typeface="Simplon BP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NOME DO RESPONSÁVEL</a:t>
            </a:r>
          </a:p>
          <a:p>
            <a:pPr lvl="0">
              <a:defRPr/>
            </a:pPr>
            <a:r>
              <a:rPr lang="pt-BR" sz="1200" b="1" dirty="0" smtClean="0">
                <a:solidFill>
                  <a:srgbClr val="FF0000"/>
                </a:solidFill>
                <a:latin typeface="Simplon BP Regular" pitchFamily="2" charset="0"/>
              </a:rPr>
              <a:t>Bruno Macedo</a:t>
            </a:r>
            <a:endParaRPr kumimoji="0" lang="pt-BR" sz="1200" b="1" i="0" u="none" strike="noStrike" kern="1200" cap="none" spc="0" normalizeH="0" baseline="0" noProof="0" dirty="0">
              <a:ln>
                <a:noFill/>
              </a:ln>
              <a:solidFill>
                <a:srgbClr val="FF0000"/>
              </a:solidFill>
              <a:effectLst/>
              <a:uLnTx/>
              <a:uFillTx/>
              <a:latin typeface="Simplon BP Regular" pitchFamily="2" charset="0"/>
            </a:endParaRPr>
          </a:p>
        </p:txBody>
      </p:sp>
      <p:sp>
        <p:nvSpPr>
          <p:cNvPr id="4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3006333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31898"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latin typeface="Simplon Oi Headline"/>
                <a:cs typeface="+mj-cs"/>
              </a:rPr>
              <a:t>Art. 67 – Pagamento Duplicidade</a:t>
            </a:r>
            <a:endParaRPr lang="pt-BR" sz="2800"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R$ 8,13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1754326"/>
          </a:xfrm>
          <a:prstGeom prst="rect">
            <a:avLst/>
          </a:prstGeom>
          <a:noFill/>
        </p:spPr>
        <p:txBody>
          <a:bodyPr wrap="square">
            <a:spAutoFit/>
          </a:bodyPr>
          <a:lstStyle/>
          <a:p>
            <a:pPr lvl="0">
              <a:defRPr/>
            </a:pPr>
            <a:r>
              <a:rPr lang="pt-BR" sz="1200" dirty="0">
                <a:solidFill>
                  <a:prstClr val="black"/>
                </a:solidFill>
                <a:latin typeface="Simplon BP Regular" pitchFamily="2" charset="0"/>
              </a:rPr>
              <a:t>Art. 67. Em caso de pagamento em duplicidade pelo Consumidor, a Prestadora deverá devolver o valor pago em excesso por meio de abatimento no documento de cobrança seguinte à identificação do fato, respeitado o ciclo de faturamento.</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Parágrafo único. Alternativamente ao disposto no caput, o Consumidor pode solicitar a devolução via sistema bancário, hipótese em que a Prestadora deverá efetuá-lo em até 30 (trinta) dias, contados da solicitação.</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9746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8" y="4123087"/>
            <a:ext cx="4580358" cy="1754326"/>
          </a:xfrm>
          <a:prstGeom prst="rect">
            <a:avLst/>
          </a:prstGeom>
          <a:noFill/>
        </p:spPr>
        <p:txBody>
          <a:bodyPr wrap="square">
            <a:spAutoFit/>
          </a:bodyPr>
          <a:lstStyle/>
          <a:p>
            <a:pPr marL="85725"/>
            <a:r>
              <a:rPr lang="pt-BR" sz="1200" dirty="0">
                <a:latin typeface="Simplon BP Regular" pitchFamily="50" charset="0"/>
              </a:rPr>
              <a:t>Fibra Legado - Sob demanda </a:t>
            </a:r>
            <a:r>
              <a:rPr lang="pt-BR" sz="1200" dirty="0" smtClean="0">
                <a:latin typeface="Simplon BP Regular" pitchFamily="50" charset="0"/>
              </a:rPr>
              <a:t>(a pedido do cliente) devolve </a:t>
            </a:r>
          </a:p>
          <a:p>
            <a:pPr marL="85725"/>
            <a:endParaRPr lang="pt-BR" sz="1200" dirty="0" smtClean="0">
              <a:latin typeface="Simplon BP Regular" pitchFamily="50" charset="0"/>
            </a:endParaRPr>
          </a:p>
          <a:p>
            <a:pPr marL="85725"/>
            <a:r>
              <a:rPr lang="pt-BR" sz="1200" dirty="0" smtClean="0">
                <a:latin typeface="Simplon BP Regular" pitchFamily="50" charset="0"/>
              </a:rPr>
              <a:t>Nova </a:t>
            </a:r>
            <a:r>
              <a:rPr lang="pt-BR" sz="1200" dirty="0">
                <a:latin typeface="Simplon BP Regular" pitchFamily="50" charset="0"/>
              </a:rPr>
              <a:t>Fibra o cliente não consegue pagar em duplicidade,  porém existem cenários de erro (exceção) que o cliente pode conseguir pagar em duplicidade. A devolução não é automática, sendo encaminhado o pedido para BackOffice que efetua análise junto ao time de arrecadação</a:t>
            </a:r>
            <a:r>
              <a:rPr lang="pt-BR" sz="1200" dirty="0" smtClean="0">
                <a:latin typeface="Simplon BP Regular" pitchFamily="50" charset="0"/>
              </a:rPr>
              <a:t>.</a:t>
            </a:r>
          </a:p>
          <a:p>
            <a:pPr marL="85725"/>
            <a:r>
              <a:rPr lang="pt-BR" sz="1200" dirty="0">
                <a:latin typeface="Simplon BP Regular" pitchFamily="50" charset="0"/>
              </a:rPr>
              <a:t>Decisão 2021 não fazer</a:t>
            </a:r>
          </a:p>
          <a:p>
            <a:pPr marL="85725"/>
            <a:endParaRPr lang="pt-BR" sz="1200" b="1" dirty="0">
              <a:latin typeface="Simplon BP Regular" pitchFamily="50"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384995"/>
          </a:xfrm>
          <a:prstGeom prst="rect">
            <a:avLst/>
          </a:prstGeom>
          <a:noFill/>
        </p:spPr>
        <p:txBody>
          <a:bodyPr wrap="square">
            <a:spAutoFit/>
          </a:bodyPr>
          <a:lstStyle/>
          <a:p>
            <a:pPr marL="85725"/>
            <a:r>
              <a:rPr lang="pt-BR" sz="1200" dirty="0" smtClean="0">
                <a:latin typeface="Simplon BP Regular" pitchFamily="50" charset="0"/>
              </a:rPr>
              <a:t>Efetuar </a:t>
            </a:r>
            <a:r>
              <a:rPr lang="pt-BR" sz="1200" dirty="0">
                <a:latin typeface="Simplon BP Regular" pitchFamily="50" charset="0"/>
              </a:rPr>
              <a:t>validação executiva se </a:t>
            </a:r>
            <a:r>
              <a:rPr lang="pt-BR" sz="1200" dirty="0" smtClean="0">
                <a:latin typeface="Simplon BP Regular" pitchFamily="50" charset="0"/>
              </a:rPr>
              <a:t>irá </a:t>
            </a:r>
            <a:r>
              <a:rPr lang="pt-BR" sz="1200" dirty="0">
                <a:latin typeface="Simplon BP Regular" pitchFamily="50" charset="0"/>
              </a:rPr>
              <a:t>seguir com o procedimento atual  de devolver quando cliente </a:t>
            </a:r>
            <a:r>
              <a:rPr lang="pt-BR" sz="1200" dirty="0" smtClean="0">
                <a:latin typeface="Simplon BP Regular" pitchFamily="50" charset="0"/>
              </a:rPr>
              <a:t>reclamar.</a:t>
            </a:r>
            <a:endParaRPr lang="pt-BR" sz="1200" dirty="0">
              <a:latin typeface="Simplon BP Regular" pitchFamily="50" charset="0"/>
            </a:endParaRPr>
          </a:p>
          <a:p>
            <a:pPr marL="85725"/>
            <a:endParaRPr lang="pt-BR" sz="1200" dirty="0">
              <a:latin typeface="Simplon BP Regular" pitchFamily="50" charset="0"/>
            </a:endParaRPr>
          </a:p>
          <a:p>
            <a:pPr marL="85725"/>
            <a:endParaRPr lang="pt-BR" sz="1200" dirty="0">
              <a:latin typeface="Simplon BP Regular" pitchFamily="50" charset="0"/>
            </a:endParaRPr>
          </a:p>
          <a:p>
            <a:r>
              <a:rPr lang="pt-BR" sz="1200" b="1" u="sng" dirty="0" err="1">
                <a:solidFill>
                  <a:srgbClr val="FF0000"/>
                </a:solidFill>
                <a:latin typeface="Simplon BP Regular" pitchFamily="50" charset="0"/>
              </a:rPr>
              <a:t>Obs</a:t>
            </a:r>
            <a:r>
              <a:rPr lang="pt-BR" sz="1200" b="1" u="sng" dirty="0">
                <a:solidFill>
                  <a:srgbClr val="FF0000"/>
                </a:solidFill>
                <a:latin typeface="Simplon BP Regular" pitchFamily="50" charset="0"/>
              </a:rPr>
              <a:t>: Aguardando decisão executiva para definir próximos passos</a:t>
            </a: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517" y="419764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54073" y="541872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4688" y="4794952"/>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Ciclo da Receita</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pt-BR" sz="1200" b="1" dirty="0">
                <a:solidFill>
                  <a:prstClr val="black"/>
                </a:solidFill>
                <a:latin typeface="Simplon BP Regular" pitchFamily="2" charset="0"/>
              </a:rPr>
              <a:t>Bruno Macedo</a:t>
            </a: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1188861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55438"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a:solidFill>
                  <a:srgbClr val="92D050"/>
                </a:solidFill>
                <a:cs typeface="+mj-cs"/>
              </a:rPr>
              <a:t>9 </a:t>
            </a:r>
            <a:r>
              <a:rPr lang="pt-BR" sz="2400" dirty="0" smtClean="0">
                <a:solidFill>
                  <a:srgbClr val="92D050"/>
                </a:solidFill>
                <a:cs typeface="+mj-cs"/>
              </a:rPr>
              <a:t>- Formato </a:t>
            </a:r>
            <a:r>
              <a:rPr lang="pt-BR" sz="2400" dirty="0">
                <a:solidFill>
                  <a:srgbClr val="92D050"/>
                </a:solidFill>
                <a:cs typeface="+mj-cs"/>
              </a:rPr>
              <a:t>de Protocolo e Rastreabilidade de </a:t>
            </a:r>
            <a:r>
              <a:rPr lang="pt-BR" sz="2400" dirty="0" smtClean="0">
                <a:solidFill>
                  <a:srgbClr val="92D050"/>
                </a:solidFill>
                <a:cs typeface="+mj-cs"/>
              </a:rPr>
              <a:t>Demandas (geral)</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err="1" smtClean="0">
                <a:solidFill>
                  <a:schemeClr val="bg1"/>
                </a:solidFill>
                <a:latin typeface="Simplon BP"/>
              </a:rPr>
              <a:t>xxx</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622023" cy="2492990"/>
          </a:xfrm>
          <a:prstGeom prst="rect">
            <a:avLst/>
          </a:prstGeom>
          <a:noFill/>
        </p:spPr>
        <p:txBody>
          <a:bodyPr wrap="square">
            <a:spAutoFit/>
          </a:bodyPr>
          <a:lstStyle/>
          <a:p>
            <a:pPr fontAlgn="base"/>
            <a:r>
              <a:rPr lang="pt-BR" sz="1200" dirty="0">
                <a:latin typeface="Simplon BP Regular" pitchFamily="50" charset="0"/>
              </a:rPr>
              <a:t>Art. 9º Todo atendimento receberá um protocolo da Prestadora, que deverá:</a:t>
            </a:r>
          </a:p>
          <a:p>
            <a:pPr fontAlgn="base"/>
            <a:endParaRPr lang="pt-BR" sz="1200" dirty="0">
              <a:latin typeface="Simplon BP Regular" pitchFamily="50" charset="0"/>
            </a:endParaRPr>
          </a:p>
          <a:p>
            <a:pPr fontAlgn="base"/>
            <a:r>
              <a:rPr lang="pt-BR" sz="1200" dirty="0">
                <a:latin typeface="Simplon BP Regular" pitchFamily="50" charset="0"/>
              </a:rPr>
              <a:t>I - ser informado ao Consumidor no início do atendimento;</a:t>
            </a:r>
          </a:p>
          <a:p>
            <a:pPr fontAlgn="base"/>
            <a:r>
              <a:rPr lang="pt-BR" sz="1200" dirty="0" smtClean="0">
                <a:latin typeface="Simplon BP Regular" pitchFamily="50" charset="0"/>
              </a:rPr>
              <a:t>II </a:t>
            </a:r>
            <a:r>
              <a:rPr lang="pt-BR" sz="1200" dirty="0">
                <a:latin typeface="Simplon BP Regular" pitchFamily="50" charset="0"/>
              </a:rPr>
              <a:t>- permitir a rastreabilidade da demanda; e,</a:t>
            </a:r>
          </a:p>
          <a:p>
            <a:pPr fontAlgn="base"/>
            <a:r>
              <a:rPr lang="pt-BR" sz="1200" dirty="0" smtClean="0">
                <a:latin typeface="Simplon BP Regular" pitchFamily="50" charset="0"/>
              </a:rPr>
              <a:t>III </a:t>
            </a:r>
            <a:r>
              <a:rPr lang="pt-BR" sz="1200" dirty="0">
                <a:latin typeface="Simplon BP Regular" pitchFamily="50" charset="0"/>
              </a:rPr>
              <a:t>- ser enviado por meio eletrônico escolhido pelo Consumidor, em até 1 (um) dia do atendimento, contendo data e hora do registro, para todos os serviços cuja prestação está sujeita ao presente Regulamento.</a:t>
            </a:r>
          </a:p>
          <a:p>
            <a:pPr fontAlgn="base"/>
            <a:endParaRPr lang="pt-BR" sz="1200" dirty="0">
              <a:latin typeface="Simplon BP Regular" pitchFamily="50" charset="0"/>
            </a:endParaRPr>
          </a:p>
          <a:p>
            <a:pPr fontAlgn="base"/>
            <a:r>
              <a:rPr lang="pt-BR" sz="1200" dirty="0">
                <a:latin typeface="Simplon BP Regular" pitchFamily="50" charset="0"/>
              </a:rPr>
              <a:t>Parágrafo único. O Grupo de Implantação definirá o formato do protocolo e o atendimento quanto ao disposto no inciso II deste artigo.</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432393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649557"/>
            <a:ext cx="4440097" cy="1708160"/>
          </a:xfrm>
          <a:prstGeom prst="rect">
            <a:avLst/>
          </a:prstGeom>
          <a:noFill/>
        </p:spPr>
        <p:txBody>
          <a:bodyPr wrap="square">
            <a:spAutoFit/>
          </a:bodyPr>
          <a:lstStyle/>
          <a:p>
            <a:pPr lvl="0" algn="just">
              <a:defRPr/>
            </a:pPr>
            <a:r>
              <a:rPr lang="pt-BR" sz="1050" b="1" dirty="0" smtClean="0">
                <a:solidFill>
                  <a:prstClr val="black"/>
                </a:solidFill>
                <a:latin typeface="Simplon BP Regular" pitchFamily="50" charset="0"/>
              </a:rPr>
              <a:t>1</a:t>
            </a:r>
            <a:r>
              <a:rPr lang="pt-BR" sz="1050" b="1" dirty="0">
                <a:solidFill>
                  <a:prstClr val="black"/>
                </a:solidFill>
                <a:latin typeface="Simplon BP Regular" pitchFamily="50" charset="0"/>
              </a:rPr>
              <a:t>. </a:t>
            </a:r>
            <a:r>
              <a:rPr lang="pt-BR" sz="1050" b="1" dirty="0" smtClean="0">
                <a:solidFill>
                  <a:prstClr val="black"/>
                </a:solidFill>
                <a:latin typeface="Simplon BP Regular" pitchFamily="50" charset="0"/>
              </a:rPr>
              <a:t>Não </a:t>
            </a:r>
            <a:r>
              <a:rPr lang="pt-BR" sz="1050" b="1" dirty="0">
                <a:solidFill>
                  <a:prstClr val="black"/>
                </a:solidFill>
                <a:latin typeface="Simplon BP Regular" pitchFamily="50" charset="0"/>
              </a:rPr>
              <a:t>temos padronização de todo os protocolos para atender o item de </a:t>
            </a:r>
            <a:r>
              <a:rPr lang="pt-BR" sz="1050" b="1" dirty="0" smtClean="0">
                <a:solidFill>
                  <a:prstClr val="black"/>
                </a:solidFill>
                <a:latin typeface="Simplon BP Regular" pitchFamily="50" charset="0"/>
              </a:rPr>
              <a:t>rastreabilidade/síntese </a:t>
            </a:r>
            <a:r>
              <a:rPr lang="pt-BR" sz="1050" b="1" dirty="0">
                <a:solidFill>
                  <a:prstClr val="black"/>
                </a:solidFill>
                <a:latin typeface="Simplon BP Regular" pitchFamily="50" charset="0"/>
              </a:rPr>
              <a:t>da demanda, fornecido nos diversos canais de atendimento.</a:t>
            </a:r>
          </a:p>
          <a:p>
            <a:pPr lvl="0" algn="just">
              <a:defRPr/>
            </a:pPr>
            <a:r>
              <a:rPr lang="pt-BR" sz="1050" b="1" dirty="0">
                <a:solidFill>
                  <a:prstClr val="black"/>
                </a:solidFill>
                <a:latin typeface="Simplon BP Regular" pitchFamily="50" charset="0"/>
              </a:rPr>
              <a:t>2. Envio protocolo por 02 meios em set/24 e em   set/25 para 03 meios </a:t>
            </a:r>
          </a:p>
          <a:p>
            <a:pPr lvl="0" algn="just">
              <a:defRPr/>
            </a:pPr>
            <a:r>
              <a:rPr lang="pt-BR" sz="1050" b="1" dirty="0">
                <a:solidFill>
                  <a:prstClr val="black"/>
                </a:solidFill>
                <a:latin typeface="Simplon BP Regular" pitchFamily="50" charset="0"/>
              </a:rPr>
              <a:t>3. Rastreabilidade de protocolo com </a:t>
            </a:r>
            <a:r>
              <a:rPr lang="pt-BR" sz="1050" b="1" dirty="0" smtClean="0">
                <a:solidFill>
                  <a:prstClr val="black"/>
                </a:solidFill>
                <a:latin typeface="Simplon BP Regular" pitchFamily="50" charset="0"/>
              </a:rPr>
              <a:t>síntese </a:t>
            </a:r>
            <a:r>
              <a:rPr lang="pt-BR" sz="1050" b="1" dirty="0">
                <a:solidFill>
                  <a:prstClr val="black"/>
                </a:solidFill>
                <a:latin typeface="Simplon BP Regular" pitchFamily="50" charset="0"/>
              </a:rPr>
              <a:t>da demanda </a:t>
            </a:r>
          </a:p>
          <a:p>
            <a:pPr lvl="0" algn="just">
              <a:defRPr/>
            </a:pPr>
            <a:r>
              <a:rPr lang="pt-BR" sz="1050" b="1" dirty="0">
                <a:solidFill>
                  <a:prstClr val="black"/>
                </a:solidFill>
                <a:latin typeface="Simplon BP Regular" pitchFamily="50" charset="0"/>
              </a:rPr>
              <a:t>4. Rastreabilidade de protocolo da Ouvidoria no Nova Fibra (Demanda </a:t>
            </a:r>
            <a:r>
              <a:rPr lang="pt-BR" sz="1050" b="1" dirty="0" err="1">
                <a:solidFill>
                  <a:prstClr val="black"/>
                </a:solidFill>
                <a:latin typeface="Simplon BP Regular" pitchFamily="50" charset="0"/>
              </a:rPr>
              <a:t>nao</a:t>
            </a:r>
            <a:r>
              <a:rPr lang="pt-BR" sz="1050" b="1" dirty="0">
                <a:solidFill>
                  <a:prstClr val="black"/>
                </a:solidFill>
                <a:latin typeface="Simplon BP Regular" pitchFamily="50" charset="0"/>
              </a:rPr>
              <a:t> foi priorizada nas P2, tentar levar para a P3 para entrega em 2024 4 Tri de </a:t>
            </a:r>
            <a:r>
              <a:rPr lang="pt-BR" sz="1050" b="1" dirty="0" smtClean="0">
                <a:solidFill>
                  <a:prstClr val="black"/>
                </a:solidFill>
                <a:latin typeface="Simplon BP Regular" pitchFamily="50" charset="0"/>
              </a:rPr>
              <a:t>2024</a:t>
            </a:r>
          </a:p>
          <a:p>
            <a:pPr lvl="0" algn="just">
              <a:defRPr/>
            </a:pPr>
            <a:r>
              <a:rPr lang="pt-BR" sz="1050" b="1" dirty="0" smtClean="0">
                <a:solidFill>
                  <a:prstClr val="black"/>
                </a:solidFill>
                <a:latin typeface="Simplon BP Regular" pitchFamily="50" charset="0"/>
              </a:rPr>
              <a:t>5</a:t>
            </a:r>
            <a:r>
              <a:rPr lang="pt-BR" sz="1050" b="1" dirty="0">
                <a:solidFill>
                  <a:prstClr val="black"/>
                </a:solidFill>
                <a:latin typeface="Simplon BP Regular" pitchFamily="50" charset="0"/>
              </a:rPr>
              <a:t>. Envio proativo de informação de conclusão do protocolo por canal escolhido por ele</a:t>
            </a:r>
          </a:p>
        </p:txBody>
      </p:sp>
      <p:sp>
        <p:nvSpPr>
          <p:cNvPr id="42" name="TextBox 1">
            <a:extLst>
              <a:ext uri="{FF2B5EF4-FFF2-40B4-BE49-F238E27FC236}">
                <a16:creationId xmlns:a16="http://schemas.microsoft.com/office/drawing/2014/main" id="{78C73662-F2B9-EA54-760E-817ED3732111}"/>
              </a:ext>
            </a:extLst>
          </p:cNvPr>
          <p:cNvSpPr txBox="1"/>
          <p:nvPr/>
        </p:nvSpPr>
        <p:spPr>
          <a:xfrm>
            <a:off x="7299868" y="2904917"/>
            <a:ext cx="4526052" cy="3293209"/>
          </a:xfrm>
          <a:prstGeom prst="rect">
            <a:avLst/>
          </a:prstGeom>
          <a:noFill/>
        </p:spPr>
        <p:txBody>
          <a:bodyPr wrap="square">
            <a:spAutoFit/>
          </a:bodyPr>
          <a:lstStyle/>
          <a:p>
            <a:pPr marL="285750" lvl="0" indent="-285750">
              <a:buFontTx/>
              <a:buChar char="-"/>
              <a:defRPr/>
            </a:pPr>
            <a:r>
              <a:rPr lang="pt-BR" sz="1300" b="1" dirty="0" smtClean="0">
                <a:solidFill>
                  <a:prstClr val="black"/>
                </a:solidFill>
                <a:latin typeface="Simplon BP Regular" pitchFamily="2" charset="0"/>
              </a:rPr>
              <a:t>Nova Fibra Temas de priorização à definir;</a:t>
            </a:r>
          </a:p>
          <a:p>
            <a:pPr marL="285750" lvl="0" indent="-285750">
              <a:buFontTx/>
              <a:buChar char="-"/>
              <a:defRPr/>
            </a:pPr>
            <a:r>
              <a:rPr lang="pt-BR" sz="1300" b="1" dirty="0" smtClean="0">
                <a:solidFill>
                  <a:prstClr val="black"/>
                </a:solidFill>
                <a:latin typeface="Simplon BP Regular" pitchFamily="2" charset="0"/>
              </a:rPr>
              <a:t>Desenvolvimento em todos os </a:t>
            </a:r>
            <a:r>
              <a:rPr lang="pt-BR" sz="1300" b="1" dirty="0" err="1" smtClean="0">
                <a:solidFill>
                  <a:prstClr val="black"/>
                </a:solidFill>
                <a:latin typeface="Simplon BP Regular" pitchFamily="2" charset="0"/>
              </a:rPr>
              <a:t>CRMs</a:t>
            </a:r>
            <a:r>
              <a:rPr lang="pt-BR" sz="1300" b="1" dirty="0" smtClean="0">
                <a:solidFill>
                  <a:prstClr val="black"/>
                </a:solidFill>
                <a:latin typeface="Simplon BP Regular" pitchFamily="2" charset="0"/>
              </a:rPr>
              <a:t> que geram protocolo: Siebel 6.3, Siebel 8, STC, </a:t>
            </a:r>
            <a:r>
              <a:rPr lang="pt-BR" sz="1300" b="1" dirty="0" err="1" smtClean="0">
                <a:solidFill>
                  <a:prstClr val="black"/>
                </a:solidFill>
                <a:latin typeface="Simplon BP Regular" pitchFamily="2" charset="0"/>
              </a:rPr>
              <a:t>Unipro</a:t>
            </a:r>
            <a:r>
              <a:rPr lang="pt-BR" sz="1300" b="1" dirty="0" smtClean="0">
                <a:solidFill>
                  <a:prstClr val="black"/>
                </a:solidFill>
                <a:latin typeface="Simplon BP Regular" pitchFamily="2" charset="0"/>
              </a:rPr>
              <a:t> gerando alto custo sistêmico, prazo inviável pois o regulamento entra em Set/24, variedade de formatos dos protocolos (segmentados dentro da Oi);</a:t>
            </a:r>
          </a:p>
          <a:p>
            <a:pPr marL="285750" lvl="0" indent="-285750">
              <a:buFontTx/>
              <a:buChar char="-"/>
              <a:defRPr/>
            </a:pPr>
            <a:r>
              <a:rPr lang="pt-BR" sz="1300" b="1" dirty="0" smtClean="0">
                <a:solidFill>
                  <a:prstClr val="black"/>
                </a:solidFill>
                <a:latin typeface="Simplon BP Regular" pitchFamily="2" charset="0"/>
              </a:rPr>
              <a:t>Alguns protocolos com letras (Oi soluções) para serviço, para reparo, BA, </a:t>
            </a:r>
            <a:r>
              <a:rPr lang="pt-BR" sz="1300" b="1" dirty="0" err="1" smtClean="0">
                <a:solidFill>
                  <a:prstClr val="black"/>
                </a:solidFill>
                <a:latin typeface="Simplon BP Regular" pitchFamily="2" charset="0"/>
              </a:rPr>
              <a:t>etc</a:t>
            </a:r>
            <a:r>
              <a:rPr lang="pt-BR" sz="1300" b="1" dirty="0" smtClean="0">
                <a:solidFill>
                  <a:prstClr val="black"/>
                </a:solidFill>
                <a:latin typeface="Simplon BP Regular" pitchFamily="2" charset="0"/>
              </a:rPr>
              <a:t>, podem ser diferentes (4, 13, 15 caracteres);</a:t>
            </a:r>
          </a:p>
          <a:p>
            <a:pPr marL="285750" lvl="0" indent="-285750">
              <a:buFontTx/>
              <a:buChar char="-"/>
              <a:defRPr/>
            </a:pPr>
            <a:r>
              <a:rPr lang="pt-BR" sz="1300" b="1" dirty="0" smtClean="0">
                <a:solidFill>
                  <a:prstClr val="black"/>
                </a:solidFill>
                <a:latin typeface="Simplon BP Regular" pitchFamily="2" charset="0"/>
              </a:rPr>
              <a:t>Há sistemas diferentes para reparo e serviços envolvendo R1 (STC), R2 (SAF e ??) e tecnologia/produtos;</a:t>
            </a:r>
          </a:p>
          <a:p>
            <a:pPr marL="285750" lvl="0" indent="-285750">
              <a:buFontTx/>
              <a:buChar char="-"/>
              <a:defRPr/>
            </a:pPr>
            <a:r>
              <a:rPr lang="pt-BR" sz="1300" b="1" dirty="0" smtClean="0">
                <a:solidFill>
                  <a:prstClr val="black"/>
                </a:solidFill>
                <a:latin typeface="Simplon BP Regular" pitchFamily="2" charset="0"/>
              </a:rPr>
              <a:t>O protocolo da URA não é necessariamente </a:t>
            </a:r>
            <a:r>
              <a:rPr lang="pt-BR" sz="1300" b="1" dirty="0" err="1" smtClean="0">
                <a:solidFill>
                  <a:prstClr val="black"/>
                </a:solidFill>
                <a:latin typeface="Simplon BP Regular" pitchFamily="2" charset="0"/>
              </a:rPr>
              <a:t>rastreável</a:t>
            </a:r>
            <a:r>
              <a:rPr lang="pt-BR" sz="1300" b="1" dirty="0" smtClean="0">
                <a:solidFill>
                  <a:prstClr val="black"/>
                </a:solidFill>
                <a:latin typeface="Simplon BP Regular" pitchFamily="2" charset="0"/>
              </a:rPr>
              <a:t> (Siebel – Fibra legado, STC – STFC, </a:t>
            </a:r>
            <a:r>
              <a:rPr lang="pt-BR" sz="1300" b="1" dirty="0" err="1" smtClean="0">
                <a:solidFill>
                  <a:prstClr val="black"/>
                </a:solidFill>
                <a:latin typeface="Simplon BP Regular" pitchFamily="2" charset="0"/>
              </a:rPr>
              <a:t>Salesforce</a:t>
            </a:r>
            <a:r>
              <a:rPr lang="pt-BR" sz="1300" b="1" dirty="0" smtClean="0">
                <a:solidFill>
                  <a:prstClr val="black"/>
                </a:solidFill>
                <a:latin typeface="Simplon BP Regular" pitchFamily="2" charset="0"/>
              </a:rPr>
              <a:t> – Nova Fibra). A rastreabilidade só funciona para os sistemas integrados com o </a:t>
            </a:r>
            <a:r>
              <a:rPr lang="pt-BR" sz="1300" b="1" dirty="0" err="1" smtClean="0">
                <a:solidFill>
                  <a:prstClr val="black"/>
                </a:solidFill>
                <a:latin typeface="Simplon BP Regular" pitchFamily="2" charset="0"/>
              </a:rPr>
              <a:t>Unipro</a:t>
            </a:r>
            <a:r>
              <a:rPr lang="pt-BR" sz="1300" b="1" dirty="0" smtClean="0">
                <a:solidFill>
                  <a:prstClr val="black"/>
                </a:solidFill>
                <a:latin typeface="Simplon BP Regular" pitchFamily="2" charset="0"/>
              </a:rPr>
              <a:t> e Sales Force;</a:t>
            </a:r>
            <a:endParaRPr lang="pt-BR" sz="1300" b="1" dirty="0">
              <a:solidFill>
                <a:prstClr val="black"/>
              </a:solidFill>
              <a:latin typeface="Simplon BP Regular" pitchFamily="2"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3350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01529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240262"/>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628648"/>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smtClean="0">
                <a:solidFill>
                  <a:prstClr val="black"/>
                </a:solidFill>
                <a:latin typeface="Simplon BP Regular" pitchFamily="2" charset="0"/>
              </a:rPr>
              <a:t>Relacionamento com Cliente</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Jomerson da Silva Almeida</a:t>
            </a:r>
            <a:endParaRPr lang="pt-BR" sz="1200" b="1" dirty="0">
              <a:solidFill>
                <a:prstClr val="black"/>
              </a:solidFill>
              <a:latin typeface="Simplon BP Regular" pitchFamily="2" charset="0"/>
            </a:endParaRPr>
          </a:p>
        </p:txBody>
      </p:sp>
      <p:sp>
        <p:nvSpPr>
          <p:cNvPr id="48"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5510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69764"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dirty="0"/>
              <a:t/>
            </a:r>
            <a:br>
              <a:rPr lang="pt-BR" dirty="0"/>
            </a:br>
            <a:r>
              <a:rPr lang="pt-BR" sz="2400" b="0" dirty="0" smtClean="0">
                <a:solidFill>
                  <a:srgbClr val="92D050"/>
                </a:solidFill>
                <a:cs typeface="+mj-cs"/>
              </a:rPr>
              <a:t>Art. </a:t>
            </a:r>
            <a:r>
              <a:rPr lang="pt-BR" sz="2400" dirty="0" smtClean="0">
                <a:solidFill>
                  <a:srgbClr val="92D050"/>
                </a:solidFill>
                <a:cs typeface="+mj-cs"/>
              </a:rPr>
              <a:t>13; V </a:t>
            </a:r>
            <a:r>
              <a:rPr lang="pt-BR" sz="2400" dirty="0">
                <a:solidFill>
                  <a:srgbClr val="92D050"/>
                </a:solidFill>
                <a:cs typeface="+mj-cs"/>
              </a:rPr>
              <a:t>- Atendimento por Meio Digital - Gravação e Cópia das Interações</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err="1" smtClean="0">
                <a:solidFill>
                  <a:schemeClr val="bg1"/>
                </a:solidFill>
                <a:latin typeface="Simplon BP"/>
              </a:rPr>
              <a:t>xxx</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550688" cy="1169551"/>
          </a:xfrm>
          <a:prstGeom prst="rect">
            <a:avLst/>
          </a:prstGeom>
          <a:noFill/>
        </p:spPr>
        <p:txBody>
          <a:bodyPr wrap="square">
            <a:spAutoFit/>
          </a:bodyPr>
          <a:lstStyle/>
          <a:p>
            <a:pPr fontAlgn="base"/>
            <a:r>
              <a:rPr lang="pt-BR" sz="1400" b="1" dirty="0">
                <a:latin typeface="Simplon BP Regular" pitchFamily="50" charset="0"/>
              </a:rPr>
              <a:t>Art. 13</a:t>
            </a:r>
            <a:r>
              <a:rPr lang="pt-BR" sz="1400" dirty="0">
                <a:latin typeface="Simplon BP Regular" pitchFamily="50" charset="0"/>
              </a:rPr>
              <a:t>. O Atendimento por Meio Digital garantirá ao </a:t>
            </a:r>
          </a:p>
          <a:p>
            <a:pPr fontAlgn="base"/>
            <a:r>
              <a:rPr lang="pt-BR" sz="1400" dirty="0">
                <a:latin typeface="Simplon BP Regular" pitchFamily="50" charset="0"/>
              </a:rPr>
              <a:t>Consumidor o acesso, no mínimo:</a:t>
            </a:r>
          </a:p>
          <a:p>
            <a:pPr fontAlgn="base"/>
            <a:r>
              <a:rPr lang="pt-BR" sz="1400" dirty="0">
                <a:latin typeface="Simplon BP Regular" pitchFamily="50" charset="0"/>
              </a:rPr>
              <a:t>(...)</a:t>
            </a:r>
          </a:p>
          <a:p>
            <a:pPr fontAlgn="base"/>
            <a:r>
              <a:rPr lang="pt-BR" sz="1400" dirty="0">
                <a:latin typeface="Simplon BP Regular" pitchFamily="50" charset="0"/>
              </a:rPr>
              <a:t>V - à opção de solicitação de cópia da gravação de suas interações, quando for o caso; </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959574"/>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285195"/>
            <a:ext cx="4816339" cy="738664"/>
          </a:xfrm>
          <a:prstGeom prst="rect">
            <a:avLst/>
          </a:prstGeom>
          <a:noFill/>
        </p:spPr>
        <p:txBody>
          <a:bodyPr wrap="square">
            <a:spAutoFit/>
          </a:bodyPr>
          <a:lstStyle/>
          <a:p>
            <a:pPr lvl="0">
              <a:defRPr/>
            </a:pPr>
            <a:r>
              <a:rPr lang="pt-BR" sz="1400" b="1" dirty="0">
                <a:solidFill>
                  <a:prstClr val="black"/>
                </a:solidFill>
                <a:latin typeface="Simplon BP Regular" pitchFamily="50" charset="0"/>
              </a:rPr>
              <a:t>1. Gravação de Interação </a:t>
            </a:r>
          </a:p>
          <a:p>
            <a:pPr lvl="0">
              <a:defRPr/>
            </a:pPr>
            <a:r>
              <a:rPr lang="pt-BR" sz="1400" b="1" dirty="0">
                <a:solidFill>
                  <a:prstClr val="black"/>
                </a:solidFill>
                <a:latin typeface="Simplon BP Regular" pitchFamily="50" charset="0"/>
              </a:rPr>
              <a:t>2. </a:t>
            </a:r>
            <a:r>
              <a:rPr lang="pt-BR" sz="1400" b="1" dirty="0" err="1">
                <a:solidFill>
                  <a:prstClr val="black"/>
                </a:solidFill>
                <a:latin typeface="Simplon BP Regular" pitchFamily="50" charset="0"/>
              </a:rPr>
              <a:t>Disponbilização</a:t>
            </a:r>
            <a:r>
              <a:rPr lang="pt-BR" sz="1400" b="1" dirty="0">
                <a:solidFill>
                  <a:prstClr val="black"/>
                </a:solidFill>
                <a:latin typeface="Simplon BP Regular" pitchFamily="50" charset="0"/>
              </a:rPr>
              <a:t> da gravação das Interações </a:t>
            </a:r>
          </a:p>
          <a:p>
            <a:pPr lvl="0">
              <a:defRPr/>
            </a:pPr>
            <a:r>
              <a:rPr lang="pt-BR" sz="1400" b="1" dirty="0">
                <a:solidFill>
                  <a:prstClr val="black"/>
                </a:solidFill>
                <a:latin typeface="Simplon BP Regular" pitchFamily="50" charset="0"/>
              </a:rPr>
              <a:t>3. </a:t>
            </a:r>
            <a:r>
              <a:rPr lang="pt-BR" sz="1400" b="1" dirty="0" err="1">
                <a:solidFill>
                  <a:prstClr val="black"/>
                </a:solidFill>
                <a:latin typeface="Simplon BP Regular" pitchFamily="50" charset="0"/>
              </a:rPr>
              <a:t>Relatorio</a:t>
            </a:r>
            <a:r>
              <a:rPr lang="pt-BR" sz="1400" b="1" dirty="0">
                <a:solidFill>
                  <a:prstClr val="black"/>
                </a:solidFill>
                <a:latin typeface="Simplon BP Regular" pitchFamily="50" charset="0"/>
              </a:rPr>
              <a:t> detalhado</a:t>
            </a: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86603"/>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7299868" y="2904917"/>
            <a:ext cx="4526052" cy="954107"/>
          </a:xfrm>
          <a:prstGeom prst="rect">
            <a:avLst/>
          </a:prstGeom>
          <a:noFill/>
        </p:spPr>
        <p:txBody>
          <a:bodyPr wrap="square">
            <a:spAutoFit/>
          </a:bodyPr>
          <a:lstStyle/>
          <a:p>
            <a:pPr lvl="0">
              <a:defRPr/>
            </a:pPr>
            <a:r>
              <a:rPr lang="pt-BR" sz="1400" dirty="0">
                <a:solidFill>
                  <a:prstClr val="black"/>
                </a:solidFill>
                <a:latin typeface="Simplon BP Regular" pitchFamily="50" charset="0"/>
              </a:rPr>
              <a:t>- OG não mensurada;</a:t>
            </a:r>
          </a:p>
          <a:p>
            <a:pPr lvl="0">
              <a:defRPr/>
            </a:pPr>
            <a:r>
              <a:rPr lang="pt-BR" sz="1400" dirty="0">
                <a:solidFill>
                  <a:prstClr val="black"/>
                </a:solidFill>
                <a:latin typeface="Simplon BP Regular" pitchFamily="50" charset="0"/>
              </a:rPr>
              <a:t>- Não foi apresentado plano de ação para correção da conduta;</a:t>
            </a:r>
          </a:p>
          <a:p>
            <a:pPr lvl="0">
              <a:defRPr/>
            </a:pPr>
            <a:endParaRPr lang="pt-BR" sz="1400" dirty="0">
              <a:solidFill>
                <a:prstClr val="black"/>
              </a:solidFill>
              <a:latin typeface="Simplon BP Regular" pitchFamily="50" charset="0"/>
            </a:endParaRPr>
          </a:p>
        </p:txBody>
      </p:sp>
      <p:sp>
        <p:nvSpPr>
          <p:cNvPr id="64" name="TextBox 1">
            <a:extLst>
              <a:ext uri="{FF2B5EF4-FFF2-40B4-BE49-F238E27FC236}">
                <a16:creationId xmlns:a16="http://schemas.microsoft.com/office/drawing/2014/main" id="{78C73662-F2B9-EA54-760E-817ED3732111}"/>
              </a:ext>
            </a:extLst>
          </p:cNvPr>
          <p:cNvSpPr txBox="1"/>
          <p:nvPr/>
        </p:nvSpPr>
        <p:spPr>
          <a:xfrm>
            <a:off x="1133856" y="4184578"/>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5" name="TextBox 1">
            <a:extLst>
              <a:ext uri="{FF2B5EF4-FFF2-40B4-BE49-F238E27FC236}">
                <a16:creationId xmlns:a16="http://schemas.microsoft.com/office/drawing/2014/main" id="{78C73662-F2B9-EA54-760E-817ED3732111}"/>
              </a:ext>
            </a:extLst>
          </p:cNvPr>
          <p:cNvSpPr txBox="1"/>
          <p:nvPr/>
        </p:nvSpPr>
        <p:spPr>
          <a:xfrm>
            <a:off x="1147381" y="343131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74347" y="1516782"/>
            <a:ext cx="2219529" cy="1200329"/>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smtClean="0">
                <a:solidFill>
                  <a:prstClr val="black"/>
                </a:solidFill>
                <a:latin typeface="Simplon BP Regular" pitchFamily="2" charset="0"/>
              </a:rPr>
              <a:t>Relacionamento com Clientes</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smtClean="0">
                <a:solidFill>
                  <a:prstClr val="black"/>
                </a:solidFill>
                <a:latin typeface="Simplon BP Regular" pitchFamily="2" charset="0"/>
              </a:rPr>
              <a:t>Jomerson Almeida</a:t>
            </a:r>
            <a:endParaRPr lang="pt-BR" sz="1200" b="1" dirty="0">
              <a:solidFill>
                <a:prstClr val="black"/>
              </a:solidFill>
              <a:latin typeface="Simplon BP Regular" pitchFamily="2" charset="0"/>
            </a:endParaRPr>
          </a:p>
        </p:txBody>
      </p:sp>
      <p:sp>
        <p:nvSpPr>
          <p:cNvPr id="59"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3078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64655"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dirty="0">
                <a:solidFill>
                  <a:srgbClr val="92D050"/>
                </a:solidFill>
              </a:rPr>
              <a:t>Art. 18 § 3º, </a:t>
            </a:r>
            <a:r>
              <a:rPr lang="pt-BR" sz="2400" dirty="0" smtClean="0">
                <a:solidFill>
                  <a:srgbClr val="92D050"/>
                </a:solidFill>
              </a:rPr>
              <a:t>II - </a:t>
            </a:r>
            <a:r>
              <a:rPr lang="pt-BR" sz="2400" dirty="0" smtClean="0">
                <a:solidFill>
                  <a:srgbClr val="92D050"/>
                </a:solidFill>
                <a:cs typeface="+mj-cs"/>
              </a:rPr>
              <a:t>Conceito </a:t>
            </a:r>
            <a:r>
              <a:rPr lang="pt-BR" sz="2400" dirty="0">
                <a:solidFill>
                  <a:srgbClr val="92D050"/>
                </a:solidFill>
                <a:cs typeface="+mj-cs"/>
              </a:rPr>
              <a:t>de Primeiro Menu</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a:solidFill>
                  <a:schemeClr val="bg1"/>
                </a:solidFill>
                <a:latin typeface="Simplon BP"/>
              </a:rPr>
              <a:t>R$ </a:t>
            </a:r>
            <a:r>
              <a:rPr lang="pt-BR" sz="1100" b="1" dirty="0" smtClean="0">
                <a:solidFill>
                  <a:schemeClr val="bg1"/>
                </a:solidFill>
                <a:latin typeface="Simplon BP"/>
              </a:rPr>
              <a:t>?</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622023" cy="3231654"/>
          </a:xfrm>
          <a:prstGeom prst="rect">
            <a:avLst/>
          </a:prstGeom>
          <a:noFill/>
        </p:spPr>
        <p:txBody>
          <a:bodyPr wrap="square">
            <a:spAutoFit/>
          </a:bodyPr>
          <a:lstStyle/>
          <a:p>
            <a:pPr fontAlgn="base"/>
            <a:r>
              <a:rPr lang="pt-BR" sz="1200" b="1" dirty="0">
                <a:latin typeface="Simplon BP Regular" pitchFamily="50" charset="0"/>
              </a:rPr>
              <a:t>Art. 18</a:t>
            </a:r>
            <a:r>
              <a:rPr lang="pt-BR" sz="1200" dirty="0">
                <a:latin typeface="Simplon BP Regular" pitchFamily="50" charset="0"/>
              </a:rPr>
              <a:t>. No primeiro menu do Atendimento Telefônico deverão estar disponíveis, no mínimo, as opções de:</a:t>
            </a:r>
          </a:p>
          <a:p>
            <a:pPr fontAlgn="base"/>
            <a:r>
              <a:rPr lang="pt-BR" sz="1200" dirty="0" smtClean="0">
                <a:latin typeface="Simplon BP Regular" pitchFamily="50" charset="0"/>
              </a:rPr>
              <a:t>I </a:t>
            </a:r>
            <a:r>
              <a:rPr lang="pt-BR" sz="1200" dirty="0">
                <a:latin typeface="Simplon BP Regular" pitchFamily="50" charset="0"/>
              </a:rPr>
              <a:t>- rescisão do contrato de forma automatizada, sem intervenção de atendente;</a:t>
            </a:r>
          </a:p>
          <a:p>
            <a:pPr fontAlgn="base"/>
            <a:r>
              <a:rPr lang="pt-BR" sz="1200" dirty="0" smtClean="0">
                <a:latin typeface="Simplon BP Regular" pitchFamily="50" charset="0"/>
              </a:rPr>
              <a:t>II </a:t>
            </a:r>
            <a:r>
              <a:rPr lang="pt-BR" sz="1200" dirty="0">
                <a:latin typeface="Simplon BP Regular" pitchFamily="50" charset="0"/>
              </a:rPr>
              <a:t>- registro de reclamação; e,</a:t>
            </a:r>
          </a:p>
          <a:p>
            <a:pPr fontAlgn="base"/>
            <a:r>
              <a:rPr lang="pt-BR" sz="1200" dirty="0" smtClean="0">
                <a:latin typeface="Simplon BP Regular" pitchFamily="50" charset="0"/>
              </a:rPr>
              <a:t>III </a:t>
            </a:r>
            <a:r>
              <a:rPr lang="pt-BR" sz="1200" dirty="0">
                <a:latin typeface="Simplon BP Regular" pitchFamily="50" charset="0"/>
              </a:rPr>
              <a:t>- atendimento por humano.</a:t>
            </a:r>
          </a:p>
          <a:p>
            <a:pPr fontAlgn="base"/>
            <a:endParaRPr lang="pt-BR" sz="1200" dirty="0">
              <a:latin typeface="Simplon BP Regular" pitchFamily="50" charset="0"/>
            </a:endParaRPr>
          </a:p>
          <a:p>
            <a:pPr fontAlgn="base"/>
            <a:r>
              <a:rPr lang="pt-BR" sz="1200" dirty="0">
                <a:latin typeface="Simplon BP Regular" pitchFamily="50" charset="0"/>
              </a:rPr>
              <a:t>§ 1º A opção de acesso ao atendente deverá constar em todos os </a:t>
            </a:r>
            <a:r>
              <a:rPr lang="pt-BR" sz="1200" dirty="0" err="1">
                <a:latin typeface="Simplon BP Regular" pitchFamily="50" charset="0"/>
              </a:rPr>
              <a:t>submenus</a:t>
            </a:r>
            <a:r>
              <a:rPr lang="pt-BR" sz="1200" dirty="0">
                <a:latin typeface="Simplon BP Regular" pitchFamily="50" charset="0"/>
              </a:rPr>
              <a:t> do Atendimento Telefônico.</a:t>
            </a:r>
          </a:p>
          <a:p>
            <a:pPr fontAlgn="base"/>
            <a:r>
              <a:rPr lang="pt-BR" sz="1200" dirty="0" smtClean="0">
                <a:latin typeface="Simplon BP Regular" pitchFamily="50" charset="0"/>
              </a:rPr>
              <a:t>§ </a:t>
            </a:r>
            <a:r>
              <a:rPr lang="pt-BR" sz="1200" dirty="0">
                <a:latin typeface="Simplon BP Regular" pitchFamily="50" charset="0"/>
              </a:rPr>
              <a:t>2º A solicitação de identificação do Consumidor, desde que não reiterada no caso de ausência de resposta, não configura restrição ou condicionamento ao atendimento humano.</a:t>
            </a:r>
          </a:p>
          <a:p>
            <a:pPr fontAlgn="base"/>
            <a:r>
              <a:rPr lang="pt-BR" sz="1200" b="1" dirty="0" smtClean="0">
                <a:latin typeface="Simplon BP Regular" pitchFamily="50" charset="0"/>
              </a:rPr>
              <a:t>§ </a:t>
            </a:r>
            <a:r>
              <a:rPr lang="pt-BR" sz="1200" b="1" dirty="0">
                <a:latin typeface="Simplon BP Regular" pitchFamily="50" charset="0"/>
              </a:rPr>
              <a:t>3º O Grupo de Implantação definirá:</a:t>
            </a:r>
          </a:p>
          <a:p>
            <a:pPr fontAlgn="base"/>
            <a:r>
              <a:rPr lang="pt-BR" sz="1200" dirty="0" smtClean="0">
                <a:latin typeface="Simplon BP Regular" pitchFamily="50" charset="0"/>
              </a:rPr>
              <a:t>I - o tempo máximo para contato com o atendente, quando essa for a opção selecionada, e para transferência ao setor competente para atendimento em definitivo da demanda; </a:t>
            </a:r>
            <a:r>
              <a:rPr lang="pt-BR" sz="1200" dirty="0">
                <a:latin typeface="Simplon BP Regular" pitchFamily="50" charset="0"/>
              </a:rPr>
              <a:t>e,</a:t>
            </a:r>
          </a:p>
          <a:p>
            <a:pPr fontAlgn="base"/>
            <a:r>
              <a:rPr lang="pt-BR" sz="1200" b="1" dirty="0" smtClean="0">
                <a:latin typeface="Simplon BP Regular" pitchFamily="50" charset="0"/>
              </a:rPr>
              <a:t>II </a:t>
            </a:r>
            <a:r>
              <a:rPr lang="pt-BR" sz="1200" b="1" dirty="0">
                <a:latin typeface="Simplon BP Regular" pitchFamily="50" charset="0"/>
              </a:rPr>
              <a:t>- o conceito de primeiro menu do Atendimento Telefônico.</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5487720"/>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5813341"/>
            <a:ext cx="4440097" cy="461665"/>
          </a:xfrm>
          <a:prstGeom prst="rect">
            <a:avLst/>
          </a:prstGeom>
          <a:noFill/>
        </p:spPr>
        <p:txBody>
          <a:bodyPr wrap="square">
            <a:spAutoFit/>
          </a:bodyPr>
          <a:lstStyle/>
          <a:p>
            <a:pPr lvl="0" algn="just">
              <a:defRPr/>
            </a:pPr>
            <a:r>
              <a:rPr lang="pt-BR" sz="1200" b="1" dirty="0" smtClean="0">
                <a:solidFill>
                  <a:prstClr val="black"/>
                </a:solidFill>
                <a:latin typeface="Simplon BP Regular" pitchFamily="2" charset="0"/>
              </a:rPr>
              <a:t>Aguardando definição do recurso para definir próximos passos.</a:t>
            </a:r>
            <a:endParaRPr lang="pt-BR" sz="1200" b="1" dirty="0">
              <a:solidFill>
                <a:prstClr val="black"/>
              </a:solidFill>
              <a:latin typeface="Simplon BP Regular" pitchFamily="2"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9868" y="2904917"/>
            <a:ext cx="4526052" cy="738664"/>
          </a:xfrm>
          <a:prstGeom prst="rect">
            <a:avLst/>
          </a:prstGeom>
          <a:noFill/>
        </p:spPr>
        <p:txBody>
          <a:bodyPr wrap="square">
            <a:spAutoFit/>
          </a:bodyPr>
          <a:lstStyle/>
          <a:p>
            <a:pPr lvl="0">
              <a:defRPr/>
            </a:pPr>
            <a:r>
              <a:rPr lang="pt-BR" sz="1400" b="1" dirty="0">
                <a:solidFill>
                  <a:prstClr val="black"/>
                </a:solidFill>
                <a:latin typeface="Simplon BP Regular" pitchFamily="2" charset="0"/>
              </a:rPr>
              <a:t>- OG não mensurada;</a:t>
            </a:r>
          </a:p>
          <a:p>
            <a:pPr lvl="0">
              <a:defRPr/>
            </a:pPr>
            <a:r>
              <a:rPr lang="pt-BR" sz="1400" b="1" dirty="0">
                <a:solidFill>
                  <a:prstClr val="black"/>
                </a:solidFill>
                <a:latin typeface="Simplon BP Regular" pitchFamily="2" charset="0"/>
              </a:rPr>
              <a:t>- Não foi apresentado plano de ação para correção da conduta</a:t>
            </a:r>
            <a:r>
              <a:rPr lang="pt-BR" sz="1400" b="1" dirty="0" smtClean="0">
                <a:solidFill>
                  <a:prstClr val="black"/>
                </a:solidFill>
                <a:latin typeface="Simplon BP Regular" pitchFamily="2" charset="0"/>
              </a:rPr>
              <a:t>;</a:t>
            </a:r>
            <a:endParaRPr lang="pt-BR" sz="1400" b="1" dirty="0">
              <a:solidFill>
                <a:prstClr val="black"/>
              </a:solidFill>
              <a:latin typeface="Simplon BP Regular" pitchFamily="2"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18155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61202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smtClean="0">
                <a:solidFill>
                  <a:prstClr val="black"/>
                </a:solidFill>
                <a:latin typeface="Simplon BP Regular" pitchFamily="2" charset="0"/>
              </a:rPr>
              <a:t>Relacionamento com Cliente</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Jomerson da Silva Almeida</a:t>
            </a:r>
            <a:endParaRPr lang="pt-BR" sz="1200" b="1" dirty="0">
              <a:solidFill>
                <a:prstClr val="black"/>
              </a:solidFill>
              <a:latin typeface="Simplon BP Regular" pitchFamily="2"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1156233" y="344759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5"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7987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33945"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cs typeface="+mj-cs"/>
              </a:rPr>
              <a:t>Art. </a:t>
            </a:r>
            <a:r>
              <a:rPr lang="pt-BR" sz="2400" dirty="0" smtClean="0">
                <a:solidFill>
                  <a:srgbClr val="92D050"/>
                </a:solidFill>
                <a:cs typeface="+mj-cs"/>
              </a:rPr>
              <a:t>85</a:t>
            </a:r>
            <a:r>
              <a:rPr lang="pt-BR" sz="2400" b="0" dirty="0" smtClean="0">
                <a:solidFill>
                  <a:srgbClr val="92D050"/>
                </a:solidFill>
                <a:cs typeface="+mj-cs"/>
              </a:rPr>
              <a:t> – Rescisão Contratual (comprovante)</a:t>
            </a:r>
            <a:endParaRPr lang="pt-BR"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646331"/>
          </a:xfrm>
          <a:prstGeom prst="rect">
            <a:avLst/>
          </a:prstGeom>
          <a:noFill/>
        </p:spPr>
        <p:txBody>
          <a:bodyPr wrap="square">
            <a:spAutoFit/>
          </a:bodyPr>
          <a:lstStyle/>
          <a:p>
            <a:pPr lvl="0">
              <a:defRPr/>
            </a:pPr>
            <a:r>
              <a:rPr lang="pt-BR" sz="1200" dirty="0">
                <a:solidFill>
                  <a:prstClr val="black"/>
                </a:solidFill>
                <a:latin typeface="Simplon BP Regular" pitchFamily="2" charset="0"/>
              </a:rPr>
              <a:t>Art. 85. Em qualquer hipótese, o comprovante do pedido de rescisão deverá ser disponibilizado ao Consumidor por correspondência ou por meio eletrônico à sua escolha.</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9746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8" y="4123087"/>
            <a:ext cx="4580358" cy="646331"/>
          </a:xfrm>
          <a:prstGeom prst="rect">
            <a:avLst/>
          </a:prstGeom>
          <a:noFill/>
        </p:spPr>
        <p:txBody>
          <a:bodyPr wrap="square">
            <a:spAutoFit/>
          </a:bodyPr>
          <a:lstStyle/>
          <a:p>
            <a:pPr marL="85725"/>
            <a:r>
              <a:rPr lang="pt-BR" sz="1200" dirty="0" smtClean="0">
                <a:latin typeface="Simplon BP Regular" pitchFamily="50" charset="0"/>
              </a:rPr>
              <a:t>Não </a:t>
            </a:r>
            <a:r>
              <a:rPr lang="pt-BR" sz="1200" dirty="0">
                <a:latin typeface="Simplon BP Regular" pitchFamily="50" charset="0"/>
              </a:rPr>
              <a:t>oferecemos hoje alternativa ao cliente para o envio o comprovante do pedido de rescisão (que pode ser o protocolo) ou meio digital e por correspondência.</a:t>
            </a: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015663"/>
          </a:xfrm>
          <a:prstGeom prst="rect">
            <a:avLst/>
          </a:prstGeom>
          <a:noFill/>
        </p:spPr>
        <p:txBody>
          <a:bodyPr wrap="square">
            <a:spAutoFit/>
          </a:bodyPr>
          <a:lstStyle/>
          <a:p>
            <a:pPr marL="85725"/>
            <a:r>
              <a:rPr lang="pt-BR" sz="1200" dirty="0">
                <a:latin typeface="Simplon BP Regular" pitchFamily="50" charset="0"/>
              </a:rPr>
              <a:t>Não foi apresentado plano de ação para correção da conduta.</a:t>
            </a:r>
          </a:p>
          <a:p>
            <a:pPr marL="85725"/>
            <a:endParaRPr lang="pt-BR" sz="1200" dirty="0">
              <a:latin typeface="Simplon BP Regular" pitchFamily="50" charset="0"/>
            </a:endParaRPr>
          </a:p>
          <a:p>
            <a:r>
              <a:rPr lang="pt-BR" sz="1200" b="1" u="sng" dirty="0" err="1" smtClean="0">
                <a:solidFill>
                  <a:srgbClr val="FF0000"/>
                </a:solidFill>
                <a:latin typeface="Simplon BP Regular" pitchFamily="50" charset="0"/>
              </a:rPr>
              <a:t>Obs</a:t>
            </a:r>
            <a:r>
              <a:rPr lang="pt-BR" sz="1200" b="1" u="sng" dirty="0" smtClean="0">
                <a:solidFill>
                  <a:srgbClr val="FF0000"/>
                </a:solidFill>
                <a:latin typeface="Simplon BP Regular" pitchFamily="50" charset="0"/>
              </a:rPr>
              <a:t>: Aguardando decisão executiva para definir próximos passos</a:t>
            </a:r>
            <a:endParaRPr lang="pt-BR" sz="1200" b="1" u="sng" dirty="0">
              <a:solidFill>
                <a:srgbClr val="FF0000"/>
              </a:solidFill>
              <a:latin typeface="Simplon BP Regular" pitchFamily="50" charset="0"/>
            </a:endParaRP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7493" y="403351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54073" y="541872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4688" y="4794952"/>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200329"/>
          </a:xfrm>
          <a:prstGeom prst="rect">
            <a:avLst/>
          </a:prstGeom>
          <a:noFill/>
        </p:spPr>
        <p:txBody>
          <a:bodyPr wrap="square">
            <a:spAutoFit/>
          </a:bodyPr>
          <a:lstStyle/>
          <a:p>
            <a:pPr lvl="0">
              <a:defRPr/>
            </a:pPr>
            <a:r>
              <a:rPr lang="pt-BR" sz="1200" b="1" dirty="0">
                <a:solidFill>
                  <a:srgbClr val="FF0000"/>
                </a:solidFill>
                <a:latin typeface="Simplon BP Regular" pitchFamily="2" charset="0"/>
              </a:rPr>
              <a:t>DIRETORIA</a:t>
            </a:r>
          </a:p>
          <a:p>
            <a:pPr lvl="0">
              <a:defRPr/>
            </a:pPr>
            <a:r>
              <a:rPr lang="pt-BR" sz="1200" b="1" dirty="0">
                <a:solidFill>
                  <a:srgbClr val="FF0000"/>
                </a:solidFill>
                <a:latin typeface="Simplon BP Regular" pitchFamily="2" charset="0"/>
              </a:rPr>
              <a:t>Relacionamento com Cliente</a:t>
            </a:r>
          </a:p>
          <a:p>
            <a:pPr lvl="0">
              <a:defRPr/>
            </a:pPr>
            <a:endParaRPr lang="pt-BR" sz="1200" b="1" dirty="0">
              <a:solidFill>
                <a:srgbClr val="FF0000"/>
              </a:solidFill>
              <a:latin typeface="Simplon BP Regular" pitchFamily="2" charset="0"/>
            </a:endParaRPr>
          </a:p>
          <a:p>
            <a:pPr lvl="0">
              <a:defRPr/>
            </a:pPr>
            <a:r>
              <a:rPr lang="pt-BR" sz="1200" b="1" dirty="0">
                <a:solidFill>
                  <a:srgbClr val="FF0000"/>
                </a:solidFill>
                <a:latin typeface="Simplon BP Regular" pitchFamily="2" charset="0"/>
              </a:rPr>
              <a:t>NOME DO RESPONSÁVEL</a:t>
            </a:r>
          </a:p>
          <a:p>
            <a:pPr lvl="0">
              <a:defRPr/>
            </a:pPr>
            <a:r>
              <a:rPr lang="pt-BR" sz="1200" b="1" dirty="0">
                <a:solidFill>
                  <a:srgbClr val="FF0000"/>
                </a:solidFill>
                <a:latin typeface="Simplon BP Regular" pitchFamily="2" charset="0"/>
              </a:rPr>
              <a:t>Jomerson Almeida</a:t>
            </a: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12372399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56462"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smtClean="0">
                <a:solidFill>
                  <a:srgbClr val="92D050"/>
                </a:solidFill>
                <a:cs typeface="+mj-cs"/>
              </a:rPr>
              <a:t>87 - Formato </a:t>
            </a:r>
            <a:r>
              <a:rPr lang="pt-BR" sz="2400" dirty="0">
                <a:solidFill>
                  <a:srgbClr val="92D050"/>
                </a:solidFill>
                <a:cs typeface="+mj-cs"/>
              </a:rPr>
              <a:t>de Protocolo e Rastreabilidade de </a:t>
            </a:r>
            <a:r>
              <a:rPr lang="pt-BR" sz="2400" dirty="0" smtClean="0">
                <a:solidFill>
                  <a:srgbClr val="92D050"/>
                </a:solidFill>
                <a:cs typeface="+mj-cs"/>
              </a:rPr>
              <a:t>Demandas (Ouvidoria)</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err="1" smtClean="0">
                <a:solidFill>
                  <a:schemeClr val="bg1"/>
                </a:solidFill>
                <a:latin typeface="Simplon BP"/>
              </a:rPr>
              <a:t>xxx</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622023" cy="2492990"/>
          </a:xfrm>
          <a:prstGeom prst="rect">
            <a:avLst/>
          </a:prstGeom>
          <a:noFill/>
        </p:spPr>
        <p:txBody>
          <a:bodyPr wrap="square">
            <a:spAutoFit/>
          </a:bodyPr>
          <a:lstStyle/>
          <a:p>
            <a:pPr fontAlgn="base"/>
            <a:r>
              <a:rPr lang="pt-BR" sz="1200" dirty="0">
                <a:latin typeface="Simplon BP Regular" pitchFamily="50" charset="0"/>
              </a:rPr>
              <a:t>Art. 87. As Prestadoras de serviços de telecomunicações deverão </a:t>
            </a:r>
            <a:r>
              <a:rPr lang="pt-BR" sz="1200" dirty="0" smtClean="0">
                <a:latin typeface="Simplon BP Regular" pitchFamily="50" charset="0"/>
              </a:rPr>
              <a:t>instituir </a:t>
            </a:r>
            <a:r>
              <a:rPr lang="pt-BR" sz="1200" dirty="0">
                <a:latin typeface="Simplon BP Regular" pitchFamily="50" charset="0"/>
              </a:rPr>
              <a:t>e divulgar amplamente um canal de comunicação com os </a:t>
            </a:r>
            <a:r>
              <a:rPr lang="pt-BR" sz="1200" dirty="0" smtClean="0">
                <a:latin typeface="Simplon BP Regular" pitchFamily="50" charset="0"/>
              </a:rPr>
              <a:t>Consumidores</a:t>
            </a:r>
            <a:r>
              <a:rPr lang="pt-BR" sz="1200" dirty="0">
                <a:latin typeface="Simplon BP Regular" pitchFamily="50" charset="0"/>
              </a:rPr>
              <a:t>, denominado Ouvidoria, designado como unidade </a:t>
            </a:r>
          </a:p>
          <a:p>
            <a:pPr fontAlgn="base"/>
            <a:r>
              <a:rPr lang="pt-BR" sz="1200" dirty="0">
                <a:latin typeface="Simplon BP Regular" pitchFamily="50" charset="0"/>
              </a:rPr>
              <a:t>específica em sua estrutura, dotada de autonomia decisória e </a:t>
            </a:r>
            <a:r>
              <a:rPr lang="pt-BR" sz="1200" dirty="0" smtClean="0">
                <a:latin typeface="Simplon BP Regular" pitchFamily="50" charset="0"/>
              </a:rPr>
              <a:t>operacional</a:t>
            </a:r>
            <a:r>
              <a:rPr lang="pt-BR" sz="1200" dirty="0">
                <a:latin typeface="Simplon BP Regular" pitchFamily="50" charset="0"/>
              </a:rPr>
              <a:t>. (...)</a:t>
            </a:r>
          </a:p>
          <a:p>
            <a:pPr fontAlgn="base"/>
            <a:endParaRPr lang="pt-BR" sz="1200" dirty="0" smtClean="0">
              <a:latin typeface="Simplon BP Regular" pitchFamily="50" charset="0"/>
            </a:endParaRPr>
          </a:p>
          <a:p>
            <a:pPr fontAlgn="base"/>
            <a:r>
              <a:rPr lang="pt-BR" sz="1200" dirty="0" smtClean="0">
                <a:latin typeface="Simplon BP Regular" pitchFamily="50" charset="0"/>
              </a:rPr>
              <a:t>§ </a:t>
            </a:r>
            <a:r>
              <a:rPr lang="pt-BR" sz="1200" dirty="0">
                <a:latin typeface="Simplon BP Regular" pitchFamily="50" charset="0"/>
              </a:rPr>
              <a:t>5º As demandas recebidas pelos canais da Ouvidoria receberão </a:t>
            </a:r>
          </a:p>
          <a:p>
            <a:pPr fontAlgn="base"/>
            <a:r>
              <a:rPr lang="pt-BR" sz="1200" dirty="0">
                <a:latin typeface="Simplon BP Regular" pitchFamily="50" charset="0"/>
              </a:rPr>
              <a:t>protocolo específico, a ser informado ao Consumidor.</a:t>
            </a:r>
          </a:p>
          <a:p>
            <a:pPr fontAlgn="base"/>
            <a:endParaRPr lang="pt-BR" sz="1200" dirty="0" smtClean="0">
              <a:latin typeface="Simplon BP Regular" pitchFamily="50" charset="0"/>
            </a:endParaRPr>
          </a:p>
          <a:p>
            <a:pPr fontAlgn="base"/>
            <a:r>
              <a:rPr lang="pt-BR" sz="1200" dirty="0" smtClean="0">
                <a:latin typeface="Simplon BP Regular" pitchFamily="50" charset="0"/>
              </a:rPr>
              <a:t>§ </a:t>
            </a:r>
            <a:r>
              <a:rPr lang="pt-BR" sz="1200" dirty="0">
                <a:latin typeface="Simplon BP Regular" pitchFamily="50" charset="0"/>
              </a:rPr>
              <a:t>6º A Ouvidoria manterá por 3 (três) anos, à disposição do </a:t>
            </a:r>
          </a:p>
          <a:p>
            <a:pPr fontAlgn="base"/>
            <a:r>
              <a:rPr lang="pt-BR" sz="1200" dirty="0">
                <a:latin typeface="Simplon BP Regular" pitchFamily="50" charset="0"/>
              </a:rPr>
              <a:t>Consumidor, histórico das demandas, que deverá apresentar, no </a:t>
            </a:r>
          </a:p>
          <a:p>
            <a:pPr fontAlgn="base"/>
            <a:r>
              <a:rPr lang="pt-BR" sz="1200" dirty="0">
                <a:latin typeface="Simplon BP Regular" pitchFamily="50" charset="0"/>
              </a:rPr>
              <a:t>mínimo, o protocolo de atendimento, a data e a hora de registro e </a:t>
            </a:r>
          </a:p>
          <a:p>
            <a:pPr fontAlgn="base"/>
            <a:r>
              <a:rPr lang="pt-BR" sz="1200" dirty="0">
                <a:latin typeface="Simplon BP Regular" pitchFamily="50" charset="0"/>
              </a:rPr>
              <a:t>de conclusão do atendimento..</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432393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649557"/>
            <a:ext cx="4440097" cy="276999"/>
          </a:xfrm>
          <a:prstGeom prst="rect">
            <a:avLst/>
          </a:prstGeom>
          <a:noFill/>
        </p:spPr>
        <p:txBody>
          <a:bodyPr wrap="square">
            <a:spAutoFit/>
          </a:bodyPr>
          <a:lstStyle/>
          <a:p>
            <a:pPr lvl="0" algn="just">
              <a:defRPr/>
            </a:pPr>
            <a:r>
              <a:rPr lang="pt-BR" sz="1200" b="1" dirty="0" smtClean="0">
                <a:solidFill>
                  <a:prstClr val="black"/>
                </a:solidFill>
                <a:latin typeface="Simplon BP Regular" pitchFamily="2" charset="0"/>
              </a:rPr>
              <a:t>Síntese </a:t>
            </a:r>
            <a:r>
              <a:rPr lang="pt-BR" sz="1200" b="1" dirty="0">
                <a:solidFill>
                  <a:prstClr val="black"/>
                </a:solidFill>
                <a:latin typeface="Simplon BP Regular" pitchFamily="2" charset="0"/>
              </a:rPr>
              <a:t>pendente e protocolo ouvidoria no </a:t>
            </a:r>
            <a:r>
              <a:rPr lang="pt-BR" sz="1200" b="1" dirty="0" err="1">
                <a:solidFill>
                  <a:prstClr val="black"/>
                </a:solidFill>
                <a:latin typeface="Simplon BP Regular" pitchFamily="2" charset="0"/>
              </a:rPr>
              <a:t>Oi_e</a:t>
            </a:r>
            <a:r>
              <a:rPr lang="pt-BR" sz="1200" b="1" dirty="0">
                <a:solidFill>
                  <a:prstClr val="black"/>
                </a:solidFill>
                <a:latin typeface="Simplon BP Regular" pitchFamily="2" charset="0"/>
              </a:rPr>
              <a:t> </a:t>
            </a: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3350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200505"/>
            <a:ext cx="347712" cy="307776"/>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240262"/>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628648"/>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smtClean="0">
                <a:solidFill>
                  <a:prstClr val="black"/>
                </a:solidFill>
                <a:latin typeface="Simplon BP Regular" pitchFamily="2" charset="0"/>
              </a:rPr>
              <a:t>Relacionamento com Cliente</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Jomerson da Silva Almeida</a:t>
            </a:r>
            <a:endParaRPr lang="pt-BR" sz="1200" b="1" dirty="0">
              <a:solidFill>
                <a:prstClr val="black"/>
              </a:solidFill>
              <a:latin typeface="Simplon BP Regular" pitchFamily="2"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7299868" y="2904917"/>
            <a:ext cx="4526052" cy="738664"/>
          </a:xfrm>
          <a:prstGeom prst="rect">
            <a:avLst/>
          </a:prstGeom>
          <a:noFill/>
        </p:spPr>
        <p:txBody>
          <a:bodyPr wrap="square">
            <a:spAutoFit/>
          </a:bodyPr>
          <a:lstStyle/>
          <a:p>
            <a:pPr lvl="0">
              <a:defRPr/>
            </a:pPr>
            <a:r>
              <a:rPr lang="pt-BR" sz="1400" b="1" dirty="0">
                <a:solidFill>
                  <a:prstClr val="black"/>
                </a:solidFill>
                <a:latin typeface="Simplon BP Regular" pitchFamily="2" charset="0"/>
              </a:rPr>
              <a:t>- OG não mensurada;</a:t>
            </a:r>
          </a:p>
          <a:p>
            <a:pPr lvl="0">
              <a:defRPr/>
            </a:pPr>
            <a:r>
              <a:rPr lang="pt-BR" sz="1400" b="1" dirty="0">
                <a:solidFill>
                  <a:prstClr val="black"/>
                </a:solidFill>
                <a:latin typeface="Simplon BP Regular" pitchFamily="2" charset="0"/>
              </a:rPr>
              <a:t>- Não foi apresentado plano de ação para correção da conduta</a:t>
            </a:r>
            <a:r>
              <a:rPr lang="pt-BR" sz="1400" b="1" dirty="0" smtClean="0">
                <a:solidFill>
                  <a:prstClr val="black"/>
                </a:solidFill>
                <a:latin typeface="Simplon BP Regular" pitchFamily="2" charset="0"/>
              </a:rPr>
              <a:t>;</a:t>
            </a:r>
            <a:endParaRPr lang="pt-BR" sz="1400" b="1" dirty="0">
              <a:solidFill>
                <a:prstClr val="black"/>
              </a:solidFill>
              <a:latin typeface="Simplon BP Regular" pitchFamily="2" charset="0"/>
            </a:endParaRPr>
          </a:p>
        </p:txBody>
      </p:sp>
      <p:sp>
        <p:nvSpPr>
          <p:cNvPr id="65"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52108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41104"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smtClean="0">
                <a:solidFill>
                  <a:srgbClr val="92D050"/>
                </a:solidFill>
                <a:cs typeface="+mj-cs"/>
              </a:rPr>
              <a:t>34 - </a:t>
            </a:r>
            <a:r>
              <a:rPr lang="pt-BR" sz="2400" dirty="0">
                <a:solidFill>
                  <a:srgbClr val="92D050"/>
                </a:solidFill>
              </a:rPr>
              <a:t>Remuneração de Terceiros</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430887"/>
          </a:xfrm>
          <a:prstGeom prst="rect">
            <a:avLst/>
          </a:prstGeom>
          <a:noFill/>
        </p:spPr>
        <p:txBody>
          <a:bodyPr wrap="square">
            <a:spAutoFit/>
          </a:bodyPr>
          <a:lstStyle/>
          <a:p>
            <a:pPr lvl="0">
              <a:defRPr/>
            </a:pPr>
            <a:r>
              <a:rPr lang="pt-BR" sz="1100" b="1" dirty="0" smtClean="0">
                <a:solidFill>
                  <a:schemeClr val="bg1"/>
                </a:solidFill>
                <a:latin typeface="Simplon BP"/>
              </a:rPr>
              <a:t>R$ </a:t>
            </a:r>
            <a:r>
              <a:rPr lang="pt-BR" sz="1100" b="1" dirty="0">
                <a:solidFill>
                  <a:schemeClr val="bg1"/>
                </a:solidFill>
                <a:latin typeface="Simplon BP"/>
              </a:rPr>
              <a:t>209.257,00</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smtClean="0">
                <a:solidFill>
                  <a:schemeClr val="bg1"/>
                </a:solidFill>
                <a:latin typeface="Simplon BP"/>
              </a:rPr>
              <a:t>R$ 1MM</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528578" cy="3231654"/>
          </a:xfrm>
          <a:prstGeom prst="rect">
            <a:avLst/>
          </a:prstGeom>
          <a:noFill/>
        </p:spPr>
        <p:txBody>
          <a:bodyPr wrap="square">
            <a:spAutoFit/>
          </a:bodyPr>
          <a:lstStyle/>
          <a:p>
            <a:pPr fontAlgn="base"/>
            <a:r>
              <a:rPr lang="pt-BR" sz="1200" dirty="0">
                <a:latin typeface="Simplon BP Regular" pitchFamily="50" charset="0"/>
              </a:rPr>
              <a:t>Art. 34. O oferecimento de serviços de telecomunicações por meio de canais terceirizados, agente autorizado, credenciadas, franquias, representantes comerciais ou quaisquer parcerias comerciais similares atenderá às condições previstas neste Regulamento.</a:t>
            </a:r>
          </a:p>
          <a:p>
            <a:pPr fontAlgn="base"/>
            <a:endParaRPr lang="pt-BR" sz="1200" dirty="0" smtClean="0">
              <a:latin typeface="Simplon BP Regular" pitchFamily="50" charset="0"/>
            </a:endParaRPr>
          </a:p>
          <a:p>
            <a:pPr fontAlgn="base"/>
            <a:r>
              <a:rPr lang="pt-BR" sz="1200" dirty="0" smtClean="0">
                <a:latin typeface="Simplon BP Regular" pitchFamily="50" charset="0"/>
              </a:rPr>
              <a:t>§ </a:t>
            </a:r>
            <a:r>
              <a:rPr lang="pt-BR" sz="1200" dirty="0">
                <a:latin typeface="Simplon BP Regular" pitchFamily="50" charset="0"/>
              </a:rPr>
              <a:t>1º A Prestadora deve assegurar a existência de mecanismos de combate a fraudes e utilização dos dados pessoais dos Consumidores de acordo com o disposto em lei, inclusive nos contratos celebrados por intermédio dos terceiros de que trata o </a:t>
            </a:r>
            <a:r>
              <a:rPr lang="pt-BR" sz="1200" b="1" dirty="0">
                <a:latin typeface="Simplon BP Regular" pitchFamily="50" charset="0"/>
              </a:rPr>
              <a:t>caput</a:t>
            </a:r>
            <a:r>
              <a:rPr lang="pt-BR" sz="1200" dirty="0">
                <a:latin typeface="Simplon BP Regular" pitchFamily="50" charset="0"/>
              </a:rPr>
              <a:t>.</a:t>
            </a:r>
          </a:p>
          <a:p>
            <a:pPr fontAlgn="base"/>
            <a:endParaRPr lang="pt-BR" sz="1200" dirty="0" smtClean="0">
              <a:latin typeface="Simplon BP Regular" pitchFamily="50" charset="0"/>
            </a:endParaRPr>
          </a:p>
          <a:p>
            <a:pPr fontAlgn="base"/>
            <a:r>
              <a:rPr lang="pt-BR" sz="1200" dirty="0" smtClean="0">
                <a:latin typeface="Simplon BP Regular" pitchFamily="50" charset="0"/>
              </a:rPr>
              <a:t>§ </a:t>
            </a:r>
            <a:r>
              <a:rPr lang="pt-BR" sz="1200" dirty="0">
                <a:latin typeface="Simplon BP Regular" pitchFamily="50" charset="0"/>
              </a:rPr>
              <a:t>2º A vigência do contrato de serviços de telecomunicações com o Consumidor servirá de parâmetro para o pagamento de remuneração ou comissão relativa ao esforço de vendas, que será efetuado ao longo da sua vigência, de maneira proporcional ao tempo decorrido, com um período mínimo de 12 (doze) meses</a:t>
            </a:r>
            <a:r>
              <a:rPr lang="pt-BR" sz="1200" dirty="0" smtClean="0">
                <a:latin typeface="Simplon BP Regular" pitchFamily="50" charset="0"/>
              </a:rPr>
              <a:t>.</a:t>
            </a:r>
            <a:endParaRPr lang="pt-BR" sz="1200" dirty="0">
              <a:latin typeface="Simplon BP Regular" pitchFamily="50"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5296659"/>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5622280"/>
            <a:ext cx="4532411" cy="523220"/>
          </a:xfrm>
          <a:prstGeom prst="rect">
            <a:avLst/>
          </a:prstGeom>
          <a:noFill/>
        </p:spPr>
        <p:txBody>
          <a:bodyPr wrap="square">
            <a:spAutoFit/>
          </a:bodyPr>
          <a:lstStyle/>
          <a:p>
            <a:pPr lvl="0">
              <a:defRPr/>
            </a:pPr>
            <a:r>
              <a:rPr lang="pt-BR" sz="1400" b="1" dirty="0" smtClean="0">
                <a:solidFill>
                  <a:prstClr val="black"/>
                </a:solidFill>
                <a:latin typeface="Simplon BP Regular" pitchFamily="2" charset="0"/>
              </a:rPr>
              <a:t>N/A</a:t>
            </a:r>
          </a:p>
          <a:p>
            <a:pPr lvl="0">
              <a:defRPr/>
            </a:pPr>
            <a:endParaRPr kumimoji="0" lang="pt-BR" sz="1400" b="1" i="0" u="none" strike="noStrike" kern="1200" cap="none" spc="0" normalizeH="0" baseline="0" noProof="0" dirty="0">
              <a:ln>
                <a:noFill/>
              </a:ln>
              <a:solidFill>
                <a:prstClr val="black"/>
              </a:solidFill>
              <a:effectLst/>
              <a:uLnTx/>
              <a:uFillTx/>
              <a:latin typeface="Simplon BP Regular" pitchFamily="2"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smtClean="0">
                <a:solidFill>
                  <a:schemeClr val="bg1"/>
                </a:solidFill>
                <a:latin typeface="Simplon BP"/>
              </a:rPr>
              <a:t>N/A</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3598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01529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25638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612023"/>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Marketing Oi </a:t>
            </a:r>
            <a:r>
              <a:rPr lang="pt-BR" sz="1200" b="1" dirty="0" smtClean="0">
                <a:solidFill>
                  <a:prstClr val="black"/>
                </a:solidFill>
                <a:latin typeface="Simplon BP Regular" pitchFamily="2" charset="0"/>
              </a:rPr>
              <a:t>Fibra</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Luiz Felipe </a:t>
            </a:r>
            <a:r>
              <a:rPr lang="it-IT" sz="1200" b="1" dirty="0" smtClean="0">
                <a:solidFill>
                  <a:prstClr val="black"/>
                </a:solidFill>
                <a:latin typeface="Simplon BP Regular" pitchFamily="2" charset="0"/>
              </a:rPr>
              <a:t>Meira</a:t>
            </a:r>
            <a:endParaRPr lang="pt-BR" sz="1200" b="1" dirty="0">
              <a:solidFill>
                <a:prstClr val="black"/>
              </a:solidFill>
              <a:latin typeface="Simplon BP Regular" pitchFamily="2" charset="0"/>
            </a:endParaRPr>
          </a:p>
        </p:txBody>
      </p:sp>
      <p:sp>
        <p:nvSpPr>
          <p:cNvPr id="64" name="TextBox 1">
            <a:extLst>
              <a:ext uri="{FF2B5EF4-FFF2-40B4-BE49-F238E27FC236}">
                <a16:creationId xmlns:a16="http://schemas.microsoft.com/office/drawing/2014/main" id="{78C73662-F2B9-EA54-760E-817ED3732111}"/>
              </a:ext>
            </a:extLst>
          </p:cNvPr>
          <p:cNvSpPr txBox="1"/>
          <p:nvPr/>
        </p:nvSpPr>
        <p:spPr>
          <a:xfrm>
            <a:off x="7299868" y="2904917"/>
            <a:ext cx="4486542" cy="2677656"/>
          </a:xfrm>
          <a:prstGeom prst="rect">
            <a:avLst/>
          </a:prstGeom>
          <a:noFill/>
        </p:spPr>
        <p:txBody>
          <a:bodyPr wrap="square">
            <a:spAutoFit/>
          </a:bodyPr>
          <a:lstStyle/>
          <a:p>
            <a:pPr marL="285750" indent="-285750">
              <a:buFontTx/>
              <a:buChar char="-"/>
              <a:defRPr/>
            </a:pPr>
            <a:r>
              <a:rPr lang="pt-BR" sz="1400" dirty="0">
                <a:solidFill>
                  <a:prstClr val="black"/>
                </a:solidFill>
                <a:latin typeface="Simplon BP Regular" pitchFamily="50" charset="0"/>
              </a:rPr>
              <a:t>No </a:t>
            </a:r>
            <a:r>
              <a:rPr lang="pt-BR" sz="1400" dirty="0" err="1">
                <a:solidFill>
                  <a:prstClr val="black"/>
                </a:solidFill>
                <a:latin typeface="Simplon BP Regular" pitchFamily="50" charset="0"/>
              </a:rPr>
              <a:t>compliance</a:t>
            </a:r>
            <a:r>
              <a:rPr lang="pt-BR" sz="1400" dirty="0">
                <a:solidFill>
                  <a:prstClr val="black"/>
                </a:solidFill>
                <a:latin typeface="Simplon BP Regular" pitchFamily="50" charset="0"/>
              </a:rPr>
              <a:t>;</a:t>
            </a:r>
          </a:p>
          <a:p>
            <a:pPr marL="285750" lvl="0" indent="-285750">
              <a:buFontTx/>
              <a:buChar char="-"/>
              <a:defRPr/>
            </a:pPr>
            <a:endParaRPr lang="pt-BR" sz="1400" dirty="0" smtClean="0">
              <a:solidFill>
                <a:srgbClr val="FF0000"/>
              </a:solidFill>
              <a:latin typeface="Simplon BP Regular" pitchFamily="2" charset="0"/>
            </a:endParaRPr>
          </a:p>
          <a:p>
            <a:pPr marL="285750" lvl="0" indent="-285750">
              <a:buFontTx/>
              <a:buChar char="-"/>
              <a:defRPr/>
            </a:pPr>
            <a:r>
              <a:rPr lang="pt-BR" sz="1400" dirty="0">
                <a:solidFill>
                  <a:prstClr val="black"/>
                </a:solidFill>
                <a:latin typeface="Simplon BP Regular" pitchFamily="50" charset="0"/>
              </a:rPr>
              <a:t>Caso </a:t>
            </a:r>
            <a:r>
              <a:rPr lang="pt-BR" sz="1400" dirty="0">
                <a:solidFill>
                  <a:prstClr val="black"/>
                </a:solidFill>
                <a:latin typeface="Simplon BP Regular" pitchFamily="50" charset="0"/>
              </a:rPr>
              <a:t>a RGC entre em vigor, necessário alterar os processos de acompanhamento, controle e pagamento de comissão;</a:t>
            </a:r>
          </a:p>
          <a:p>
            <a:pPr marL="285750" lvl="0" indent="-285750">
              <a:buFontTx/>
              <a:buChar char="-"/>
              <a:defRPr/>
            </a:pPr>
            <a:r>
              <a:rPr lang="pt-BR" sz="1400" dirty="0">
                <a:solidFill>
                  <a:prstClr val="black"/>
                </a:solidFill>
                <a:latin typeface="Simplon BP Regular" pitchFamily="50" charset="0"/>
              </a:rPr>
              <a:t>Diante do cenário descrito acima, necessário investimento de ~R$ 1M para adequação operacional e R$ 171 MM para subsidiar ajuste no fluxo de caixa dos parceiros;</a:t>
            </a:r>
          </a:p>
          <a:p>
            <a:pPr>
              <a:defRPr/>
            </a:pPr>
            <a:endParaRPr lang="pt-BR" sz="1400" dirty="0">
              <a:solidFill>
                <a:prstClr val="black"/>
              </a:solidFill>
              <a:latin typeface="Simplon BP Regular" pitchFamily="2" charset="0"/>
            </a:endParaRPr>
          </a:p>
          <a:p>
            <a:pPr>
              <a:defRPr/>
            </a:pPr>
            <a:endParaRPr lang="pt-BR" sz="1400" dirty="0">
              <a:solidFill>
                <a:prstClr val="black"/>
              </a:solidFill>
              <a:latin typeface="Simplon BP Regular" pitchFamily="2" charset="0"/>
            </a:endParaRPr>
          </a:p>
          <a:p>
            <a:pPr lvl="0">
              <a:defRPr/>
            </a:pPr>
            <a:endParaRPr kumimoji="0" lang="pt-BR" sz="1400" b="1" i="0" u="none" strike="noStrike" kern="1200" cap="none" spc="0" normalizeH="0" baseline="0" noProof="0" dirty="0">
              <a:ln>
                <a:noFill/>
              </a:ln>
              <a:solidFill>
                <a:prstClr val="black"/>
              </a:solidFill>
              <a:effectLst/>
              <a:uLnTx/>
              <a:uFillTx/>
              <a:latin typeface="Simplon BP Regular" pitchFamily="2" charset="0"/>
            </a:endParaRPr>
          </a:p>
        </p:txBody>
      </p:sp>
      <p:sp>
        <p:nvSpPr>
          <p:cNvPr id="48"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54180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42129"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smtClean="0">
                <a:solidFill>
                  <a:srgbClr val="92D050"/>
                </a:solidFill>
                <a:cs typeface="+mj-cs"/>
              </a:rPr>
              <a:t>39</a:t>
            </a:r>
            <a:r>
              <a:rPr lang="pt-BR" sz="2400" b="0" dirty="0" smtClean="0">
                <a:solidFill>
                  <a:srgbClr val="92D050"/>
                </a:solidFill>
                <a:cs typeface="+mj-cs"/>
              </a:rPr>
              <a:t> – Ofertas&gt;Reajuste de Ofertas</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51752" y="3138864"/>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lvl="0">
              <a:defRPr/>
            </a:pPr>
            <a:r>
              <a:rPr lang="pt-BR" sz="1100" b="1" dirty="0" smtClean="0">
                <a:solidFill>
                  <a:schemeClr val="bg1"/>
                </a:solidFill>
                <a:latin typeface="Simplon BP"/>
              </a:rPr>
              <a:t>R$ </a:t>
            </a:r>
            <a:r>
              <a:rPr lang="pt-BR" sz="1100" b="1" dirty="0">
                <a:solidFill>
                  <a:schemeClr val="bg1"/>
                </a:solidFill>
                <a:latin typeface="Simplon BP"/>
              </a:rPr>
              <a:t>6,5 MM</a:t>
            </a: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a:solidFill>
                  <a:schemeClr val="bg1"/>
                </a:solidFill>
                <a:latin typeface="Simplon BP"/>
              </a:rPr>
              <a:t>R</a:t>
            </a:r>
            <a:r>
              <a:rPr lang="pt-BR" sz="1100" b="1" dirty="0" smtClean="0">
                <a:solidFill>
                  <a:schemeClr val="bg1"/>
                </a:solidFill>
                <a:latin typeface="Simplon BP"/>
              </a:rPr>
              <a:t>$ 2,4 MM</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586902" cy="3477875"/>
          </a:xfrm>
          <a:prstGeom prst="rect">
            <a:avLst/>
          </a:prstGeom>
          <a:noFill/>
        </p:spPr>
        <p:txBody>
          <a:bodyPr wrap="square">
            <a:spAutoFit/>
          </a:bodyPr>
          <a:lstStyle/>
          <a:p>
            <a:pPr lvl="0">
              <a:defRPr/>
            </a:pPr>
            <a:r>
              <a:rPr lang="pt-BR" sz="1100" dirty="0">
                <a:solidFill>
                  <a:prstClr val="black"/>
                </a:solidFill>
                <a:latin typeface="Simplon BP Regular" pitchFamily="2" charset="0"/>
              </a:rPr>
              <a:t>Art. 39. Os reajustes dos valores das tarifas ou preços cobrados pelos serviços de telecomunicações não poderão ser realizados em prazos inferiores a 12 (doze) meses contados da data da contratação da Oferta pelo Consumidor.</a:t>
            </a:r>
          </a:p>
          <a:p>
            <a:pPr lvl="0">
              <a:defRPr/>
            </a:pPr>
            <a:r>
              <a:rPr lang="pt-BR" sz="1100" dirty="0">
                <a:solidFill>
                  <a:prstClr val="black"/>
                </a:solidFill>
                <a:latin typeface="Simplon BP Regular" pitchFamily="2" charset="0"/>
              </a:rPr>
              <a:t>§ 1º A Prestadora poderá definir datas-bases para a realização de reajustes, desde que, cumulativamente:</a:t>
            </a:r>
          </a:p>
          <a:p>
            <a:pPr lvl="0">
              <a:defRPr/>
            </a:pPr>
            <a:r>
              <a:rPr lang="pt-BR" sz="1100" dirty="0">
                <a:solidFill>
                  <a:prstClr val="black"/>
                </a:solidFill>
                <a:latin typeface="Simplon BP Regular" pitchFamily="2" charset="0"/>
              </a:rPr>
              <a:t>I - observe o prazo previsto no caput;</a:t>
            </a:r>
          </a:p>
          <a:p>
            <a:pPr lvl="0">
              <a:defRPr/>
            </a:pPr>
            <a:r>
              <a:rPr lang="pt-BR" sz="1100" dirty="0">
                <a:solidFill>
                  <a:prstClr val="black"/>
                </a:solidFill>
                <a:latin typeface="Simplon BP Regular" pitchFamily="2" charset="0"/>
              </a:rPr>
              <a:t>II - informe ao Consumidor a data-base a que está vinculado no momento da contratação; e,</a:t>
            </a:r>
          </a:p>
          <a:p>
            <a:pPr lvl="0">
              <a:defRPr/>
            </a:pPr>
            <a:r>
              <a:rPr lang="pt-BR" sz="1100" dirty="0">
                <a:solidFill>
                  <a:prstClr val="black"/>
                </a:solidFill>
                <a:latin typeface="Simplon BP Regular" pitchFamily="2" charset="0"/>
              </a:rPr>
              <a:t>III - faça constar as datas-bases na Oferta quando de seu registro na Anatel.</a:t>
            </a:r>
          </a:p>
          <a:p>
            <a:pPr lvl="0">
              <a:defRPr/>
            </a:pPr>
            <a:r>
              <a:rPr lang="pt-BR" sz="1100" dirty="0">
                <a:solidFill>
                  <a:prstClr val="black"/>
                </a:solidFill>
                <a:latin typeface="Simplon BP Regular" pitchFamily="2" charset="0"/>
              </a:rPr>
              <a:t>§ 2º Excetuam-se da disposição do caput os reajustes das Ofertas de Plano Básicas, do Plano Alternativo de Serviço de Oferta Obrigatória - PASOO e do Serviço de Acesso Individual Classe Especial – AICE do Serviço Telefônico Fixo Comutado.</a:t>
            </a:r>
          </a:p>
          <a:p>
            <a:pPr lvl="0">
              <a:defRPr/>
            </a:pPr>
            <a:r>
              <a:rPr lang="pt-BR" sz="1100" dirty="0">
                <a:solidFill>
                  <a:prstClr val="black"/>
                </a:solidFill>
                <a:latin typeface="Simplon BP Regular" pitchFamily="2" charset="0"/>
              </a:rPr>
              <a:t>§ 3º O Grupo de Implantação disporá sobre o cumprimento das determinações contidas no parágrafo único do art. 3º da Lei nº 9.472, de 16 de julho de 1997, relativas à divulgação, pela Prestadora, do valor das tarifas e preços praticados e a evolução dos reajustes realizados nos últimos 5 (cinco) anos.</a:t>
            </a:r>
          </a:p>
        </p:txBody>
      </p:sp>
      <p:sp>
        <p:nvSpPr>
          <p:cNvPr id="40" name="Rectangle 56">
            <a:extLst>
              <a:ext uri="{FF2B5EF4-FFF2-40B4-BE49-F238E27FC236}">
                <a16:creationId xmlns:a16="http://schemas.microsoft.com/office/drawing/2014/main" id="{D94E2B5C-D21D-43D5-8C3E-7E301F2B0316}"/>
              </a:ext>
            </a:extLst>
          </p:cNvPr>
          <p:cNvSpPr/>
          <p:nvPr/>
        </p:nvSpPr>
        <p:spPr>
          <a:xfrm>
            <a:off x="2420934" y="5077723"/>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9868" y="2904917"/>
            <a:ext cx="4486542" cy="3354765"/>
          </a:xfrm>
          <a:prstGeom prst="rect">
            <a:avLst/>
          </a:prstGeom>
          <a:noFill/>
        </p:spPr>
        <p:txBody>
          <a:bodyPr wrap="square">
            <a:spAutoFit/>
          </a:bodyPr>
          <a:lstStyle/>
          <a:p>
            <a:pPr marL="285750" indent="-285750">
              <a:buFontTx/>
              <a:buChar char="-"/>
              <a:defRPr/>
            </a:pPr>
            <a:r>
              <a:rPr lang="pt-BR" sz="1400" dirty="0">
                <a:solidFill>
                  <a:prstClr val="black"/>
                </a:solidFill>
                <a:latin typeface="Simplon BP Regular" pitchFamily="50" charset="0"/>
              </a:rPr>
              <a:t>PARCIAL COMPLIANCE</a:t>
            </a:r>
          </a:p>
          <a:p>
            <a:pPr marL="285750" indent="-285750">
              <a:buFontTx/>
              <a:buChar char="-"/>
              <a:defRPr/>
            </a:pPr>
            <a:endParaRPr lang="pt-BR" sz="1400" dirty="0">
              <a:solidFill>
                <a:prstClr val="black"/>
              </a:solidFill>
              <a:latin typeface="Simplon BP Regular" pitchFamily="50" charset="0"/>
            </a:endParaRPr>
          </a:p>
          <a:p>
            <a:r>
              <a:rPr lang="pt-BR" sz="1200" dirty="0">
                <a:solidFill>
                  <a:prstClr val="black"/>
                </a:solidFill>
                <a:latin typeface="Simplon BP Regular" pitchFamily="50" charset="0"/>
              </a:rPr>
              <a:t>No que tange ao tema de Reajuste de ofertas, para o sistema legado é realizado a partir de data-base e clientes com menos de 12 meses são blindados desta ação. Na Nova Fibra ainda não entramos com a </a:t>
            </a:r>
            <a:r>
              <a:rPr lang="pt-BR" sz="1200" dirty="0" err="1">
                <a:solidFill>
                  <a:prstClr val="black"/>
                </a:solidFill>
                <a:latin typeface="Simplon BP Regular" pitchFamily="50" charset="0"/>
              </a:rPr>
              <a:t>features</a:t>
            </a:r>
            <a:r>
              <a:rPr lang="pt-BR" sz="1200" dirty="0">
                <a:solidFill>
                  <a:prstClr val="black"/>
                </a:solidFill>
                <a:latin typeface="Simplon BP Regular" pitchFamily="50" charset="0"/>
              </a:rPr>
              <a:t> de reajuste </a:t>
            </a:r>
            <a:r>
              <a:rPr lang="pt-BR" sz="1200" dirty="0" err="1">
                <a:solidFill>
                  <a:prstClr val="black"/>
                </a:solidFill>
                <a:latin typeface="Simplon BP Regular" pitchFamily="50" charset="0"/>
              </a:rPr>
              <a:t>safrado</a:t>
            </a:r>
            <a:r>
              <a:rPr lang="pt-BR" sz="1200" dirty="0">
                <a:solidFill>
                  <a:prstClr val="black"/>
                </a:solidFill>
                <a:latin typeface="Simplon BP Regular" pitchFamily="50" charset="0"/>
              </a:rPr>
              <a:t>, portanto não temos clientes sofrendo aumento de preço por conta de aniversário contratual.</a:t>
            </a:r>
          </a:p>
          <a:p>
            <a:pPr>
              <a:defRPr/>
            </a:pPr>
            <a:endParaRPr lang="pt-BR" sz="1200" b="1" dirty="0">
              <a:solidFill>
                <a:prstClr val="black"/>
              </a:solidFill>
              <a:latin typeface="Simplon BP Regular" pitchFamily="2" charset="0"/>
            </a:endParaRPr>
          </a:p>
          <a:p>
            <a:pPr>
              <a:defRPr/>
            </a:pPr>
            <a:r>
              <a:rPr lang="pt-BR" sz="1200" b="1" dirty="0">
                <a:solidFill>
                  <a:prstClr val="black"/>
                </a:solidFill>
                <a:latin typeface="Simplon BP Regular" pitchFamily="2" charset="0"/>
              </a:rPr>
              <a:t>-      PROXIMOS PASSOS: </a:t>
            </a:r>
          </a:p>
          <a:p>
            <a:pPr lvl="0">
              <a:defRPr/>
            </a:pPr>
            <a:r>
              <a:rPr lang="pt-BR" sz="1200" dirty="0">
                <a:solidFill>
                  <a:prstClr val="black"/>
                </a:solidFill>
                <a:latin typeface="Simplon BP Regular" pitchFamily="2" charset="0"/>
              </a:rPr>
              <a:t>- Necessário desenvolvimento sistêmico para adequar a data – base de reajuste do cliente (data de aniversario). </a:t>
            </a:r>
          </a:p>
          <a:p>
            <a:pPr lvl="0">
              <a:defRPr/>
            </a:pPr>
            <a:r>
              <a:rPr lang="pt-BR" sz="1200" dirty="0">
                <a:solidFill>
                  <a:prstClr val="black"/>
                </a:solidFill>
                <a:latin typeface="Simplon BP Regular" pitchFamily="2" charset="0"/>
              </a:rPr>
              <a:t>Orçado: Nova fibra: R$1.600.000  //  Legado: R$738.000</a:t>
            </a:r>
          </a:p>
          <a:p>
            <a:pPr>
              <a:defRPr/>
            </a:pPr>
            <a:endParaRPr lang="pt-BR" sz="1200" dirty="0">
              <a:solidFill>
                <a:prstClr val="black"/>
              </a:solidFill>
              <a:latin typeface="Simplon BP Regular" pitchFamily="2" charset="0"/>
            </a:endParaRPr>
          </a:p>
          <a:p>
            <a:pPr>
              <a:defRPr/>
            </a:pPr>
            <a:r>
              <a:rPr lang="pt-BR" sz="1200" dirty="0">
                <a:solidFill>
                  <a:prstClr val="black"/>
                </a:solidFill>
                <a:latin typeface="Simplon BP Regular" pitchFamily="2" charset="0"/>
              </a:rPr>
              <a:t> aguardando recurso junto a Anatel. </a:t>
            </a:r>
            <a:endParaRPr lang="pt-BR" sz="1200" b="1" dirty="0">
              <a:solidFill>
                <a:prstClr val="black"/>
              </a:solidFill>
              <a:latin typeface="Simplon BP Regular" pitchFamily="2" charset="0"/>
            </a:endParaRPr>
          </a:p>
          <a:p>
            <a:pPr lvl="0">
              <a:defRPr/>
            </a:pPr>
            <a:endParaRPr kumimoji="0" lang="pt-BR" sz="1400" b="1" i="0" u="none" strike="noStrike" kern="1200" cap="none" spc="0" normalizeH="0" baseline="0" noProof="0" dirty="0">
              <a:ln>
                <a:noFill/>
              </a:ln>
              <a:solidFill>
                <a:prstClr val="black"/>
              </a:solidFill>
              <a:effectLst/>
              <a:uLnTx/>
              <a:uFillTx/>
              <a:latin typeface="Simplon BP Regular" pitchFamily="2" charset="0"/>
            </a:endParaRPr>
          </a:p>
          <a:p>
            <a:pPr lvl="0">
              <a:defRPr/>
            </a:pPr>
            <a:endParaRPr kumimoji="0" lang="pt-BR" sz="1400" b="1" i="0" u="none" strike="noStrike" kern="1200" cap="none" spc="0" normalizeH="0" baseline="0" noProof="0" dirty="0">
              <a:ln>
                <a:noFill/>
              </a:ln>
              <a:solidFill>
                <a:prstClr val="black"/>
              </a:solidFill>
              <a:effectLst/>
              <a:uLnTx/>
              <a:uFillTx/>
              <a:latin typeface="Simplon BP Regular" pitchFamily="2"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52623" y="1516782"/>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a:defRPr/>
            </a:pPr>
            <a:r>
              <a:rPr lang="pt-BR" sz="1100" b="1" dirty="0" smtClean="0">
                <a:latin typeface="Simplon BP"/>
              </a:rPr>
              <a:t>( ) TOTAL</a:t>
            </a:r>
          </a:p>
          <a:p>
            <a:pPr lvl="0">
              <a:defRPr/>
            </a:pPr>
            <a:r>
              <a:rPr lang="pt-BR" sz="1100" b="1" dirty="0" smtClean="0">
                <a:latin typeface="Simplon BP"/>
              </a:rPr>
              <a:t>(</a:t>
            </a:r>
            <a:r>
              <a:rPr lang="en-US" sz="1100" b="1" dirty="0" smtClean="0">
                <a:solidFill>
                  <a:schemeClr val="accent6"/>
                </a:solidFill>
                <a:latin typeface="Simplon BP Regular" pitchFamily="2" charset="0"/>
              </a:rPr>
              <a:t>X</a:t>
            </a:r>
            <a:r>
              <a:rPr lang="pt-BR" sz="1100" b="1" dirty="0" smtClean="0">
                <a:latin typeface="Simplon BP"/>
              </a:rPr>
              <a:t> </a:t>
            </a:r>
            <a:r>
              <a:rPr lang="pt-BR" sz="1100" b="1" dirty="0">
                <a:latin typeface="Simplon BP"/>
              </a:rPr>
              <a:t>)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a:defRPr/>
            </a:pPr>
            <a:r>
              <a:rPr lang="pt-BR" sz="1100" b="1" dirty="0" smtClean="0">
                <a:latin typeface="Simplon BP"/>
              </a:rPr>
              <a:t>(</a:t>
            </a:r>
            <a:r>
              <a:rPr lang="en-US" sz="1100" b="1" dirty="0" smtClean="0">
                <a:solidFill>
                  <a:schemeClr val="accent6"/>
                </a:solidFill>
                <a:latin typeface="Simplon BP Regular" pitchFamily="2" charset="0"/>
              </a:rPr>
              <a:t>X</a:t>
            </a: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a:defRPr/>
            </a:pPr>
            <a:r>
              <a:rPr lang="pt-BR" sz="1100" b="1" dirty="0" smtClean="0">
                <a:latin typeface="Simplon BP"/>
              </a:rPr>
              <a:t>(</a:t>
            </a:r>
            <a:r>
              <a:rPr lang="en-US" sz="1100" b="1" dirty="0">
                <a:solidFill>
                  <a:schemeClr val="accent6"/>
                </a:solidFill>
                <a:latin typeface="Simplon BP Regular" pitchFamily="2" charset="0"/>
              </a:rPr>
              <a:t> </a:t>
            </a:r>
            <a:r>
              <a:rPr lang="en-US" sz="1100" b="1" dirty="0" smtClean="0">
                <a:solidFill>
                  <a:schemeClr val="accent6"/>
                </a:solidFill>
                <a:latin typeface="Simplon BP Regular" pitchFamily="2" charset="0"/>
              </a:rPr>
              <a:t>  </a:t>
            </a:r>
            <a:r>
              <a:rPr lang="pt-BR" sz="1100" b="1" dirty="0" smtClean="0">
                <a:latin typeface="Simplon BP"/>
              </a:rPr>
              <a:t>) 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63624" y="524025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623503"/>
            <a:ext cx="347712" cy="338554"/>
          </a:xfrm>
          <a:prstGeom prst="rect">
            <a:avLst/>
          </a:prstGeom>
          <a:noFill/>
        </p:spPr>
        <p:txBody>
          <a:bodyPr wrap="square">
            <a:spAutoFit/>
          </a:bodyPr>
          <a:lstStyle/>
          <a:p>
            <a:pPr lvl="0">
              <a:buClr>
                <a:schemeClr val="accent6"/>
              </a:buClr>
              <a:buSzPct val="200000"/>
              <a:defRPr/>
            </a:pPr>
            <a:r>
              <a:rPr lang="en-US" sz="1600" b="1">
                <a:solidFill>
                  <a:schemeClr val="accent6"/>
                </a:solidFill>
                <a:latin typeface="Simplon BP Regular" pitchFamily="2" charset="0"/>
              </a:rPr>
              <a:t>X</a:t>
            </a:r>
            <a:endParaRPr lang="pt-BR" sz="1600" b="1" dirty="0">
              <a:solidFill>
                <a:schemeClr val="accent6"/>
              </a:solidFill>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DIRETORIA</a:t>
            </a:r>
          </a:p>
          <a:p>
            <a:pPr lvl="0">
              <a:defRPr/>
            </a:pPr>
            <a:r>
              <a:rPr lang="pt-BR" sz="1200" b="1" dirty="0" smtClean="0">
                <a:solidFill>
                  <a:prstClr val="black"/>
                </a:solidFill>
                <a:latin typeface="Simplon BP Regular" pitchFamily="2" charset="0"/>
              </a:rPr>
              <a:t>Marketing Oi Fibra</a:t>
            </a:r>
          </a:p>
          <a:p>
            <a:pPr lvl="0">
              <a:defRPr/>
            </a:pPr>
            <a:endParaRPr lang="pt-BR" sz="1200" b="1" dirty="0" smtClean="0">
              <a:solidFill>
                <a:prstClr val="black"/>
              </a:solidFill>
              <a:latin typeface="Simplon BP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NOME DO RESPONSÁVEL</a:t>
            </a:r>
          </a:p>
          <a:p>
            <a:pPr lvl="0">
              <a:defRPr/>
            </a:pPr>
            <a:r>
              <a:rPr lang="it-IT" sz="1200" b="1" dirty="0" smtClean="0">
                <a:solidFill>
                  <a:prstClr val="black"/>
                </a:solidFill>
                <a:latin typeface="Simplon BP Regular" pitchFamily="2" charset="0"/>
              </a:rPr>
              <a:t>Luiz </a:t>
            </a:r>
            <a:r>
              <a:rPr lang="it-IT" sz="1200" b="1" dirty="0">
                <a:solidFill>
                  <a:prstClr val="black"/>
                </a:solidFill>
                <a:latin typeface="Simplon BP Regular" pitchFamily="2" charset="0"/>
              </a:rPr>
              <a:t>Felipe </a:t>
            </a:r>
            <a:r>
              <a:rPr lang="it-IT" sz="1200" b="1" dirty="0" smtClean="0">
                <a:solidFill>
                  <a:prstClr val="black"/>
                </a:solidFill>
                <a:latin typeface="Simplon BP Regular" pitchFamily="2" charset="0"/>
              </a:rPr>
              <a:t>Meira</a:t>
            </a:r>
            <a:endParaRPr kumimoji="0" lang="pt-BR" sz="1200" b="1" i="0" u="none" strike="noStrike" kern="1200" cap="none" spc="0" normalizeH="0" baseline="0" noProof="0" dirty="0">
              <a:ln>
                <a:noFill/>
              </a:ln>
              <a:solidFill>
                <a:prstClr val="black"/>
              </a:solidFill>
              <a:effectLst/>
              <a:uLnTx/>
              <a:uFillTx/>
              <a:latin typeface="Simplon BP Regular" pitchFamily="2" charset="0"/>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474374" y="5380242"/>
            <a:ext cx="4586902" cy="769441"/>
          </a:xfrm>
          <a:prstGeom prst="rect">
            <a:avLst/>
          </a:prstGeom>
          <a:noFill/>
        </p:spPr>
        <p:txBody>
          <a:bodyPr wrap="square">
            <a:spAutoFit/>
          </a:bodyPr>
          <a:lstStyle/>
          <a:p>
            <a:pPr lvl="0">
              <a:defRPr/>
            </a:pPr>
            <a:r>
              <a:rPr lang="pt-BR" sz="1100" dirty="0" smtClean="0">
                <a:solidFill>
                  <a:prstClr val="black"/>
                </a:solidFill>
                <a:latin typeface="Simplon BP Regular" pitchFamily="2" charset="0"/>
              </a:rPr>
              <a:t>Auto descritivo, trata do prazo mínimo de 12 meses para reajuste da oferta., determina que a data base definida pela Prestadora deve ser informada ao consumidor no momento da contratação, e as mesas devem ser registradas no Anatel.</a:t>
            </a:r>
            <a:endParaRPr lang="pt-BR" sz="1100" dirty="0">
              <a:solidFill>
                <a:prstClr val="black"/>
              </a:solidFill>
              <a:latin typeface="Simplon BP Regular" pitchFamily="2" charset="0"/>
            </a:endParaRP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8"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61434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65678"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a:solidFill>
                  <a:srgbClr val="92D050"/>
                </a:solidFill>
                <a:cs typeface="+mj-cs"/>
              </a:rPr>
              <a:t>42 - Gravação e Cópia das </a:t>
            </a:r>
            <a:r>
              <a:rPr lang="pt-BR" sz="2400" dirty="0" smtClean="0">
                <a:solidFill>
                  <a:srgbClr val="92D050"/>
                </a:solidFill>
                <a:cs typeface="+mj-cs"/>
              </a:rPr>
              <a:t>Interações (informações de primeiro acesso)</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err="1" smtClean="0">
                <a:solidFill>
                  <a:schemeClr val="bg1"/>
                </a:solidFill>
                <a:latin typeface="Simplon BP"/>
              </a:rPr>
              <a:t>xxxx</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812506" cy="1569660"/>
          </a:xfrm>
          <a:prstGeom prst="rect">
            <a:avLst/>
          </a:prstGeom>
          <a:noFill/>
        </p:spPr>
        <p:txBody>
          <a:bodyPr wrap="square">
            <a:spAutoFit/>
          </a:bodyPr>
          <a:lstStyle/>
          <a:p>
            <a:pPr fontAlgn="base"/>
            <a:r>
              <a:rPr lang="pt-BR" sz="1200" dirty="0">
                <a:latin typeface="Simplon BP Regular" pitchFamily="50" charset="0"/>
              </a:rPr>
              <a:t>Art. 42. No momento da contratação, a Prestadora deverá:</a:t>
            </a:r>
          </a:p>
          <a:p>
            <a:pPr fontAlgn="base"/>
            <a:endParaRPr lang="pt-BR" sz="1200" dirty="0">
              <a:latin typeface="Simplon BP Regular" pitchFamily="50" charset="0"/>
            </a:endParaRPr>
          </a:p>
          <a:p>
            <a:pPr fontAlgn="base"/>
            <a:r>
              <a:rPr lang="pt-BR" sz="1200" dirty="0">
                <a:latin typeface="Simplon BP Regular" pitchFamily="50" charset="0"/>
              </a:rPr>
              <a:t>I - entregar ao Consumidor o contrato de prestação de serviço e a Etiqueta Padrão na forma por ele selecionada; e,</a:t>
            </a:r>
          </a:p>
          <a:p>
            <a:pPr fontAlgn="base"/>
            <a:endParaRPr lang="pt-BR" sz="1200" dirty="0">
              <a:latin typeface="Simplon BP Regular" pitchFamily="50" charset="0"/>
            </a:endParaRPr>
          </a:p>
          <a:p>
            <a:pPr fontAlgn="base"/>
            <a:r>
              <a:rPr lang="pt-BR" sz="1200" dirty="0">
                <a:latin typeface="Simplon BP Regular" pitchFamily="50" charset="0"/>
              </a:rPr>
              <a:t>II - fornecer ao Consumidor as informações necessárias à realização de seu primeiro acesso ao Atendimento por Meio Digital, no qual poderá consultar os documentos mencionados no inciso I</a:t>
            </a:r>
            <a:r>
              <a:rPr lang="pt-BR" sz="1200" dirty="0" smtClean="0">
                <a:latin typeface="Simplon BP Regular" pitchFamily="50" charset="0"/>
              </a:rPr>
              <a:t>.</a:t>
            </a:r>
            <a:endParaRPr lang="pt-BR" sz="1200" dirty="0">
              <a:latin typeface="Simplon BP Regular" pitchFamily="50"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432393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649557"/>
            <a:ext cx="4816339" cy="307777"/>
          </a:xfrm>
          <a:prstGeom prst="rect">
            <a:avLst/>
          </a:prstGeom>
          <a:noFill/>
        </p:spPr>
        <p:txBody>
          <a:bodyPr wrap="square">
            <a:spAutoFit/>
          </a:bodyPr>
          <a:lstStyle/>
          <a:p>
            <a:pPr lvl="0">
              <a:defRPr/>
            </a:pPr>
            <a:r>
              <a:rPr lang="pt-BR" sz="1400" dirty="0" smtClean="0">
                <a:solidFill>
                  <a:prstClr val="black"/>
                </a:solidFill>
                <a:latin typeface="Simplon BP Regular" pitchFamily="2" charset="0"/>
              </a:rPr>
              <a:t>N/A</a:t>
            </a:r>
            <a:endParaRPr lang="pt-BR" sz="1400" dirty="0">
              <a:solidFill>
                <a:prstClr val="black"/>
              </a:solidFill>
              <a:latin typeface="Simplon BP Regular" pitchFamily="2"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16770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56233" y="479389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200329"/>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Marketing Oi </a:t>
            </a:r>
            <a:r>
              <a:rPr lang="pt-BR" sz="1200" b="1" dirty="0" smtClean="0">
                <a:solidFill>
                  <a:prstClr val="black"/>
                </a:solidFill>
                <a:latin typeface="Simplon BP Regular" pitchFamily="2" charset="0"/>
              </a:rPr>
              <a:t>Fibra</a:t>
            </a:r>
          </a:p>
          <a:p>
            <a:pPr lvl="0">
              <a:defRPr/>
            </a:pPr>
            <a:endParaRPr lang="pt-BR" sz="1200" b="1" dirty="0" smtClean="0">
              <a:solidFill>
                <a:prstClr val="black"/>
              </a:solidFill>
              <a:latin typeface="Simplon BP Regular" pitchFamily="2" charset="0"/>
            </a:endParaRP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Luiz Felipe </a:t>
            </a:r>
            <a:r>
              <a:rPr lang="it-IT" sz="1200" b="1" dirty="0" smtClean="0">
                <a:solidFill>
                  <a:prstClr val="black"/>
                </a:solidFill>
                <a:latin typeface="Simplon BP Regular" pitchFamily="2" charset="0"/>
              </a:rPr>
              <a:t>Meira</a:t>
            </a:r>
            <a:endParaRPr lang="pt-BR" sz="1200" b="1" dirty="0">
              <a:solidFill>
                <a:prstClr val="black"/>
              </a:solidFill>
              <a:latin typeface="Simplon BP Regular" pitchFamily="2"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1156233" y="343127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4" name="TextBox 1">
            <a:extLst>
              <a:ext uri="{FF2B5EF4-FFF2-40B4-BE49-F238E27FC236}">
                <a16:creationId xmlns:a16="http://schemas.microsoft.com/office/drawing/2014/main" id="{78C73662-F2B9-EA54-760E-817ED3732111}"/>
              </a:ext>
            </a:extLst>
          </p:cNvPr>
          <p:cNvSpPr txBox="1"/>
          <p:nvPr/>
        </p:nvSpPr>
        <p:spPr>
          <a:xfrm>
            <a:off x="7260357" y="2878768"/>
            <a:ext cx="4526052" cy="3970318"/>
          </a:xfrm>
          <a:prstGeom prst="rect">
            <a:avLst/>
          </a:prstGeom>
          <a:noFill/>
        </p:spPr>
        <p:txBody>
          <a:bodyPr wrap="square">
            <a:spAutoFit/>
          </a:bodyPr>
          <a:lstStyle/>
          <a:p>
            <a:pPr marL="285750" indent="-285750">
              <a:buFontTx/>
              <a:buChar char="-"/>
              <a:defRPr/>
            </a:pPr>
            <a:r>
              <a:rPr lang="pt-BR" sz="1400" dirty="0" smtClean="0">
                <a:solidFill>
                  <a:prstClr val="black"/>
                </a:solidFill>
                <a:latin typeface="Simplon BP Regular" pitchFamily="2" charset="0"/>
              </a:rPr>
              <a:t>- </a:t>
            </a:r>
            <a:r>
              <a:rPr lang="pt-BR" sz="1400" dirty="0" err="1">
                <a:solidFill>
                  <a:prstClr val="black"/>
                </a:solidFill>
                <a:latin typeface="Simplon BP Regular" pitchFamily="50" charset="0"/>
              </a:rPr>
              <a:t>Compliance</a:t>
            </a:r>
            <a:r>
              <a:rPr lang="pt-BR" sz="1400" dirty="0">
                <a:solidFill>
                  <a:prstClr val="black"/>
                </a:solidFill>
                <a:latin typeface="Simplon BP Regular" pitchFamily="50" charset="0"/>
              </a:rPr>
              <a:t> parcial</a:t>
            </a:r>
          </a:p>
          <a:p>
            <a:pPr marL="285750" indent="-285750">
              <a:buFontTx/>
              <a:buChar char="-"/>
              <a:defRPr/>
            </a:pPr>
            <a:endParaRPr lang="pt-BR" sz="1400" dirty="0">
              <a:solidFill>
                <a:prstClr val="black"/>
              </a:solidFill>
              <a:latin typeface="Simplon BP Regular" pitchFamily="50" charset="0"/>
            </a:endParaRPr>
          </a:p>
          <a:p>
            <a:pPr marL="285750" indent="-285750">
              <a:buFontTx/>
              <a:buChar char="-"/>
              <a:defRPr/>
            </a:pPr>
            <a:r>
              <a:rPr lang="pt-BR" sz="1400" dirty="0">
                <a:solidFill>
                  <a:prstClr val="black"/>
                </a:solidFill>
                <a:latin typeface="Simplon BP Regular" pitchFamily="50" charset="0"/>
              </a:rPr>
              <a:t>OG não mensurada;</a:t>
            </a:r>
          </a:p>
          <a:p>
            <a:pPr marL="285750" indent="-285750">
              <a:buFontTx/>
              <a:buChar char="-"/>
              <a:defRPr/>
            </a:pPr>
            <a:endParaRPr lang="pt-BR" sz="1400" b="1" dirty="0">
              <a:solidFill>
                <a:prstClr val="black"/>
              </a:solidFill>
              <a:latin typeface="Simplon BP Regular" pitchFamily="2" charset="0"/>
            </a:endParaRPr>
          </a:p>
          <a:p>
            <a:pPr marL="285750" lvl="0" indent="-285750">
              <a:buFontTx/>
              <a:buChar char="-"/>
              <a:defRPr/>
            </a:pPr>
            <a:r>
              <a:rPr lang="pt-BR" sz="1400" dirty="0">
                <a:solidFill>
                  <a:prstClr val="black"/>
                </a:solidFill>
                <a:latin typeface="Simplon BP Regular" pitchFamily="2" charset="0"/>
              </a:rPr>
              <a:t>I Etiqueta padrão: incluir o </a:t>
            </a:r>
            <a:r>
              <a:rPr lang="pt-BR" sz="1400" dirty="0" err="1">
                <a:solidFill>
                  <a:prstClr val="black"/>
                </a:solidFill>
                <a:latin typeface="Simplon BP Regular" pitchFamily="2" charset="0"/>
              </a:rPr>
              <a:t>cod</a:t>
            </a:r>
            <a:r>
              <a:rPr lang="pt-BR" sz="1400" dirty="0">
                <a:solidFill>
                  <a:prstClr val="black"/>
                </a:solidFill>
                <a:latin typeface="Simplon BP Regular" pitchFamily="2" charset="0"/>
              </a:rPr>
              <a:t>. de identificação único</a:t>
            </a:r>
          </a:p>
          <a:p>
            <a:pPr lvl="0">
              <a:defRPr/>
            </a:pPr>
            <a:endParaRPr lang="pt-BR" sz="1400" dirty="0">
              <a:solidFill>
                <a:prstClr val="black"/>
              </a:solidFill>
              <a:latin typeface="Simplon BP Regular" pitchFamily="2" charset="0"/>
            </a:endParaRPr>
          </a:p>
          <a:p>
            <a:pPr marL="285750" lvl="0" indent="-285750">
              <a:buFontTx/>
              <a:buChar char="-"/>
              <a:defRPr/>
            </a:pPr>
            <a:r>
              <a:rPr lang="pt-BR" sz="1400" dirty="0">
                <a:solidFill>
                  <a:prstClr val="black"/>
                </a:solidFill>
                <a:latin typeface="Simplon BP Regular" pitchFamily="2" charset="0"/>
              </a:rPr>
              <a:t>II Primeiro acesso: em desenvolvimento para incluir o regulamento de ofertas no </a:t>
            </a:r>
            <a:r>
              <a:rPr lang="pt-BR" sz="1400" dirty="0" err="1">
                <a:solidFill>
                  <a:prstClr val="black"/>
                </a:solidFill>
                <a:latin typeface="Simplon BP Regular" pitchFamily="2" charset="0"/>
              </a:rPr>
              <a:t>app</a:t>
            </a:r>
            <a:r>
              <a:rPr lang="pt-BR" sz="1400" dirty="0">
                <a:solidFill>
                  <a:prstClr val="black"/>
                </a:solidFill>
                <a:latin typeface="Simplon BP Regular" pitchFamily="2" charset="0"/>
              </a:rPr>
              <a:t> </a:t>
            </a:r>
            <a:r>
              <a:rPr lang="pt-BR" sz="1400" dirty="0" err="1">
                <a:solidFill>
                  <a:prstClr val="black"/>
                </a:solidFill>
                <a:latin typeface="Simplon BP Regular" pitchFamily="2" charset="0"/>
              </a:rPr>
              <a:t>Oie</a:t>
            </a:r>
            <a:r>
              <a:rPr lang="pt-BR" sz="1400" dirty="0">
                <a:solidFill>
                  <a:prstClr val="black"/>
                </a:solidFill>
                <a:latin typeface="Simplon BP Regular" pitchFamily="2" charset="0"/>
              </a:rPr>
              <a:t>.</a:t>
            </a:r>
          </a:p>
          <a:p>
            <a:pPr lvl="0">
              <a:defRPr/>
            </a:pPr>
            <a:endParaRPr lang="pt-BR" sz="1400" dirty="0">
              <a:solidFill>
                <a:prstClr val="black"/>
              </a:solidFill>
              <a:latin typeface="Simplon BP Regular" pitchFamily="2" charset="0"/>
            </a:endParaRPr>
          </a:p>
          <a:p>
            <a:pPr lvl="0">
              <a:defRPr/>
            </a:pPr>
            <a:r>
              <a:rPr lang="pt-BR" sz="1400" dirty="0">
                <a:solidFill>
                  <a:prstClr val="black"/>
                </a:solidFill>
                <a:latin typeface="Simplon BP Regular" pitchFamily="2" charset="0"/>
              </a:rPr>
              <a:t>- Necessário mapeamento das informações atuais disponibilizadas via </a:t>
            </a:r>
            <a:r>
              <a:rPr lang="pt-BR" sz="1400" dirty="0" err="1">
                <a:solidFill>
                  <a:prstClr val="black"/>
                </a:solidFill>
                <a:latin typeface="Simplon BP Regular" pitchFamily="2" charset="0"/>
              </a:rPr>
              <a:t>checkout</a:t>
            </a:r>
            <a:r>
              <a:rPr lang="pt-BR" sz="1400" dirty="0">
                <a:solidFill>
                  <a:prstClr val="black"/>
                </a:solidFill>
                <a:latin typeface="Simplon BP Regular" pitchFamily="2" charset="0"/>
              </a:rPr>
              <a:t> de vendas, boas vindas e a Joice.</a:t>
            </a:r>
          </a:p>
          <a:p>
            <a:pPr lvl="0">
              <a:defRPr/>
            </a:pPr>
            <a:endParaRPr lang="pt-BR" sz="1400" dirty="0">
              <a:solidFill>
                <a:prstClr val="black"/>
              </a:solidFill>
              <a:latin typeface="Simplon BP Regular" pitchFamily="2" charset="0"/>
            </a:endParaRPr>
          </a:p>
          <a:p>
            <a:pPr lvl="0">
              <a:defRPr/>
            </a:pPr>
            <a:r>
              <a:rPr lang="pt-BR" sz="1400" dirty="0">
                <a:solidFill>
                  <a:prstClr val="black"/>
                </a:solidFill>
                <a:latin typeface="Simplon BP Regular" pitchFamily="2" charset="0"/>
              </a:rPr>
              <a:t>- Avaliação Regulatória: se a obrigação abrange as demais áreas, além de Aquisição. </a:t>
            </a:r>
            <a:r>
              <a:rPr lang="pt-BR" sz="1400" dirty="0" err="1">
                <a:solidFill>
                  <a:prstClr val="black"/>
                </a:solidFill>
                <a:latin typeface="Simplon BP Regular" pitchFamily="2" charset="0"/>
              </a:rPr>
              <a:t>Ex</a:t>
            </a:r>
            <a:r>
              <a:rPr lang="pt-BR" sz="1400" dirty="0">
                <a:solidFill>
                  <a:prstClr val="black"/>
                </a:solidFill>
                <a:latin typeface="Simplon BP Regular" pitchFamily="2" charset="0"/>
              </a:rPr>
              <a:t>: rentabilização, retenção, etc.</a:t>
            </a:r>
          </a:p>
          <a:p>
            <a:pPr lvl="0">
              <a:defRPr/>
            </a:pPr>
            <a:endParaRPr lang="pt-BR" sz="1400" dirty="0">
              <a:solidFill>
                <a:prstClr val="black"/>
              </a:solidFill>
              <a:latin typeface="Simplon BP Regular" pitchFamily="2" charset="0"/>
            </a:endParaRPr>
          </a:p>
        </p:txBody>
      </p:sp>
      <p:sp>
        <p:nvSpPr>
          <p:cNvPr id="65"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27336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8832"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latin typeface="Simplon Oi Headline"/>
                <a:cs typeface="+mj-cs"/>
              </a:rPr>
              <a:t>Art. 64 – Devolução de Valores</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2862322"/>
          </a:xfrm>
          <a:prstGeom prst="rect">
            <a:avLst/>
          </a:prstGeom>
          <a:noFill/>
        </p:spPr>
        <p:txBody>
          <a:bodyPr wrap="square">
            <a:spAutoFit/>
          </a:bodyPr>
          <a:lstStyle/>
          <a:p>
            <a:pPr lvl="0">
              <a:defRPr/>
            </a:pPr>
            <a:r>
              <a:rPr lang="pt-BR" sz="1200" dirty="0">
                <a:solidFill>
                  <a:prstClr val="black"/>
                </a:solidFill>
                <a:latin typeface="Simplon BP Regular" pitchFamily="2" charset="0"/>
              </a:rPr>
              <a:t>Art. 64. O Consumidor que efetuar o pagamento de quantia cobrada indevidamente terá direito à devolução de valor correspondente ao dobro do que foi pago em excesso, acrescido de correção monetária e juros de 1% (um por cento) ao mês, proporcional ao dia.</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 1º O índice de correção monetária aplicável para o cálculo da quantia a ser devolvida será o mesmo utilizado pela Prestadora para a cobrança de valores pagos em atraso pelo Consumidor.</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 2º Quando a Prestadora não comprove o índice de correção monetária utilizado em caso de atraso de pagamento previsto no contrato de prestação de serviços, será empregado, para o cálculo do valor a ser devolvido ao Consumidor, o índice definido em Portaria expedida pela Superintendência responsável pelo acompanhamento da obrigação descrita no caput.</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7" y="443490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760527"/>
            <a:ext cx="4580358" cy="1569660"/>
          </a:xfrm>
          <a:prstGeom prst="rect">
            <a:avLst/>
          </a:prstGeom>
          <a:noFill/>
        </p:spPr>
        <p:txBody>
          <a:bodyPr wrap="square">
            <a:spAutoFit/>
          </a:bodyPr>
          <a:lstStyle/>
          <a:p>
            <a:pPr marL="85725"/>
            <a:r>
              <a:rPr lang="pt-BR" sz="1200" b="1" dirty="0">
                <a:latin typeface="Simplon BP Regular" pitchFamily="50" charset="0"/>
              </a:rPr>
              <a:t>O que está parcialmente </a:t>
            </a:r>
            <a:r>
              <a:rPr lang="pt-BR" sz="1200" b="1" dirty="0" err="1">
                <a:latin typeface="Simplon BP Regular" pitchFamily="50" charset="0"/>
              </a:rPr>
              <a:t>Compliance</a:t>
            </a:r>
            <a:r>
              <a:rPr lang="pt-BR" sz="1200" b="1" dirty="0">
                <a:latin typeface="Simplon BP Regular" pitchFamily="50" charset="0"/>
              </a:rPr>
              <a:t>:</a:t>
            </a:r>
          </a:p>
          <a:p>
            <a:pPr marL="85725"/>
            <a:endParaRPr lang="pt-BR" sz="1200" dirty="0">
              <a:latin typeface="Simplon BP Regular" pitchFamily="50" charset="0"/>
            </a:endParaRPr>
          </a:p>
          <a:p>
            <a:pPr marL="257175" indent="-171450">
              <a:buFont typeface="Arial" panose="020B0604020202020204" pitchFamily="34" charset="0"/>
              <a:buChar char="•"/>
            </a:pPr>
            <a:r>
              <a:rPr lang="pt-BR" sz="1200" dirty="0">
                <a:latin typeface="Simplon BP Regular" pitchFamily="50" charset="0"/>
              </a:rPr>
              <a:t>100% Anatel  efetua devolução em dobro (proativo)</a:t>
            </a:r>
          </a:p>
          <a:p>
            <a:pPr marL="257175" indent="-171450">
              <a:buFont typeface="Arial" panose="020B0604020202020204" pitchFamily="34" charset="0"/>
              <a:buChar char="•"/>
            </a:pPr>
            <a:r>
              <a:rPr lang="pt-BR" sz="1200" dirty="0">
                <a:latin typeface="Simplon BP Regular" pitchFamily="50" charset="0"/>
              </a:rPr>
              <a:t>SAC e demais operações apenas quando cliente solicita a devolução em dobro – Decisão  Executiva </a:t>
            </a:r>
            <a:r>
              <a:rPr lang="pt-BR" sz="1200" dirty="0" smtClean="0">
                <a:latin typeface="Simplon BP Regular" pitchFamily="50" charset="0"/>
              </a:rPr>
              <a:t>2021</a:t>
            </a:r>
          </a:p>
          <a:p>
            <a:pPr marL="257175" indent="-171450">
              <a:buFont typeface="Arial" panose="020B0604020202020204" pitchFamily="34" charset="0"/>
              <a:buChar char="•"/>
            </a:pPr>
            <a:endParaRPr lang="pt-BR" sz="1200" dirty="0">
              <a:latin typeface="Simplon BP Regular" pitchFamily="50" charset="0"/>
            </a:endParaRPr>
          </a:p>
          <a:p>
            <a:pPr marL="257175" indent="-171450">
              <a:buFont typeface="Arial" panose="020B0604020202020204" pitchFamily="34" charset="0"/>
              <a:buChar char="•"/>
            </a:pPr>
            <a:r>
              <a:rPr lang="pt-BR" sz="1200" dirty="0"/>
              <a:t>04% das contestações -  faturas pagas  - Média R$ 151 k  - (Fibra 141 k, NF R$ 10 k)</a:t>
            </a:r>
            <a:endParaRPr lang="pt-BR" sz="1200" dirty="0">
              <a:latin typeface="Simplon BP Regular" pitchFamily="50"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723549"/>
          </a:xfrm>
          <a:prstGeom prst="rect">
            <a:avLst/>
          </a:prstGeom>
          <a:noFill/>
        </p:spPr>
        <p:txBody>
          <a:bodyPr wrap="square">
            <a:spAutoFit/>
          </a:bodyPr>
          <a:lstStyle/>
          <a:p>
            <a:pPr marL="85725"/>
            <a:r>
              <a:rPr lang="pt-BR" sz="1400" dirty="0">
                <a:latin typeface="Simplon BP Regular" pitchFamily="50" charset="0"/>
              </a:rPr>
              <a:t>Ação 1: Efetuar validação executiva se iremos seguir com o procedimento atual  de devolver quando cliente reclamar</a:t>
            </a:r>
          </a:p>
          <a:p>
            <a:pPr marL="85725"/>
            <a:endParaRPr lang="pt-BR" sz="1400" dirty="0">
              <a:latin typeface="Simplon BP Regular" pitchFamily="50" charset="0"/>
            </a:endParaRPr>
          </a:p>
          <a:p>
            <a:pPr marL="85725"/>
            <a:r>
              <a:rPr lang="pt-BR" sz="1400" dirty="0">
                <a:latin typeface="Simplon BP Regular" pitchFamily="50" charset="0"/>
              </a:rPr>
              <a:t>Ação 2: Atualização calculadores Tela Única Fibra </a:t>
            </a:r>
            <a:r>
              <a:rPr lang="pt-BR" sz="1400" dirty="0" smtClean="0">
                <a:latin typeface="Simplon BP Regular" pitchFamily="50" charset="0"/>
              </a:rPr>
              <a:t>Legado</a:t>
            </a:r>
          </a:p>
          <a:p>
            <a:pPr marL="85725"/>
            <a:endParaRPr lang="pt-BR" sz="1100" dirty="0">
              <a:latin typeface="Simplon BP Regular" pitchFamily="50" charset="0"/>
            </a:endParaRPr>
          </a:p>
          <a:p>
            <a:r>
              <a:rPr lang="pt-BR" sz="1100" b="1" u="sng" dirty="0" err="1">
                <a:solidFill>
                  <a:srgbClr val="FF0000"/>
                </a:solidFill>
                <a:latin typeface="Simplon BP Regular" pitchFamily="50" charset="0"/>
              </a:rPr>
              <a:t>Obs</a:t>
            </a:r>
            <a:r>
              <a:rPr lang="pt-BR" sz="1100" b="1" u="sng" dirty="0">
                <a:solidFill>
                  <a:srgbClr val="FF0000"/>
                </a:solidFill>
                <a:latin typeface="Simplon BP Regular" pitchFamily="50" charset="0"/>
              </a:rPr>
              <a:t>: Aguardando decisão executiva para definir próximos passos</a:t>
            </a: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517" y="419764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51900" y="525458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5463" y="4642392"/>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015663"/>
          </a:xfrm>
          <a:prstGeom prst="rect">
            <a:avLst/>
          </a:prstGeom>
          <a:noFill/>
        </p:spPr>
        <p:txBody>
          <a:bodyPr wrap="square">
            <a:spAutoFit/>
          </a:bodyPr>
          <a:lstStyle/>
          <a:p>
            <a:pPr lvl="0">
              <a:defRPr/>
            </a:pPr>
            <a:r>
              <a:rPr lang="pt-BR" sz="1200" b="1" dirty="0">
                <a:solidFill>
                  <a:srgbClr val="FF0000"/>
                </a:solidFill>
                <a:latin typeface="Simplon BP Regular" pitchFamily="2" charset="0"/>
              </a:rPr>
              <a:t>DIRETORIA</a:t>
            </a:r>
          </a:p>
          <a:p>
            <a:pPr lvl="0">
              <a:defRPr/>
            </a:pPr>
            <a:r>
              <a:rPr lang="pt-BR" sz="1200" b="1" dirty="0">
                <a:solidFill>
                  <a:srgbClr val="FF0000"/>
                </a:solidFill>
                <a:latin typeface="Simplon BP Regular" pitchFamily="2" charset="0"/>
              </a:rPr>
              <a:t>Marketing Oi Fibra</a:t>
            </a:r>
          </a:p>
          <a:p>
            <a:pPr lvl="0">
              <a:defRPr/>
            </a:pPr>
            <a:endParaRPr lang="pt-BR" sz="1200" b="1" dirty="0">
              <a:solidFill>
                <a:srgbClr val="FF0000"/>
              </a:solidFill>
              <a:latin typeface="Simplon BP Regular" pitchFamily="2" charset="0"/>
            </a:endParaRPr>
          </a:p>
          <a:p>
            <a:pPr lvl="0">
              <a:defRPr/>
            </a:pPr>
            <a:r>
              <a:rPr lang="pt-BR" sz="1200" b="1" dirty="0">
                <a:solidFill>
                  <a:srgbClr val="FF0000"/>
                </a:solidFill>
                <a:latin typeface="Simplon BP Regular" pitchFamily="2" charset="0"/>
              </a:rPr>
              <a:t>NOME DO RESPONSÁVEL</a:t>
            </a:r>
          </a:p>
          <a:p>
            <a:pPr lvl="0">
              <a:defRPr/>
            </a:pPr>
            <a:r>
              <a:rPr lang="it-IT" sz="1200" b="1" dirty="0">
                <a:solidFill>
                  <a:srgbClr val="FF0000"/>
                </a:solidFill>
                <a:latin typeface="Simplon BP Regular" pitchFamily="2" charset="0"/>
              </a:rPr>
              <a:t>Luiz Felipe Meira</a:t>
            </a:r>
            <a:endParaRPr lang="pt-BR" sz="1200" b="1" dirty="0">
              <a:solidFill>
                <a:srgbClr val="FF0000"/>
              </a:solidFill>
              <a:latin typeface="Simplon BP Regular" pitchFamily="2" charset="0"/>
            </a:endParaRP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8"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9666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54414"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a:solidFill>
                  <a:srgbClr val="92D050"/>
                </a:solidFill>
                <a:cs typeface="+mj-cs"/>
              </a:rPr>
              <a:t>8º </a:t>
            </a:r>
            <a:r>
              <a:rPr lang="pt-BR" sz="2400" dirty="0" smtClean="0">
                <a:solidFill>
                  <a:srgbClr val="92D050"/>
                </a:solidFill>
                <a:cs typeface="+mj-cs"/>
              </a:rPr>
              <a:t>- Regras </a:t>
            </a:r>
            <a:r>
              <a:rPr lang="pt-BR" sz="2400" dirty="0">
                <a:solidFill>
                  <a:srgbClr val="92D050"/>
                </a:solidFill>
                <a:cs typeface="+mj-cs"/>
              </a:rPr>
              <a:t>de Atendimento</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a:solidFill>
                  <a:schemeClr val="bg1"/>
                </a:solidFill>
                <a:latin typeface="Simplon BP"/>
              </a:rPr>
              <a:t>R$ </a:t>
            </a:r>
            <a:r>
              <a:rPr lang="pt-BR" sz="1100" b="1" dirty="0" smtClean="0">
                <a:solidFill>
                  <a:schemeClr val="bg1"/>
                </a:solidFill>
                <a:latin typeface="Simplon BP"/>
              </a:rPr>
              <a:t>26K</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622023" cy="3231654"/>
          </a:xfrm>
          <a:prstGeom prst="rect">
            <a:avLst/>
          </a:prstGeom>
          <a:noFill/>
        </p:spPr>
        <p:txBody>
          <a:bodyPr wrap="square">
            <a:spAutoFit/>
          </a:bodyPr>
          <a:lstStyle/>
          <a:p>
            <a:pPr fontAlgn="base"/>
            <a:r>
              <a:rPr lang="pt-BR" sz="1200" dirty="0">
                <a:latin typeface="Simplon BP Regular" pitchFamily="50" charset="0"/>
              </a:rPr>
              <a:t>Art. 8º Para fins de cumprimento deste Regulamento, caracterizam-se como atendimento as interações entre Prestadora e Consumidor, independentemente do originador da interação, nas formas de Atendimento Remoto e Presencial.</a:t>
            </a:r>
          </a:p>
          <a:p>
            <a:pPr fontAlgn="base"/>
            <a:endParaRPr lang="pt-BR" sz="1200" dirty="0">
              <a:latin typeface="Simplon BP Regular" pitchFamily="50" charset="0"/>
            </a:endParaRPr>
          </a:p>
          <a:p>
            <a:pPr fontAlgn="base"/>
            <a:r>
              <a:rPr lang="pt-BR" sz="1200" dirty="0">
                <a:latin typeface="Simplon BP Regular" pitchFamily="50" charset="0"/>
              </a:rPr>
              <a:t>§ 1º A Prestadora deverá informar a todos os Consumidores, de modo ostensivo, claro e objetivo, as formas de atendimento disponíveis.</a:t>
            </a:r>
          </a:p>
          <a:p>
            <a:pPr fontAlgn="base"/>
            <a:endParaRPr lang="pt-BR" sz="1200" dirty="0">
              <a:latin typeface="Simplon BP Regular" pitchFamily="50" charset="0"/>
            </a:endParaRPr>
          </a:p>
          <a:p>
            <a:pPr fontAlgn="base"/>
            <a:r>
              <a:rPr lang="pt-BR" sz="1200" dirty="0">
                <a:latin typeface="Simplon BP Regular" pitchFamily="50" charset="0"/>
              </a:rPr>
              <a:t>§ 2º Nos casos de serviços de telecomunicações oferecidos conjuntamente, o atendimento deverá ser feito por meio de um canal comum que possibilite o efetivo atendimento das demandas relativas a qualquer um dos serviços.</a:t>
            </a:r>
          </a:p>
          <a:p>
            <a:pPr fontAlgn="base"/>
            <a:endParaRPr lang="pt-BR" sz="1200" dirty="0">
              <a:latin typeface="Simplon BP Regular" pitchFamily="50" charset="0"/>
            </a:endParaRPr>
          </a:p>
          <a:p>
            <a:pPr fontAlgn="base"/>
            <a:r>
              <a:rPr lang="pt-BR" sz="1200" dirty="0">
                <a:latin typeface="Simplon BP Regular" pitchFamily="50" charset="0"/>
              </a:rPr>
              <a:t>§ 3º A Prestadora garantirá que a sua comunicação com Consumidores com deficiência seja realizada por meio adequado, nos termos da regulamentação.</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5072090"/>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5397711"/>
            <a:ext cx="4440097" cy="646331"/>
          </a:xfrm>
          <a:prstGeom prst="rect">
            <a:avLst/>
          </a:prstGeom>
          <a:noFill/>
        </p:spPr>
        <p:txBody>
          <a:bodyPr wrap="square">
            <a:spAutoFit/>
          </a:bodyPr>
          <a:lstStyle/>
          <a:p>
            <a:pPr lvl="0" algn="just">
              <a:defRPr/>
            </a:pPr>
            <a:r>
              <a:rPr lang="pt-BR" sz="1200" b="1" dirty="0" smtClean="0">
                <a:solidFill>
                  <a:prstClr val="black"/>
                </a:solidFill>
                <a:latin typeface="Simplon BP Regular" pitchFamily="50" charset="0"/>
              </a:rPr>
              <a:t>Para o atendimento ao </a:t>
            </a:r>
            <a:r>
              <a:rPr lang="pt-BR" sz="1200" b="1" dirty="0">
                <a:solidFill>
                  <a:prstClr val="black"/>
                </a:solidFill>
                <a:latin typeface="Simplon BP Regular" pitchFamily="50" charset="0"/>
              </a:rPr>
              <a:t>deficiente auditivo existe o atendimento via CIC </a:t>
            </a:r>
            <a:r>
              <a:rPr lang="pt-BR" sz="1200" b="1" dirty="0" smtClean="0">
                <a:solidFill>
                  <a:prstClr val="black"/>
                </a:solidFill>
                <a:latin typeface="Simplon BP Regular" pitchFamily="50" charset="0"/>
              </a:rPr>
              <a:t>(ABR), </a:t>
            </a:r>
            <a:r>
              <a:rPr lang="pt-BR" sz="1200" b="1" dirty="0">
                <a:solidFill>
                  <a:prstClr val="black"/>
                </a:solidFill>
                <a:latin typeface="Simplon BP Regular" pitchFamily="50" charset="0"/>
              </a:rPr>
              <a:t>porém </a:t>
            </a:r>
            <a:r>
              <a:rPr lang="pt-BR" sz="1200" b="1" dirty="0" smtClean="0">
                <a:solidFill>
                  <a:prstClr val="black"/>
                </a:solidFill>
                <a:latin typeface="Simplon BP Regular" pitchFamily="50" charset="0"/>
              </a:rPr>
              <a:t>apenas para </a:t>
            </a:r>
            <a:r>
              <a:rPr lang="pt-BR" sz="1200" b="1" dirty="0">
                <a:solidFill>
                  <a:prstClr val="black"/>
                </a:solidFill>
                <a:latin typeface="Simplon BP Regular" pitchFamily="50" charset="0"/>
              </a:rPr>
              <a:t>produtos fixo e </a:t>
            </a:r>
            <a:r>
              <a:rPr lang="pt-BR" sz="1200" b="1" dirty="0" err="1" smtClean="0">
                <a:solidFill>
                  <a:prstClr val="black"/>
                </a:solidFill>
                <a:latin typeface="Simplon BP Regular" pitchFamily="50" charset="0"/>
              </a:rPr>
              <a:t>velox</a:t>
            </a:r>
            <a:r>
              <a:rPr lang="pt-BR" sz="1200" b="1" dirty="0" smtClean="0">
                <a:solidFill>
                  <a:prstClr val="black"/>
                </a:solidFill>
                <a:latin typeface="Simplon BP Regular" pitchFamily="50" charset="0"/>
              </a:rPr>
              <a:t>; </a:t>
            </a:r>
            <a:endParaRPr lang="pt-BR" sz="1200" b="1" dirty="0">
              <a:solidFill>
                <a:prstClr val="black"/>
              </a:solidFill>
              <a:latin typeface="Simplon BP Regular" pitchFamily="50"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9868" y="2904917"/>
            <a:ext cx="4526052" cy="2862322"/>
          </a:xfrm>
          <a:prstGeom prst="rect">
            <a:avLst/>
          </a:prstGeom>
          <a:noFill/>
        </p:spPr>
        <p:txBody>
          <a:bodyPr wrap="square">
            <a:spAutoFit/>
          </a:bodyPr>
          <a:lstStyle/>
          <a:p>
            <a:pPr marL="171450" lvl="0" indent="-171450">
              <a:buFontTx/>
              <a:buChar char="-"/>
              <a:defRPr/>
            </a:pPr>
            <a:r>
              <a:rPr lang="pt-BR" sz="1200" dirty="0">
                <a:solidFill>
                  <a:prstClr val="black"/>
                </a:solidFill>
                <a:latin typeface="Simplon BP Regular" pitchFamily="50" charset="0"/>
              </a:rPr>
              <a:t>- Parcial </a:t>
            </a:r>
            <a:r>
              <a:rPr lang="pt-BR" sz="1200" dirty="0" err="1">
                <a:solidFill>
                  <a:prstClr val="black"/>
                </a:solidFill>
                <a:latin typeface="Simplon BP Regular" pitchFamily="50" charset="0"/>
              </a:rPr>
              <a:t>compliance</a:t>
            </a:r>
            <a:endParaRPr lang="pt-BR" sz="1200" dirty="0">
              <a:solidFill>
                <a:prstClr val="black"/>
              </a:solidFill>
              <a:latin typeface="Simplon BP Regular" pitchFamily="50" charset="0"/>
            </a:endParaRPr>
          </a:p>
          <a:p>
            <a:pPr marL="171450" lvl="0" indent="-171450">
              <a:buFontTx/>
              <a:buChar char="-"/>
              <a:defRPr/>
            </a:pPr>
            <a:endParaRPr lang="pt-BR" sz="1200" dirty="0">
              <a:solidFill>
                <a:prstClr val="black"/>
              </a:solidFill>
              <a:latin typeface="Simplon BP Regular" pitchFamily="50" charset="0"/>
            </a:endParaRPr>
          </a:p>
          <a:p>
            <a:pPr lvl="0">
              <a:defRPr/>
            </a:pPr>
            <a:r>
              <a:rPr lang="pt-BR" sz="1200" dirty="0">
                <a:solidFill>
                  <a:prstClr val="black"/>
                </a:solidFill>
                <a:latin typeface="Simplon BP Regular" pitchFamily="50" charset="0"/>
              </a:rPr>
              <a:t>-atendimento remoto </a:t>
            </a:r>
          </a:p>
          <a:p>
            <a:pPr lvl="0">
              <a:defRPr/>
            </a:pPr>
            <a:r>
              <a:rPr lang="pt-BR" sz="1200" dirty="0">
                <a:solidFill>
                  <a:prstClr val="black"/>
                </a:solidFill>
                <a:latin typeface="Simplon BP Regular" pitchFamily="50" charset="0"/>
              </a:rPr>
              <a:t>Necessário adequação / expansão do atendimento *142 para a Fibra</a:t>
            </a:r>
          </a:p>
          <a:p>
            <a:pPr lvl="0">
              <a:defRPr/>
            </a:pPr>
            <a:r>
              <a:rPr lang="pt-BR" sz="1200" dirty="0">
                <a:solidFill>
                  <a:prstClr val="black"/>
                </a:solidFill>
                <a:latin typeface="Simplon BP Regular" pitchFamily="50" charset="0"/>
              </a:rPr>
              <a:t>OG: aprox. R$26.000</a:t>
            </a:r>
          </a:p>
          <a:p>
            <a:pPr lvl="0">
              <a:defRPr/>
            </a:pPr>
            <a:endParaRPr lang="pt-BR" sz="1200" dirty="0">
              <a:solidFill>
                <a:prstClr val="black"/>
              </a:solidFill>
              <a:latin typeface="Simplon BP Regular" pitchFamily="50" charset="0"/>
            </a:endParaRPr>
          </a:p>
          <a:p>
            <a:pPr lvl="0">
              <a:defRPr/>
            </a:pPr>
            <a:r>
              <a:rPr lang="pt-BR" sz="1200" dirty="0">
                <a:solidFill>
                  <a:prstClr val="black"/>
                </a:solidFill>
                <a:latin typeface="Simplon BP Regular" pitchFamily="50" charset="0"/>
              </a:rPr>
              <a:t>-atendimento presencial </a:t>
            </a:r>
          </a:p>
          <a:p>
            <a:pPr lvl="0">
              <a:defRPr/>
            </a:pPr>
            <a:r>
              <a:rPr lang="pt-BR" sz="1200" dirty="0">
                <a:solidFill>
                  <a:prstClr val="black"/>
                </a:solidFill>
                <a:latin typeface="Simplon BP Regular" pitchFamily="50" charset="0"/>
              </a:rPr>
              <a:t>Necessário adequação  do ambiente físico de algumas lojas (</a:t>
            </a:r>
            <a:r>
              <a:rPr lang="pt-BR" sz="1200" dirty="0" err="1">
                <a:solidFill>
                  <a:prstClr val="black"/>
                </a:solidFill>
                <a:latin typeface="Simplon BP Regular" pitchFamily="50" charset="0"/>
              </a:rPr>
              <a:t>quant.xx</a:t>
            </a:r>
            <a:r>
              <a:rPr lang="pt-BR" sz="1200" dirty="0">
                <a:solidFill>
                  <a:prstClr val="black"/>
                </a:solidFill>
                <a:latin typeface="Simplon BP Regular" pitchFamily="50" charset="0"/>
              </a:rPr>
              <a:t>) </a:t>
            </a:r>
          </a:p>
          <a:p>
            <a:pPr marL="171450" lvl="0" indent="-171450">
              <a:buFontTx/>
              <a:buChar char="-"/>
              <a:defRPr/>
            </a:pPr>
            <a:r>
              <a:rPr lang="pt-BR" sz="1200" dirty="0">
                <a:solidFill>
                  <a:prstClr val="black"/>
                </a:solidFill>
                <a:latin typeface="Simplon BP Regular" pitchFamily="50" charset="0"/>
              </a:rPr>
              <a:t>Em avaliação estratégia da cia se vamos ter essa  obrigatoriedade de lojas no canal Agentes fibra;</a:t>
            </a:r>
          </a:p>
          <a:p>
            <a:pPr marL="171450" lvl="0" indent="-171450">
              <a:buFontTx/>
              <a:buChar char="-"/>
              <a:defRPr/>
            </a:pPr>
            <a:r>
              <a:rPr lang="pt-BR" sz="1200" dirty="0">
                <a:solidFill>
                  <a:prstClr val="black"/>
                </a:solidFill>
                <a:latin typeface="Simplon BP Regular" pitchFamily="50" charset="0"/>
              </a:rPr>
              <a:t>Em avaliação se a obrigatoriedade de atendimento presencial será da responsabilidade Oi ou </a:t>
            </a:r>
            <a:r>
              <a:rPr lang="pt-BR" sz="1200" dirty="0" err="1">
                <a:solidFill>
                  <a:prstClr val="black"/>
                </a:solidFill>
                <a:latin typeface="Simplon BP Regular" pitchFamily="50" charset="0"/>
              </a:rPr>
              <a:t>client</a:t>
            </a:r>
            <a:r>
              <a:rPr lang="pt-BR" sz="1200" dirty="0">
                <a:solidFill>
                  <a:prstClr val="black"/>
                </a:solidFill>
                <a:latin typeface="Simplon BP Regular" pitchFamily="50" charset="0"/>
              </a:rPr>
              <a:t> </a:t>
            </a:r>
            <a:r>
              <a:rPr lang="pt-BR" sz="1200" dirty="0" err="1">
                <a:solidFill>
                  <a:prstClr val="black"/>
                </a:solidFill>
                <a:latin typeface="Simplon BP Regular" pitchFamily="50" charset="0"/>
              </a:rPr>
              <a:t>co</a:t>
            </a:r>
            <a:r>
              <a:rPr lang="pt-BR" sz="1200" dirty="0">
                <a:solidFill>
                  <a:prstClr val="black"/>
                </a:solidFill>
                <a:latin typeface="Simplon BP Regular" pitchFamily="50" charset="0"/>
              </a:rPr>
              <a:t>.</a:t>
            </a:r>
          </a:p>
          <a:p>
            <a:pPr lvl="0">
              <a:defRPr/>
            </a:pPr>
            <a:endParaRPr lang="pt-BR" sz="1200" dirty="0">
              <a:solidFill>
                <a:prstClr val="black"/>
              </a:solidFill>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18155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9490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1145115" y="343370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4" name="TextBox 1">
            <a:extLst>
              <a:ext uri="{FF2B5EF4-FFF2-40B4-BE49-F238E27FC236}">
                <a16:creationId xmlns:a16="http://schemas.microsoft.com/office/drawing/2014/main" id="{78C73662-F2B9-EA54-760E-817ED3732111}"/>
              </a:ext>
            </a:extLst>
          </p:cNvPr>
          <p:cNvSpPr txBox="1"/>
          <p:nvPr/>
        </p:nvSpPr>
        <p:spPr>
          <a:xfrm>
            <a:off x="174347" y="1516782"/>
            <a:ext cx="2219529" cy="1384995"/>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smtClean="0">
                <a:solidFill>
                  <a:prstClr val="black"/>
                </a:solidFill>
                <a:latin typeface="Simplon BP Regular" pitchFamily="2" charset="0"/>
              </a:rPr>
              <a:t>Relacionamento com Clientes </a:t>
            </a:r>
            <a:r>
              <a:rPr lang="pt-BR" sz="1200" b="1" dirty="0">
                <a:solidFill>
                  <a:prstClr val="black"/>
                </a:solidFill>
                <a:latin typeface="Simplon BP Regular" pitchFamily="2" charset="0"/>
              </a:rPr>
              <a:t>e Marketing Oi Fibra</a:t>
            </a:r>
            <a:endParaRPr lang="pt-BR" sz="1200" b="1" dirty="0" smtClean="0">
              <a:solidFill>
                <a:prstClr val="black"/>
              </a:solidFill>
              <a:latin typeface="Simplon BP Regular" pitchFamily="2" charset="0"/>
            </a:endParaRP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smtClean="0">
                <a:solidFill>
                  <a:prstClr val="black"/>
                </a:solidFill>
                <a:latin typeface="Simplon BP Regular" pitchFamily="2" charset="0"/>
              </a:rPr>
              <a:t>Jomerson Almeida e </a:t>
            </a:r>
            <a:r>
              <a:rPr lang="it-IT" sz="1200" b="1" dirty="0">
                <a:solidFill>
                  <a:prstClr val="black"/>
                </a:solidFill>
                <a:latin typeface="Simplon BP Regular" pitchFamily="2" charset="0"/>
              </a:rPr>
              <a:t>Luiz </a:t>
            </a:r>
            <a:r>
              <a:rPr lang="it-IT" sz="1200" b="1" dirty="0" smtClean="0">
                <a:solidFill>
                  <a:prstClr val="black"/>
                </a:solidFill>
                <a:latin typeface="Simplon BP Regular" pitchFamily="2" charset="0"/>
              </a:rPr>
              <a:t>Meira</a:t>
            </a:r>
            <a:endParaRPr lang="pt-BR" sz="1200" b="1" dirty="0">
              <a:solidFill>
                <a:prstClr val="black"/>
              </a:solidFill>
              <a:latin typeface="Simplon BP Regular" pitchFamily="2" charset="0"/>
            </a:endParaRPr>
          </a:p>
        </p:txBody>
      </p:sp>
      <p:sp>
        <p:nvSpPr>
          <p:cNvPr id="63"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72005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35985"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smtClean="0">
                <a:solidFill>
                  <a:srgbClr val="92D050"/>
                </a:solidFill>
                <a:cs typeface="+mj-cs"/>
              </a:rPr>
              <a:t>13; I – Ofertas - Atendimento </a:t>
            </a:r>
            <a:r>
              <a:rPr lang="pt-BR" sz="2400" dirty="0">
                <a:solidFill>
                  <a:srgbClr val="92D050"/>
                </a:solidFill>
                <a:cs typeface="+mj-cs"/>
              </a:rPr>
              <a:t>por Meio Digital</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smtClean="0">
                <a:solidFill>
                  <a:schemeClr val="bg1"/>
                </a:solidFill>
                <a:latin typeface="Simplon BP"/>
              </a:rPr>
              <a:t>N/A</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528578" cy="1384995"/>
          </a:xfrm>
          <a:prstGeom prst="rect">
            <a:avLst/>
          </a:prstGeom>
          <a:noFill/>
        </p:spPr>
        <p:txBody>
          <a:bodyPr wrap="square">
            <a:spAutoFit/>
          </a:bodyPr>
          <a:lstStyle/>
          <a:p>
            <a:pPr fontAlgn="base"/>
            <a:r>
              <a:rPr lang="pt-BR" sz="1400" b="1" dirty="0">
                <a:latin typeface="Simplon BP Regular" pitchFamily="50" charset="0"/>
              </a:rPr>
              <a:t>Art. 13</a:t>
            </a:r>
            <a:r>
              <a:rPr lang="pt-BR" sz="1400" dirty="0">
                <a:latin typeface="Simplon BP Regular" pitchFamily="50" charset="0"/>
              </a:rPr>
              <a:t>. O Atendimento por Meio Digital garantirá ao Consumidor o acesso, no mínimo:</a:t>
            </a:r>
          </a:p>
          <a:p>
            <a:pPr fontAlgn="base"/>
            <a:endParaRPr lang="pt-BR" sz="1400" dirty="0">
              <a:latin typeface="Simplon BP Regular" pitchFamily="50" charset="0"/>
            </a:endParaRPr>
          </a:p>
          <a:p>
            <a:pPr fontAlgn="base"/>
            <a:r>
              <a:rPr lang="pt-BR" sz="1400" dirty="0">
                <a:latin typeface="Simplon BP Regular" pitchFamily="50" charset="0"/>
              </a:rPr>
              <a:t>I - aos documentos da(s) Oferta(s) à(s) qual(</a:t>
            </a:r>
            <a:r>
              <a:rPr lang="pt-BR" sz="1400" dirty="0" err="1">
                <a:latin typeface="Simplon BP Regular" pitchFamily="50" charset="0"/>
              </a:rPr>
              <a:t>is</a:t>
            </a:r>
            <a:r>
              <a:rPr lang="pt-BR" sz="1400" dirty="0">
                <a:latin typeface="Simplon BP Regular" pitchFamily="50" charset="0"/>
              </a:rPr>
              <a:t>) se encontra vinculado, com o devido destaque ao Prazo de Vigência e ao Prazo de Permanência, quando for o caso;</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14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039953"/>
            <a:ext cx="4532411" cy="738664"/>
          </a:xfrm>
          <a:prstGeom prst="rect">
            <a:avLst/>
          </a:prstGeom>
          <a:noFill/>
        </p:spPr>
        <p:txBody>
          <a:bodyPr wrap="square">
            <a:spAutoFit/>
          </a:bodyPr>
          <a:lstStyle/>
          <a:p>
            <a:pPr lvl="0">
              <a:defRPr/>
            </a:pPr>
            <a:r>
              <a:rPr lang="pt-BR" sz="1400" b="1" dirty="0" smtClean="0">
                <a:solidFill>
                  <a:prstClr val="black"/>
                </a:solidFill>
                <a:latin typeface="Simplon BP Regular" pitchFamily="50" charset="0"/>
              </a:rPr>
              <a:t>- Obrigação nova;</a:t>
            </a:r>
          </a:p>
          <a:p>
            <a:pPr marL="285750" lvl="0" indent="-285750">
              <a:buFontTx/>
              <a:buChar char="-"/>
              <a:defRPr/>
            </a:pPr>
            <a:r>
              <a:rPr lang="pt-BR" sz="1400" b="1" dirty="0" smtClean="0">
                <a:solidFill>
                  <a:prstClr val="black"/>
                </a:solidFill>
                <a:latin typeface="Simplon BP Regular" pitchFamily="50" charset="0"/>
              </a:rPr>
              <a:t>Minha </a:t>
            </a:r>
            <a:r>
              <a:rPr lang="pt-BR" sz="1400" b="1" dirty="0">
                <a:solidFill>
                  <a:prstClr val="black"/>
                </a:solidFill>
                <a:latin typeface="Simplon BP Regular" pitchFamily="50" charset="0"/>
              </a:rPr>
              <a:t>Oi: </a:t>
            </a:r>
            <a:r>
              <a:rPr lang="pt-BR" sz="1400" b="1" dirty="0" err="1" smtClean="0">
                <a:solidFill>
                  <a:prstClr val="black"/>
                </a:solidFill>
                <a:latin typeface="Simplon BP Regular" pitchFamily="50" charset="0"/>
              </a:rPr>
              <a:t>Compliance</a:t>
            </a:r>
            <a:endParaRPr lang="pt-BR" sz="1400" b="1" dirty="0" smtClean="0">
              <a:solidFill>
                <a:prstClr val="black"/>
              </a:solidFill>
              <a:latin typeface="Simplon BP Regular" pitchFamily="50" charset="0"/>
            </a:endParaRPr>
          </a:p>
          <a:p>
            <a:pPr marL="285750" lvl="0" indent="-285750">
              <a:buFontTx/>
              <a:buChar char="-"/>
              <a:defRPr/>
            </a:pPr>
            <a:r>
              <a:rPr lang="pt-BR" sz="1400" b="1" dirty="0" err="1" smtClean="0">
                <a:solidFill>
                  <a:prstClr val="black"/>
                </a:solidFill>
                <a:latin typeface="Simplon BP Regular" pitchFamily="50" charset="0"/>
              </a:rPr>
              <a:t>Oi_e</a:t>
            </a:r>
            <a:r>
              <a:rPr lang="pt-BR" sz="1400" b="1" dirty="0" smtClean="0">
                <a:solidFill>
                  <a:prstClr val="black"/>
                </a:solidFill>
                <a:latin typeface="Simplon BP Regular" pitchFamily="50" charset="0"/>
              </a:rPr>
              <a:t>: Não </a:t>
            </a:r>
            <a:r>
              <a:rPr lang="pt-BR" sz="1400" b="1" dirty="0" err="1" smtClean="0">
                <a:solidFill>
                  <a:prstClr val="black"/>
                </a:solidFill>
                <a:latin typeface="Simplon BP Regular" pitchFamily="50" charset="0"/>
              </a:rPr>
              <a:t>Compliance</a:t>
            </a:r>
            <a:endParaRPr kumimoji="0" lang="pt-BR" sz="14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smtClean="0">
                <a:solidFill>
                  <a:schemeClr val="bg1"/>
                </a:solidFill>
                <a:latin typeface="Simplon BP"/>
              </a:rPr>
              <a:t>N/A</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18155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9490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569660"/>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Marketing Oi Fibra</a:t>
            </a:r>
          </a:p>
          <a:p>
            <a:pPr lvl="0">
              <a:defRPr/>
            </a:pPr>
            <a:r>
              <a:rPr lang="pt-BR" sz="1200" b="1" dirty="0">
                <a:solidFill>
                  <a:srgbClr val="FF0000"/>
                </a:solidFill>
                <a:latin typeface="Simplon BP Regular" pitchFamily="2" charset="0"/>
              </a:rPr>
              <a:t>Relacionamento com clientes</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Luiz Felipe Meira</a:t>
            </a:r>
          </a:p>
          <a:p>
            <a:pPr lvl="0">
              <a:defRPr/>
            </a:pPr>
            <a:r>
              <a:rPr lang="it-IT" sz="1200" b="1" dirty="0">
                <a:solidFill>
                  <a:srgbClr val="FF0000"/>
                </a:solidFill>
                <a:latin typeface="Simplon BP Regular" pitchFamily="2" charset="0"/>
              </a:rPr>
              <a:t>Jomersson Almeida</a:t>
            </a:r>
            <a:endParaRPr lang="pt-BR" sz="1200" b="1" dirty="0">
              <a:solidFill>
                <a:srgbClr val="FF0000"/>
              </a:solidFill>
              <a:latin typeface="Simplon BP Regular" pitchFamily="2"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9868" y="2904917"/>
            <a:ext cx="4526052" cy="954107"/>
          </a:xfrm>
          <a:prstGeom prst="rect">
            <a:avLst/>
          </a:prstGeom>
          <a:noFill/>
        </p:spPr>
        <p:txBody>
          <a:bodyPr wrap="square">
            <a:spAutoFit/>
          </a:bodyPr>
          <a:lstStyle/>
          <a:p>
            <a:pPr marL="285750" indent="-285750">
              <a:buFontTx/>
              <a:buChar char="-"/>
              <a:defRPr/>
            </a:pPr>
            <a:r>
              <a:rPr lang="pt-BR" sz="1400" dirty="0">
                <a:solidFill>
                  <a:prstClr val="black"/>
                </a:solidFill>
                <a:latin typeface="Simplon BP Regular" pitchFamily="50" charset="0"/>
              </a:rPr>
              <a:t>OG não mensurada;</a:t>
            </a:r>
          </a:p>
          <a:p>
            <a:pPr marL="285750" indent="-285750">
              <a:buFontTx/>
              <a:buChar char="-"/>
              <a:defRPr/>
            </a:pPr>
            <a:endParaRPr lang="pt-BR" sz="1400" b="1" dirty="0">
              <a:solidFill>
                <a:prstClr val="black"/>
              </a:solidFill>
              <a:latin typeface="Simplon BP Regular" pitchFamily="2" charset="0"/>
            </a:endParaRPr>
          </a:p>
          <a:p>
            <a:pPr marL="285750" lvl="0" indent="-285750">
              <a:buFontTx/>
              <a:buChar char="-"/>
              <a:defRPr/>
            </a:pPr>
            <a:r>
              <a:rPr lang="pt-BR" sz="1400" dirty="0">
                <a:solidFill>
                  <a:prstClr val="black"/>
                </a:solidFill>
                <a:latin typeface="Simplon BP Regular" pitchFamily="50" charset="0"/>
              </a:rPr>
              <a:t>Em avaliação de desenvolvimento do link de consulta (site) no </a:t>
            </a:r>
            <a:r>
              <a:rPr lang="pt-BR" sz="1400" dirty="0" err="1">
                <a:solidFill>
                  <a:prstClr val="black"/>
                </a:solidFill>
                <a:latin typeface="Simplon BP Regular" pitchFamily="50" charset="0"/>
              </a:rPr>
              <a:t>Oie</a:t>
            </a:r>
            <a:endParaRPr lang="pt-BR" sz="1400" dirty="0">
              <a:solidFill>
                <a:prstClr val="black"/>
              </a:solidFill>
              <a:latin typeface="Simplon BP Regular" pitchFamily="50"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1156233" y="343370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59"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38325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60559"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dirty="0">
                <a:solidFill>
                  <a:srgbClr val="92D050"/>
                </a:solidFill>
              </a:rPr>
              <a:t>Art. 13; </a:t>
            </a:r>
            <a:r>
              <a:rPr lang="pt-BR" sz="2400" dirty="0" smtClean="0">
                <a:solidFill>
                  <a:srgbClr val="92D050"/>
                </a:solidFill>
              </a:rPr>
              <a:t>IV </a:t>
            </a:r>
            <a:r>
              <a:rPr lang="pt-BR" sz="2400" dirty="0">
                <a:solidFill>
                  <a:srgbClr val="92D050"/>
                </a:solidFill>
              </a:rPr>
              <a:t>- </a:t>
            </a:r>
            <a:r>
              <a:rPr lang="pt-BR" sz="2400" dirty="0" smtClean="0">
                <a:solidFill>
                  <a:srgbClr val="92D050"/>
                </a:solidFill>
              </a:rPr>
              <a:t>Atendimento </a:t>
            </a:r>
            <a:r>
              <a:rPr lang="pt-BR" sz="2400" dirty="0">
                <a:solidFill>
                  <a:srgbClr val="92D050"/>
                </a:solidFill>
              </a:rPr>
              <a:t>por Meio Digital - Relatório detalhado Valores Restituídos</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29893"/>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err="1" smtClean="0">
                <a:solidFill>
                  <a:schemeClr val="bg1"/>
                </a:solidFill>
                <a:latin typeface="Simplon BP"/>
              </a:rPr>
              <a:t>xxx</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550688" cy="1169551"/>
          </a:xfrm>
          <a:prstGeom prst="rect">
            <a:avLst/>
          </a:prstGeom>
          <a:noFill/>
        </p:spPr>
        <p:txBody>
          <a:bodyPr wrap="square">
            <a:spAutoFit/>
          </a:bodyPr>
          <a:lstStyle/>
          <a:p>
            <a:pPr fontAlgn="base"/>
            <a:r>
              <a:rPr lang="pt-BR" sz="1400" dirty="0">
                <a:latin typeface="Simplon BP Regular" pitchFamily="50" charset="0"/>
              </a:rPr>
              <a:t>Art. 13. O Atendimento por Meio Digital garantirá ao </a:t>
            </a:r>
          </a:p>
          <a:p>
            <a:pPr fontAlgn="base"/>
            <a:r>
              <a:rPr lang="pt-BR" sz="1400" dirty="0">
                <a:latin typeface="Simplon BP Regular" pitchFamily="50" charset="0"/>
              </a:rPr>
              <a:t>Consumidor o acesso, no mínimo:</a:t>
            </a:r>
          </a:p>
          <a:p>
            <a:pPr fontAlgn="base"/>
            <a:r>
              <a:rPr lang="pt-BR" sz="1400" dirty="0">
                <a:latin typeface="Simplon BP Regular" pitchFamily="50" charset="0"/>
              </a:rPr>
              <a:t>(...)</a:t>
            </a:r>
          </a:p>
          <a:p>
            <a:pPr fontAlgn="base"/>
            <a:r>
              <a:rPr lang="pt-BR" sz="1400" dirty="0">
                <a:latin typeface="Simplon BP Regular" pitchFamily="50" charset="0"/>
              </a:rPr>
              <a:t>IV – ao relatório detalhado dos serviços prestados dos últimos 6 (seis) meses; </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959574"/>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285195"/>
            <a:ext cx="4402737" cy="738664"/>
          </a:xfrm>
          <a:prstGeom prst="rect">
            <a:avLst/>
          </a:prstGeom>
          <a:noFill/>
        </p:spPr>
        <p:txBody>
          <a:bodyPr wrap="square">
            <a:spAutoFit/>
          </a:bodyPr>
          <a:lstStyle/>
          <a:p>
            <a:r>
              <a:rPr lang="pt-BR" sz="1400" dirty="0"/>
              <a:t>Legado está </a:t>
            </a:r>
            <a:r>
              <a:rPr lang="pt-BR" sz="1400" dirty="0" err="1"/>
              <a:t>compliance</a:t>
            </a:r>
            <a:endParaRPr lang="pt-BR" sz="1400" dirty="0"/>
          </a:p>
          <a:p>
            <a:r>
              <a:rPr lang="pt-BR" sz="1400" dirty="0"/>
              <a:t>Nova fibra tem tudo detalhado, inclusive créditos, mas o motivo do crédito não é informado.</a:t>
            </a: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err="1" smtClean="0">
                <a:solidFill>
                  <a:schemeClr val="bg1"/>
                </a:solidFill>
                <a:latin typeface="Simplon BP"/>
              </a:rPr>
              <a:t>xxx</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86603"/>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48" name="TextBox 1">
            <a:extLst>
              <a:ext uri="{FF2B5EF4-FFF2-40B4-BE49-F238E27FC236}">
                <a16:creationId xmlns:a16="http://schemas.microsoft.com/office/drawing/2014/main" id="{78C73662-F2B9-EA54-760E-817ED3732111}"/>
              </a:ext>
            </a:extLst>
          </p:cNvPr>
          <p:cNvSpPr txBox="1"/>
          <p:nvPr/>
        </p:nvSpPr>
        <p:spPr>
          <a:xfrm>
            <a:off x="7299868" y="2904917"/>
            <a:ext cx="4526052" cy="738664"/>
          </a:xfrm>
          <a:prstGeom prst="rect">
            <a:avLst/>
          </a:prstGeom>
          <a:noFill/>
        </p:spPr>
        <p:txBody>
          <a:bodyPr wrap="square">
            <a:spAutoFit/>
          </a:bodyPr>
          <a:lstStyle/>
          <a:p>
            <a:pPr lvl="0">
              <a:defRPr/>
            </a:pPr>
            <a:r>
              <a:rPr lang="pt-BR" sz="1400" dirty="0" smtClean="0">
                <a:solidFill>
                  <a:prstClr val="black"/>
                </a:solidFill>
                <a:latin typeface="Simplon BP Regular" pitchFamily="50" charset="0"/>
              </a:rPr>
              <a:t>- OG </a:t>
            </a:r>
            <a:r>
              <a:rPr lang="pt-BR" sz="1400" dirty="0">
                <a:solidFill>
                  <a:prstClr val="black"/>
                </a:solidFill>
                <a:latin typeface="Simplon BP Regular" pitchFamily="50" charset="0"/>
              </a:rPr>
              <a:t>não mensurada</a:t>
            </a:r>
            <a:r>
              <a:rPr lang="pt-BR" sz="1400" dirty="0" smtClean="0">
                <a:solidFill>
                  <a:prstClr val="black"/>
                </a:solidFill>
                <a:latin typeface="Simplon BP Regular" pitchFamily="50" charset="0"/>
              </a:rPr>
              <a:t>;</a:t>
            </a:r>
          </a:p>
          <a:p>
            <a:pPr lvl="0">
              <a:defRPr/>
            </a:pPr>
            <a:r>
              <a:rPr lang="pt-BR" sz="1400" dirty="0" smtClean="0"/>
              <a:t>Há uma </a:t>
            </a:r>
            <a:r>
              <a:rPr lang="pt-BR" sz="1400" dirty="0" err="1" smtClean="0"/>
              <a:t>feature</a:t>
            </a:r>
            <a:r>
              <a:rPr lang="pt-BR" sz="1400" dirty="0" smtClean="0"/>
              <a:t> </a:t>
            </a:r>
            <a:r>
              <a:rPr lang="pt-BR" sz="1400" dirty="0"/>
              <a:t>para incluir o motivo do crédito na </a:t>
            </a:r>
            <a:r>
              <a:rPr lang="pt-BR" sz="1400" dirty="0" smtClean="0"/>
              <a:t>fatura </a:t>
            </a:r>
            <a:r>
              <a:rPr lang="pt-BR" sz="1400" dirty="0"/>
              <a:t>da Nova Fibra</a:t>
            </a:r>
          </a:p>
        </p:txBody>
      </p:sp>
      <p:sp>
        <p:nvSpPr>
          <p:cNvPr id="64" name="TextBox 1">
            <a:extLst>
              <a:ext uri="{FF2B5EF4-FFF2-40B4-BE49-F238E27FC236}">
                <a16:creationId xmlns:a16="http://schemas.microsoft.com/office/drawing/2014/main" id="{78C73662-F2B9-EA54-760E-817ED3732111}"/>
              </a:ext>
            </a:extLst>
          </p:cNvPr>
          <p:cNvSpPr txBox="1"/>
          <p:nvPr/>
        </p:nvSpPr>
        <p:spPr>
          <a:xfrm>
            <a:off x="1147381" y="418019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5" name="TextBox 1">
            <a:extLst>
              <a:ext uri="{FF2B5EF4-FFF2-40B4-BE49-F238E27FC236}">
                <a16:creationId xmlns:a16="http://schemas.microsoft.com/office/drawing/2014/main" id="{78C73662-F2B9-EA54-760E-817ED3732111}"/>
              </a:ext>
            </a:extLst>
          </p:cNvPr>
          <p:cNvSpPr txBox="1"/>
          <p:nvPr/>
        </p:nvSpPr>
        <p:spPr>
          <a:xfrm>
            <a:off x="1147381" y="343131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74347" y="1516782"/>
            <a:ext cx="2219529" cy="1384995"/>
          </a:xfrm>
          <a:prstGeom prst="rect">
            <a:avLst/>
          </a:prstGeom>
          <a:noFill/>
        </p:spPr>
        <p:txBody>
          <a:bodyPr wrap="square">
            <a:spAutoFit/>
          </a:bodyPr>
          <a:lstStyle/>
          <a:p>
            <a:pPr lvl="0">
              <a:defRPr/>
            </a:pPr>
            <a:r>
              <a:rPr lang="pt-BR" sz="1200" b="1" dirty="0">
                <a:latin typeface="Simplon BP Regular" pitchFamily="2" charset="0"/>
              </a:rPr>
              <a:t>DIRETORIA</a:t>
            </a:r>
          </a:p>
          <a:p>
            <a:pPr lvl="0">
              <a:defRPr/>
            </a:pPr>
            <a:r>
              <a:rPr lang="pt-BR" sz="1200" b="1" dirty="0" smtClean="0">
                <a:latin typeface="Simplon BP Regular" pitchFamily="2" charset="0"/>
              </a:rPr>
              <a:t>Ciclo da Receita e Marketing Oi Fibra</a:t>
            </a:r>
          </a:p>
          <a:p>
            <a:pPr lvl="0">
              <a:defRPr/>
            </a:pPr>
            <a:endParaRPr lang="pt-BR" sz="1200" b="1" dirty="0">
              <a:latin typeface="Simplon BP Regular" pitchFamily="2" charset="0"/>
            </a:endParaRPr>
          </a:p>
          <a:p>
            <a:pPr lvl="0">
              <a:defRPr/>
            </a:pPr>
            <a:r>
              <a:rPr lang="pt-BR" sz="1200" b="1" dirty="0">
                <a:latin typeface="Simplon BP Regular" pitchFamily="2" charset="0"/>
              </a:rPr>
              <a:t>NOME DO RESPONSÁVEL</a:t>
            </a:r>
          </a:p>
          <a:p>
            <a:pPr lvl="0">
              <a:defRPr/>
            </a:pPr>
            <a:r>
              <a:rPr lang="it-IT" sz="1200" b="1" dirty="0" smtClean="0">
                <a:latin typeface="Simplon BP Regular" pitchFamily="2" charset="0"/>
              </a:rPr>
              <a:t>Bruno Macedo e Luiz Felipe Meira</a:t>
            </a:r>
            <a:endParaRPr lang="pt-BR" sz="1200" b="1" dirty="0">
              <a:latin typeface="Simplon BP Regular" pitchFamily="2" charset="0"/>
            </a:endParaRPr>
          </a:p>
        </p:txBody>
      </p:sp>
      <p:sp>
        <p:nvSpPr>
          <p:cNvPr id="63"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08808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39056"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REGULAMENTO GERAL CONSUMIDOR</a:t>
            </a:r>
            <a:r>
              <a:rPr lang="pt-BR" sz="2800" dirty="0"/>
              <a:t/>
            </a:r>
            <a:br>
              <a:rPr lang="pt-BR" sz="2800" dirty="0"/>
            </a:br>
            <a:r>
              <a:rPr lang="pt-BR" sz="2400" b="0" dirty="0" smtClean="0">
                <a:solidFill>
                  <a:srgbClr val="92D050"/>
                </a:solidFill>
                <a:cs typeface="+mj-cs"/>
              </a:rPr>
              <a:t>Art. </a:t>
            </a:r>
            <a:r>
              <a:rPr lang="pt-BR" sz="2400" dirty="0">
                <a:solidFill>
                  <a:srgbClr val="92D050"/>
                </a:solidFill>
                <a:cs typeface="+mj-cs"/>
              </a:rPr>
              <a:t>30 - RECUSA VENDA INADIMP</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1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27384" y="1659894"/>
            <a:ext cx="941983" cy="260751"/>
          </a:xfrm>
          <a:prstGeom prst="rect">
            <a:avLst/>
          </a:prstGeom>
          <a:noFill/>
        </p:spPr>
        <p:txBody>
          <a:bodyPr wrap="square">
            <a:spAutoFit/>
          </a:bodyPr>
          <a:lstStyle/>
          <a:p>
            <a:pPr lvl="0">
              <a:defRPr/>
            </a:pPr>
            <a:r>
              <a:rPr lang="pt-BR" sz="1100" b="1" dirty="0" smtClean="0">
                <a:solidFill>
                  <a:schemeClr val="bg1"/>
                </a:solidFill>
                <a:latin typeface="Simplon BP"/>
              </a:rPr>
              <a:t>N/A</a:t>
            </a:r>
            <a:endParaRPr lang="pt-BR" sz="1100" b="1" dirty="0">
              <a:solidFill>
                <a:schemeClr val="bg1"/>
              </a:solidFill>
              <a:latin typeface="Simplon BP"/>
            </a:endParaRPr>
          </a:p>
        </p:txBody>
      </p:sp>
      <p:sp>
        <p:nvSpPr>
          <p:cNvPr id="39" name="TextBox 1">
            <a:extLst>
              <a:ext uri="{FF2B5EF4-FFF2-40B4-BE49-F238E27FC236}">
                <a16:creationId xmlns:a16="http://schemas.microsoft.com/office/drawing/2014/main" id="{78C73662-F2B9-EA54-760E-817ED3732111}"/>
              </a:ext>
            </a:extLst>
          </p:cNvPr>
          <p:cNvSpPr txBox="1"/>
          <p:nvPr/>
        </p:nvSpPr>
        <p:spPr>
          <a:xfrm>
            <a:off x="2524410" y="1568953"/>
            <a:ext cx="4528578" cy="2031325"/>
          </a:xfrm>
          <a:prstGeom prst="rect">
            <a:avLst/>
          </a:prstGeom>
          <a:noFill/>
        </p:spPr>
        <p:txBody>
          <a:bodyPr wrap="square">
            <a:spAutoFit/>
          </a:bodyPr>
          <a:lstStyle/>
          <a:p>
            <a:pPr fontAlgn="base"/>
            <a:r>
              <a:rPr lang="pt-BR" sz="1400" b="1" dirty="0">
                <a:latin typeface="Simplon BP Regular" pitchFamily="50" charset="0"/>
              </a:rPr>
              <a:t>Art. 30</a:t>
            </a:r>
            <a:r>
              <a:rPr lang="pt-BR" sz="1400" dirty="0">
                <a:latin typeface="Simplon BP Regular" pitchFamily="50" charset="0"/>
              </a:rPr>
              <a:t>. A Prestadora deverá promover o atendimento:</a:t>
            </a:r>
          </a:p>
          <a:p>
            <a:pPr fontAlgn="base"/>
            <a:endParaRPr lang="pt-BR" sz="1400" dirty="0">
              <a:latin typeface="Simplon BP Regular" pitchFamily="50" charset="0"/>
            </a:endParaRPr>
          </a:p>
          <a:p>
            <a:pPr fontAlgn="base"/>
            <a:r>
              <a:rPr lang="pt-BR" sz="1400" dirty="0">
                <a:latin typeface="Simplon BP Regular" pitchFamily="50" charset="0"/>
              </a:rPr>
              <a:t>I - à pessoa natural ou jurídica que se encontre em situação de inadimplência, inclusive perante terceiros, mediante Oferta escolhida pela Prestadora; e,</a:t>
            </a:r>
          </a:p>
          <a:p>
            <a:pPr fontAlgn="base"/>
            <a:endParaRPr lang="pt-BR" sz="1400" dirty="0">
              <a:latin typeface="Simplon BP Regular" pitchFamily="50" charset="0"/>
            </a:endParaRPr>
          </a:p>
          <a:p>
            <a:pPr fontAlgn="base"/>
            <a:r>
              <a:rPr lang="pt-BR" sz="1400" dirty="0">
                <a:latin typeface="Simplon BP Regular" pitchFamily="50" charset="0"/>
              </a:rPr>
              <a:t>II - de solicitações de adesão a suas Ofertas na Forma de Pagamento Pré-Paga, se houver, salvo nos casos de inviabilidade técnica.</a:t>
            </a:r>
          </a:p>
        </p:txBody>
      </p:sp>
      <p:sp>
        <p:nvSpPr>
          <p:cNvPr id="40" name="Rectangle 56">
            <a:extLst>
              <a:ext uri="{FF2B5EF4-FFF2-40B4-BE49-F238E27FC236}">
                <a16:creationId xmlns:a16="http://schemas.microsoft.com/office/drawing/2014/main" id="{D94E2B5C-D21D-43D5-8C3E-7E301F2B0316}"/>
              </a:ext>
            </a:extLst>
          </p:cNvPr>
          <p:cNvSpPr/>
          <p:nvPr/>
        </p:nvSpPr>
        <p:spPr>
          <a:xfrm>
            <a:off x="2434188" y="4709800"/>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5035421"/>
            <a:ext cx="4532411" cy="307777"/>
          </a:xfrm>
          <a:prstGeom prst="rect">
            <a:avLst/>
          </a:prstGeom>
          <a:noFill/>
        </p:spPr>
        <p:txBody>
          <a:bodyPr wrap="square">
            <a:spAutoFit/>
          </a:bodyPr>
          <a:lstStyle/>
          <a:p>
            <a:pPr lvl="0">
              <a:defRPr/>
            </a:pPr>
            <a:r>
              <a:rPr lang="pt-BR" sz="1400" b="1" dirty="0" smtClean="0">
                <a:solidFill>
                  <a:prstClr val="black"/>
                </a:solidFill>
                <a:latin typeface="Simplon BP Regular" pitchFamily="2" charset="0"/>
              </a:rPr>
              <a:t>- N/A</a:t>
            </a: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4" name="TextBox 1">
            <a:extLst>
              <a:ext uri="{FF2B5EF4-FFF2-40B4-BE49-F238E27FC236}">
                <a16:creationId xmlns:a16="http://schemas.microsoft.com/office/drawing/2014/main" id="{78C73662-F2B9-EA54-760E-817ED3732111}"/>
              </a:ext>
            </a:extLst>
          </p:cNvPr>
          <p:cNvSpPr txBox="1"/>
          <p:nvPr/>
        </p:nvSpPr>
        <p:spPr>
          <a:xfrm>
            <a:off x="10216565" y="2551068"/>
            <a:ext cx="1452912" cy="261610"/>
          </a:xfrm>
          <a:prstGeom prst="rect">
            <a:avLst/>
          </a:prstGeom>
          <a:noFill/>
        </p:spPr>
        <p:txBody>
          <a:bodyPr wrap="square">
            <a:spAutoFit/>
          </a:bodyPr>
          <a:lstStyle/>
          <a:p>
            <a:pPr lvl="0" algn="ctr">
              <a:defRPr/>
            </a:pPr>
            <a:r>
              <a:rPr lang="pt-BR" sz="1100" b="1" dirty="0" smtClean="0">
                <a:solidFill>
                  <a:schemeClr val="bg1"/>
                </a:solidFill>
                <a:latin typeface="Simplon BP"/>
              </a:rPr>
              <a:t>N/A</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3598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233" y="4015299"/>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49769" y="540651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94905"/>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384995"/>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Marketing Oi Fibra</a:t>
            </a:r>
          </a:p>
          <a:p>
            <a:pPr lvl="0">
              <a:defRPr/>
            </a:pPr>
            <a:r>
              <a:rPr lang="pt-BR" sz="1200" b="1" dirty="0">
                <a:solidFill>
                  <a:srgbClr val="FF0000"/>
                </a:solidFill>
                <a:latin typeface="Simplon BP Regular" pitchFamily="2" charset="0"/>
              </a:rPr>
              <a:t>Ciclo da receita</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it-IT" sz="1200" b="1" dirty="0">
                <a:solidFill>
                  <a:prstClr val="black"/>
                </a:solidFill>
                <a:latin typeface="Simplon BP Regular" pitchFamily="2" charset="0"/>
              </a:rPr>
              <a:t>Luiz Felipe Meira</a:t>
            </a:r>
          </a:p>
          <a:p>
            <a:pPr lvl="0">
              <a:defRPr/>
            </a:pPr>
            <a:r>
              <a:rPr lang="it-IT" sz="1200" b="1" dirty="0">
                <a:solidFill>
                  <a:srgbClr val="FF0000"/>
                </a:solidFill>
                <a:latin typeface="Simplon BP Regular" pitchFamily="2" charset="0"/>
              </a:rPr>
              <a:t>Bruno Macedo</a:t>
            </a:r>
            <a:endParaRPr lang="pt-BR" sz="1200" b="1" dirty="0">
              <a:solidFill>
                <a:srgbClr val="FF0000"/>
              </a:solidFill>
              <a:latin typeface="Simplon BP Regular" pitchFamily="2" charset="0"/>
            </a:endParaRPr>
          </a:p>
        </p:txBody>
      </p:sp>
      <p:sp>
        <p:nvSpPr>
          <p:cNvPr id="42" name="TextBox 1">
            <a:extLst>
              <a:ext uri="{FF2B5EF4-FFF2-40B4-BE49-F238E27FC236}">
                <a16:creationId xmlns:a16="http://schemas.microsoft.com/office/drawing/2014/main" id="{78C73662-F2B9-EA54-760E-817ED3732111}"/>
              </a:ext>
            </a:extLst>
          </p:cNvPr>
          <p:cNvSpPr txBox="1"/>
          <p:nvPr/>
        </p:nvSpPr>
        <p:spPr>
          <a:xfrm>
            <a:off x="7299868" y="2904917"/>
            <a:ext cx="4526052" cy="1600438"/>
          </a:xfrm>
          <a:prstGeom prst="rect">
            <a:avLst/>
          </a:prstGeom>
          <a:noFill/>
        </p:spPr>
        <p:txBody>
          <a:bodyPr wrap="square">
            <a:spAutoFit/>
          </a:bodyPr>
          <a:lstStyle/>
          <a:p>
            <a:pPr marL="285750" indent="-285750">
              <a:buFontTx/>
              <a:buChar char="-"/>
              <a:defRPr/>
            </a:pPr>
            <a:r>
              <a:rPr lang="pt-BR" sz="1400" dirty="0">
                <a:solidFill>
                  <a:prstClr val="black"/>
                </a:solidFill>
                <a:latin typeface="Simplon BP Regular" pitchFamily="50" charset="0"/>
              </a:rPr>
              <a:t>Parcial </a:t>
            </a:r>
            <a:r>
              <a:rPr lang="pt-BR" sz="1400" dirty="0" err="1">
                <a:solidFill>
                  <a:prstClr val="black"/>
                </a:solidFill>
                <a:latin typeface="Simplon BP Regular" pitchFamily="50" charset="0"/>
              </a:rPr>
              <a:t>compliance</a:t>
            </a:r>
            <a:endParaRPr lang="pt-BR" sz="1400" dirty="0">
              <a:solidFill>
                <a:prstClr val="black"/>
              </a:solidFill>
              <a:latin typeface="Simplon BP Regular" pitchFamily="50" charset="0"/>
            </a:endParaRPr>
          </a:p>
          <a:p>
            <a:pPr>
              <a:defRPr/>
            </a:pPr>
            <a:r>
              <a:rPr lang="pt-BR" sz="1400" dirty="0">
                <a:solidFill>
                  <a:prstClr val="black"/>
                </a:solidFill>
                <a:latin typeface="Simplon BP Regular" pitchFamily="50" charset="0"/>
              </a:rPr>
              <a:t>Atualmente temos ofertas </a:t>
            </a:r>
            <a:r>
              <a:rPr lang="pt-BR" sz="1400" dirty="0" err="1">
                <a:solidFill>
                  <a:prstClr val="black"/>
                </a:solidFill>
                <a:latin typeface="Simplon BP Regular" pitchFamily="50" charset="0"/>
              </a:rPr>
              <a:t>pré</a:t>
            </a:r>
            <a:r>
              <a:rPr lang="pt-BR" sz="1400" dirty="0">
                <a:solidFill>
                  <a:prstClr val="black"/>
                </a:solidFill>
                <a:latin typeface="Simplon BP Regular" pitchFamily="50" charset="0"/>
              </a:rPr>
              <a:t> paga no cartão de credito (nova fibra) com maior flexibilidade de credito.</a:t>
            </a:r>
          </a:p>
          <a:p>
            <a:pPr>
              <a:defRPr/>
            </a:pPr>
            <a:endParaRPr lang="pt-BR" sz="1400" dirty="0">
              <a:solidFill>
                <a:prstClr val="black"/>
              </a:solidFill>
              <a:latin typeface="Simplon BP Regular" pitchFamily="50" charset="0"/>
            </a:endParaRPr>
          </a:p>
          <a:p>
            <a:pPr>
              <a:defRPr/>
            </a:pPr>
            <a:r>
              <a:rPr lang="pt-BR" sz="1400" dirty="0">
                <a:solidFill>
                  <a:prstClr val="black"/>
                </a:solidFill>
                <a:latin typeface="Simplon BP Regular" pitchFamily="50" charset="0"/>
              </a:rPr>
              <a:t>- Para ficar </a:t>
            </a:r>
            <a:r>
              <a:rPr lang="pt-BR" sz="1400" dirty="0" err="1">
                <a:solidFill>
                  <a:prstClr val="black"/>
                </a:solidFill>
                <a:latin typeface="Simplon BP Regular" pitchFamily="50" charset="0"/>
              </a:rPr>
              <a:t>compliance</a:t>
            </a:r>
            <a:r>
              <a:rPr lang="pt-BR" sz="1400" dirty="0">
                <a:solidFill>
                  <a:prstClr val="black"/>
                </a:solidFill>
                <a:latin typeface="Simplon BP Regular" pitchFamily="50" charset="0"/>
              </a:rPr>
              <a:t> </a:t>
            </a:r>
            <a:r>
              <a:rPr lang="pt-BR" sz="1400" dirty="0" smtClean="0">
                <a:solidFill>
                  <a:prstClr val="black"/>
                </a:solidFill>
                <a:latin typeface="Simplon BP Regular" pitchFamily="50" charset="0"/>
              </a:rPr>
              <a:t> </a:t>
            </a:r>
            <a:r>
              <a:rPr lang="pt-BR" sz="1400" dirty="0">
                <a:solidFill>
                  <a:prstClr val="black"/>
                </a:solidFill>
                <a:latin typeface="Simplon BP Regular" pitchFamily="50" charset="0"/>
              </a:rPr>
              <a:t>é necessário parametrizar a regra para aprovação 100% de clientes que pagarem no cartão de credito. </a:t>
            </a:r>
          </a:p>
        </p:txBody>
      </p:sp>
      <p:sp>
        <p:nvSpPr>
          <p:cNvPr id="64"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60745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6788"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latin typeface="Simplon Oi Headline"/>
                <a:cs typeface="+mj-cs"/>
              </a:rPr>
              <a:t>Art. 60 – Contestação (prazo e emissão documento cobrança)</a:t>
            </a:r>
            <a:endParaRPr lang="pt-BR" sz="2800"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1754326"/>
          </a:xfrm>
          <a:prstGeom prst="rect">
            <a:avLst/>
          </a:prstGeom>
          <a:noFill/>
        </p:spPr>
        <p:txBody>
          <a:bodyPr wrap="square">
            <a:spAutoFit/>
          </a:bodyPr>
          <a:lstStyle/>
          <a:p>
            <a:pPr lvl="0">
              <a:defRPr/>
            </a:pPr>
            <a:r>
              <a:rPr lang="pt-BR" sz="1200" dirty="0">
                <a:solidFill>
                  <a:prstClr val="black"/>
                </a:solidFill>
                <a:latin typeface="Simplon BP Regular" pitchFamily="2" charset="0"/>
              </a:rPr>
              <a:t>Art. 60. O Consumidor poderá contestar a cobrança de valores junto à Prestadora no prazo de 3 (três) anos contados da data da cobrança considerada indevida.</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Parágrafo único. O valor contestado e ainda não pago terá sua cobrança suspensa e a Prestadora deverá emitir, sem ônus ao Consumidor, novo documento de cobrança para pagamento dos valores não contestados, com prazo adicional, observado o disposto no § 1º do art. 54.</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8" y="3797466"/>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8" y="4123087"/>
            <a:ext cx="4580358" cy="830997"/>
          </a:xfrm>
          <a:prstGeom prst="rect">
            <a:avLst/>
          </a:prstGeom>
          <a:noFill/>
        </p:spPr>
        <p:txBody>
          <a:bodyPr wrap="square">
            <a:spAutoFit/>
          </a:bodyPr>
          <a:lstStyle/>
          <a:p>
            <a:pPr marL="85725"/>
            <a:r>
              <a:rPr lang="pt-BR" sz="1200" dirty="0">
                <a:latin typeface="Simplon BP Regular" pitchFamily="50" charset="0"/>
              </a:rPr>
              <a:t>Fibra Legado - ok</a:t>
            </a:r>
          </a:p>
          <a:p>
            <a:pPr marL="85725"/>
            <a:r>
              <a:rPr lang="pt-BR" sz="1200" dirty="0">
                <a:latin typeface="Simplon BP Regular" pitchFamily="50" charset="0"/>
              </a:rPr>
              <a:t>Nova Fibra  - </a:t>
            </a:r>
            <a:r>
              <a:rPr lang="pt-BR" sz="1200" dirty="0" err="1">
                <a:latin typeface="Simplon BP Regular" pitchFamily="50" charset="0"/>
              </a:rPr>
              <a:t>nok</a:t>
            </a:r>
            <a:r>
              <a:rPr lang="pt-BR" sz="1200" dirty="0">
                <a:latin typeface="Simplon BP Regular" pitchFamily="50" charset="0"/>
              </a:rPr>
              <a:t> - Pouco </a:t>
            </a:r>
            <a:r>
              <a:rPr lang="pt-BR" sz="1200" dirty="0" smtClean="0">
                <a:latin typeface="Simplon BP Regular" pitchFamily="50" charset="0"/>
              </a:rPr>
              <a:t>provável </a:t>
            </a:r>
            <a:r>
              <a:rPr lang="pt-BR" sz="1200" dirty="0">
                <a:latin typeface="Simplon BP Regular" pitchFamily="50" charset="0"/>
              </a:rPr>
              <a:t>mas pode sim contestar por pagamento anterior. Qual alternativa temos pra isso? 13% do total, devendo chegar a 600K dez24. </a:t>
            </a: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200329"/>
          </a:xfrm>
          <a:prstGeom prst="rect">
            <a:avLst/>
          </a:prstGeom>
          <a:noFill/>
        </p:spPr>
        <p:txBody>
          <a:bodyPr wrap="square">
            <a:spAutoFit/>
          </a:bodyPr>
          <a:lstStyle/>
          <a:p>
            <a:pPr marL="85725"/>
            <a:r>
              <a:rPr lang="pt-BR" sz="1200" dirty="0" smtClean="0">
                <a:latin typeface="Simplon BP Regular" pitchFamily="50" charset="0"/>
              </a:rPr>
              <a:t>Necessário desenvolver demanda para adequação ao regulamento.</a:t>
            </a:r>
            <a:endParaRPr lang="pt-BR" sz="1200" dirty="0">
              <a:latin typeface="Simplon BP Regular" pitchFamily="50" charset="0"/>
            </a:endParaRPr>
          </a:p>
          <a:p>
            <a:endParaRPr lang="pt-BR" sz="1200" dirty="0">
              <a:latin typeface="Simplon BP Regular" pitchFamily="50" charset="0"/>
            </a:endParaRPr>
          </a:p>
          <a:p>
            <a:r>
              <a:rPr lang="pt-BR" sz="1200" b="1" u="sng" dirty="0" err="1">
                <a:solidFill>
                  <a:srgbClr val="FF0000"/>
                </a:solidFill>
                <a:latin typeface="Simplon BP Regular" pitchFamily="50" charset="0"/>
              </a:rPr>
              <a:t>Obs</a:t>
            </a:r>
            <a:r>
              <a:rPr lang="pt-BR" sz="1200" b="1" u="sng" dirty="0">
                <a:solidFill>
                  <a:srgbClr val="FF0000"/>
                </a:solidFill>
                <a:latin typeface="Simplon BP Regular" pitchFamily="50" charset="0"/>
              </a:rPr>
              <a:t>: Aguardando decisão executiva para definir próximos passos</a:t>
            </a: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56517" y="4197647"/>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65506" y="5408608"/>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6719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DIRETORIA</a:t>
            </a:r>
          </a:p>
          <a:p>
            <a:pPr lvl="0">
              <a:defRPr/>
            </a:pPr>
            <a:r>
              <a:rPr lang="pt-BR" sz="1200" b="1" dirty="0">
                <a:solidFill>
                  <a:srgbClr val="FF0000"/>
                </a:solidFill>
                <a:latin typeface="Simplon BP Regular" pitchFamily="2" charset="0"/>
              </a:rPr>
              <a:t>Ciclo da </a:t>
            </a:r>
            <a:r>
              <a:rPr lang="pt-BR" sz="1200" b="1" dirty="0" smtClean="0">
                <a:solidFill>
                  <a:srgbClr val="FF0000"/>
                </a:solidFill>
                <a:latin typeface="Simplon BP Regular" pitchFamily="2" charset="0"/>
              </a:rPr>
              <a:t>Receita e Relacionamento Cliente</a:t>
            </a:r>
            <a:endParaRPr lang="pt-BR" sz="1200" b="1" dirty="0">
              <a:solidFill>
                <a:srgbClr val="FF0000"/>
              </a:solidFill>
              <a:latin typeface="Simplon BP Regular" pitchFamily="2" charset="0"/>
            </a:endParaRPr>
          </a:p>
          <a:p>
            <a:pPr lvl="0">
              <a:defRPr/>
            </a:pPr>
            <a:endParaRPr lang="pt-BR" sz="1200" b="1" dirty="0" smtClean="0">
              <a:solidFill>
                <a:prstClr val="black"/>
              </a:solidFill>
              <a:latin typeface="Simplon BP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NOME DO RESPONSÁVEL</a:t>
            </a:r>
          </a:p>
          <a:p>
            <a:pPr lvl="0">
              <a:defRPr/>
            </a:pPr>
            <a:r>
              <a:rPr lang="pt-BR" sz="1200" b="1" dirty="0" smtClean="0">
                <a:solidFill>
                  <a:srgbClr val="FF0000"/>
                </a:solidFill>
                <a:latin typeface="Simplon BP Regular" pitchFamily="2" charset="0"/>
              </a:rPr>
              <a:t>Bruno Macedo e Jomerson Almeida</a:t>
            </a:r>
            <a:endParaRPr kumimoji="0" lang="pt-BR" sz="1200" b="1" i="0" u="none" strike="noStrike" kern="1200" cap="none" spc="0" normalizeH="0" baseline="0" noProof="0" dirty="0">
              <a:ln>
                <a:noFill/>
              </a:ln>
              <a:solidFill>
                <a:srgbClr val="FF0000"/>
              </a:solidFill>
              <a:effectLst/>
              <a:uLnTx/>
              <a:uFillTx/>
              <a:latin typeface="Simplon BP Regular" pitchFamily="2" charset="0"/>
            </a:endParaRPr>
          </a:p>
        </p:txBody>
      </p:sp>
      <p:sp>
        <p:nvSpPr>
          <p:cNvPr id="44"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42145962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3719"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sz="2800" dirty="0" smtClean="0"/>
              <a:t>RGC – </a:t>
            </a:r>
            <a:r>
              <a:rPr lang="pt-BR" sz="2400" dirty="0" smtClean="0"/>
              <a:t>REGULAMENTO</a:t>
            </a:r>
            <a:r>
              <a:rPr lang="pt-BR" sz="2800" dirty="0" smtClean="0"/>
              <a:t> GERAL CONSUMIDOR</a:t>
            </a:r>
            <a:r>
              <a:rPr lang="pt-BR" sz="2800" dirty="0"/>
              <a:t/>
            </a:r>
            <a:br>
              <a:rPr lang="pt-BR" sz="2800" dirty="0"/>
            </a:br>
            <a:r>
              <a:rPr lang="pt-BR" sz="2400" b="0" dirty="0" smtClean="0">
                <a:solidFill>
                  <a:srgbClr val="92D050"/>
                </a:solidFill>
                <a:latin typeface="Simplon Oi Headline"/>
                <a:cs typeface="+mj-cs"/>
              </a:rPr>
              <a:t>Art. 68 – Notificação a </a:t>
            </a:r>
            <a:r>
              <a:rPr lang="pt-BR" sz="2400" b="0" dirty="0" err="1" smtClean="0">
                <a:solidFill>
                  <a:srgbClr val="92D050"/>
                </a:solidFill>
                <a:latin typeface="Simplon Oi Headline"/>
                <a:cs typeface="+mj-cs"/>
              </a:rPr>
              <a:t>ex</a:t>
            </a:r>
            <a:r>
              <a:rPr lang="pt-BR" sz="2400" b="0" dirty="0" smtClean="0">
                <a:solidFill>
                  <a:srgbClr val="92D050"/>
                </a:solidFill>
                <a:latin typeface="Simplon Oi Headline"/>
                <a:cs typeface="+mj-cs"/>
              </a:rPr>
              <a:t> cliente</a:t>
            </a:r>
            <a:endParaRPr lang="pt-BR" sz="2800" dirty="0"/>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R$ 6,5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3046988"/>
          </a:xfrm>
          <a:prstGeom prst="rect">
            <a:avLst/>
          </a:prstGeom>
          <a:noFill/>
        </p:spPr>
        <p:txBody>
          <a:bodyPr wrap="square">
            <a:spAutoFit/>
          </a:bodyPr>
          <a:lstStyle/>
          <a:p>
            <a:pPr lvl="0">
              <a:defRPr/>
            </a:pPr>
            <a:r>
              <a:rPr lang="pt-BR" sz="1200" dirty="0">
                <a:solidFill>
                  <a:prstClr val="black"/>
                </a:solidFill>
                <a:latin typeface="Simplon BP Regular" pitchFamily="2" charset="0"/>
              </a:rPr>
              <a:t>Art. 68. O Consumidor não mais pertencente à base de clientes da Prestadora deverá ser informado sobre a existência e o valor de crédito em seu nome, bem como a forma e o prazo para sua solicitação.</a:t>
            </a:r>
          </a:p>
          <a:p>
            <a:pPr lvl="0">
              <a:defRPr/>
            </a:pPr>
            <a:r>
              <a:rPr lang="pt-BR" sz="1200" dirty="0">
                <a:solidFill>
                  <a:prstClr val="black"/>
                </a:solidFill>
                <a:latin typeface="Simplon BP Regular" pitchFamily="2" charset="0"/>
              </a:rPr>
              <a:t>(...)</a:t>
            </a:r>
          </a:p>
          <a:p>
            <a:pPr lvl="0">
              <a:defRPr/>
            </a:pPr>
            <a:r>
              <a:rPr lang="pt-BR" sz="1200" dirty="0">
                <a:solidFill>
                  <a:prstClr val="black"/>
                </a:solidFill>
                <a:latin typeface="Simplon BP Regular" pitchFamily="2" charset="0"/>
              </a:rPr>
              <a:t>§ 3º A Prestadora também deverá notificar o Consumidor quanto à existência do crédito de que trata o caput, por meio eletrônico, postal ou outro definido pelo Grupo de </a:t>
            </a:r>
          </a:p>
          <a:p>
            <a:pPr lvl="0">
              <a:defRPr/>
            </a:pPr>
            <a:r>
              <a:rPr lang="pt-BR" sz="1200" dirty="0">
                <a:solidFill>
                  <a:prstClr val="black"/>
                </a:solidFill>
                <a:latin typeface="Simplon BP Regular" pitchFamily="2" charset="0"/>
              </a:rPr>
              <a:t>Implantação.</a:t>
            </a:r>
          </a:p>
          <a:p>
            <a:pPr lvl="0">
              <a:defRPr/>
            </a:pPr>
            <a:r>
              <a:rPr lang="pt-BR" sz="1200" dirty="0">
                <a:solidFill>
                  <a:prstClr val="black"/>
                </a:solidFill>
                <a:latin typeface="Simplon BP Regular" pitchFamily="2" charset="0"/>
              </a:rPr>
              <a:t>§ 4º O crédito existente em nome do Consumidor a que se refere o caput deverá permanecer disponível para consulta e solicitação pelo período de 1 (um) ano, a contar de sua </a:t>
            </a:r>
          </a:p>
          <a:p>
            <a:pPr lvl="0">
              <a:defRPr/>
            </a:pPr>
            <a:r>
              <a:rPr lang="pt-BR" sz="1200" dirty="0">
                <a:solidFill>
                  <a:prstClr val="black"/>
                </a:solidFill>
                <a:latin typeface="Simplon BP Regular" pitchFamily="2" charset="0"/>
              </a:rPr>
              <a:t>notificação.</a:t>
            </a:r>
          </a:p>
          <a:p>
            <a:pPr lvl="0">
              <a:defRPr/>
            </a:pPr>
            <a:r>
              <a:rPr lang="pt-BR" sz="1200" dirty="0">
                <a:solidFill>
                  <a:prstClr val="black"/>
                </a:solidFill>
                <a:latin typeface="Simplon BP Regular" pitchFamily="2" charset="0"/>
              </a:rPr>
              <a:t>§ 5º Não sendo possível a notificação do Consumidor, o prazo previsto no § 3º terá início a partir da disponibilização da informação sobre a existência do crédito na forma definida no § 1º.</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7" y="4511739"/>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837360"/>
            <a:ext cx="4580358" cy="1754326"/>
          </a:xfrm>
          <a:prstGeom prst="rect">
            <a:avLst/>
          </a:prstGeom>
          <a:noFill/>
        </p:spPr>
        <p:txBody>
          <a:bodyPr wrap="square">
            <a:spAutoFit/>
          </a:bodyPr>
          <a:lstStyle/>
          <a:p>
            <a:pPr marL="85725"/>
            <a:r>
              <a:rPr lang="pt-BR" sz="1200" dirty="0">
                <a:latin typeface="Simplon BP Regular" pitchFamily="50" charset="0"/>
              </a:rPr>
              <a:t>O que não está </a:t>
            </a:r>
            <a:r>
              <a:rPr lang="pt-BR" sz="1200" dirty="0" err="1">
                <a:latin typeface="Simplon BP Regular" pitchFamily="50" charset="0"/>
              </a:rPr>
              <a:t>Compliance</a:t>
            </a:r>
            <a:r>
              <a:rPr lang="pt-BR" sz="1200" dirty="0">
                <a:latin typeface="Simplon BP Regular" pitchFamily="50" charset="0"/>
              </a:rPr>
              <a:t>?</a:t>
            </a:r>
          </a:p>
          <a:p>
            <a:pPr marL="85725"/>
            <a:endParaRPr lang="pt-BR" sz="1200" dirty="0">
              <a:latin typeface="Simplon BP Regular" pitchFamily="50" charset="0"/>
            </a:endParaRPr>
          </a:p>
          <a:p>
            <a:pPr marL="85725"/>
            <a:r>
              <a:rPr lang="pt-BR" sz="1200" dirty="0">
                <a:latin typeface="Simplon BP Regular" pitchFamily="50" charset="0"/>
              </a:rPr>
              <a:t>O desenvolvimento de uma base/sistema para que o cliente possa consultar e solicitar credito. </a:t>
            </a:r>
          </a:p>
          <a:p>
            <a:pPr marL="85725"/>
            <a:endParaRPr lang="pt-BR" sz="1200" dirty="0">
              <a:latin typeface="Simplon BP Regular" pitchFamily="50" charset="0"/>
            </a:endParaRPr>
          </a:p>
          <a:p>
            <a:pPr marL="85725"/>
            <a:r>
              <a:rPr lang="pt-BR" sz="1200" dirty="0">
                <a:latin typeface="Simplon BP Regular" pitchFamily="50" charset="0"/>
              </a:rPr>
              <a:t>Foi conduzido projeto em 2021 com OG de  R$ 1.986.711 para desenvolvimento e não foi aprovado.</a:t>
            </a:r>
          </a:p>
          <a:p>
            <a:pPr marL="85725"/>
            <a:endParaRPr lang="pt-BR" sz="1200" dirty="0">
              <a:latin typeface="Simplon BP Regular" pitchFamily="50" charset="0"/>
            </a:endParaRPr>
          </a:p>
          <a:p>
            <a:pPr marL="85725"/>
            <a:r>
              <a:rPr lang="pt-BR" sz="1200" dirty="0">
                <a:latin typeface="Simplon BP Regular" pitchFamily="50" charset="0"/>
              </a:rPr>
              <a:t>A obrigação não está sendo atendida no RGC Atual </a:t>
            </a: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723549"/>
          </a:xfrm>
          <a:prstGeom prst="rect">
            <a:avLst/>
          </a:prstGeom>
          <a:noFill/>
        </p:spPr>
        <p:txBody>
          <a:bodyPr wrap="square">
            <a:spAutoFit/>
          </a:bodyPr>
          <a:lstStyle/>
          <a:p>
            <a:pPr marL="85725"/>
            <a:r>
              <a:rPr lang="pt-BR" sz="1400" dirty="0">
                <a:latin typeface="Simplon BP Regular" pitchFamily="50" charset="0"/>
              </a:rPr>
              <a:t>Foi conduzido projeto em 2021 com OG de  R$ 1.986.711 para desenvolvimento e não foi aprovado.</a:t>
            </a:r>
          </a:p>
          <a:p>
            <a:pPr marL="85725"/>
            <a:endParaRPr lang="pt-BR" sz="1400" dirty="0">
              <a:latin typeface="Simplon BP Regular" pitchFamily="50" charset="0"/>
            </a:endParaRPr>
          </a:p>
          <a:p>
            <a:pPr marL="85725"/>
            <a:r>
              <a:rPr lang="pt-BR" sz="1400" dirty="0">
                <a:latin typeface="Simplon BP Regular" pitchFamily="50" charset="0"/>
              </a:rPr>
              <a:t>Ação: Validar direcionamento se irá feito novo projeto ou não para o tema.</a:t>
            </a:r>
          </a:p>
          <a:p>
            <a:endParaRPr lang="pt-BR" sz="1100" dirty="0">
              <a:latin typeface="Simplon BP Regular" pitchFamily="50" charset="0"/>
            </a:endParaRPr>
          </a:p>
          <a:p>
            <a:r>
              <a:rPr lang="pt-BR" sz="1100" b="1" u="sng" dirty="0" err="1" smtClean="0">
                <a:solidFill>
                  <a:srgbClr val="FF0000"/>
                </a:solidFill>
                <a:latin typeface="Simplon BP Regular" pitchFamily="50" charset="0"/>
              </a:rPr>
              <a:t>Obs</a:t>
            </a:r>
            <a:r>
              <a:rPr lang="pt-BR" sz="1100" b="1" u="sng" dirty="0" smtClean="0">
                <a:solidFill>
                  <a:srgbClr val="FF0000"/>
                </a:solidFill>
                <a:latin typeface="Simplon BP Regular" pitchFamily="50" charset="0"/>
              </a:rPr>
              <a:t>: Aguardando decisão executiva para definir próximos passos</a:t>
            </a:r>
            <a:endParaRPr lang="pt-BR" sz="1100" b="1" u="sng" dirty="0">
              <a:solidFill>
                <a:srgbClr val="FF0000"/>
              </a:solidFill>
              <a:latin typeface="Simplon BP Regular" pitchFamily="50" charset="0"/>
            </a:endParaRPr>
          </a:p>
          <a:p>
            <a:pPr lvl="0">
              <a:defRPr/>
            </a:pPr>
            <a:endParaRPr kumimoji="0" lang="pt-BR" sz="14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44688" y="4004320"/>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63624" y="524025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6719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DIRETORIA</a:t>
            </a:r>
          </a:p>
          <a:p>
            <a:pPr lvl="0">
              <a:defRPr/>
            </a:pPr>
            <a:r>
              <a:rPr lang="pt-BR" sz="1200" b="1" dirty="0">
                <a:solidFill>
                  <a:prstClr val="black"/>
                </a:solidFill>
                <a:latin typeface="Simplon BP Regular" pitchFamily="2" charset="0"/>
              </a:rPr>
              <a:t>Ciclo da Receita, DRC e Experiência do </a:t>
            </a:r>
            <a:r>
              <a:rPr lang="pt-BR" sz="1200" b="1" dirty="0" smtClean="0">
                <a:solidFill>
                  <a:prstClr val="black"/>
                </a:solidFill>
                <a:latin typeface="Simplon BP Regular" pitchFamily="2" charset="0"/>
              </a:rPr>
              <a:t>Cliente</a:t>
            </a:r>
          </a:p>
          <a:p>
            <a:pPr lvl="0">
              <a:defRPr/>
            </a:pPr>
            <a:endParaRPr lang="pt-BR" sz="1200" b="1" dirty="0" smtClean="0">
              <a:solidFill>
                <a:prstClr val="black"/>
              </a:solidFill>
              <a:latin typeface="Simplon BP Regular"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smtClean="0">
                <a:solidFill>
                  <a:prstClr val="black"/>
                </a:solidFill>
                <a:latin typeface="Simplon BP Regular" pitchFamily="2" charset="0"/>
              </a:rPr>
              <a:t>NOME DO RESPONSÁVEL</a:t>
            </a:r>
          </a:p>
          <a:p>
            <a:pPr lvl="0">
              <a:defRPr/>
            </a:pPr>
            <a:r>
              <a:rPr lang="pt-BR" sz="1200" b="1" dirty="0" smtClean="0">
                <a:solidFill>
                  <a:prstClr val="black"/>
                </a:solidFill>
                <a:latin typeface="Simplon BP Regular" pitchFamily="2" charset="0"/>
              </a:rPr>
              <a:t>Bruno Macedo, Jomerson </a:t>
            </a:r>
            <a:r>
              <a:rPr lang="pt-BR" sz="1200" b="1" dirty="0">
                <a:solidFill>
                  <a:prstClr val="black"/>
                </a:solidFill>
                <a:latin typeface="Simplon BP Regular" pitchFamily="2" charset="0"/>
              </a:rPr>
              <a:t>da Silva </a:t>
            </a:r>
            <a:r>
              <a:rPr lang="pt-BR" sz="1200" b="1" dirty="0" smtClean="0">
                <a:solidFill>
                  <a:prstClr val="black"/>
                </a:solidFill>
                <a:latin typeface="Simplon BP Regular" pitchFamily="2" charset="0"/>
              </a:rPr>
              <a:t>Almeida e  </a:t>
            </a:r>
            <a:r>
              <a:rPr lang="pt-BR" sz="1200" b="1" dirty="0">
                <a:solidFill>
                  <a:prstClr val="black"/>
                </a:solidFill>
                <a:latin typeface="Simplon BP Regular" pitchFamily="2" charset="0"/>
              </a:rPr>
              <a:t>Fernanda Cristina Lisboa</a:t>
            </a:r>
            <a:endParaRPr kumimoji="0" lang="pt-BR" sz="1200" b="1" i="0" u="none" strike="noStrike" kern="1200" cap="none" spc="0" normalizeH="0" baseline="0" noProof="0" dirty="0">
              <a:ln>
                <a:noFill/>
              </a:ln>
              <a:solidFill>
                <a:prstClr val="black"/>
              </a:solidFill>
              <a:effectLst/>
              <a:uLnTx/>
              <a:uFillTx/>
              <a:latin typeface="Simplon BP Regular" pitchFamily="2" charset="0"/>
            </a:endParaRPr>
          </a:p>
        </p:txBody>
      </p:sp>
      <p:sp>
        <p:nvSpPr>
          <p:cNvPr id="4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64"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30349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tângulo 45"/>
          <p:cNvSpPr/>
          <p:nvPr/>
        </p:nvSpPr>
        <p:spPr>
          <a:xfrm>
            <a:off x="10016907" y="1510030"/>
            <a:ext cx="1665955"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graphicFrame>
        <p:nvGraphicFramePr>
          <p:cNvPr id="5" name="Object 4" hidden="1">
            <a:extLst>
              <a:ext uri="{FF2B5EF4-FFF2-40B4-BE49-F238E27FC236}">
                <a16:creationId xmlns:a16="http://schemas.microsoft.com/office/drawing/2014/main" id="{2EC75F8C-B74A-476E-BA2F-127F5B87481C}"/>
              </a:ext>
            </a:extLst>
          </p:cNvPr>
          <p:cNvGraphicFramePr>
            <a:graphicFrameLocks noChangeAspect="1"/>
          </p:cNvGraphicFramePr>
          <p:nvPr>
            <p:custDataLst>
              <p:tags r:id="rId2"/>
            </p:custDataLs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spid="_x0000_s29856" name="Slide do think-cell" r:id="rId5" imgW="471" imgH="472" progId="TCLayout.ActiveDocument.1">
                  <p:embed/>
                </p:oleObj>
              </mc:Choice>
              <mc:Fallback>
                <p:oleObj name="Slide do think-cell" r:id="rId5" imgW="471" imgH="472" progId="TCLayout.ActiveDocument.1">
                  <p:embed/>
                  <p:pic>
                    <p:nvPicPr>
                      <p:cNvPr id="5" name="Object 4" hidden="1">
                        <a:extLst>
                          <a:ext uri="{FF2B5EF4-FFF2-40B4-BE49-F238E27FC236}">
                            <a16:creationId xmlns:a16="http://schemas.microsoft.com/office/drawing/2014/main" id="{2EC75F8C-B74A-476E-BA2F-127F5B87481C}"/>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1" name="Title 8">
            <a:extLst>
              <a:ext uri="{FF2B5EF4-FFF2-40B4-BE49-F238E27FC236}">
                <a16:creationId xmlns:a16="http://schemas.microsoft.com/office/drawing/2014/main" id="{AE25D9B4-29A4-4097-95AD-6AEC4ABC6195}"/>
              </a:ext>
            </a:extLst>
          </p:cNvPr>
          <p:cNvSpPr>
            <a:spLocks noGrp="1"/>
          </p:cNvSpPr>
          <p:nvPr>
            <p:ph type="title"/>
          </p:nvPr>
        </p:nvSpPr>
        <p:spPr>
          <a:xfrm>
            <a:off x="156477" y="187324"/>
            <a:ext cx="11629932" cy="696581"/>
          </a:xfrm>
        </p:spPr>
        <p:txBody>
          <a:bodyPr vert="horz"/>
          <a:lstStyle/>
          <a:p>
            <a:r>
              <a:rPr lang="pt-BR" dirty="0" smtClean="0"/>
              <a:t>RGC – REGULAMENTO GERAL CONSUMIDOR</a:t>
            </a:r>
            <a:r>
              <a:rPr lang="pt-BR" dirty="0"/>
              <a:t/>
            </a:r>
            <a:br>
              <a:rPr lang="pt-BR" dirty="0"/>
            </a:br>
            <a:r>
              <a:rPr lang="pt-BR" sz="2400" b="0" dirty="0" smtClean="0">
                <a:solidFill>
                  <a:srgbClr val="92D050"/>
                </a:solidFill>
                <a:latin typeface="Simplon Oi Headline"/>
                <a:cs typeface="+mj-cs"/>
              </a:rPr>
              <a:t>Art. 69 – Fundo Direito Difuso (FDD)</a:t>
            </a:r>
            <a:endParaRPr lang="pt-BR" sz="2800" dirty="0"/>
          </a:p>
        </p:txBody>
      </p:sp>
      <p:sp>
        <p:nvSpPr>
          <p:cNvPr id="6" name="Action Button: Return 58">
            <a:hlinkClick r:id="" action="ppaction://hlinkshowjump?jump=lastslideviewed" highlightClick="1"/>
            <a:extLst>
              <a:ext uri="{FF2B5EF4-FFF2-40B4-BE49-F238E27FC236}">
                <a16:creationId xmlns:a16="http://schemas.microsoft.com/office/drawing/2014/main" id="{70B43CEE-FC2F-4556-AA08-1F831B2CE864}"/>
              </a:ext>
            </a:extLst>
          </p:cNvPr>
          <p:cNvSpPr/>
          <p:nvPr/>
        </p:nvSpPr>
        <p:spPr>
          <a:xfrm>
            <a:off x="11443031" y="535614"/>
            <a:ext cx="167943" cy="174565"/>
          </a:xfrm>
          <a:prstGeom prst="actionButtonRetur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F73568E-FA52-4CE6-A080-375CB8FDC5B7}"/>
              </a:ext>
            </a:extLst>
          </p:cNvPr>
          <p:cNvSpPr txBox="1">
            <a:spLocks/>
          </p:cNvSpPr>
          <p:nvPr/>
        </p:nvSpPr>
        <p:spPr>
          <a:xfrm>
            <a:off x="7198440" y="1243331"/>
            <a:ext cx="4680000" cy="883286"/>
          </a:xfrm>
          <a:prstGeom prst="rect">
            <a:avLst/>
          </a:prstGeom>
          <a:ln>
            <a:solidFill>
              <a:srgbClr val="009E0B"/>
            </a:solidFill>
          </a:ln>
        </p:spPr>
        <p:txBody>
          <a:bodyPr lIns="36000" tIns="72000" rIns="36000" bIns="3600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000" indent="-108000" algn="just">
              <a:lnSpc>
                <a:spcPct val="100000"/>
              </a:lnSpc>
              <a:spcBef>
                <a:spcPts val="0"/>
              </a:spcBef>
              <a:spcAft>
                <a:spcPts val="300"/>
              </a:spcAft>
            </a:pPr>
            <a:endParaRPr lang="pt-BR" sz="1200" dirty="0" smtClean="0">
              <a:solidFill>
                <a:schemeClr val="tx1">
                  <a:lumMod val="50000"/>
                  <a:lumOff val="50000"/>
                </a:schemeClr>
              </a:solidFill>
              <a:latin typeface="Simplon Oi Headline" pitchFamily="2" charset="0"/>
            </a:endParaRPr>
          </a:p>
        </p:txBody>
      </p:sp>
      <p:sp>
        <p:nvSpPr>
          <p:cNvPr id="11" name="Content Placeholder 2">
            <a:extLst>
              <a:ext uri="{FF2B5EF4-FFF2-40B4-BE49-F238E27FC236}">
                <a16:creationId xmlns:a16="http://schemas.microsoft.com/office/drawing/2014/main" id="{8A5E1E45-18D5-4F94-BEC6-4926211052CF}"/>
              </a:ext>
            </a:extLst>
          </p:cNvPr>
          <p:cNvSpPr txBox="1">
            <a:spLocks/>
          </p:cNvSpPr>
          <p:nvPr/>
        </p:nvSpPr>
        <p:spPr>
          <a:xfrm>
            <a:off x="156475" y="1239800"/>
            <a:ext cx="2160000" cy="1812928"/>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Oi Headline" pitchFamily="2" charset="0"/>
              <a:ea typeface="+mn-ea"/>
              <a:cs typeface="+mn-cs"/>
            </a:endParaRPr>
          </a:p>
        </p:txBody>
      </p:sp>
      <p:sp>
        <p:nvSpPr>
          <p:cNvPr id="12" name="Content Placeholder 2">
            <a:extLst>
              <a:ext uri="{FF2B5EF4-FFF2-40B4-BE49-F238E27FC236}">
                <a16:creationId xmlns:a16="http://schemas.microsoft.com/office/drawing/2014/main" id="{D5CE5749-6E54-4F17-8275-F7E39EA4AA24}"/>
              </a:ext>
            </a:extLst>
          </p:cNvPr>
          <p:cNvSpPr txBox="1">
            <a:spLocks/>
          </p:cNvSpPr>
          <p:nvPr/>
        </p:nvSpPr>
        <p:spPr>
          <a:xfrm>
            <a:off x="173195" y="3144345"/>
            <a:ext cx="2160000" cy="3468233"/>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4000" marR="0" lvl="0" indent="-144000" algn="l" defTabSz="914400" rtl="0" eaLnBrk="1" fontAlgn="auto" latinLnBrk="0" hangingPunct="1">
              <a:lnSpc>
                <a:spcPts val="125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13" name="Rectangle 40">
            <a:extLst>
              <a:ext uri="{FF2B5EF4-FFF2-40B4-BE49-F238E27FC236}">
                <a16:creationId xmlns:a16="http://schemas.microsoft.com/office/drawing/2014/main" id="{316824B0-6E0E-4B84-81D8-C4A5F23C83C0}"/>
              </a:ext>
            </a:extLst>
          </p:cNvPr>
          <p:cNvSpPr/>
          <p:nvPr/>
        </p:nvSpPr>
        <p:spPr>
          <a:xfrm>
            <a:off x="7198441" y="1243331"/>
            <a:ext cx="2386537"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ASPECTOS FINANCEIROS</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5" name="Rectangle 44">
            <a:extLst>
              <a:ext uri="{FF2B5EF4-FFF2-40B4-BE49-F238E27FC236}">
                <a16:creationId xmlns:a16="http://schemas.microsoft.com/office/drawing/2014/main" id="{7BC1C775-0D8A-4759-B0C0-E14B5274D168}"/>
              </a:ext>
            </a:extLst>
          </p:cNvPr>
          <p:cNvSpPr/>
          <p:nvPr/>
        </p:nvSpPr>
        <p:spPr>
          <a:xfrm>
            <a:off x="156477" y="1239800"/>
            <a:ext cx="1263650" cy="214313"/>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rPr>
              <a:t>Responsável</a:t>
            </a:r>
          </a:p>
        </p:txBody>
      </p:sp>
      <p:sp>
        <p:nvSpPr>
          <p:cNvPr id="16" name="Rectangle 45">
            <a:extLst>
              <a:ext uri="{FF2B5EF4-FFF2-40B4-BE49-F238E27FC236}">
                <a16:creationId xmlns:a16="http://schemas.microsoft.com/office/drawing/2014/main" id="{A1B18FC7-1B7F-45B0-AD1B-E7172629B3B7}"/>
              </a:ext>
            </a:extLst>
          </p:cNvPr>
          <p:cNvSpPr/>
          <p:nvPr/>
        </p:nvSpPr>
        <p:spPr>
          <a:xfrm>
            <a:off x="173196" y="3144345"/>
            <a:ext cx="1263344"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ANÁLISE</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17" name="Content Placeholder 2">
            <a:extLst>
              <a:ext uri="{FF2B5EF4-FFF2-40B4-BE49-F238E27FC236}">
                <a16:creationId xmlns:a16="http://schemas.microsoft.com/office/drawing/2014/main" id="{706C5C9E-8F5F-4835-91CB-805C1B703309}"/>
              </a:ext>
            </a:extLst>
          </p:cNvPr>
          <p:cNvSpPr txBox="1">
            <a:spLocks/>
          </p:cNvSpPr>
          <p:nvPr/>
        </p:nvSpPr>
        <p:spPr>
          <a:xfrm>
            <a:off x="7198440" y="2203767"/>
            <a:ext cx="4680000" cy="4408812"/>
          </a:xfrm>
          <a:prstGeom prst="rect">
            <a:avLst/>
          </a:prstGeom>
          <a:noFill/>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1200"/>
              </a:lnSpc>
              <a:spcBef>
                <a:spcPts val="0"/>
              </a:spcBef>
              <a:spcAft>
                <a:spcPts val="300"/>
              </a:spcAft>
              <a:defRPr/>
            </a:pPr>
            <a:endParaRPr lang="pt-BR" sz="1100" dirty="0">
              <a:solidFill>
                <a:prstClr val="black"/>
              </a:solidFill>
              <a:latin typeface="Simplon BP Regular" pitchFamily="2" charset="0"/>
            </a:endParaRPr>
          </a:p>
        </p:txBody>
      </p:sp>
      <p:sp>
        <p:nvSpPr>
          <p:cNvPr id="22" name="Content Placeholder 2">
            <a:extLst>
              <a:ext uri="{FF2B5EF4-FFF2-40B4-BE49-F238E27FC236}">
                <a16:creationId xmlns:a16="http://schemas.microsoft.com/office/drawing/2014/main" id="{238F0F0A-5660-4814-82FA-50C122230E78}"/>
              </a:ext>
            </a:extLst>
          </p:cNvPr>
          <p:cNvSpPr txBox="1">
            <a:spLocks/>
          </p:cNvSpPr>
          <p:nvPr/>
        </p:nvSpPr>
        <p:spPr>
          <a:xfrm>
            <a:off x="2420935" y="1243331"/>
            <a:ext cx="4680000" cy="5369247"/>
          </a:xfrm>
          <a:prstGeom prst="rect">
            <a:avLst/>
          </a:prstGeom>
          <a:ln>
            <a:solidFill>
              <a:srgbClr val="009E0B"/>
            </a:solidFill>
          </a:ln>
        </p:spPr>
        <p:txBody>
          <a:bodyPr vert="horz" lIns="36000" tIns="72000" rIns="36000" bIns="36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implon BP"/>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mplon BP"/>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mplon BP"/>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mplon BP"/>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endParaRPr kumimoji="0" lang="pt-BR" sz="1200" b="0" i="0" u="none" strike="noStrike" kern="1200" cap="none" spc="0" normalizeH="0" baseline="0" noProof="0" dirty="0">
              <a:ln>
                <a:noFill/>
              </a:ln>
              <a:solidFill>
                <a:prstClr val="black"/>
              </a:solidFill>
              <a:effectLst/>
              <a:uLnTx/>
              <a:uFillTx/>
              <a:latin typeface="Simplon BP Regular" pitchFamily="2" charset="0"/>
              <a:ea typeface="+mn-ea"/>
              <a:cs typeface="+mn-cs"/>
            </a:endParaRPr>
          </a:p>
        </p:txBody>
      </p:sp>
      <p:sp>
        <p:nvSpPr>
          <p:cNvPr id="23" name="Rectangle 56">
            <a:extLst>
              <a:ext uri="{FF2B5EF4-FFF2-40B4-BE49-F238E27FC236}">
                <a16:creationId xmlns:a16="http://schemas.microsoft.com/office/drawing/2014/main" id="{D94E2B5C-D21D-43D5-8C3E-7E301F2B0316}"/>
              </a:ext>
            </a:extLst>
          </p:cNvPr>
          <p:cNvSpPr/>
          <p:nvPr/>
        </p:nvSpPr>
        <p:spPr>
          <a:xfrm>
            <a:off x="2420934" y="1243332"/>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OBRIGAÇÃO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32" name="Retângulo 31"/>
          <p:cNvSpPr/>
          <p:nvPr/>
        </p:nvSpPr>
        <p:spPr>
          <a:xfrm>
            <a:off x="7325968" y="1510030"/>
            <a:ext cx="2505184" cy="53353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latin typeface="Simplon BP"/>
            </a:endParaRPr>
          </a:p>
        </p:txBody>
      </p:sp>
      <p:sp>
        <p:nvSpPr>
          <p:cNvPr id="33" name="Retângulo 32"/>
          <p:cNvSpPr/>
          <p:nvPr/>
        </p:nvSpPr>
        <p:spPr>
          <a:xfrm>
            <a:off x="10016907" y="1582883"/>
            <a:ext cx="800100" cy="430887"/>
          </a:xfrm>
          <a:prstGeom prst="rect">
            <a:avLst/>
          </a:prstGeom>
          <a:noFill/>
        </p:spPr>
        <p:txBody>
          <a:bodyPr wrap="square">
            <a:spAutoFit/>
          </a:bodyPr>
          <a:lstStyle/>
          <a:p>
            <a:pPr algn="ctr"/>
            <a:r>
              <a:rPr lang="en-US" sz="1100" b="1" dirty="0">
                <a:solidFill>
                  <a:schemeClr val="bg1"/>
                </a:solidFill>
                <a:latin typeface="Simplon BP"/>
              </a:rPr>
              <a:t>CUSTO OG</a:t>
            </a:r>
            <a:endParaRPr lang="pt-BR" sz="1100" b="1" dirty="0">
              <a:solidFill>
                <a:schemeClr val="bg1"/>
              </a:solidFill>
              <a:latin typeface="Simplon BP"/>
            </a:endParaRPr>
          </a:p>
        </p:txBody>
      </p:sp>
      <p:sp>
        <p:nvSpPr>
          <p:cNvPr id="36" name="Retângulo 35"/>
          <p:cNvSpPr/>
          <p:nvPr/>
        </p:nvSpPr>
        <p:spPr>
          <a:xfrm>
            <a:off x="10016907" y="2337210"/>
            <a:ext cx="1665955" cy="5335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00" dirty="0"/>
          </a:p>
        </p:txBody>
      </p:sp>
      <p:sp>
        <p:nvSpPr>
          <p:cNvPr id="37" name="TextBox 1">
            <a:extLst>
              <a:ext uri="{FF2B5EF4-FFF2-40B4-BE49-F238E27FC236}">
                <a16:creationId xmlns:a16="http://schemas.microsoft.com/office/drawing/2014/main" id="{78C73662-F2B9-EA54-760E-817ED3732111}"/>
              </a:ext>
            </a:extLst>
          </p:cNvPr>
          <p:cNvSpPr txBox="1"/>
          <p:nvPr/>
        </p:nvSpPr>
        <p:spPr>
          <a:xfrm>
            <a:off x="8980249" y="1629398"/>
            <a:ext cx="97424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dirty="0" smtClean="0">
                <a:solidFill>
                  <a:schemeClr val="bg1"/>
                </a:solidFill>
                <a:latin typeface="Simplon BP"/>
              </a:rPr>
              <a:t>R$ 8,13 MM</a:t>
            </a:r>
            <a:endParaRPr kumimoji="0" lang="pt-BR" sz="1100" b="1" i="0" u="none" strike="noStrike" kern="1200" cap="none" spc="0" normalizeH="0" baseline="0" noProof="0" dirty="0">
              <a:ln>
                <a:noFill/>
              </a:ln>
              <a:solidFill>
                <a:schemeClr val="bg1"/>
              </a:solidFill>
              <a:effectLst/>
              <a:uLnTx/>
              <a:uFillTx/>
              <a:latin typeface="Simplon BP"/>
            </a:endParaRPr>
          </a:p>
        </p:txBody>
      </p:sp>
      <p:sp>
        <p:nvSpPr>
          <p:cNvPr id="38" name="TextBox 1">
            <a:extLst>
              <a:ext uri="{FF2B5EF4-FFF2-40B4-BE49-F238E27FC236}">
                <a16:creationId xmlns:a16="http://schemas.microsoft.com/office/drawing/2014/main" id="{78C73662-F2B9-EA54-760E-817ED3732111}"/>
              </a:ext>
            </a:extLst>
          </p:cNvPr>
          <p:cNvSpPr txBox="1"/>
          <p:nvPr/>
        </p:nvSpPr>
        <p:spPr>
          <a:xfrm>
            <a:off x="10817007" y="1582883"/>
            <a:ext cx="941983" cy="261610"/>
          </a:xfrm>
          <a:prstGeom prst="rect">
            <a:avLst/>
          </a:prstGeom>
          <a:noFill/>
        </p:spPr>
        <p:txBody>
          <a:bodyPr wrap="square">
            <a:spAutoFit/>
          </a:bodyPr>
          <a:lstStyle/>
          <a:p>
            <a:pPr lvl="0" algn="ctr">
              <a:defRPr/>
            </a:pPr>
            <a:r>
              <a:rPr lang="pt-BR" sz="1100" b="1" dirty="0">
                <a:solidFill>
                  <a:schemeClr val="bg1"/>
                </a:solidFill>
                <a:latin typeface="Simplon BP"/>
              </a:rPr>
              <a:t>R$ </a:t>
            </a:r>
            <a:r>
              <a:rPr lang="pt-BR" sz="1100" b="1" dirty="0" smtClean="0">
                <a:solidFill>
                  <a:schemeClr val="bg1"/>
                </a:solidFill>
                <a:latin typeface="Simplon BP"/>
              </a:rPr>
              <a:t> </a:t>
            </a:r>
            <a:r>
              <a:rPr lang="pt-BR" sz="1100" b="1" dirty="0">
                <a:solidFill>
                  <a:schemeClr val="bg1"/>
                </a:solidFill>
                <a:latin typeface="Simplon BP"/>
              </a:rPr>
              <a:t>MM</a:t>
            </a:r>
          </a:p>
        </p:txBody>
      </p:sp>
      <p:sp>
        <p:nvSpPr>
          <p:cNvPr id="39" name="TextBox 1">
            <a:extLst>
              <a:ext uri="{FF2B5EF4-FFF2-40B4-BE49-F238E27FC236}">
                <a16:creationId xmlns:a16="http://schemas.microsoft.com/office/drawing/2014/main" id="{78C73662-F2B9-EA54-760E-817ED3732111}"/>
              </a:ext>
            </a:extLst>
          </p:cNvPr>
          <p:cNvSpPr txBox="1"/>
          <p:nvPr/>
        </p:nvSpPr>
        <p:spPr>
          <a:xfrm>
            <a:off x="2436308" y="1429158"/>
            <a:ext cx="4600814" cy="2862322"/>
          </a:xfrm>
          <a:prstGeom prst="rect">
            <a:avLst/>
          </a:prstGeom>
          <a:noFill/>
        </p:spPr>
        <p:txBody>
          <a:bodyPr wrap="square">
            <a:spAutoFit/>
          </a:bodyPr>
          <a:lstStyle/>
          <a:p>
            <a:pPr lvl="0">
              <a:defRPr/>
            </a:pPr>
            <a:r>
              <a:rPr lang="pt-BR" sz="1200" dirty="0">
                <a:solidFill>
                  <a:prstClr val="black"/>
                </a:solidFill>
                <a:latin typeface="Simplon BP Regular" pitchFamily="2" charset="0"/>
              </a:rPr>
              <a:t>Art. 69. A Prestadora deverá recolher ao Fundo de Defesa de Direitos Difusos (FDD), previsto na Lei nº 9.008, de 1995, ou outro que o substitua, o valor cobrado indevidamente ou pago em excesso por seu Consumidor, nas seguintes hipóteses:</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I - Consumidores não identificáveis;</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II - ausência de solicitação do levantamento do crédito existente em favor do Consumidor após o transcurso do prazo previsto no § 4º do art. 68​​​​​​; ou,</a:t>
            </a:r>
          </a:p>
          <a:p>
            <a:pPr lvl="0">
              <a:defRPr/>
            </a:pPr>
            <a:endParaRPr lang="pt-BR" sz="1200" dirty="0">
              <a:solidFill>
                <a:prstClr val="black"/>
              </a:solidFill>
              <a:latin typeface="Simplon BP Regular" pitchFamily="2" charset="0"/>
            </a:endParaRPr>
          </a:p>
          <a:p>
            <a:pPr lvl="0">
              <a:defRPr/>
            </a:pPr>
            <a:r>
              <a:rPr lang="pt-BR" sz="1200" dirty="0">
                <a:solidFill>
                  <a:prstClr val="black"/>
                </a:solidFill>
                <a:latin typeface="Simplon BP Regular" pitchFamily="2" charset="0"/>
              </a:rPr>
              <a:t>III - no prazo de até 30 (trinta) dias contados da notificação da Prestadora sobre a decisão proferida em Procedimento de Acompanhamento e Controle (PAC), quando comprovada a impossibilidade da certificação do ressarcimento devido.</a:t>
            </a:r>
            <a:endParaRPr kumimoji="0" lang="pt-BR" sz="1200" i="0" u="none" strike="noStrike" kern="1200" cap="none" spc="0" normalizeH="0" baseline="0" noProof="0" dirty="0">
              <a:ln>
                <a:noFill/>
              </a:ln>
              <a:solidFill>
                <a:prstClr val="black"/>
              </a:solidFill>
              <a:effectLst/>
              <a:uLnTx/>
              <a:uFillTx/>
              <a:latin typeface="Simplon BP Regular" pitchFamily="2" charset="0"/>
            </a:endParaRPr>
          </a:p>
        </p:txBody>
      </p:sp>
      <p:sp>
        <p:nvSpPr>
          <p:cNvPr id="40" name="Rectangle 56">
            <a:extLst>
              <a:ext uri="{FF2B5EF4-FFF2-40B4-BE49-F238E27FC236}">
                <a16:creationId xmlns:a16="http://schemas.microsoft.com/office/drawing/2014/main" id="{D94E2B5C-D21D-43D5-8C3E-7E301F2B0316}"/>
              </a:ext>
            </a:extLst>
          </p:cNvPr>
          <p:cNvSpPr/>
          <p:nvPr/>
        </p:nvSpPr>
        <p:spPr>
          <a:xfrm>
            <a:off x="2434187" y="4348210"/>
            <a:ext cx="1935406" cy="216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DESCRIÇÃO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
        <p:nvSpPr>
          <p:cNvPr id="41" name="TextBox 1">
            <a:extLst>
              <a:ext uri="{FF2B5EF4-FFF2-40B4-BE49-F238E27FC236}">
                <a16:creationId xmlns:a16="http://schemas.microsoft.com/office/drawing/2014/main" id="{78C73662-F2B9-EA54-760E-817ED3732111}"/>
              </a:ext>
            </a:extLst>
          </p:cNvPr>
          <p:cNvSpPr txBox="1"/>
          <p:nvPr/>
        </p:nvSpPr>
        <p:spPr>
          <a:xfrm>
            <a:off x="2520577" y="4673831"/>
            <a:ext cx="4580358" cy="646331"/>
          </a:xfrm>
          <a:prstGeom prst="rect">
            <a:avLst/>
          </a:prstGeom>
          <a:noFill/>
        </p:spPr>
        <p:txBody>
          <a:bodyPr wrap="square">
            <a:spAutoFit/>
          </a:bodyPr>
          <a:lstStyle/>
          <a:p>
            <a:pPr marL="85725"/>
            <a:endParaRPr lang="pt-BR" sz="1200" dirty="0">
              <a:latin typeface="Simplon BP Regular" pitchFamily="50" charset="0"/>
            </a:endParaRPr>
          </a:p>
          <a:p>
            <a:pPr marL="85725"/>
            <a:endParaRPr lang="pt-BR" sz="1200" dirty="0">
              <a:latin typeface="Simplon BP Regular" pitchFamily="50" charset="0"/>
            </a:endParaRPr>
          </a:p>
          <a:p>
            <a:pPr marL="85725"/>
            <a:r>
              <a:rPr lang="pt-BR" sz="1200" dirty="0">
                <a:latin typeface="Simplon BP Regular" pitchFamily="50" charset="0"/>
              </a:rPr>
              <a:t>A obrigação não está sendo atendida no RGC Atual </a:t>
            </a:r>
          </a:p>
        </p:txBody>
      </p:sp>
      <p:sp>
        <p:nvSpPr>
          <p:cNvPr id="42" name="TextBox 1">
            <a:extLst>
              <a:ext uri="{FF2B5EF4-FFF2-40B4-BE49-F238E27FC236}">
                <a16:creationId xmlns:a16="http://schemas.microsoft.com/office/drawing/2014/main" id="{78C73662-F2B9-EA54-760E-817ED3732111}"/>
              </a:ext>
            </a:extLst>
          </p:cNvPr>
          <p:cNvSpPr txBox="1"/>
          <p:nvPr/>
        </p:nvSpPr>
        <p:spPr>
          <a:xfrm>
            <a:off x="7295169" y="3004190"/>
            <a:ext cx="4486542" cy="1384995"/>
          </a:xfrm>
          <a:prstGeom prst="rect">
            <a:avLst/>
          </a:prstGeom>
          <a:noFill/>
        </p:spPr>
        <p:txBody>
          <a:bodyPr wrap="square">
            <a:spAutoFit/>
          </a:bodyPr>
          <a:lstStyle/>
          <a:p>
            <a:pPr marL="85725"/>
            <a:endParaRPr lang="pt-BR" sz="1200" dirty="0">
              <a:latin typeface="Simplon BP Regular" pitchFamily="50" charset="0"/>
            </a:endParaRPr>
          </a:p>
          <a:p>
            <a:pPr marL="85725"/>
            <a:r>
              <a:rPr lang="pt-BR" sz="1200" dirty="0">
                <a:latin typeface="Simplon BP Regular" pitchFamily="50" charset="0"/>
              </a:rPr>
              <a:t>Ação: Validar direcionamento se irá feito novo projeto ou não para o tema.</a:t>
            </a:r>
          </a:p>
          <a:p>
            <a:endParaRPr lang="pt-BR" sz="1200" dirty="0">
              <a:latin typeface="Simplon BP Regular" pitchFamily="50" charset="0"/>
            </a:endParaRPr>
          </a:p>
          <a:p>
            <a:r>
              <a:rPr lang="pt-BR" sz="1200" b="1" u="sng" dirty="0" err="1">
                <a:solidFill>
                  <a:srgbClr val="FF0000"/>
                </a:solidFill>
                <a:latin typeface="Simplon BP Regular" pitchFamily="50" charset="0"/>
              </a:rPr>
              <a:t>Obs</a:t>
            </a:r>
            <a:r>
              <a:rPr lang="pt-BR" sz="1200" b="1" u="sng" dirty="0">
                <a:solidFill>
                  <a:srgbClr val="FF0000"/>
                </a:solidFill>
                <a:latin typeface="Simplon BP Regular" pitchFamily="50" charset="0"/>
              </a:rPr>
              <a:t>: Aguardando decisão executiva para definir próximos passos</a:t>
            </a:r>
          </a:p>
          <a:p>
            <a:pPr lvl="0">
              <a:defRPr/>
            </a:pPr>
            <a:endParaRPr kumimoji="0" lang="pt-BR" sz="1200" b="1" i="0" u="none" strike="noStrike" kern="1200" cap="none" spc="0" normalizeH="0" baseline="0" noProof="0" dirty="0">
              <a:ln>
                <a:noFill/>
              </a:ln>
              <a:solidFill>
                <a:prstClr val="black"/>
              </a:solidFill>
              <a:effectLst/>
              <a:uLnTx/>
              <a:uFillTx/>
              <a:latin typeface="Simplon BP Regular" pitchFamily="50" charset="0"/>
            </a:endParaRPr>
          </a:p>
        </p:txBody>
      </p:sp>
      <p:sp>
        <p:nvSpPr>
          <p:cNvPr id="43" name="TextBox 1">
            <a:extLst>
              <a:ext uri="{FF2B5EF4-FFF2-40B4-BE49-F238E27FC236}">
                <a16:creationId xmlns:a16="http://schemas.microsoft.com/office/drawing/2014/main" id="{78C73662-F2B9-EA54-760E-817ED3732111}"/>
              </a:ext>
            </a:extLst>
          </p:cNvPr>
          <p:cNvSpPr txBox="1"/>
          <p:nvPr/>
        </p:nvSpPr>
        <p:spPr>
          <a:xfrm>
            <a:off x="10216565" y="2367877"/>
            <a:ext cx="1466297" cy="261610"/>
          </a:xfrm>
          <a:prstGeom prst="rect">
            <a:avLst/>
          </a:prstGeom>
          <a:noFill/>
        </p:spPr>
        <p:txBody>
          <a:bodyPr wrap="square">
            <a:spAutoFit/>
          </a:bodyPr>
          <a:lstStyle/>
          <a:p>
            <a:pPr lvl="0" algn="ctr">
              <a:defRPr/>
            </a:pPr>
            <a:r>
              <a:rPr lang="pt-BR" sz="1100" b="1" dirty="0" smtClean="0">
                <a:solidFill>
                  <a:schemeClr val="bg1"/>
                </a:solidFill>
                <a:latin typeface="Simplon BP"/>
              </a:rPr>
              <a:t>PRAZO DA OG</a:t>
            </a:r>
            <a:endParaRPr lang="pt-BR" sz="1100" b="1" dirty="0">
              <a:solidFill>
                <a:schemeClr val="bg1"/>
              </a:solidFill>
              <a:latin typeface="Simplon BP"/>
            </a:endParaRPr>
          </a:p>
        </p:txBody>
      </p:sp>
      <p:sp>
        <p:nvSpPr>
          <p:cNvPr id="45" name="TextBox 1">
            <a:extLst>
              <a:ext uri="{FF2B5EF4-FFF2-40B4-BE49-F238E27FC236}">
                <a16:creationId xmlns:a16="http://schemas.microsoft.com/office/drawing/2014/main" id="{78C73662-F2B9-EA54-760E-817ED3732111}"/>
              </a:ext>
            </a:extLst>
          </p:cNvPr>
          <p:cNvSpPr txBox="1"/>
          <p:nvPr/>
        </p:nvSpPr>
        <p:spPr>
          <a:xfrm>
            <a:off x="7248566" y="1490188"/>
            <a:ext cx="1667919" cy="600164"/>
          </a:xfrm>
          <a:prstGeom prst="rect">
            <a:avLst/>
          </a:prstGeom>
          <a:noFill/>
        </p:spPr>
        <p:txBody>
          <a:bodyPr wrap="square">
            <a:spAutoFit/>
          </a:bodyPr>
          <a:lstStyle/>
          <a:p>
            <a:pPr lvl="0" algn="ctr">
              <a:defRPr/>
            </a:pPr>
            <a:r>
              <a:rPr lang="pt-BR" sz="1100" b="1" dirty="0">
                <a:solidFill>
                  <a:schemeClr val="bg1"/>
                </a:solidFill>
                <a:latin typeface="Simplon BP"/>
              </a:rPr>
              <a:t>MULTA ESTIMADA POR DESCUMPRIMENTO</a:t>
            </a:r>
          </a:p>
        </p:txBody>
      </p:sp>
      <p:sp>
        <p:nvSpPr>
          <p:cNvPr id="47" name="Retângulo 46"/>
          <p:cNvSpPr/>
          <p:nvPr/>
        </p:nvSpPr>
        <p:spPr>
          <a:xfrm>
            <a:off x="156475" y="3526101"/>
            <a:ext cx="800100" cy="261610"/>
          </a:xfrm>
          <a:prstGeom prst="rect">
            <a:avLst/>
          </a:prstGeom>
          <a:noFill/>
        </p:spPr>
        <p:txBody>
          <a:bodyPr wrap="square">
            <a:spAutoFit/>
          </a:bodyPr>
          <a:lstStyle/>
          <a:p>
            <a:r>
              <a:rPr lang="en-US" sz="1100" b="1" dirty="0" smtClean="0">
                <a:latin typeface="Simplon BP"/>
              </a:rPr>
              <a:t>RGC</a:t>
            </a:r>
            <a:endParaRPr lang="pt-BR" sz="1100" b="1" dirty="0">
              <a:latin typeface="Simplon BP"/>
            </a:endParaRPr>
          </a:p>
        </p:txBody>
      </p:sp>
      <p:sp>
        <p:nvSpPr>
          <p:cNvPr id="49" name="Retângulo 48"/>
          <p:cNvSpPr/>
          <p:nvPr/>
        </p:nvSpPr>
        <p:spPr>
          <a:xfrm>
            <a:off x="156475" y="4013154"/>
            <a:ext cx="891484" cy="430887"/>
          </a:xfrm>
          <a:prstGeom prst="rect">
            <a:avLst/>
          </a:prstGeom>
          <a:noFill/>
        </p:spPr>
        <p:txBody>
          <a:bodyPr wrap="square">
            <a:spAutoFit/>
          </a:bodyPr>
          <a:lstStyle/>
          <a:p>
            <a:r>
              <a:rPr lang="en-US" sz="1100" b="1" dirty="0" smtClean="0">
                <a:latin typeface="Simplon BP"/>
              </a:rPr>
              <a:t>DESCUMPRIMENTO</a:t>
            </a:r>
            <a:endParaRPr lang="pt-BR" sz="1100" b="1" dirty="0">
              <a:latin typeface="Simplon BP"/>
            </a:endParaRPr>
          </a:p>
        </p:txBody>
      </p:sp>
      <p:sp>
        <p:nvSpPr>
          <p:cNvPr id="50" name="TextBox 1">
            <a:extLst>
              <a:ext uri="{FF2B5EF4-FFF2-40B4-BE49-F238E27FC236}">
                <a16:creationId xmlns:a16="http://schemas.microsoft.com/office/drawing/2014/main" id="{78C73662-F2B9-EA54-760E-817ED3732111}"/>
              </a:ext>
            </a:extLst>
          </p:cNvPr>
          <p:cNvSpPr txBox="1"/>
          <p:nvPr/>
        </p:nvSpPr>
        <p:spPr>
          <a:xfrm>
            <a:off x="1110176" y="4025323"/>
            <a:ext cx="1140377" cy="430887"/>
          </a:xfrm>
          <a:prstGeom prst="rect">
            <a:avLst/>
          </a:prstGeom>
          <a:noFill/>
        </p:spPr>
        <p:txBody>
          <a:bodyPr wrap="square">
            <a:spAutoFit/>
          </a:bodyPr>
          <a:lstStyle/>
          <a:p>
            <a:pPr lvl="0">
              <a:defRPr/>
            </a:pPr>
            <a:r>
              <a:rPr lang="pt-BR" sz="1100" b="1" dirty="0" smtClean="0">
                <a:latin typeface="Simplon BP"/>
              </a:rPr>
              <a:t>(   ) TOTAL</a:t>
            </a:r>
          </a:p>
          <a:p>
            <a:pPr lvl="0">
              <a:defRPr/>
            </a:pPr>
            <a:r>
              <a:rPr lang="pt-BR" sz="1100" b="1" dirty="0">
                <a:latin typeface="Simplon BP"/>
              </a:rPr>
              <a:t>(   ) </a:t>
            </a:r>
            <a:r>
              <a:rPr lang="pt-BR" sz="1100" b="1" dirty="0" smtClean="0">
                <a:latin typeface="Simplon BP"/>
              </a:rPr>
              <a:t>PARCIAL</a:t>
            </a:r>
            <a:endParaRPr lang="pt-BR" sz="1100" b="1" dirty="0">
              <a:latin typeface="Simplon BP"/>
            </a:endParaRPr>
          </a:p>
        </p:txBody>
      </p:sp>
      <p:sp>
        <p:nvSpPr>
          <p:cNvPr id="52" name="TextBox 1">
            <a:extLst>
              <a:ext uri="{FF2B5EF4-FFF2-40B4-BE49-F238E27FC236}">
                <a16:creationId xmlns:a16="http://schemas.microsoft.com/office/drawing/2014/main" id="{78C73662-F2B9-EA54-760E-817ED3732111}"/>
              </a:ext>
            </a:extLst>
          </p:cNvPr>
          <p:cNvSpPr txBox="1"/>
          <p:nvPr/>
        </p:nvSpPr>
        <p:spPr>
          <a:xfrm>
            <a:off x="1110176" y="3451596"/>
            <a:ext cx="1140377" cy="430887"/>
          </a:xfrm>
          <a:prstGeom prst="rect">
            <a:avLst/>
          </a:prstGeom>
          <a:noFill/>
        </p:spPr>
        <p:txBody>
          <a:bodyPr wrap="square">
            <a:spAutoFit/>
          </a:bodyPr>
          <a:lstStyle/>
          <a:p>
            <a:pPr lvl="0">
              <a:defRPr/>
            </a:pPr>
            <a:r>
              <a:rPr lang="pt-BR" sz="1100" b="1" dirty="0" smtClean="0">
                <a:latin typeface="Simplon BP"/>
              </a:rPr>
              <a:t>(   ) 2014</a:t>
            </a:r>
          </a:p>
          <a:p>
            <a:pPr lvl="0">
              <a:defRPr/>
            </a:pPr>
            <a:r>
              <a:rPr lang="pt-BR" sz="1100" b="1" dirty="0">
                <a:latin typeface="Simplon BP"/>
              </a:rPr>
              <a:t>(   ) </a:t>
            </a:r>
            <a:r>
              <a:rPr lang="pt-BR" sz="1100" b="1" dirty="0" smtClean="0">
                <a:latin typeface="Simplon BP"/>
              </a:rPr>
              <a:t>2024</a:t>
            </a:r>
            <a:endParaRPr lang="pt-BR" sz="1100" b="1" dirty="0">
              <a:latin typeface="Simplon BP"/>
            </a:endParaRPr>
          </a:p>
        </p:txBody>
      </p:sp>
      <p:sp>
        <p:nvSpPr>
          <p:cNvPr id="53" name="Retângulo 52"/>
          <p:cNvSpPr/>
          <p:nvPr/>
        </p:nvSpPr>
        <p:spPr>
          <a:xfrm>
            <a:off x="156475" y="4683217"/>
            <a:ext cx="891484" cy="430887"/>
          </a:xfrm>
          <a:prstGeom prst="rect">
            <a:avLst/>
          </a:prstGeom>
          <a:noFill/>
        </p:spPr>
        <p:txBody>
          <a:bodyPr wrap="square">
            <a:spAutoFit/>
          </a:bodyPr>
          <a:lstStyle/>
          <a:p>
            <a:r>
              <a:rPr lang="en-US" sz="1100" b="1" dirty="0" smtClean="0">
                <a:latin typeface="Simplon BP"/>
              </a:rPr>
              <a:t>PEDIDO RECURSO</a:t>
            </a:r>
            <a:endParaRPr lang="pt-BR" sz="1100" b="1" dirty="0">
              <a:latin typeface="Simplon BP"/>
            </a:endParaRPr>
          </a:p>
        </p:txBody>
      </p:sp>
      <p:sp>
        <p:nvSpPr>
          <p:cNvPr id="54" name="TextBox 1">
            <a:extLst>
              <a:ext uri="{FF2B5EF4-FFF2-40B4-BE49-F238E27FC236}">
                <a16:creationId xmlns:a16="http://schemas.microsoft.com/office/drawing/2014/main" id="{78C73662-F2B9-EA54-760E-817ED3732111}"/>
              </a:ext>
            </a:extLst>
          </p:cNvPr>
          <p:cNvSpPr txBox="1"/>
          <p:nvPr/>
        </p:nvSpPr>
        <p:spPr>
          <a:xfrm>
            <a:off x="1110176" y="4643760"/>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5" name="Retângulo 54"/>
          <p:cNvSpPr/>
          <p:nvPr/>
        </p:nvSpPr>
        <p:spPr>
          <a:xfrm>
            <a:off x="182419" y="5299260"/>
            <a:ext cx="891484" cy="261610"/>
          </a:xfrm>
          <a:prstGeom prst="rect">
            <a:avLst/>
          </a:prstGeom>
          <a:noFill/>
        </p:spPr>
        <p:txBody>
          <a:bodyPr wrap="square">
            <a:spAutoFit/>
          </a:bodyPr>
          <a:lstStyle/>
          <a:p>
            <a:r>
              <a:rPr lang="en-US" sz="1100" b="1" dirty="0" smtClean="0">
                <a:latin typeface="Simplon BP"/>
              </a:rPr>
              <a:t>ANATEL</a:t>
            </a:r>
            <a:endParaRPr lang="pt-BR" sz="1100" b="1" dirty="0">
              <a:latin typeface="Simplon BP"/>
            </a:endParaRPr>
          </a:p>
        </p:txBody>
      </p:sp>
      <p:sp>
        <p:nvSpPr>
          <p:cNvPr id="56" name="TextBox 1">
            <a:extLst>
              <a:ext uri="{FF2B5EF4-FFF2-40B4-BE49-F238E27FC236}">
                <a16:creationId xmlns:a16="http://schemas.microsoft.com/office/drawing/2014/main" id="{78C73662-F2B9-EA54-760E-817ED3732111}"/>
              </a:ext>
            </a:extLst>
          </p:cNvPr>
          <p:cNvSpPr txBox="1"/>
          <p:nvPr/>
        </p:nvSpPr>
        <p:spPr>
          <a:xfrm>
            <a:off x="1110176" y="5259803"/>
            <a:ext cx="1140377" cy="430887"/>
          </a:xfrm>
          <a:prstGeom prst="rect">
            <a:avLst/>
          </a:prstGeom>
          <a:noFill/>
        </p:spPr>
        <p:txBody>
          <a:bodyPr wrap="square">
            <a:spAutoFit/>
          </a:bodyPr>
          <a:lstStyle/>
          <a:p>
            <a:pPr lvl="0">
              <a:defRPr/>
            </a:pPr>
            <a:r>
              <a:rPr lang="pt-BR" sz="1100" b="1" dirty="0" smtClean="0">
                <a:latin typeface="Simplon BP"/>
              </a:rPr>
              <a:t>(   ) SIM</a:t>
            </a:r>
          </a:p>
          <a:p>
            <a:pPr lvl="0">
              <a:defRPr/>
            </a:pPr>
            <a:r>
              <a:rPr lang="pt-BR" sz="1100" b="1" dirty="0">
                <a:latin typeface="Simplon BP"/>
              </a:rPr>
              <a:t>(   ) </a:t>
            </a:r>
            <a:r>
              <a:rPr lang="pt-BR" sz="1100" b="1" dirty="0" smtClean="0">
                <a:latin typeface="Simplon BP"/>
              </a:rPr>
              <a:t>NÃO</a:t>
            </a:r>
            <a:endParaRPr lang="pt-BR" sz="1100" b="1" dirty="0">
              <a:latin typeface="Simplon BP"/>
            </a:endParaRPr>
          </a:p>
        </p:txBody>
      </p:sp>
      <p:sp>
        <p:nvSpPr>
          <p:cNvPr id="57" name="Retângulo 56"/>
          <p:cNvSpPr/>
          <p:nvPr/>
        </p:nvSpPr>
        <p:spPr>
          <a:xfrm>
            <a:off x="197250" y="5846088"/>
            <a:ext cx="2160000" cy="261610"/>
          </a:xfrm>
          <a:prstGeom prst="rect">
            <a:avLst/>
          </a:prstGeom>
          <a:noFill/>
        </p:spPr>
        <p:txBody>
          <a:bodyPr wrap="square">
            <a:spAutoFit/>
          </a:bodyPr>
          <a:lstStyle/>
          <a:p>
            <a:pPr algn="ctr"/>
            <a:r>
              <a:rPr lang="en-US" sz="1100" b="1" dirty="0" smtClean="0">
                <a:latin typeface="Simplon BP"/>
              </a:rPr>
              <a:t>VIGÊNCIA A PARTIR DE</a:t>
            </a:r>
            <a:endParaRPr lang="pt-BR" sz="1100" b="1" dirty="0">
              <a:latin typeface="Simplon BP"/>
            </a:endParaRPr>
          </a:p>
        </p:txBody>
      </p:sp>
      <p:sp>
        <p:nvSpPr>
          <p:cNvPr id="58" name="Retângulo 57"/>
          <p:cNvSpPr/>
          <p:nvPr/>
        </p:nvSpPr>
        <p:spPr>
          <a:xfrm>
            <a:off x="215437" y="6042094"/>
            <a:ext cx="2160000" cy="261610"/>
          </a:xfrm>
          <a:prstGeom prst="rect">
            <a:avLst/>
          </a:prstGeom>
          <a:noFill/>
        </p:spPr>
        <p:txBody>
          <a:bodyPr wrap="square">
            <a:spAutoFit/>
          </a:bodyPr>
          <a:lstStyle/>
          <a:p>
            <a:pPr algn="ctr"/>
            <a:r>
              <a:rPr lang="en-US" sz="1100" b="1" dirty="0" err="1">
                <a:solidFill>
                  <a:schemeClr val="accent6"/>
                </a:solidFill>
                <a:latin typeface="Simplon BP"/>
              </a:rPr>
              <a:t>Já</a:t>
            </a:r>
            <a:r>
              <a:rPr lang="en-US" sz="1100" b="1" dirty="0">
                <a:solidFill>
                  <a:schemeClr val="accent6"/>
                </a:solidFill>
                <a:latin typeface="Simplon BP"/>
              </a:rPr>
              <a:t> </a:t>
            </a:r>
            <a:r>
              <a:rPr lang="en-US" sz="1100" b="1" dirty="0" err="1">
                <a:solidFill>
                  <a:schemeClr val="accent6"/>
                </a:solidFill>
                <a:latin typeface="Simplon BP"/>
              </a:rPr>
              <a:t>vigente</a:t>
            </a:r>
            <a:r>
              <a:rPr lang="en-US" sz="1100" b="1" dirty="0">
                <a:solidFill>
                  <a:schemeClr val="accent6"/>
                </a:solidFill>
                <a:latin typeface="Simplon BP"/>
              </a:rPr>
              <a:t> 2014</a:t>
            </a:r>
            <a:endParaRPr lang="pt-BR" sz="1100" b="1" dirty="0">
              <a:solidFill>
                <a:schemeClr val="accent6"/>
              </a:solidFill>
              <a:latin typeface="Simplon BP"/>
            </a:endParaRPr>
          </a:p>
        </p:txBody>
      </p:sp>
      <p:sp>
        <p:nvSpPr>
          <p:cNvPr id="59" name="TextBox 1">
            <a:extLst>
              <a:ext uri="{FF2B5EF4-FFF2-40B4-BE49-F238E27FC236}">
                <a16:creationId xmlns:a16="http://schemas.microsoft.com/office/drawing/2014/main" id="{78C73662-F2B9-EA54-760E-817ED3732111}"/>
              </a:ext>
            </a:extLst>
          </p:cNvPr>
          <p:cNvSpPr txBox="1"/>
          <p:nvPr/>
        </p:nvSpPr>
        <p:spPr>
          <a:xfrm>
            <a:off x="1156233" y="3419651"/>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0" name="TextBox 1">
            <a:extLst>
              <a:ext uri="{FF2B5EF4-FFF2-40B4-BE49-F238E27FC236}">
                <a16:creationId xmlns:a16="http://schemas.microsoft.com/office/drawing/2014/main" id="{78C73662-F2B9-EA54-760E-817ED3732111}"/>
              </a:ext>
            </a:extLst>
          </p:cNvPr>
          <p:cNvSpPr txBox="1"/>
          <p:nvPr/>
        </p:nvSpPr>
        <p:spPr>
          <a:xfrm>
            <a:off x="1144688" y="4004320"/>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1" name="TextBox 1">
            <a:extLst>
              <a:ext uri="{FF2B5EF4-FFF2-40B4-BE49-F238E27FC236}">
                <a16:creationId xmlns:a16="http://schemas.microsoft.com/office/drawing/2014/main" id="{78C73662-F2B9-EA54-760E-817ED3732111}"/>
              </a:ext>
            </a:extLst>
          </p:cNvPr>
          <p:cNvSpPr txBox="1"/>
          <p:nvPr/>
        </p:nvSpPr>
        <p:spPr>
          <a:xfrm>
            <a:off x="1163624" y="5240254"/>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2" name="TextBox 1">
            <a:extLst>
              <a:ext uri="{FF2B5EF4-FFF2-40B4-BE49-F238E27FC236}">
                <a16:creationId xmlns:a16="http://schemas.microsoft.com/office/drawing/2014/main" id="{78C73662-F2B9-EA54-760E-817ED3732111}"/>
              </a:ext>
            </a:extLst>
          </p:cNvPr>
          <p:cNvSpPr txBox="1"/>
          <p:nvPr/>
        </p:nvSpPr>
        <p:spPr>
          <a:xfrm>
            <a:off x="1147381" y="4767196"/>
            <a:ext cx="347712" cy="338554"/>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
                <a:schemeClr val="accent6"/>
              </a:buClr>
              <a:buSzPct val="200000"/>
              <a:tabLst/>
              <a:defRPr/>
            </a:pPr>
            <a:r>
              <a:rPr lang="en-US" sz="1600" b="1" noProof="0" dirty="0" smtClean="0">
                <a:solidFill>
                  <a:schemeClr val="accent6"/>
                </a:solidFill>
                <a:latin typeface="Simplon BP Regular" pitchFamily="2" charset="0"/>
              </a:rPr>
              <a:t>X</a:t>
            </a:r>
            <a:endParaRPr kumimoji="0" lang="pt-BR" sz="1600" b="1" i="0" u="none" strike="noStrike" kern="1200" cap="none" spc="0" normalizeH="0" baseline="0" noProof="0" dirty="0">
              <a:ln>
                <a:noFill/>
              </a:ln>
              <a:solidFill>
                <a:schemeClr val="accent6"/>
              </a:solidFill>
              <a:effectLst/>
              <a:uLnTx/>
              <a:uFillTx/>
              <a:latin typeface="Simplon BP Regular" pitchFamily="2" charset="0"/>
            </a:endParaRPr>
          </a:p>
        </p:txBody>
      </p:sp>
      <p:sp>
        <p:nvSpPr>
          <p:cNvPr id="63" name="TextBox 1">
            <a:extLst>
              <a:ext uri="{FF2B5EF4-FFF2-40B4-BE49-F238E27FC236}">
                <a16:creationId xmlns:a16="http://schemas.microsoft.com/office/drawing/2014/main" id="{78C73662-F2B9-EA54-760E-817ED3732111}"/>
              </a:ext>
            </a:extLst>
          </p:cNvPr>
          <p:cNvSpPr txBox="1"/>
          <p:nvPr/>
        </p:nvSpPr>
        <p:spPr>
          <a:xfrm>
            <a:off x="174347" y="1516782"/>
            <a:ext cx="2219529" cy="1384995"/>
          </a:xfrm>
          <a:prstGeom prst="rect">
            <a:avLst/>
          </a:prstGeom>
          <a:noFill/>
        </p:spPr>
        <p:txBody>
          <a:bodyPr wrap="square">
            <a:spAutoFit/>
          </a:bodyPr>
          <a:lstStyle/>
          <a:p>
            <a:pPr lvl="0">
              <a:defRPr/>
            </a:pPr>
            <a:r>
              <a:rPr lang="pt-BR" sz="1200" b="1" dirty="0">
                <a:solidFill>
                  <a:prstClr val="black"/>
                </a:solidFill>
                <a:latin typeface="Simplon BP Regular" pitchFamily="2" charset="0"/>
              </a:rPr>
              <a:t>DIRETORIA</a:t>
            </a:r>
          </a:p>
          <a:p>
            <a:pPr lvl="0">
              <a:defRPr/>
            </a:pPr>
            <a:r>
              <a:rPr lang="pt-BR" sz="1200" b="1" dirty="0">
                <a:solidFill>
                  <a:srgbClr val="FF0000"/>
                </a:solidFill>
                <a:latin typeface="Simplon BP Regular" pitchFamily="2" charset="0"/>
              </a:rPr>
              <a:t>Ciclo da Receita e Relacionamento Cliente</a:t>
            </a:r>
          </a:p>
          <a:p>
            <a:pPr lvl="0">
              <a:defRPr/>
            </a:pPr>
            <a:endParaRPr lang="pt-BR" sz="1200" b="1" dirty="0">
              <a:solidFill>
                <a:prstClr val="black"/>
              </a:solidFill>
              <a:latin typeface="Simplon BP Regular" pitchFamily="2" charset="0"/>
            </a:endParaRPr>
          </a:p>
          <a:p>
            <a:pPr lvl="0">
              <a:defRPr/>
            </a:pPr>
            <a:r>
              <a:rPr lang="pt-BR" sz="1200" b="1" dirty="0">
                <a:solidFill>
                  <a:prstClr val="black"/>
                </a:solidFill>
                <a:latin typeface="Simplon BP Regular" pitchFamily="2" charset="0"/>
              </a:rPr>
              <a:t>NOME DO RESPONSÁVEL</a:t>
            </a:r>
          </a:p>
          <a:p>
            <a:pPr lvl="0">
              <a:defRPr/>
            </a:pPr>
            <a:r>
              <a:rPr lang="pt-BR" sz="1200" b="1" dirty="0">
                <a:solidFill>
                  <a:srgbClr val="FF0000"/>
                </a:solidFill>
                <a:latin typeface="Simplon BP Regular" pitchFamily="2" charset="0"/>
              </a:rPr>
              <a:t>Bruno Macedo e Jomerson Almeida</a:t>
            </a:r>
          </a:p>
        </p:txBody>
      </p:sp>
      <p:sp>
        <p:nvSpPr>
          <p:cNvPr id="48" name="Rectangle 41">
            <a:extLst>
              <a:ext uri="{FF2B5EF4-FFF2-40B4-BE49-F238E27FC236}">
                <a16:creationId xmlns:a16="http://schemas.microsoft.com/office/drawing/2014/main" id="{26CE71C9-A6C6-4E14-9FA3-9309C228C61A}"/>
              </a:ext>
            </a:extLst>
          </p:cNvPr>
          <p:cNvSpPr/>
          <p:nvPr/>
        </p:nvSpPr>
        <p:spPr>
          <a:xfrm>
            <a:off x="7198441" y="2211177"/>
            <a:ext cx="2386537" cy="21563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smtClean="0">
                <a:ln>
                  <a:noFill/>
                </a:ln>
                <a:solidFill>
                  <a:prstClr val="white"/>
                </a:solidFill>
                <a:effectLst/>
                <a:uLnTx/>
                <a:uFillTx/>
                <a:latin typeface="Simplon Oi Headline" pitchFamily="2" charset="0"/>
                <a:ea typeface="+mn-ea"/>
                <a:cs typeface="+mn-cs"/>
              </a:rPr>
              <a:t>DETALHAMENTO PLANO DE AÇÃO</a:t>
            </a:r>
            <a:endParaRPr kumimoji="0" lang="pt-BR" sz="1200" b="0" i="0" u="none" strike="noStrike" kern="1200" cap="none" spc="0" normalizeH="0" baseline="0" noProof="0" dirty="0">
              <a:ln>
                <a:noFill/>
              </a:ln>
              <a:solidFill>
                <a:prstClr val="white"/>
              </a:solidFill>
              <a:effectLst/>
              <a:uLnTx/>
              <a:uFillTx/>
              <a:latin typeface="Simplon Oi Headline" pitchFamily="2" charset="0"/>
              <a:ea typeface="+mn-ea"/>
              <a:cs typeface="+mn-cs"/>
            </a:endParaRPr>
          </a:p>
        </p:txBody>
      </p:sp>
    </p:spTree>
    <p:extLst>
      <p:ext uri="{BB962C8B-B14F-4D97-AF65-F5344CB8AC3E}">
        <p14:creationId xmlns:p14="http://schemas.microsoft.com/office/powerpoint/2010/main" val="316586161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6JYScuEoyIiLM70.7W1gi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o Office">
  <a:themeElements>
    <a:clrScheme name="Templates Oi">
      <a:dk1>
        <a:srgbClr val="A0BA17"/>
      </a:dk1>
      <a:lt1>
        <a:srgbClr val="10BB7C"/>
      </a:lt1>
      <a:dk2>
        <a:srgbClr val="000000"/>
      </a:dk2>
      <a:lt2>
        <a:srgbClr val="FFFFFF"/>
      </a:lt2>
      <a:accent1>
        <a:srgbClr val="00D318"/>
      </a:accent1>
      <a:accent2>
        <a:srgbClr val="009E0B"/>
      </a:accent2>
      <a:accent3>
        <a:srgbClr val="FFFFFF"/>
      </a:accent3>
      <a:accent4>
        <a:srgbClr val="FFFF00"/>
      </a:accent4>
      <a:accent5>
        <a:srgbClr val="4D4D4D"/>
      </a:accent5>
      <a:accent6>
        <a:srgbClr val="000000"/>
      </a:accent6>
      <a:hlink>
        <a:srgbClr val="A0BA17"/>
      </a:hlink>
      <a:folHlink>
        <a:srgbClr val="10BB7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7681</TotalTime>
  <Words>5570</Words>
  <Application>Microsoft Office PowerPoint</Application>
  <PresentationFormat>Widescreen</PresentationFormat>
  <Paragraphs>1133</Paragraphs>
  <Slides>22</Slides>
  <Notes>21</Notes>
  <HiddenSlides>0</HiddenSlides>
  <MMClips>0</MMClips>
  <ScaleCrop>false</ScaleCrop>
  <HeadingPairs>
    <vt:vector size="8" baseType="variant">
      <vt:variant>
        <vt:lpstr>Fontes usadas</vt:lpstr>
      </vt:variant>
      <vt:variant>
        <vt:i4>11</vt:i4>
      </vt:variant>
      <vt:variant>
        <vt:lpstr>Tema</vt:lpstr>
      </vt:variant>
      <vt:variant>
        <vt:i4>2</vt:i4>
      </vt:variant>
      <vt:variant>
        <vt:lpstr>Servidores OLE inseridos</vt:lpstr>
      </vt:variant>
      <vt:variant>
        <vt:i4>2</vt:i4>
      </vt:variant>
      <vt:variant>
        <vt:lpstr>Títulos de slides</vt:lpstr>
      </vt:variant>
      <vt:variant>
        <vt:i4>22</vt:i4>
      </vt:variant>
    </vt:vector>
  </HeadingPairs>
  <TitlesOfParts>
    <vt:vector size="37" baseType="lpstr">
      <vt:lpstr>ＭＳ Ｐゴシック</vt:lpstr>
      <vt:lpstr>Arial</vt:lpstr>
      <vt:lpstr>Calibri</vt:lpstr>
      <vt:lpstr>Calibri Light</vt:lpstr>
      <vt:lpstr>Inter</vt:lpstr>
      <vt:lpstr>Simplon BP</vt:lpstr>
      <vt:lpstr>Simplon BP Light</vt:lpstr>
      <vt:lpstr>Simplon BP Medium</vt:lpstr>
      <vt:lpstr>Simplon BP Regular</vt:lpstr>
      <vt:lpstr>Simplon Oi Headline</vt:lpstr>
      <vt:lpstr>Wingdings</vt:lpstr>
      <vt:lpstr>Tema do Office</vt:lpstr>
      <vt:lpstr>1_Tema do Office</vt:lpstr>
      <vt:lpstr>think-cell Slide</vt:lpstr>
      <vt:lpstr>Slide do think-cell</vt:lpstr>
      <vt:lpstr>Apresentação do PowerPoint</vt:lpstr>
      <vt:lpstr>Novo RGC – REGULAMENTO GERAL CONSUMIDOR </vt:lpstr>
      <vt:lpstr>RGC – REGULAMENTO GERAL CONSUMIDOR Art. 56 – Documento Cobrança (separado por serviço contratado)</vt:lpstr>
      <vt:lpstr>RGC – REGULAMENTO GERAL CONSUMIDOR Art. 59 – Documento Cobrança (pós acordo débito)</vt:lpstr>
      <vt:lpstr>RGC – REGULAMENTO GERAL CONSUMIDOR Art. 61 – Contestação (fluência dos prazos)</vt:lpstr>
      <vt:lpstr>RGC – REGULAMENTO GERAL CONSUMIDOR Art. 67 – Pagamento Duplicidade</vt:lpstr>
      <vt:lpstr>RGC – REGULAMENTO GERAL CONSUMIDOR Art. 9 - Formato de Protocolo e Rastreabilidade de Demandas (geral)</vt:lpstr>
      <vt:lpstr>RGC – REGULAMENTO GERAL CONSUMIDOR Art. 13; V - Atendimento por Meio Digital - Gravação e Cópia das Interações</vt:lpstr>
      <vt:lpstr>RGC – REGULAMENTO GERAL CONSUMIDOR Art. 18 § 3º, II - Conceito de Primeiro Menu</vt:lpstr>
      <vt:lpstr>RGC – REGULAMENTO GERAL CONSUMIDOR Art. 85 – Rescisão Contratual (comprovante)</vt:lpstr>
      <vt:lpstr>RGC – REGULAMENTO GERAL CONSUMIDOR Art. 87 - Formato de Protocolo e Rastreabilidade de Demandas (Ouvidoria)</vt:lpstr>
      <vt:lpstr>RGC – REGULAMENTO GERAL CONSUMIDOR Art. 34 - Remuneração de Terceiros</vt:lpstr>
      <vt:lpstr>RGC – REGULAMENTO GERAL CONSUMIDOR Art. 39 – Ofertas&gt;Reajuste de Ofertas</vt:lpstr>
      <vt:lpstr>RGC – REGULAMENTO GERAL CONSUMIDOR Art. 42 - Gravação e Cópia das Interações (informações de primeiro acesso)</vt:lpstr>
      <vt:lpstr>RGC – REGULAMENTO GERAL CONSUMIDOR Art. 64 – Devolução de Valores</vt:lpstr>
      <vt:lpstr>RGC – REGULAMENTO GERAL CONSUMIDOR Art. 8º - Regras de Atendimento</vt:lpstr>
      <vt:lpstr>RGC – REGULAMENTO GERAL CONSUMIDOR Art. 13; I – Ofertas - Atendimento por Meio Digital</vt:lpstr>
      <vt:lpstr>RGC – REGULAMENTO GERAL CONSUMIDOR Art. 13; IV - Atendimento por Meio Digital - Relatório detalhado Valores Restituídos</vt:lpstr>
      <vt:lpstr>RGC – REGULAMENTO GERAL CONSUMIDOR Art. 30 - RECUSA VENDA INADIMP</vt:lpstr>
      <vt:lpstr>RGC – REGULAMENTO GERAL CONSUMIDOR Art. 60 – Contestação (prazo e emissão documento cobrança)</vt:lpstr>
      <vt:lpstr>RGC – REGULAMENTO GERAL CONSUMIDOR Art. 68 – Notificação a ex cliente</vt:lpstr>
      <vt:lpstr>RGC – REGULAMENTO GERAL CONSUMIDOR Art. 69 – Fundo Direito Difuso (FDD)</vt:lpstr>
    </vt:vector>
  </TitlesOfParts>
  <Company>OI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Renata Freire De Almeida</dc:creator>
  <cp:lastModifiedBy>Sandro Esteves Pires Martins</cp:lastModifiedBy>
  <cp:revision>179</cp:revision>
  <dcterms:created xsi:type="dcterms:W3CDTF">2024-08-19T15:20:25Z</dcterms:created>
  <dcterms:modified xsi:type="dcterms:W3CDTF">2024-10-04T19:16:07Z</dcterms:modified>
</cp:coreProperties>
</file>