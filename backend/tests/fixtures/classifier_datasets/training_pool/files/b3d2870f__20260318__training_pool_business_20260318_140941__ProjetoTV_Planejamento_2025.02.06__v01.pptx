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tags/tag1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rts/chart2.xml" ContentType="application/vnd.openxmlformats-officedocument.drawingml.chart+xml"/>
  <Override PartName="/ppt/tags/tag26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charts/chart3.xml" ContentType="application/vnd.openxmlformats-officedocument.drawingml.chart+xml"/>
  <Override PartName="/ppt/tags/tag39.xml" ContentType="application/vnd.openxmlformats-officedocument.presentationml.tags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charts/chart4.xml" ContentType="application/vnd.openxmlformats-officedocument.drawingml.chart+xml"/>
  <Override PartName="/ppt/tags/tag52.xml" ContentType="application/vnd.openxmlformats-officedocument.presentationml.tags+xml"/>
  <Override PartName="/ppt/theme/theme5.xml" ContentType="application/vnd.openxmlformats-officedocument.theme+xml"/>
  <Override PartName="/ppt/tags/tag5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1" r:id="rId4"/>
    <p:sldMasterId id="2147483800" r:id="rId5"/>
    <p:sldMasterId id="2147484030" r:id="rId6"/>
    <p:sldMasterId id="2147484153" r:id="rId7"/>
  </p:sldMasterIdLst>
  <p:notesMasterIdLst>
    <p:notesMasterId r:id="rId12"/>
  </p:notesMasterIdLst>
  <p:sldIdLst>
    <p:sldId id="293" r:id="rId8"/>
    <p:sldId id="2147483173" r:id="rId9"/>
    <p:sldId id="2147483183" r:id="rId10"/>
    <p:sldId id="2147483178" r:id="rId11"/>
  </p:sldIdLst>
  <p:sldSz cx="12192000" cy="6858000"/>
  <p:notesSz cx="6858000" cy="9144000"/>
  <p:custDataLst>
    <p:tags r:id="rId1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9pPr>
  </p:defaultTextStyle>
  <p:extLst>
    <p:ext uri="{521415D9-36F7-43E2-AB2F-B90AF26B5E84}">
      <p14:sectionLst xmlns:p14="http://schemas.microsoft.com/office/powerpoint/2010/main">
        <p14:section name="Seção Padrão" id="{E2FD906F-F81E-4346-8F91-A19CEB2BE249}">
          <p14:sldIdLst>
            <p14:sldId id="293"/>
          </p14:sldIdLst>
        </p14:section>
        <p14:section name="UPI TV" id="{194642BE-4CF9-4AC7-93A2-0BFD58F452E3}">
          <p14:sldIdLst>
            <p14:sldId id="2147483173"/>
            <p14:sldId id="2147483183"/>
            <p14:sldId id="21474831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0B"/>
    <a:srgbClr val="000000"/>
    <a:srgbClr val="FF9933"/>
    <a:srgbClr val="FFFF00"/>
    <a:srgbClr val="37B33F"/>
    <a:srgbClr val="404040"/>
    <a:srgbClr val="009E0A"/>
    <a:srgbClr val="00D318"/>
    <a:srgbClr val="38572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F7E7"/>
          </a:solidFill>
        </a:fill>
      </a:tcStyle>
    </a:wholeTbl>
    <a:band2H>
      <a:tcTxStyle/>
      <a:tcStyle>
        <a:tcBdr/>
        <a:fill>
          <a:solidFill>
            <a:schemeClr val="accent2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50" autoAdjust="0"/>
    <p:restoredTop sz="94343" autoAdjust="0"/>
  </p:normalViewPr>
  <p:slideViewPr>
    <p:cSldViewPr snapToGrid="0">
      <p:cViewPr varScale="1">
        <p:scale>
          <a:sx n="70" d="100"/>
          <a:sy n="70" d="100"/>
        </p:scale>
        <p:origin x="936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ags" Target="tags/tag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7" name="Shape 15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Simplon BP Regular"/>
      </a:defRPr>
    </a:lvl1pPr>
    <a:lvl2pPr indent="228600" latinLnBrk="0">
      <a:defRPr sz="1400">
        <a:latin typeface="+mj-lt"/>
        <a:ea typeface="+mj-ea"/>
        <a:cs typeface="+mj-cs"/>
        <a:sym typeface="Simplon BP Regular"/>
      </a:defRPr>
    </a:lvl2pPr>
    <a:lvl3pPr indent="457200" latinLnBrk="0">
      <a:defRPr sz="1400">
        <a:latin typeface="+mj-lt"/>
        <a:ea typeface="+mj-ea"/>
        <a:cs typeface="+mj-cs"/>
        <a:sym typeface="Simplon BP Regular"/>
      </a:defRPr>
    </a:lvl3pPr>
    <a:lvl4pPr indent="685800" latinLnBrk="0">
      <a:defRPr sz="1400">
        <a:latin typeface="+mj-lt"/>
        <a:ea typeface="+mj-ea"/>
        <a:cs typeface="+mj-cs"/>
        <a:sym typeface="Simplon BP Regular"/>
      </a:defRPr>
    </a:lvl4pPr>
    <a:lvl5pPr indent="914400" latinLnBrk="0">
      <a:defRPr sz="1400">
        <a:latin typeface="+mj-lt"/>
        <a:ea typeface="+mj-ea"/>
        <a:cs typeface="+mj-cs"/>
        <a:sym typeface="Simplon BP Regular"/>
      </a:defRPr>
    </a:lvl5pPr>
    <a:lvl6pPr indent="1143000" latinLnBrk="0">
      <a:defRPr sz="1400">
        <a:latin typeface="+mj-lt"/>
        <a:ea typeface="+mj-ea"/>
        <a:cs typeface="+mj-cs"/>
        <a:sym typeface="Simplon BP Regular"/>
      </a:defRPr>
    </a:lvl6pPr>
    <a:lvl7pPr indent="1371600" latinLnBrk="0">
      <a:defRPr sz="1400">
        <a:latin typeface="+mj-lt"/>
        <a:ea typeface="+mj-ea"/>
        <a:cs typeface="+mj-cs"/>
        <a:sym typeface="Simplon BP Regular"/>
      </a:defRPr>
    </a:lvl7pPr>
    <a:lvl8pPr indent="1600200" latinLnBrk="0">
      <a:defRPr sz="1400">
        <a:latin typeface="+mj-lt"/>
        <a:ea typeface="+mj-ea"/>
        <a:cs typeface="+mj-cs"/>
        <a:sym typeface="Simplon BP Regular"/>
      </a:defRPr>
    </a:lvl8pPr>
    <a:lvl9pPr indent="1828800" latinLnBrk="0">
      <a:defRPr sz="1400">
        <a:latin typeface="+mj-lt"/>
        <a:ea typeface="+mj-ea"/>
        <a:cs typeface="+mj-cs"/>
        <a:sym typeface="Simplon BP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643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OiPlay:</a:t>
            </a:r>
            <a:r>
              <a:rPr lang="pt-BR" baseline="0" dirty="0" err="1"/>
              <a:t>seoplayforjunto,teriaquelevarmuitacoisadoHeadend</a:t>
            </a:r>
            <a:r>
              <a:rPr lang="pt-BR" baseline="0" dirty="0"/>
              <a:t>–60a70%dosequipamentosteriamqueirparaanovaempresaouocompradorjáprecisariaterainfranecessáriaouaLegacyCoprestaserviçoparaanovaempresaparausodainfraestrutura.</a:t>
            </a:r>
          </a:p>
          <a:p>
            <a:endParaRPr lang="pt-BR" baseline="0" dirty="0"/>
          </a:p>
        </p:txBody>
      </p:sp>
    </p:spTree>
    <p:extLst>
      <p:ext uri="{BB962C8B-B14F-4D97-AF65-F5344CB8AC3E}">
        <p14:creationId xmlns:p14="http://schemas.microsoft.com/office/powerpoint/2010/main" val="735449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err="1"/>
              <a:t>OiPlay:</a:t>
            </a:r>
            <a:r>
              <a:rPr lang="pt-BR" baseline="0" err="1"/>
              <a:t>seoplayforjunto,teriaquelevarmuitacoisadoHeadend</a:t>
            </a:r>
            <a:r>
              <a:rPr lang="pt-BR" baseline="0"/>
              <a:t>–60a70%dosequipamentosteriamqueirparaanovaempresaouocompradorjáprecisariaterainfranecessáriaouaLegacyCoprestaserviçoparaanovaempresaparausodainfraestrutura.</a:t>
            </a:r>
          </a:p>
          <a:p>
            <a:endParaRPr lang="pt-BR" baseline="0"/>
          </a:p>
        </p:txBody>
      </p:sp>
    </p:spTree>
    <p:extLst>
      <p:ext uri="{BB962C8B-B14F-4D97-AF65-F5344CB8AC3E}">
        <p14:creationId xmlns:p14="http://schemas.microsoft.com/office/powerpoint/2010/main" val="443623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3193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slideMaster" Target="../slideMasters/slideMaster1.xm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tags" Target="../tags/tag10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vmlDrawing" Target="../drawings/vmlDrawing9.v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chart" Target="../charts/chart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slideMaster" Target="../slideMasters/slideMaster2.xm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tags" Target="../tags/tag2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chart" Target="../charts/chart2.xml"/><Relationship Id="rId2" Type="http://schemas.openxmlformats.org/officeDocument/2006/relationships/tags" Target="../tags/tag25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6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8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9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0.xml"/><Relationship Id="rId1" Type="http://schemas.openxmlformats.org/officeDocument/2006/relationships/vmlDrawing" Target="../drawings/vmlDrawing2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1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2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3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4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slideMaster" Target="../slideMasters/slideMaster3.xm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tags" Target="../tags/tag35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6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chart" Target="../charts/chart3.xml"/><Relationship Id="rId2" Type="http://schemas.openxmlformats.org/officeDocument/2006/relationships/tags" Target="../tags/tag38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9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1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3.xml"/><Relationship Id="rId1" Type="http://schemas.openxmlformats.org/officeDocument/2006/relationships/vmlDrawing" Target="../drawings/vmlDrawing4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4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5.xml"/><Relationship Id="rId1" Type="http://schemas.openxmlformats.org/officeDocument/2006/relationships/vmlDrawing" Target="../drawings/vmlDrawing4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6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/Relationships>
</file>

<file path=ppt/slideLayouts/_rels/slideLayout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slideMaster" Target="../slideMasters/slideMaster4.xm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tags" Target="../tags/tag48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oleObject" Target="../embeddings/oleObject21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49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50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7" Type="http://schemas.openxmlformats.org/officeDocument/2006/relationships/chart" Target="../charts/chart4.xml"/><Relationship Id="rId2" Type="http://schemas.openxmlformats.org/officeDocument/2006/relationships/tags" Target="../tags/tag51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4.bin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52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5187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317799701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841538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2784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588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4759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2223578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6915954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2375183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0258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4179681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r>
                <a:rPr/>
                <a:t/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40019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9890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7922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23657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81955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25431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8439699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174800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151281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11745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9504267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r>
                <a:rPr/>
                <a:t/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9470272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02;p75" descr="Google Shape;202;p7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1037876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8258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09357064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28511865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3404226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47489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130578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845320103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07829584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40867097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592265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3317768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r>
                <a:rPr/>
                <a:t/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0312498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1070" y="-213332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7572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52243113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4022675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839161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34423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7325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335499660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42892822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27024912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38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69689195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r>
                <a:rPr/>
                <a:t/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258490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ags" Target="../tags/tag15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vmlDrawing" Target="../drawings/vmlDrawing14.v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6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ags" Target="../tags/tag27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vmlDrawing" Target="../drawings/vmlDrawing26.v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38.xml"/><Relationship Id="rId16" Type="http://schemas.openxmlformats.org/officeDocument/2006/relationships/oleObject" Target="../embeddings/oleObject13.bin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ags" Target="../tags/tag40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vmlDrawing" Target="../drawings/vmlDrawing39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Slide do think-cell" r:id="rId16" imgW="421" imgH="423" progId="TCLayout.ActiveDocument.1">
                  <p:embed/>
                </p:oleObj>
              </mc:Choice>
              <mc:Fallback>
                <p:oleObj name="Slide do think-cell" r:id="rId16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69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918" r:id="rId3"/>
    <p:sldLayoutId id="2147483790" r:id="rId4"/>
    <p:sldLayoutId id="2147483755" r:id="rId5"/>
    <p:sldLayoutId id="2147483791" r:id="rId6"/>
    <p:sldLayoutId id="2147483799" r:id="rId7"/>
    <p:sldLayoutId id="2147483793" r:id="rId8"/>
    <p:sldLayoutId id="2147483794" r:id="rId9"/>
    <p:sldLayoutId id="2147483795" r:id="rId10"/>
    <p:sldLayoutId id="2147483796" r:id="rId11"/>
    <p:sldLayoutId id="2147483797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Slide do think-cell" r:id="rId16" imgW="421" imgH="423" progId="TCLayout.ActiveDocument.1">
                  <p:embed/>
                </p:oleObj>
              </mc:Choice>
              <mc:Fallback>
                <p:oleObj name="Slide do think-cell" r:id="rId16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425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3" name="Slide do think-cell" r:id="rId16" imgW="421" imgH="423" progId="TCLayout.ActiveDocument.1">
                  <p:embed/>
                </p:oleObj>
              </mc:Choice>
              <mc:Fallback>
                <p:oleObj name="Slide do think-cell" r:id="rId16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4339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1" r:id="rId1"/>
    <p:sldLayoutId id="2147484032" r:id="rId2"/>
    <p:sldLayoutId id="2147484033" r:id="rId3"/>
    <p:sldLayoutId id="2147484034" r:id="rId4"/>
    <p:sldLayoutId id="2147484035" r:id="rId5"/>
    <p:sldLayoutId id="2147484036" r:id="rId6"/>
    <p:sldLayoutId id="2147484037" r:id="rId7"/>
    <p:sldLayoutId id="2147484038" r:id="rId8"/>
    <p:sldLayoutId id="2147484039" r:id="rId9"/>
    <p:sldLayoutId id="2147484040" r:id="rId10"/>
    <p:sldLayoutId id="2147484041" r:id="rId11"/>
    <p:sldLayoutId id="2147484042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5" name="Slide do think-cell" r:id="rId16" imgW="421" imgH="423" progId="TCLayout.ActiveDocument.1">
                  <p:embed/>
                </p:oleObj>
              </mc:Choice>
              <mc:Fallback>
                <p:oleObj name="Slide do think-cell" r:id="rId16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516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54" r:id="rId1"/>
    <p:sldLayoutId id="2147484155" r:id="rId2"/>
    <p:sldLayoutId id="2147484156" r:id="rId3"/>
    <p:sldLayoutId id="2147484157" r:id="rId4"/>
    <p:sldLayoutId id="2147484158" r:id="rId5"/>
    <p:sldLayoutId id="2147484159" r:id="rId6"/>
    <p:sldLayoutId id="2147484160" r:id="rId7"/>
    <p:sldLayoutId id="2147484161" r:id="rId8"/>
    <p:sldLayoutId id="2147484162" r:id="rId9"/>
    <p:sldLayoutId id="2147484163" r:id="rId10"/>
    <p:sldLayoutId id="2147484164" r:id="rId11"/>
    <p:sldLayoutId id="2147484165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3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6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773207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8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190260" y="998024"/>
            <a:ext cx="5923700" cy="791776"/>
          </a:xfrm>
        </p:spPr>
        <p:txBody>
          <a:bodyPr/>
          <a:lstStyle/>
          <a:p>
            <a:r>
              <a:rPr lang="en-US" dirty="0" smtClean="0"/>
              <a:t>UPI TV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Implantação M&amp;A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>
          <a:xfrm>
            <a:off x="1031875" y="6219185"/>
            <a:ext cx="2584782" cy="352425"/>
          </a:xfrm>
        </p:spPr>
        <p:txBody>
          <a:bodyPr/>
          <a:lstStyle/>
          <a:p>
            <a:r>
              <a:rPr lang="pt-BR" dirty="0" smtClean="0"/>
              <a:t>06 </a:t>
            </a:r>
            <a:r>
              <a:rPr lang="pt-BR" dirty="0"/>
              <a:t>de </a:t>
            </a:r>
            <a:r>
              <a:rPr lang="pt-BR" dirty="0" smtClean="0"/>
              <a:t>Fevereiro </a:t>
            </a:r>
            <a:r>
              <a:rPr lang="pt-BR" dirty="0"/>
              <a:t>de 2024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2"/>
          </p:nvPr>
        </p:nvSpPr>
        <p:spPr>
          <a:xfrm>
            <a:off x="1190260" y="1699641"/>
            <a:ext cx="7994318" cy="2103874"/>
          </a:xfrm>
        </p:spPr>
        <p:txBody>
          <a:bodyPr/>
          <a:lstStyle/>
          <a:p>
            <a:r>
              <a:rPr lang="pt-BR" dirty="0" smtClean="0"/>
              <a:t>Planejamento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931228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</a:t>
            </a:fld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2865379" y="2094374"/>
            <a:ext cx="8051525" cy="1607371"/>
          </a:xfrm>
          <a:prstGeom prst="rect">
            <a:avLst/>
          </a:prstGeom>
          <a:noFill/>
          <a:ln w="127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2000" tIns="72000" rIns="0" bIns="0" numCol="1" spcCol="38100" rtlCol="0" anchor="t">
            <a:noAutofit/>
          </a:bodyPr>
          <a:lstStyle/>
          <a:p>
            <a:pPr marL="342900" indent="-342900">
              <a:spcAft>
                <a:spcPts val="1800"/>
              </a:spcAft>
              <a:buClr>
                <a:srgbClr val="009E0B"/>
              </a:buClr>
              <a:buFont typeface="+mj-lt"/>
              <a:buAutoNum type="arabicPeriod"/>
            </a:pPr>
            <a:r>
              <a:rPr lang="pt-BR" sz="2000" dirty="0">
                <a:solidFill>
                  <a:schemeClr val="accent6"/>
                </a:solidFill>
              </a:rPr>
              <a:t>Cronograma</a:t>
            </a:r>
          </a:p>
          <a:p>
            <a:pPr marL="342900" indent="-342900">
              <a:spcAft>
                <a:spcPts val="1800"/>
              </a:spcAft>
              <a:buClr>
                <a:srgbClr val="009E0B"/>
              </a:buClr>
              <a:buFont typeface="+mj-lt"/>
              <a:buAutoNum type="arabicPeriod"/>
            </a:pPr>
            <a:r>
              <a:rPr lang="pt-BR" sz="2000" dirty="0" smtClean="0">
                <a:solidFill>
                  <a:schemeClr val="accent6"/>
                </a:solidFill>
              </a:rPr>
              <a:t>Frentes </a:t>
            </a:r>
            <a:r>
              <a:rPr lang="pt-BR" sz="2000" dirty="0">
                <a:solidFill>
                  <a:schemeClr val="accent6"/>
                </a:solidFill>
              </a:rPr>
              <a:t>de Trabalho 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6AB41F5D-78CD-F400-9722-B811263E7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22" y="143887"/>
            <a:ext cx="10756482" cy="558294"/>
          </a:xfrm>
        </p:spPr>
        <p:txBody>
          <a:bodyPr/>
          <a:lstStyle/>
          <a:p>
            <a:r>
              <a:rPr lang="en-US">
                <a:solidFill>
                  <a:srgbClr val="009E0B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05575170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095013"/>
              </p:ext>
            </p:extLst>
          </p:nvPr>
        </p:nvGraphicFramePr>
        <p:xfrm>
          <a:off x="325686" y="594718"/>
          <a:ext cx="10691060" cy="596228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39060">
                  <a:extLst>
                    <a:ext uri="{9D8B030D-6E8A-4147-A177-3AD203B41FA5}">
                      <a16:colId xmlns:a16="http://schemas.microsoft.com/office/drawing/2014/main" val="333727718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37137793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380506870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73303926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98848868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70388809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6024237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380003432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62867640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37882498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626042299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41143869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64065509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4287234875"/>
                    </a:ext>
                  </a:extLst>
                </a:gridCol>
              </a:tblGrid>
              <a:tr h="245143">
                <a:tc>
                  <a:txBody>
                    <a:bodyPr/>
                    <a:lstStyle/>
                    <a:p>
                      <a:pPr algn="l" fontAlgn="ctr"/>
                      <a:endParaRPr lang="pt-BR" sz="13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pt-BR" sz="1300" b="0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Fev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BR" sz="1300" b="0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mar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BR" sz="1300" b="0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abr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300" b="0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mai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BR" sz="12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solidFill>
                        <a:srgbClr val="000000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186576"/>
                  </a:ext>
                </a:extLst>
              </a:tr>
              <a:tr h="24514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Macro</a:t>
                      </a:r>
                      <a:r>
                        <a:rPr lang="pt-BR" sz="13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pt-BR" sz="13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Atividades</a:t>
                      </a:r>
                      <a:endParaRPr lang="pt-BR" sz="13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10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17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24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03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10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17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24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07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14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21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05</a:t>
                      </a:r>
                      <a:endParaRPr lang="pt-BR" sz="13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7463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1. Processo competitivo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296545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2. Laudo e Aprovação do </a:t>
                      </a:r>
                      <a:r>
                        <a:rPr lang="pt-BR" sz="130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Drop</a:t>
                      </a:r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de Clientes (AGEO Oi)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39602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3. Abertura de 25 filiais 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3293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25 Filiais com IE Virtual ou Substituta (Falta 6)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06346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6920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b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 Filiais Físicas com IE (Falta 1 - RN)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06346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34265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4. Transferência de Outorga </a:t>
                      </a:r>
                      <a:r>
                        <a:rPr lang="pt-BR" sz="1300" u="none" strike="noStrike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SeAC</a:t>
                      </a:r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e Licenças das Estações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12907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5. Abertura de contas e </a:t>
                      </a:r>
                      <a:r>
                        <a:rPr lang="pt-BR" sz="130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convênios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296578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6. Conciliação Físico/Contábil de ativos (685M)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66242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7. Assinatura de Contratos (81 exclusivos)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614539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8. Transferência de Pessoas - FPW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75484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9. Sistemas (SINN)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272255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Contratação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06346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3064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Desenho de solução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06346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102791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Planejamento de Desenvolvimento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06346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398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Desenvolvimento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06346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322054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Testes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106346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6161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10. Desmobilização do Imóvel de Alvorada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18487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11. MOS/TSA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3894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12. Comunicação</a:t>
                      </a:r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3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862" marR="8862" marT="8862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559087"/>
                  </a:ext>
                </a:extLst>
              </a:tr>
            </a:tbl>
          </a:graphicData>
        </a:graphic>
      </p:graphicFrame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422" y="143887"/>
            <a:ext cx="10756482" cy="558294"/>
          </a:xfrm>
        </p:spPr>
        <p:txBody>
          <a:bodyPr/>
          <a:lstStyle/>
          <a:p>
            <a:r>
              <a:rPr lang="en-US" dirty="0">
                <a:solidFill>
                  <a:srgbClr val="009E0B"/>
                </a:solidFill>
              </a:rPr>
              <a:t>MACRO CRONOGRAMA </a:t>
            </a:r>
            <a:r>
              <a:rPr lang="en-US" dirty="0" smtClean="0">
                <a:solidFill>
                  <a:srgbClr val="009E0B"/>
                </a:solidFill>
              </a:rPr>
              <a:t>UPI TV</a:t>
            </a:r>
            <a:endParaRPr lang="en-US" dirty="0">
              <a:solidFill>
                <a:srgbClr val="009E0B"/>
              </a:solidFill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</a:t>
            </a:fld>
            <a:endParaRPr lang="pt-BR"/>
          </a:p>
        </p:txBody>
      </p:sp>
      <p:grpSp>
        <p:nvGrpSpPr>
          <p:cNvPr id="10" name="Agrupar 9"/>
          <p:cNvGrpSpPr/>
          <p:nvPr/>
        </p:nvGrpSpPr>
        <p:grpSpPr>
          <a:xfrm>
            <a:off x="4454080" y="1162587"/>
            <a:ext cx="7003026" cy="5355331"/>
            <a:chOff x="4454080" y="1162587"/>
            <a:chExt cx="7003026" cy="5355331"/>
          </a:xfrm>
        </p:grpSpPr>
        <p:sp>
          <p:nvSpPr>
            <p:cNvPr id="41" name="Triângulo isósceles 40">
              <a:extLst>
                <a:ext uri="{FF2B5EF4-FFF2-40B4-BE49-F238E27FC236}">
                  <a16:creationId xmlns:a16="http://schemas.microsoft.com/office/drawing/2014/main" id="{675BF5F2-DCFF-13DA-F5CB-5301772A04E0}"/>
                </a:ext>
              </a:extLst>
            </p:cNvPr>
            <p:cNvSpPr/>
            <p:nvPr/>
          </p:nvSpPr>
          <p:spPr>
            <a:xfrm>
              <a:off x="10379156" y="2596619"/>
              <a:ext cx="120000" cy="120000"/>
            </a:xfrm>
            <a:prstGeom prst="triangle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1162587"/>
              <a:ext cx="504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61" name="CaixaDeTexto 60">
              <a:extLst>
                <a:ext uri="{FF2B5EF4-FFF2-40B4-BE49-F238E27FC236}">
                  <a16:creationId xmlns:a16="http://schemas.microsoft.com/office/drawing/2014/main" id="{D4D158E9-A0BF-40D5-AB34-7A11B0410BC6}"/>
                </a:ext>
              </a:extLst>
            </p:cNvPr>
            <p:cNvSpPr txBox="1"/>
            <p:nvPr/>
          </p:nvSpPr>
          <p:spPr>
            <a:xfrm>
              <a:off x="10536322" y="2575873"/>
              <a:ext cx="38311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defTabSz="1219170" hangingPunct="1">
                <a:buClr>
                  <a:srgbClr val="000000"/>
                </a:buClr>
              </a:pPr>
              <a:r>
                <a:rPr lang="pt-BR" sz="1200" b="1" dirty="0" smtClean="0">
                  <a:solidFill>
                    <a:srgbClr val="000000"/>
                  </a:solidFill>
                  <a:latin typeface="Aptos Narrow" panose="020B0004020202020204" pitchFamily="34" charset="0"/>
                  <a:cs typeface="Arial"/>
                  <a:sym typeface="Arial"/>
                </a:rPr>
                <a:t>02/05</a:t>
              </a:r>
              <a:endParaRPr lang="pt-BR" sz="1200" b="1" dirty="0">
                <a:solidFill>
                  <a:srgbClr val="000000"/>
                </a:solidFill>
                <a:latin typeface="Aptos Narrow" panose="020B0004020202020204" pitchFamily="34" charset="0"/>
                <a:cs typeface="Arial"/>
                <a:sym typeface="Arial"/>
              </a:endParaRPr>
            </a:p>
          </p:txBody>
        </p:sp>
        <p:sp>
          <p:nvSpPr>
            <p:cNvPr id="62" name="CaixaDeTexto 61">
              <a:extLst>
                <a:ext uri="{FF2B5EF4-FFF2-40B4-BE49-F238E27FC236}">
                  <a16:creationId xmlns:a16="http://schemas.microsoft.com/office/drawing/2014/main" id="{77AAF290-D0D5-356C-26F7-AD0B2FDBA242}"/>
                </a:ext>
              </a:extLst>
            </p:cNvPr>
            <p:cNvSpPr txBox="1"/>
            <p:nvPr/>
          </p:nvSpPr>
          <p:spPr>
            <a:xfrm>
              <a:off x="7906436" y="6333252"/>
              <a:ext cx="38311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defTabSz="1219170" hangingPunct="1">
                <a:buClr>
                  <a:srgbClr val="000000"/>
                </a:buClr>
              </a:pPr>
              <a:r>
                <a:rPr lang="pt-BR" sz="1200" dirty="0" smtClean="0">
                  <a:solidFill>
                    <a:srgbClr val="000000"/>
                  </a:solidFill>
                  <a:latin typeface="Aptos Narrow" panose="020B0004020202020204" pitchFamily="34" charset="0"/>
                  <a:cs typeface="Arial"/>
                  <a:sym typeface="Arial"/>
                </a:rPr>
                <a:t>01/04</a:t>
              </a:r>
              <a:endParaRPr lang="pt-BR" sz="1200" dirty="0">
                <a:solidFill>
                  <a:srgbClr val="000000"/>
                </a:solidFill>
                <a:latin typeface="Aptos Narrow" panose="020B0004020202020204" pitchFamily="34" charset="0"/>
                <a:cs typeface="Arial"/>
                <a:sym typeface="Arial"/>
              </a:endParaRPr>
            </a:p>
          </p:txBody>
        </p:sp>
        <p:sp>
          <p:nvSpPr>
            <p:cNvPr id="73" name="Balão de Fala: Retângulo 72">
              <a:extLst>
                <a:ext uri="{FF2B5EF4-FFF2-40B4-BE49-F238E27FC236}">
                  <a16:creationId xmlns:a16="http://schemas.microsoft.com/office/drawing/2014/main" id="{BAFBBA2C-52F2-C70D-1B9C-4BF49EA37D07}"/>
                </a:ext>
              </a:extLst>
            </p:cNvPr>
            <p:cNvSpPr/>
            <p:nvPr/>
          </p:nvSpPr>
          <p:spPr>
            <a:xfrm>
              <a:off x="9766511" y="4365062"/>
              <a:ext cx="1690595" cy="884070"/>
            </a:xfrm>
            <a:prstGeom prst="wedgeRectCallout">
              <a:avLst>
                <a:gd name="adj1" fmla="val -92612"/>
                <a:gd name="adj2" fmla="val -61850"/>
              </a:avLst>
            </a:prstGeom>
            <a:solidFill>
              <a:schemeClr val="bg1"/>
            </a:solidFill>
            <a:ln w="9525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2000" tIns="72000" rIns="72000" bIns="72000" numCol="1" spcCol="38100" rtlCol="0" anchor="ctr" anchorCtr="0">
              <a:spAutoFit/>
            </a:bodyPr>
            <a:lstStyle/>
            <a:p>
              <a:pPr algn="ctr"/>
              <a:r>
                <a:rPr lang="pt-BR" sz="1200">
                  <a:solidFill>
                    <a:srgbClr val="000000"/>
                  </a:solidFill>
                  <a:latin typeface="Simplon BP Regular" pitchFamily="2" charset="0"/>
                  <a:ea typeface="+mn-ea"/>
                  <a:cs typeface="+mn-cs"/>
                </a:rPr>
                <a:t>Desenvolvimento/ ajuste dos sistemas para do </a:t>
              </a:r>
              <a:r>
                <a:rPr lang="pt-BR" sz="1200" err="1">
                  <a:solidFill>
                    <a:srgbClr val="000000"/>
                  </a:solidFill>
                  <a:latin typeface="Simplon BP Regular" pitchFamily="2" charset="0"/>
                  <a:ea typeface="+mn-ea"/>
                  <a:cs typeface="+mn-cs"/>
                </a:rPr>
                <a:t>drop</a:t>
              </a:r>
              <a:r>
                <a:rPr lang="pt-BR" sz="1200">
                  <a:solidFill>
                    <a:srgbClr val="000000"/>
                  </a:solidFill>
                  <a:latin typeface="Simplon BP Regular" pitchFamily="2" charset="0"/>
                  <a:ea typeface="+mn-ea"/>
                  <a:cs typeface="+mn-cs"/>
                </a:rPr>
                <a:t> é o caminho crítico</a:t>
              </a:r>
              <a:endParaRPr lang="pt-BR" sz="1200" spc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5966415" y="1437819"/>
              <a:ext cx="4536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5" name="Retângulo 74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1738072"/>
              <a:ext cx="2520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6" name="Retângulo 75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2013304"/>
              <a:ext cx="2520000" cy="1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7" name="Retângulo 76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2322316"/>
              <a:ext cx="1008000" cy="1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2627453"/>
              <a:ext cx="1512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2889037"/>
              <a:ext cx="2016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0" name="Retângulo 79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3188408"/>
              <a:ext cx="2520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3479144"/>
              <a:ext cx="4032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6960432" y="3754376"/>
              <a:ext cx="3024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63523" y="4054789"/>
              <a:ext cx="5544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4327643"/>
              <a:ext cx="2520000" cy="1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6" name="Retângulo 85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454080" y="4638744"/>
              <a:ext cx="2016000" cy="1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7" name="Retângulo 86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6470080" y="4931880"/>
              <a:ext cx="504000" cy="1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8" name="Retângulo 87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6973779" y="5213080"/>
              <a:ext cx="2016000" cy="1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89" name="Retângulo 88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8976432" y="5494261"/>
              <a:ext cx="1008000" cy="12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0" name="Retângulo 89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6470080" y="5794168"/>
              <a:ext cx="4032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1" name="Retângulo 90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4957779" y="6082818"/>
              <a:ext cx="5544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2" name="Retângulo 91">
              <a:extLst>
                <a:ext uri="{FF2B5EF4-FFF2-40B4-BE49-F238E27FC236}">
                  <a16:creationId xmlns:a16="http://schemas.microsoft.com/office/drawing/2014/main" id="{9AE1112C-924D-BE00-AD0A-351594DC9521}"/>
                </a:ext>
              </a:extLst>
            </p:cNvPr>
            <p:cNvSpPr/>
            <p:nvPr/>
          </p:nvSpPr>
          <p:spPr>
            <a:xfrm>
              <a:off x="8372416" y="6375041"/>
              <a:ext cx="2124000" cy="120000"/>
            </a:xfrm>
            <a:prstGeom prst="rect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3" name="CaixaDeTexto 92">
              <a:extLst>
                <a:ext uri="{FF2B5EF4-FFF2-40B4-BE49-F238E27FC236}">
                  <a16:creationId xmlns:a16="http://schemas.microsoft.com/office/drawing/2014/main" id="{D4D158E9-A0BF-40D5-AB34-7A11B0410BC6}"/>
                </a:ext>
              </a:extLst>
            </p:cNvPr>
            <p:cNvSpPr txBox="1"/>
            <p:nvPr/>
          </p:nvSpPr>
          <p:spPr>
            <a:xfrm>
              <a:off x="10531556" y="1428107"/>
              <a:ext cx="38311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defTabSz="1219170" hangingPunct="1">
                <a:buClr>
                  <a:srgbClr val="000000"/>
                </a:buClr>
              </a:pPr>
              <a:r>
                <a:rPr lang="pt-BR" sz="1200" b="1" dirty="0" smtClean="0">
                  <a:solidFill>
                    <a:srgbClr val="000000"/>
                  </a:solidFill>
                  <a:latin typeface="Aptos Narrow" panose="020B0004020202020204" pitchFamily="34" charset="0"/>
                  <a:cs typeface="Arial"/>
                  <a:sym typeface="Arial"/>
                </a:rPr>
                <a:t>02/05</a:t>
              </a:r>
              <a:endParaRPr lang="pt-BR" sz="1200" b="1" dirty="0">
                <a:solidFill>
                  <a:srgbClr val="000000"/>
                </a:solidFill>
                <a:latin typeface="Aptos Narrow" panose="020B0004020202020204" pitchFamily="34" charset="0"/>
                <a:cs typeface="Arial"/>
                <a:sym typeface="Arial"/>
              </a:endParaRPr>
            </a:p>
          </p:txBody>
        </p:sp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id="{D4D158E9-A0BF-40D5-AB34-7A11B0410BC6}"/>
                </a:ext>
              </a:extLst>
            </p:cNvPr>
            <p:cNvSpPr txBox="1"/>
            <p:nvPr/>
          </p:nvSpPr>
          <p:spPr>
            <a:xfrm>
              <a:off x="10541080" y="4023681"/>
              <a:ext cx="38311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defTabSz="1219170" hangingPunct="1">
                <a:buClr>
                  <a:srgbClr val="000000"/>
                </a:buClr>
              </a:pPr>
              <a:r>
                <a:rPr lang="pt-BR" sz="1200" b="1" dirty="0" smtClean="0">
                  <a:solidFill>
                    <a:srgbClr val="000000"/>
                  </a:solidFill>
                  <a:latin typeface="Aptos Narrow" panose="020B0004020202020204" pitchFamily="34" charset="0"/>
                  <a:cs typeface="Arial"/>
                  <a:sym typeface="Arial"/>
                </a:rPr>
                <a:t>02/05</a:t>
              </a:r>
              <a:endParaRPr lang="pt-BR" sz="1200" b="1" dirty="0">
                <a:solidFill>
                  <a:srgbClr val="000000"/>
                </a:solidFill>
                <a:latin typeface="Aptos Narrow" panose="020B0004020202020204" pitchFamily="34" charset="0"/>
                <a:cs typeface="Arial"/>
                <a:sym typeface="Arial"/>
              </a:endParaRPr>
            </a:p>
          </p:txBody>
        </p:sp>
        <p:sp>
          <p:nvSpPr>
            <p:cNvPr id="95" name="Triângulo isósceles 94">
              <a:extLst>
                <a:ext uri="{FF2B5EF4-FFF2-40B4-BE49-F238E27FC236}">
                  <a16:creationId xmlns:a16="http://schemas.microsoft.com/office/drawing/2014/main" id="{675BF5F2-DCFF-13DA-F5CB-5301772A04E0}"/>
                </a:ext>
              </a:extLst>
            </p:cNvPr>
            <p:cNvSpPr/>
            <p:nvPr/>
          </p:nvSpPr>
          <p:spPr>
            <a:xfrm>
              <a:off x="10360103" y="4049191"/>
              <a:ext cx="120000" cy="120000"/>
            </a:xfrm>
            <a:prstGeom prst="triangle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6" name="Triângulo isósceles 95">
              <a:extLst>
                <a:ext uri="{FF2B5EF4-FFF2-40B4-BE49-F238E27FC236}">
                  <a16:creationId xmlns:a16="http://schemas.microsoft.com/office/drawing/2014/main" id="{675BF5F2-DCFF-13DA-F5CB-5301772A04E0}"/>
                </a:ext>
              </a:extLst>
            </p:cNvPr>
            <p:cNvSpPr/>
            <p:nvPr/>
          </p:nvSpPr>
          <p:spPr>
            <a:xfrm>
              <a:off x="10355337" y="5487478"/>
              <a:ext cx="120000" cy="120000"/>
            </a:xfrm>
            <a:prstGeom prst="triangle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98" name="CaixaDeTexto 97">
              <a:extLst>
                <a:ext uri="{FF2B5EF4-FFF2-40B4-BE49-F238E27FC236}">
                  <a16:creationId xmlns:a16="http://schemas.microsoft.com/office/drawing/2014/main" id="{D4D158E9-A0BF-40D5-AB34-7A11B0410BC6}"/>
                </a:ext>
              </a:extLst>
            </p:cNvPr>
            <p:cNvSpPr txBox="1"/>
            <p:nvPr/>
          </p:nvSpPr>
          <p:spPr>
            <a:xfrm>
              <a:off x="10536316" y="5476255"/>
              <a:ext cx="383118" cy="184666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defTabSz="1219170" hangingPunct="1">
                <a:buClr>
                  <a:srgbClr val="000000"/>
                </a:buClr>
              </a:pPr>
              <a:r>
                <a:rPr lang="pt-BR" sz="1200" b="1" dirty="0" smtClean="0">
                  <a:solidFill>
                    <a:srgbClr val="000000"/>
                  </a:solidFill>
                  <a:latin typeface="Aptos Narrow" panose="020B0004020202020204" pitchFamily="34" charset="0"/>
                  <a:cs typeface="Arial"/>
                  <a:sym typeface="Arial"/>
                </a:rPr>
                <a:t>02/05</a:t>
              </a:r>
              <a:endParaRPr lang="pt-BR" sz="1200" b="1" dirty="0">
                <a:solidFill>
                  <a:srgbClr val="000000"/>
                </a:solidFill>
                <a:latin typeface="Aptos Narrow" panose="020B0004020202020204" pitchFamily="34" charset="0"/>
                <a:cs typeface="Arial"/>
                <a:sym typeface="Arial"/>
              </a:endParaRPr>
            </a:p>
          </p:txBody>
        </p:sp>
        <p:sp>
          <p:nvSpPr>
            <p:cNvPr id="99" name="Triângulo isósceles 98">
              <a:extLst>
                <a:ext uri="{FF2B5EF4-FFF2-40B4-BE49-F238E27FC236}">
                  <a16:creationId xmlns:a16="http://schemas.microsoft.com/office/drawing/2014/main" id="{675BF5F2-DCFF-13DA-F5CB-5301772A04E0}"/>
                </a:ext>
              </a:extLst>
            </p:cNvPr>
            <p:cNvSpPr/>
            <p:nvPr/>
          </p:nvSpPr>
          <p:spPr>
            <a:xfrm>
              <a:off x="8302696" y="6363785"/>
              <a:ext cx="120000" cy="120000"/>
            </a:xfrm>
            <a:prstGeom prst="triangle">
              <a:avLst/>
            </a:prstGeom>
            <a:solidFill>
              <a:srgbClr val="009E0B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10BB7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1" name="Balão de Fala: Retângulo 72">
              <a:extLst>
                <a:ext uri="{FF2B5EF4-FFF2-40B4-BE49-F238E27FC236}">
                  <a16:creationId xmlns:a16="http://schemas.microsoft.com/office/drawing/2014/main" id="{BAFBBA2C-52F2-C70D-1B9C-4BF49EA37D07}"/>
                </a:ext>
              </a:extLst>
            </p:cNvPr>
            <p:cNvSpPr/>
            <p:nvPr/>
          </p:nvSpPr>
          <p:spPr>
            <a:xfrm>
              <a:off x="7732817" y="1845486"/>
              <a:ext cx="1506526" cy="514738"/>
            </a:xfrm>
            <a:prstGeom prst="wedgeRectCallout">
              <a:avLst>
                <a:gd name="adj1" fmla="val -93560"/>
                <a:gd name="adj2" fmla="val -53523"/>
              </a:avLst>
            </a:prstGeom>
            <a:solidFill>
              <a:schemeClr val="bg1"/>
            </a:solidFill>
            <a:ln w="9525" cap="flat">
              <a:solidFill>
                <a:schemeClr val="tx1">
                  <a:lumMod val="75000"/>
                </a:schemeClr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2000" tIns="72000" rIns="72000" bIns="72000" numCol="1" spcCol="38100" rtlCol="0" anchor="ctr" anchorCtr="0">
              <a:spAutoFit/>
            </a:bodyPr>
            <a:lstStyle/>
            <a:p>
              <a:pPr algn="ctr"/>
              <a:r>
                <a:rPr lang="pt-BR" sz="1200" dirty="0" smtClean="0">
                  <a:solidFill>
                    <a:srgbClr val="000000"/>
                  </a:solidFill>
                  <a:latin typeface="Simplon BP Regular" pitchFamily="2" charset="0"/>
                  <a:ea typeface="+mn-ea"/>
                  <a:cs typeface="+mn-cs"/>
                </a:rPr>
                <a:t>Obtenção das filiais depende SEFAZ</a:t>
              </a:r>
              <a:endParaRPr lang="pt-BR" sz="1200" spc="0" dirty="0">
                <a:solidFill>
                  <a:srgbClr val="000000"/>
                </a:solidFill>
                <a:effectLst/>
                <a:ea typeface="Palatino Linotype" panose="02040502050505030304" pitchFamily="18" charset="0"/>
                <a:cs typeface="Palatino Linotype" panose="0204050205050503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171640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aixaDeTexto 91"/>
          <p:cNvSpPr txBox="1"/>
          <p:nvPr/>
        </p:nvSpPr>
        <p:spPr>
          <a:xfrm>
            <a:off x="2272068" y="925893"/>
            <a:ext cx="4149888" cy="56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3" name="CaixaDeTexto 62"/>
          <p:cNvSpPr txBox="1"/>
          <p:nvPr/>
        </p:nvSpPr>
        <p:spPr>
          <a:xfrm>
            <a:off x="9310443" y="923120"/>
            <a:ext cx="1851278" cy="56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ítulo 25"/>
          <p:cNvSpPr>
            <a:spLocks noGrp="1"/>
          </p:cNvSpPr>
          <p:nvPr>
            <p:ph type="title"/>
          </p:nvPr>
        </p:nvSpPr>
        <p:spPr>
          <a:xfrm>
            <a:off x="245945" y="134154"/>
            <a:ext cx="10756482" cy="558294"/>
          </a:xfrm>
        </p:spPr>
        <p:txBody>
          <a:bodyPr/>
          <a:lstStyle/>
          <a:p>
            <a:r>
              <a:rPr lang="pt-BR" dirty="0">
                <a:solidFill>
                  <a:srgbClr val="009E0B"/>
                </a:solidFill>
              </a:rPr>
              <a:t>IMPLANTAÇÃO M&amp;A: UPI </a:t>
            </a:r>
            <a:r>
              <a:rPr lang="pt-BR" dirty="0" smtClean="0">
                <a:solidFill>
                  <a:srgbClr val="009E0B"/>
                </a:solidFill>
              </a:rPr>
              <a:t>TV</a:t>
            </a:r>
            <a:endParaRPr lang="pt-BR" dirty="0">
              <a:solidFill>
                <a:srgbClr val="009E0B"/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2"/>
          </p:nvPr>
        </p:nvSpPr>
        <p:spPr>
          <a:xfrm>
            <a:off x="11819155" y="659676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4</a:t>
            </a:fld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6498155" y="923121"/>
            <a:ext cx="2733947" cy="5616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314185" y="1799948"/>
            <a:ext cx="11520000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REGULATÓRIO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314185" y="2764658"/>
            <a:ext cx="11520000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ATIVOS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314182" y="4694078"/>
            <a:ext cx="11520000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SISTEMAS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314182" y="3247013"/>
            <a:ext cx="11520000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/>
              <a:t>CONTRATOS</a:t>
            </a:r>
            <a:endParaRPr lang="pt-BR" sz="105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314183" y="4211723"/>
            <a:ext cx="11520000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ENGENHARIA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314180" y="2282303"/>
            <a:ext cx="11520000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FINANCEIRO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316456" y="3727768"/>
            <a:ext cx="11520000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 smtClean="0"/>
              <a:t>CLIENTES </a:t>
            </a:r>
            <a:endParaRPr lang="pt-BR" sz="1050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314182" y="1317593"/>
            <a:ext cx="11520000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SOCIETÁRIO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556859" y="933836"/>
            <a:ext cx="135373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b="1" dirty="0">
                <a:solidFill>
                  <a:srgbClr val="009E0B"/>
                </a:solidFill>
              </a:rPr>
              <a:t>Líder N2/ N3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6608973" y="2383669"/>
            <a:ext cx="125477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André Paradizi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6608973" y="1338256"/>
            <a:ext cx="145065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Daniella Ventura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Elen Souto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6608973" y="1901314"/>
            <a:ext cx="129572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Mariana </a:t>
            </a:r>
            <a:r>
              <a:rPr lang="pt-BR" sz="1200" dirty="0" err="1">
                <a:solidFill>
                  <a:schemeClr val="bg2">
                    <a:lumMod val="50000"/>
                  </a:schemeClr>
                </a:solidFill>
              </a:rPr>
              <a:t>Doher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6608972" y="3837170"/>
            <a:ext cx="2313659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Elly Resende 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6608973" y="3362423"/>
            <a:ext cx="1336664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Elly Resende</a:t>
            </a:r>
            <a:endParaRPr lang="pt-BR" sz="1200" dirty="0">
              <a:solidFill>
                <a:schemeClr val="tx2">
                  <a:lumMod val="75000"/>
                </a:schemeClr>
              </a:solidFill>
              <a:ea typeface="Calibri" panose="020F0502020204030204" pitchFamily="34" charset="0"/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6608972" y="4817915"/>
            <a:ext cx="2939461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Vivian de Assis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341237" y="951709"/>
            <a:ext cx="193047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b="1" dirty="0">
                <a:solidFill>
                  <a:srgbClr val="009E0B"/>
                </a:solidFill>
              </a:rPr>
              <a:t>Frentes de Trabalho </a:t>
            </a:r>
            <a:r>
              <a:rPr lang="pt-BR" b="1" dirty="0">
                <a:solidFill>
                  <a:schemeClr val="tx2"/>
                </a:solidFill>
              </a:rPr>
              <a:t>(*)</a:t>
            </a:r>
          </a:p>
        </p:txBody>
      </p:sp>
      <p:sp>
        <p:nvSpPr>
          <p:cNvPr id="64" name="CaixaDeTexto 63"/>
          <p:cNvSpPr txBox="1"/>
          <p:nvPr/>
        </p:nvSpPr>
        <p:spPr>
          <a:xfrm>
            <a:off x="9411257" y="2380487"/>
            <a:ext cx="136265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Francisco Anderson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9411257" y="2895685"/>
            <a:ext cx="136265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Viviane de Medeiros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9411257" y="1406037"/>
            <a:ext cx="1302094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Charlene Santino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67" name="CaixaDeTexto 66"/>
          <p:cNvSpPr txBox="1"/>
          <p:nvPr/>
        </p:nvSpPr>
        <p:spPr>
          <a:xfrm>
            <a:off x="9411257" y="1909735"/>
            <a:ext cx="1263338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Charlene Santino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69" name="CaixaDeTexto 68"/>
          <p:cNvSpPr txBox="1"/>
          <p:nvPr/>
        </p:nvSpPr>
        <p:spPr>
          <a:xfrm>
            <a:off x="9411257" y="3857458"/>
            <a:ext cx="165857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Francisco Anderson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70" name="CaixaDeTexto 69"/>
          <p:cNvSpPr txBox="1"/>
          <p:nvPr/>
        </p:nvSpPr>
        <p:spPr>
          <a:xfrm>
            <a:off x="9411257" y="3366314"/>
            <a:ext cx="137368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Thiago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Barbosa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1" name="CaixaDeTexto 70"/>
          <p:cNvSpPr txBox="1"/>
          <p:nvPr/>
        </p:nvSpPr>
        <p:spPr>
          <a:xfrm>
            <a:off x="9411257" y="4795447"/>
            <a:ext cx="1539941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Charlene Santino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72" name="CaixaDeTexto 71"/>
          <p:cNvSpPr txBox="1"/>
          <p:nvPr/>
        </p:nvSpPr>
        <p:spPr>
          <a:xfrm>
            <a:off x="9368313" y="919867"/>
            <a:ext cx="2247102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 smtClean="0">
                <a:solidFill>
                  <a:schemeClr val="tx1">
                    <a:lumMod val="75000"/>
                  </a:schemeClr>
                </a:solidFill>
              </a:rPr>
              <a:t>PMO M&amp;A</a:t>
            </a:r>
            <a:endParaRPr lang="en-US" b="1" dirty="0">
              <a:solidFill>
                <a:schemeClr val="tx1">
                  <a:lumMod val="75000"/>
                </a:schemeClr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effectLst/>
                <a:uFillTx/>
                <a:sym typeface="Simplon BP Regular"/>
              </a:rPr>
              <a:t>Alessandro Barbosa</a:t>
            </a:r>
            <a:endParaRPr kumimoji="0" lang="en-US" sz="1400" b="1" i="0" u="none" strike="noStrike" cap="none" spc="0" normalizeH="0" baseline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318941" y="5176433"/>
            <a:ext cx="11520000" cy="423386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PESSOAS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5" name="CaixaDeTexto 84"/>
          <p:cNvSpPr txBox="1"/>
          <p:nvPr/>
        </p:nvSpPr>
        <p:spPr>
          <a:xfrm>
            <a:off x="6608973" y="5299712"/>
            <a:ext cx="127173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Ricardo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Goulart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86" name="CaixaDeTexto 85"/>
          <p:cNvSpPr txBox="1"/>
          <p:nvPr/>
        </p:nvSpPr>
        <p:spPr>
          <a:xfrm>
            <a:off x="308979" y="6149335"/>
            <a:ext cx="11520000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>
                <a:solidFill>
                  <a:srgbClr val="009E0B"/>
                </a:solidFill>
                <a:latin typeface="+mn-lt"/>
                <a:ea typeface="+mn-ea"/>
                <a:cs typeface="+mn-cs"/>
              </a:rPr>
              <a:t>MOS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7" name="CaixaDeTexto 86"/>
          <p:cNvSpPr txBox="1"/>
          <p:nvPr/>
        </p:nvSpPr>
        <p:spPr>
          <a:xfrm>
            <a:off x="6608973" y="2788078"/>
            <a:ext cx="183910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André Paradizi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Thiago</a:t>
            </a:r>
            <a:r>
              <a:rPr kumimoji="0" lang="pt-BR" sz="1200" b="0" i="0" u="none" strike="noStrike" cap="none" spc="0" normalizeH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Vasconcelos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9" name="CaixaDeTexto 88"/>
          <p:cNvSpPr txBox="1"/>
          <p:nvPr/>
        </p:nvSpPr>
        <p:spPr>
          <a:xfrm>
            <a:off x="6601118" y="4328417"/>
            <a:ext cx="165811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Rafael Amorim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6608973" y="6253293"/>
            <a:ext cx="127173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Elly Resende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3" name="CaixaDeTexto 92"/>
          <p:cNvSpPr txBox="1"/>
          <p:nvPr/>
        </p:nvSpPr>
        <p:spPr>
          <a:xfrm>
            <a:off x="2375015" y="950463"/>
            <a:ext cx="135373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b="1" dirty="0" smtClean="0">
                <a:solidFill>
                  <a:srgbClr val="009E0B"/>
                </a:solidFill>
              </a:rPr>
              <a:t>Escopo</a:t>
            </a:r>
            <a:endParaRPr lang="pt-BR" b="1" dirty="0">
              <a:solidFill>
                <a:srgbClr val="009E0B"/>
              </a:solidFill>
            </a:endParaRPr>
          </a:p>
        </p:txBody>
      </p:sp>
      <p:sp>
        <p:nvSpPr>
          <p:cNvPr id="94" name="CaixaDeTexto 93"/>
          <p:cNvSpPr txBox="1"/>
          <p:nvPr/>
        </p:nvSpPr>
        <p:spPr>
          <a:xfrm>
            <a:off x="2373655" y="2389237"/>
            <a:ext cx="3986708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err="1">
                <a:solidFill>
                  <a:schemeClr val="bg2">
                    <a:lumMod val="50000"/>
                  </a:schemeClr>
                </a:solidFill>
              </a:rPr>
              <a:t>Carve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-out / </a:t>
            </a:r>
            <a:r>
              <a:rPr lang="pt-BR" sz="1200" dirty="0" err="1">
                <a:solidFill>
                  <a:schemeClr val="bg2">
                    <a:lumMod val="50000"/>
                  </a:schemeClr>
                </a:solidFill>
              </a:rPr>
              <a:t>CPs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 / </a:t>
            </a:r>
            <a:r>
              <a:rPr kumimoji="0" lang="pt-BR" sz="1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Processos financeiros,</a:t>
            </a:r>
            <a:r>
              <a:rPr kumimoji="0" lang="pt-BR" sz="1200" b="0" i="0" u="none" strike="noStrike" cap="none" spc="0" normalizeH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contábeis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5" name="CaixaDeTexto 94"/>
          <p:cNvSpPr txBox="1"/>
          <p:nvPr/>
        </p:nvSpPr>
        <p:spPr>
          <a:xfrm>
            <a:off x="2382884" y="1341235"/>
            <a:ext cx="4554529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Operação Societária/ Negociação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Regularização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dos CNPJs p/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filiais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de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clientes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CDs, </a:t>
            </a:r>
            <a:r>
              <a:rPr lang="pt-BR" sz="1200" dirty="0" err="1">
                <a:solidFill>
                  <a:schemeClr val="bg2">
                    <a:lumMod val="50000"/>
                  </a:schemeClr>
                </a:solidFill>
              </a:rPr>
              <a:t>CAs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 e RH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96" name="CaixaDeTexto 95"/>
          <p:cNvSpPr txBox="1"/>
          <p:nvPr/>
        </p:nvSpPr>
        <p:spPr>
          <a:xfrm>
            <a:off x="2352502" y="1920838"/>
            <a:ext cx="3133898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Anatel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/ CADE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97" name="CaixaDeTexto 96"/>
          <p:cNvSpPr txBox="1"/>
          <p:nvPr/>
        </p:nvSpPr>
        <p:spPr>
          <a:xfrm>
            <a:off x="2382884" y="3751019"/>
            <a:ext cx="397747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Contratos de clientes/ Regulamentos/ Comunicação/ Ofertas/ Produtos/ Canais/ Atendimento</a:t>
            </a:r>
          </a:p>
        </p:txBody>
      </p:sp>
      <p:sp>
        <p:nvSpPr>
          <p:cNvPr id="99" name="CaixaDeTexto 98"/>
          <p:cNvSpPr txBox="1"/>
          <p:nvPr/>
        </p:nvSpPr>
        <p:spPr>
          <a:xfrm>
            <a:off x="2412356" y="3268934"/>
            <a:ext cx="285737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Contratos Exclusivos/ Mistos / Novos</a:t>
            </a:r>
            <a:endParaRPr lang="pt-BR" sz="1200" dirty="0">
              <a:solidFill>
                <a:schemeClr val="tx2">
                  <a:lumMod val="75000"/>
                </a:schemeClr>
              </a:solidFill>
              <a:ea typeface="Calibri" panose="020F0502020204030204" pitchFamily="34" charset="0"/>
            </a:endParaRPr>
          </a:p>
          <a:p>
            <a:r>
              <a:rPr lang="pt-BR" sz="1200" dirty="0" smtClean="0">
                <a:solidFill>
                  <a:schemeClr val="tx2">
                    <a:lumMod val="75000"/>
                  </a:schemeClr>
                </a:solidFill>
                <a:ea typeface="Calibri" panose="020F0502020204030204" pitchFamily="34" charset="0"/>
              </a:rPr>
              <a:t>Comunicação fornecedores</a:t>
            </a:r>
            <a:endParaRPr lang="pt-BR" sz="1200" dirty="0">
              <a:solidFill>
                <a:schemeClr val="tx2">
                  <a:lumMod val="75000"/>
                </a:schemeClr>
              </a:solidFill>
              <a:ea typeface="Calibri" panose="020F0502020204030204" pitchFamily="34" charset="0"/>
            </a:endParaRPr>
          </a:p>
        </p:txBody>
      </p:sp>
      <p:sp>
        <p:nvSpPr>
          <p:cNvPr id="100" name="CaixaDeTexto 99"/>
          <p:cNvSpPr txBox="1"/>
          <p:nvPr/>
        </p:nvSpPr>
        <p:spPr>
          <a:xfrm>
            <a:off x="2382884" y="4795447"/>
            <a:ext cx="4115271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Constituição da UPI/ Segregação Sistemas/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ea typeface="Calibri" panose="020F0502020204030204" pitchFamily="34" charset="0"/>
              </a:rPr>
              <a:t>Migração</a:t>
            </a:r>
            <a:endParaRPr lang="pt-BR" sz="1200" dirty="0">
              <a:solidFill>
                <a:schemeClr val="tx2">
                  <a:lumMod val="75000"/>
                </a:schemeClr>
              </a:solidFill>
              <a:ea typeface="Calibri" panose="020F0502020204030204" pitchFamily="34" charset="0"/>
            </a:endParaRPr>
          </a:p>
        </p:txBody>
      </p:sp>
      <p:sp>
        <p:nvSpPr>
          <p:cNvPr id="102" name="CaixaDeTexto 101"/>
          <p:cNvSpPr txBox="1"/>
          <p:nvPr/>
        </p:nvSpPr>
        <p:spPr>
          <a:xfrm>
            <a:off x="2382884" y="5302484"/>
            <a:ext cx="2776027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Tra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nsferência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de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Pessoas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103" name="CaixaDeTexto 102"/>
          <p:cNvSpPr txBox="1"/>
          <p:nvPr/>
        </p:nvSpPr>
        <p:spPr>
          <a:xfrm>
            <a:off x="2382884" y="2788968"/>
            <a:ext cx="327800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Conciliação Físico/ Contábil/ </a:t>
            </a:r>
            <a:r>
              <a:rPr lang="pt-BR" sz="1200" dirty="0" err="1">
                <a:solidFill>
                  <a:schemeClr val="bg2">
                    <a:lumMod val="50000"/>
                  </a:schemeClr>
                </a:solidFill>
              </a:rPr>
              <a:t>Drop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 de Ativos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Logística/ Logística Reversa/ Recondicionamento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4" name="CaixaDeTexto 103"/>
          <p:cNvSpPr txBox="1"/>
          <p:nvPr/>
        </p:nvSpPr>
        <p:spPr>
          <a:xfrm>
            <a:off x="2375029" y="4317334"/>
            <a:ext cx="404478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Desmobilização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de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Alvorada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/ </a:t>
            </a:r>
            <a:r>
              <a:rPr lang="en-US" sz="1200" dirty="0" err="1" smtClean="0">
                <a:solidFill>
                  <a:schemeClr val="bg2">
                    <a:lumMod val="50000"/>
                  </a:schemeClr>
                </a:solidFill>
              </a:rPr>
              <a:t>Configurações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 Headend/SES</a:t>
            </a:r>
          </a:p>
        </p:txBody>
      </p:sp>
      <p:sp>
        <p:nvSpPr>
          <p:cNvPr id="105" name="CaixaDeTexto 104"/>
          <p:cNvSpPr txBox="1"/>
          <p:nvPr/>
        </p:nvSpPr>
        <p:spPr>
          <a:xfrm>
            <a:off x="2382232" y="6244060"/>
            <a:ext cx="275194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Revisão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da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cadeia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de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processos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das 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</a:rPr>
              <a:t>SPE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5" name="CaixaDeTexto 114"/>
          <p:cNvSpPr txBox="1"/>
          <p:nvPr/>
        </p:nvSpPr>
        <p:spPr>
          <a:xfrm>
            <a:off x="9382974" y="6261267"/>
            <a:ext cx="165857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Francisco Anderson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116" name="CaixaDeTexto 115"/>
          <p:cNvSpPr txBox="1"/>
          <p:nvPr/>
        </p:nvSpPr>
        <p:spPr>
          <a:xfrm>
            <a:off x="9394566" y="5308300"/>
            <a:ext cx="1539941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Francisco Anderson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1410331" y="1415877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0" name="Elipse 79"/>
          <p:cNvSpPr/>
          <p:nvPr/>
        </p:nvSpPr>
        <p:spPr>
          <a:xfrm>
            <a:off x="11410331" y="1900709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8" name="Elipse 87"/>
          <p:cNvSpPr/>
          <p:nvPr/>
        </p:nvSpPr>
        <p:spPr>
          <a:xfrm>
            <a:off x="11410331" y="2870373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0" name="Elipse 89"/>
          <p:cNvSpPr/>
          <p:nvPr/>
        </p:nvSpPr>
        <p:spPr>
          <a:xfrm>
            <a:off x="11410331" y="2385541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7" name="Elipse 106"/>
          <p:cNvSpPr/>
          <p:nvPr/>
        </p:nvSpPr>
        <p:spPr>
          <a:xfrm>
            <a:off x="11410331" y="3355205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8" name="Elipse 107"/>
          <p:cNvSpPr/>
          <p:nvPr/>
        </p:nvSpPr>
        <p:spPr>
          <a:xfrm>
            <a:off x="11410331" y="4809701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9" name="Elipse 108"/>
          <p:cNvSpPr/>
          <p:nvPr/>
        </p:nvSpPr>
        <p:spPr>
          <a:xfrm>
            <a:off x="11410331" y="5294533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2" name="Agrupar 1"/>
          <p:cNvGrpSpPr/>
          <p:nvPr/>
        </p:nvGrpSpPr>
        <p:grpSpPr>
          <a:xfrm>
            <a:off x="314180" y="5685247"/>
            <a:ext cx="11520000" cy="392583"/>
            <a:chOff x="314180" y="5871690"/>
            <a:chExt cx="11520000" cy="392583"/>
          </a:xfrm>
        </p:grpSpPr>
        <p:sp>
          <p:nvSpPr>
            <p:cNvPr id="83" name="CaixaDeTexto 82"/>
            <p:cNvSpPr txBox="1"/>
            <p:nvPr/>
          </p:nvSpPr>
          <p:spPr>
            <a:xfrm>
              <a:off x="314180" y="5871690"/>
              <a:ext cx="11520000" cy="392583"/>
            </a:xfrm>
            <a:prstGeom prst="rect">
              <a:avLst/>
            </a:prstGeom>
            <a:solidFill>
              <a:srgbClr val="FFFFFF">
                <a:alpha val="69804"/>
              </a:srgbClr>
            </a:solidFill>
            <a:ln w="12700" cap="flat">
              <a:solidFill>
                <a:srgbClr val="009E0B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08000" tIns="0" rIns="0" bIns="0" numCol="1" spcCol="38100" rtlCol="0" anchor="ctr">
              <a:noAutofit/>
            </a:bodyPr>
            <a:lstStyle/>
            <a:p>
              <a:pPr fontAlgn="auto" hangingPunct="0"/>
              <a:r>
                <a:rPr lang="pt-BR" sz="1200" b="1" dirty="0">
                  <a:solidFill>
                    <a:srgbClr val="009E0B"/>
                  </a:solidFill>
                  <a:latin typeface="+mn-lt"/>
                  <a:ea typeface="+mn-ea"/>
                  <a:cs typeface="+mn-cs"/>
                </a:rPr>
                <a:t>TSA</a:t>
              </a:r>
            </a:p>
          </p:txBody>
        </p:sp>
        <p:sp>
          <p:nvSpPr>
            <p:cNvPr id="84" name="CaixaDeTexto 83"/>
            <p:cNvSpPr txBox="1"/>
            <p:nvPr/>
          </p:nvSpPr>
          <p:spPr>
            <a:xfrm>
              <a:off x="6608973" y="5965678"/>
              <a:ext cx="1271730" cy="1846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 err="1">
                  <a:solidFill>
                    <a:schemeClr val="bg2">
                      <a:lumMod val="50000"/>
                    </a:schemeClr>
                  </a:solidFill>
                </a:rPr>
                <a:t>Elly</a:t>
              </a:r>
              <a:r>
                <a:rPr lang="en-US" sz="1200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bg2">
                      <a:lumMod val="50000"/>
                    </a:schemeClr>
                  </a:solidFill>
                </a:rPr>
                <a:t>Resende</a:t>
              </a: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sym typeface="Simplon BP Regular"/>
              </a:endParaRPr>
            </a:p>
          </p:txBody>
        </p:sp>
        <p:sp>
          <p:nvSpPr>
            <p:cNvPr id="101" name="CaixaDeTexto 100"/>
            <p:cNvSpPr txBox="1"/>
            <p:nvPr/>
          </p:nvSpPr>
          <p:spPr>
            <a:xfrm>
              <a:off x="2370389" y="5967391"/>
              <a:ext cx="3745835" cy="1846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200" dirty="0" err="1">
                  <a:solidFill>
                    <a:schemeClr val="bg2">
                      <a:lumMod val="50000"/>
                    </a:schemeClr>
                  </a:solidFill>
                </a:rPr>
                <a:t>Apoio</a:t>
              </a:r>
              <a:r>
                <a:rPr lang="en-US" sz="1200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bg2">
                      <a:lumMod val="50000"/>
                    </a:schemeClr>
                  </a:solidFill>
                </a:rPr>
                <a:t>na</a:t>
              </a:r>
              <a:r>
                <a:rPr lang="en-US" sz="1200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lang="en-US" sz="1200" dirty="0" err="1">
                  <a:solidFill>
                    <a:schemeClr val="bg2">
                      <a:lumMod val="50000"/>
                    </a:schemeClr>
                  </a:solidFill>
                </a:rPr>
                <a:t>Negociação</a:t>
              </a:r>
              <a:r>
                <a:rPr lang="en-US" sz="1200" dirty="0">
                  <a:solidFill>
                    <a:schemeClr val="bg2">
                      <a:lumMod val="50000"/>
                    </a:schemeClr>
                  </a:solidFill>
                </a:rPr>
                <a:t>/ </a:t>
              </a:r>
              <a:r>
                <a:rPr lang="en-US" sz="1200" dirty="0" err="1">
                  <a:solidFill>
                    <a:schemeClr val="bg2">
                      <a:lumMod val="50000"/>
                    </a:schemeClr>
                  </a:solidFill>
                </a:rPr>
                <a:t>Operacionalização</a:t>
              </a:r>
              <a:endPara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sym typeface="Simplon BP Regular"/>
              </a:endParaRPr>
            </a:p>
          </p:txBody>
        </p:sp>
        <p:sp>
          <p:nvSpPr>
            <p:cNvPr id="114" name="CaixaDeTexto 113"/>
            <p:cNvSpPr txBox="1"/>
            <p:nvPr/>
          </p:nvSpPr>
          <p:spPr>
            <a:xfrm>
              <a:off x="9369242" y="5967391"/>
              <a:ext cx="1658576" cy="1846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r>
                <a:rPr lang="en-US" sz="1200" dirty="0">
                  <a:solidFill>
                    <a:schemeClr val="bg2">
                      <a:lumMod val="50000"/>
                    </a:schemeClr>
                  </a:solidFill>
                </a:rPr>
                <a:t>Thiago Barbosa</a:t>
              </a:r>
              <a:endParaRPr lang="en-US" sz="12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19" name="Elipse 118"/>
            <p:cNvSpPr/>
            <p:nvPr/>
          </p:nvSpPr>
          <p:spPr>
            <a:xfrm>
              <a:off x="11410331" y="5963941"/>
              <a:ext cx="180000" cy="180000"/>
            </a:xfrm>
            <a:prstGeom prst="ellipse">
              <a:avLst/>
            </a:prstGeom>
            <a:solidFill>
              <a:srgbClr val="009E0B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sp>
        <p:nvSpPr>
          <p:cNvPr id="121" name="Elipse 120"/>
          <p:cNvSpPr/>
          <p:nvPr/>
        </p:nvSpPr>
        <p:spPr>
          <a:xfrm>
            <a:off x="11410331" y="4324869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22" name="Elipse 121"/>
          <p:cNvSpPr/>
          <p:nvPr/>
        </p:nvSpPr>
        <p:spPr>
          <a:xfrm>
            <a:off x="11410331" y="3840037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8" name="CaixaDeTexto 77"/>
          <p:cNvSpPr txBox="1"/>
          <p:nvPr/>
        </p:nvSpPr>
        <p:spPr>
          <a:xfrm>
            <a:off x="9427872" y="4320411"/>
            <a:ext cx="165857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Viviane de Medeiros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3" name="Elipse 117">
            <a:extLst>
              <a:ext uri="{FF2B5EF4-FFF2-40B4-BE49-F238E27FC236}">
                <a16:creationId xmlns:a16="http://schemas.microsoft.com/office/drawing/2014/main" id="{2CF857D2-2E9E-1310-2122-0CF23D29E2D1}"/>
              </a:ext>
            </a:extLst>
          </p:cNvPr>
          <p:cNvSpPr/>
          <p:nvPr/>
        </p:nvSpPr>
        <p:spPr>
          <a:xfrm>
            <a:off x="11410331" y="6253293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3306421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57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1.70999999999999996447E+00&quot;&gt;&lt;m_msothmcolidx val=&quot;0&quot;/&gt;&lt;m_rgb r=&quot;00&quot; g=&quot;CC&quot; b=&quot;17&quot;/&gt;&lt;/elem&gt;&lt;elem m_fUsage=&quot;1.31949000000000005173E+00&quot;&gt;&lt;m_msothmcolidx val=&quot;0&quot;/&gt;&lt;m_rgb r=&quot;00&quot; g=&quot;9B&quot; b=&quot;0A&quot;/&gt;&lt;/elem&gt;&lt;elem m_fUsage=&quot;1.00000000000000000000E+00&quot;&gt;&lt;m_msothmcolidx val=&quot;0&quot;/&gt;&lt;m_rgb r=&quot;6F&quot; g=&quot;91&quot; b=&quot;BB&quot;/&gt;&lt;/elem&gt;&lt;elem m_fUsage=&quot;6.56100000000000127542E-01&quot;&gt;&lt;m_msothmcolidx val=&quot;0&quot;/&gt;&lt;m_rgb r=&quot;FF&quot; g=&quot;99&quot; b=&quot;66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5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4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no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 dirty="0">
            <a:ln>
              <a:noFill/>
            </a:ln>
            <a:solidFill>
              <a:sysClr val="windowText" lastClr="000000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5.xml><?xml version="1.0" encoding="utf-8"?>
<a:theme xmlns:a="http://schemas.openxmlformats.org/drawingml/2006/main" name="1_Tema do Office">
  <a:themeElements>
    <a:clrScheme name="1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3017268D5F2745BD0E6AE90ABFCFAE" ma:contentTypeVersion="18" ma:contentTypeDescription="Create a new document." ma:contentTypeScope="" ma:versionID="1e4cc7a18f9e21b5631f66c9bd3222db">
  <xsd:schema xmlns:xsd="http://www.w3.org/2001/XMLSchema" xmlns:xs="http://www.w3.org/2001/XMLSchema" xmlns:p="http://schemas.microsoft.com/office/2006/metadata/properties" xmlns:ns3="0d9a7a9d-5a9c-4b11-bd52-5460aaf85ccf" xmlns:ns4="35f3c641-4c95-4133-8ef8-76fb5fbc2d0f" targetNamespace="http://schemas.microsoft.com/office/2006/metadata/properties" ma:root="true" ma:fieldsID="3541a1349b4fbd33f0563fd842f78ae7" ns3:_="" ns4:_="">
    <xsd:import namespace="0d9a7a9d-5a9c-4b11-bd52-5460aaf85ccf"/>
    <xsd:import namespace="35f3c641-4c95-4133-8ef8-76fb5fbc2d0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9a7a9d-5a9c-4b11-bd52-5460aaf85c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3c641-4c95-4133-8ef8-76fb5fbc2d0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d9a7a9d-5a9c-4b11-bd52-5460aaf85ccf" xsi:nil="true"/>
  </documentManagement>
</p:properties>
</file>

<file path=customXml/itemProps1.xml><?xml version="1.0" encoding="utf-8"?>
<ds:datastoreItem xmlns:ds="http://schemas.openxmlformats.org/officeDocument/2006/customXml" ds:itemID="{2B0712BA-7183-4673-90B4-6917999716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d9a7a9d-5a9c-4b11-bd52-5460aaf85ccf"/>
    <ds:schemaRef ds:uri="35f3c641-4c95-4133-8ef8-76fb5fbc2d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9A9F47-C9EF-42BE-9858-1516FC3DD2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B9093C-052E-4A0D-9F7E-80AE13FD2621}">
  <ds:schemaRefs>
    <ds:schemaRef ds:uri="0d9a7a9d-5a9c-4b11-bd52-5460aaf85ccf"/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35f3c641-4c95-4133-8ef8-76fb5fbc2d0f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8994</TotalTime>
  <Words>463</Words>
  <Application>Microsoft Office PowerPoint</Application>
  <PresentationFormat>Widescreen</PresentationFormat>
  <Paragraphs>217</Paragraphs>
  <Slides>4</Slides>
  <Notes>4</Notes>
  <HiddenSlides>1</HiddenSlides>
  <MMClips>0</MMClips>
  <ScaleCrop>false</ScaleCrop>
  <HeadingPairs>
    <vt:vector size="8" baseType="variant">
      <vt:variant>
        <vt:lpstr>Fontes usadas</vt:lpstr>
      </vt:variant>
      <vt:variant>
        <vt:i4>9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8" baseType="lpstr">
      <vt:lpstr>Aptos Narrow</vt:lpstr>
      <vt:lpstr>Arial</vt:lpstr>
      <vt:lpstr>Calibri</vt:lpstr>
      <vt:lpstr>Helvetica</vt:lpstr>
      <vt:lpstr>Palatino Linotype</vt:lpstr>
      <vt:lpstr>Roboto</vt:lpstr>
      <vt:lpstr>Simplon BP</vt:lpstr>
      <vt:lpstr>Simplon BP Bold</vt:lpstr>
      <vt:lpstr>Simplon BP Regular</vt:lpstr>
      <vt:lpstr>2_Tema do Office</vt:lpstr>
      <vt:lpstr>3_Tema do Office</vt:lpstr>
      <vt:lpstr>5_Tema do Office</vt:lpstr>
      <vt:lpstr>4_Tema do Office</vt:lpstr>
      <vt:lpstr>Slide do think-cell</vt:lpstr>
      <vt:lpstr>UPI TV</vt:lpstr>
      <vt:lpstr>AGENDA</vt:lpstr>
      <vt:lpstr>MACRO CRONOGRAMA UPI TV</vt:lpstr>
      <vt:lpstr>IMPLANTAÇÃO M&amp;A: UPI TV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Raissa De Mello Paes</dc:creator>
  <cp:lastModifiedBy>Charlene Santino Da Silva</cp:lastModifiedBy>
  <cp:revision>45</cp:revision>
  <dcterms:modified xsi:type="dcterms:W3CDTF">2025-02-06T23:42:07Z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0x010100AD3017268D5F2745BD0E6AE90ABFCFAE</vt:lpwstr>
  </property>
  <property fmtid="{D5CDD505-2E9C-101B-9397-08002B2CF9AE}" pid="3" name="MediaServiceImageTags">
    <vt:lpwstr/>
  </property>
</Properties>
</file>