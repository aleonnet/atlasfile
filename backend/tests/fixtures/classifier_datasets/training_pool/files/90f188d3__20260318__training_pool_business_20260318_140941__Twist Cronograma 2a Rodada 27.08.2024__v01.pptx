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</p:sldMasterIdLst>
  <p:notesMasterIdLst>
    <p:notesMasterId r:id="rId7"/>
  </p:notesMasterIdLst>
  <p:sldIdLst>
    <p:sldId id="1399" r:id="rId6"/>
  </p:sldIdLst>
  <p:sldSz cx="12192000" cy="6858000"/>
  <p:notesSz cx="6858000" cy="9144000"/>
  <p:custDataLst>
    <p:tags r:id="rId8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1399"/>
          </p14:sldIdLst>
        </p14:section>
      </p14:sectionLst>
    </p:ext>
    <p:ext uri="{EFAFB233-063F-42B5-8137-9DF3F51BA10A}">
      <p15:sldGuideLst xmlns:p15="http://schemas.microsoft.com/office/powerpoint/2012/main">
        <p15:guide id="11" userDrawn="1">
          <p15:clr>
            <a:srgbClr val="A4A3A4"/>
          </p15:clr>
        </p15:guide>
        <p15:guide id="12" orient="horz" pos="22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318"/>
    <a:srgbClr val="009E0B"/>
    <a:srgbClr val="009242"/>
    <a:srgbClr val="003618"/>
    <a:srgbClr val="005C2A"/>
    <a:srgbClr val="007A37"/>
    <a:srgbClr val="FFFF00"/>
    <a:srgbClr val="0066FF"/>
    <a:srgbClr val="00000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43" autoAdjust="0"/>
  </p:normalViewPr>
  <p:slideViewPr>
    <p:cSldViewPr snapToGrid="0" snapToObjects="1">
      <p:cViewPr varScale="1">
        <p:scale>
          <a:sx n="79" d="100"/>
          <a:sy n="79" d="100"/>
        </p:scale>
        <p:origin x="773" y="96"/>
      </p:cViewPr>
      <p:guideLst>
        <p:guide/>
        <p:guide orient="horz" pos="22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40001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8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20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 err="1"/>
                <a:t>loremipsum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valoresdolor</a:t>
              </a:r>
              <a:br>
                <a:rPr dirty="0"/>
              </a:br>
              <a:r>
                <a:rPr dirty="0" err="1"/>
                <a:t>loremipsum</a:t>
              </a:r>
              <a:endParaRPr dirty="0"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textoem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rPr dirty="0"/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 err="1"/>
                <a:t>loremipsum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valoresdolor</a:t>
              </a:r>
              <a:br>
                <a:rPr dirty="0"/>
              </a:br>
              <a:r>
                <a:rPr dirty="0" err="1"/>
                <a:t>loremipsum</a:t>
              </a:r>
              <a:endParaRPr dirty="0"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textoem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rPr dirty="0"/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03787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13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dirty="0"/>
              <a:t>tópico/texto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pt-BR" dirty="0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dirty="0"/>
              <a:t>tópico/texto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pt-BR" dirty="0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CRONOGRAMA DOS PRÓXIMOS PASSOS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</a:t>
            </a:fld>
            <a:endParaRPr lang="pt-BR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B4E0EBEC-6348-0765-CDC7-484AE9F05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025894"/>
              </p:ext>
            </p:extLst>
          </p:nvPr>
        </p:nvGraphicFramePr>
        <p:xfrm>
          <a:off x="1096977" y="1166672"/>
          <a:ext cx="9998046" cy="417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7202">
                  <a:extLst>
                    <a:ext uri="{9D8B030D-6E8A-4147-A177-3AD203B41FA5}">
                      <a16:colId xmlns:a16="http://schemas.microsoft.com/office/drawing/2014/main" val="2892684293"/>
                    </a:ext>
                  </a:extLst>
                </a:gridCol>
                <a:gridCol w="1163733">
                  <a:extLst>
                    <a:ext uri="{9D8B030D-6E8A-4147-A177-3AD203B41FA5}">
                      <a16:colId xmlns:a16="http://schemas.microsoft.com/office/drawing/2014/main" val="2377003248"/>
                    </a:ext>
                  </a:extLst>
                </a:gridCol>
                <a:gridCol w="1232695">
                  <a:extLst>
                    <a:ext uri="{9D8B030D-6E8A-4147-A177-3AD203B41FA5}">
                      <a16:colId xmlns:a16="http://schemas.microsoft.com/office/drawing/2014/main" val="3453818823"/>
                    </a:ext>
                  </a:extLst>
                </a:gridCol>
                <a:gridCol w="1284416">
                  <a:extLst>
                    <a:ext uri="{9D8B030D-6E8A-4147-A177-3AD203B41FA5}">
                      <a16:colId xmlns:a16="http://schemas.microsoft.com/office/drawing/2014/main" val="1647472349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pt-BR" sz="1600" b="1" dirty="0">
                          <a:solidFill>
                            <a:schemeClr val="accent6"/>
                          </a:solidFill>
                          <a:latin typeface="+mj-lt"/>
                        </a:rPr>
                        <a:t>Etapa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009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chemeClr val="accent6"/>
                          </a:solidFill>
                          <a:latin typeface="+mj-lt"/>
                        </a:rPr>
                        <a:t>Data inicial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009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chemeClr val="accent6"/>
                          </a:solidFill>
                          <a:latin typeface="+mj-lt"/>
                        </a:rPr>
                        <a:t>Prazo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009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chemeClr val="accent6"/>
                          </a:solidFill>
                          <a:latin typeface="+mj-lt"/>
                        </a:rPr>
                        <a:t>Data máxima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009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079354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Retomada da audiência </a:t>
                      </a:r>
                      <a:r>
                        <a:rPr lang="pt-BR" sz="1600" b="0" i="0" u="none" strike="noStrike" cap="none" spc="0" baseline="0" dirty="0">
                          <a:solidFill>
                            <a:schemeClr val="accent6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de propostas da 1ª rodada</a:t>
                      </a:r>
                      <a:endParaRPr lang="pt-BR" sz="160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09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06/08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09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09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09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1888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Aviso de início de encerramento da primeira rodada e do início da segunda rodada pela Oi no </a:t>
                      </a:r>
                      <a:r>
                        <a:rPr lang="pt-BR" sz="1600" dirty="0" err="1">
                          <a:solidFill>
                            <a:schemeClr val="accent6"/>
                          </a:solidFill>
                          <a:latin typeface="+mj-lt"/>
                        </a:rPr>
                        <a:t>recjud</a:t>
                      </a: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 (Cl 5.2.2.1.3.1.)</a:t>
                      </a:r>
                      <a:endParaRPr lang="pt-BR" sz="1600" baseline="3000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06/08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3 dias úteis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09/08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17782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dirty="0">
                          <a:solidFill>
                            <a:schemeClr val="accent6"/>
                          </a:solidFill>
                          <a:latin typeface="+mj-lt"/>
                        </a:rPr>
                        <a:t>Envio formal do Edital da 2ª rodada pela Oi aos credores (Cl. 5.2.2.1.4.)</a:t>
                      </a:r>
                      <a:endParaRPr lang="pt-BR" sz="1600" b="0" baseline="3000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09/08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5 dias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chemeClr val="accent6"/>
                          </a:solidFill>
                          <a:latin typeface="+mj-lt"/>
                        </a:rPr>
                        <a:t>14/08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23329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Decisão dos credores sobre o Edital da 2ª rodada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14/08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5 dias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19/08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20311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Comunicação da deliberação sobre o Edital à 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19/08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 dia útil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20/08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1335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Publicação do Edital da 2ª rodada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02/09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11491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Audiência de abertura das propostas da 2ª rodada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02/09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15 dias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17/09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08505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Submissão das propostas da 2ª rodada, pelo AJ, aos credores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17/09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2 dias úteis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19/09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1302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Deliberação dos credores sobre as propostas da 2ª rodada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19/09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10 dias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29/09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32009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Comunicação da deliberação dos credores, pelo AJ, ao juízo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29/09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1 dia útil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/>
                          </a:solidFill>
                          <a:latin typeface="+mj-lt"/>
                        </a:rPr>
                        <a:t>30/09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80941"/>
                  </a:ext>
                </a:extLst>
              </a:tr>
            </a:tbl>
          </a:graphicData>
        </a:graphic>
      </p:graphicFrame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DDF5AED8-7B56-FFAE-BF6B-B9040399A867}"/>
              </a:ext>
            </a:extLst>
          </p:cNvPr>
          <p:cNvSpPr/>
          <p:nvPr/>
        </p:nvSpPr>
        <p:spPr>
          <a:xfrm>
            <a:off x="680937" y="3642467"/>
            <a:ext cx="340468" cy="389106"/>
          </a:xfrm>
          <a:prstGeom prst="rightArrow">
            <a:avLst/>
          </a:prstGeom>
          <a:solidFill>
            <a:srgbClr val="FF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" name="Botão de ação: Retornar 63">
            <a:hlinkClick r:id="" action="ppaction://noaction"/>
            <a:extLst>
              <a:ext uri="{FF2B5EF4-FFF2-40B4-BE49-F238E27FC236}">
                <a16:creationId xmlns:a16="http://schemas.microsoft.com/office/drawing/2014/main" id="{EAB5F13D-8DBE-6CF3-82EB-43E743867321}"/>
              </a:ext>
            </a:extLst>
          </p:cNvPr>
          <p:cNvSpPr/>
          <p:nvPr/>
        </p:nvSpPr>
        <p:spPr>
          <a:xfrm>
            <a:off x="11075392" y="539696"/>
            <a:ext cx="216000" cy="216000"/>
          </a:xfrm>
          <a:prstGeom prst="actionButtonRetur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Light" pitchFamily="2" charset="0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74864451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D37A97C3DEE4A8D4788FE4DCCDEAD" ma:contentTypeVersion="11" ma:contentTypeDescription="Create a new document." ma:contentTypeScope="" ma:versionID="d00ac72e450a6c88aa5868c6273ce3b9">
  <xsd:schema xmlns:xsd="http://www.w3.org/2001/XMLSchema" xmlns:xs="http://www.w3.org/2001/XMLSchema" xmlns:p="http://schemas.microsoft.com/office/2006/metadata/properties" xmlns:ns3="e66c1a7a-ec89-4dc5-b393-5362fae8c521" xmlns:ns4="b78623e7-b84d-4b4d-83f6-340f315802d9" targetNamespace="http://schemas.microsoft.com/office/2006/metadata/properties" ma:root="true" ma:fieldsID="6b08f65e03026fc37bf5bc94aa7787c2" ns3:_="" ns4:_="">
    <xsd:import namespace="e66c1a7a-ec89-4dc5-b393-5362fae8c521"/>
    <xsd:import namespace="b78623e7-b84d-4b4d-83f6-340f315802d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6c1a7a-ec89-4dc5-b393-5362fae8c5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623e7-b84d-4b4d-83f6-340f315802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8623e7-b84d-4b4d-83f6-340f315802d9" xsi:nil="true"/>
  </documentManagement>
</p:properties>
</file>

<file path=customXml/itemProps1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F0A6D2-0F1D-44F2-8EFD-D62C407E3C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6c1a7a-ec89-4dc5-b393-5362fae8c521"/>
    <ds:schemaRef ds:uri="b78623e7-b84d-4b4d-83f6-340f315802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http://purl.org/dc/elements/1.1/"/>
    <ds:schemaRef ds:uri="http://schemas.microsoft.com/office/2006/metadata/properties"/>
    <ds:schemaRef ds:uri="http://purl.org/dc/terms/"/>
    <ds:schemaRef ds:uri="b78623e7-b84d-4b4d-83f6-340f315802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66c1a7a-ec89-4dc5-b393-5362fae8c52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88971</TotalTime>
  <Words>168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10" baseType="lpstr">
      <vt:lpstr>Arial</vt:lpstr>
      <vt:lpstr>Roboto</vt:lpstr>
      <vt:lpstr>Simplon BP</vt:lpstr>
      <vt:lpstr>Simplon BP Bold</vt:lpstr>
      <vt:lpstr>Simplon BP Light</vt:lpstr>
      <vt:lpstr>Simplon BP Regular</vt:lpstr>
      <vt:lpstr>2_Tema do Office</vt:lpstr>
      <vt:lpstr>3_Tema do Office</vt:lpstr>
      <vt:lpstr>Slide do think-cell</vt:lpstr>
      <vt:lpstr>CRONOGRAMA DOS PRÓXIMOS PASSOS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Luiz Henrique Soares Rosa</cp:lastModifiedBy>
  <cp:revision>598</cp:revision>
  <dcterms:modified xsi:type="dcterms:W3CDTF">2024-08-27T19:23:26Z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0x010100723D37A97C3DEE4A8D4788FE4DCCDEAD</vt:lpwstr>
  </property>
</Properties>
</file>