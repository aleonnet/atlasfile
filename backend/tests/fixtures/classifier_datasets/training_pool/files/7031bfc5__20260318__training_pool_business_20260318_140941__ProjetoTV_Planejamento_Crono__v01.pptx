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charts/chart3.xml" ContentType="application/vnd.openxmlformats-officedocument.drawingml.chart+xml"/>
  <Override PartName="/ppt/tags/tag39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rts/chart4.xml" ContentType="application/vnd.openxmlformats-officedocument.drawingml.chart+xml"/>
  <Override PartName="/ppt/tags/tag52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4030" r:id="rId6"/>
    <p:sldMasterId id="2147484153" r:id="rId7"/>
  </p:sldMasterIdLst>
  <p:notesMasterIdLst>
    <p:notesMasterId r:id="rId9"/>
  </p:notesMasterIdLst>
  <p:sldIdLst>
    <p:sldId id="2147483183" r:id="rId8"/>
  </p:sldIdLst>
  <p:sldSz cx="12192000" cy="6858000"/>
  <p:notesSz cx="6858000" cy="9144000"/>
  <p:custDataLst>
    <p:tags r:id="rId1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/>
        </p14:section>
        <p14:section name="UPI TV" id="{194642BE-4CF9-4AC7-93A2-0BFD58F452E3}">
          <p14:sldIdLst>
            <p14:sldId id="21474831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0B"/>
    <a:srgbClr val="000000"/>
    <a:srgbClr val="FF9933"/>
    <a:srgbClr val="FFFF00"/>
    <a:srgbClr val="37B33F"/>
    <a:srgbClr val="404040"/>
    <a:srgbClr val="009E0A"/>
    <a:srgbClr val="00D318"/>
    <a:srgbClr val="38572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343" autoAdjust="0"/>
  </p:normalViewPr>
  <p:slideViewPr>
    <p:cSldViewPr snapToGrid="0">
      <p:cViewPr varScale="1">
        <p:scale>
          <a:sx n="110" d="100"/>
          <a:sy n="110" d="100"/>
        </p:scale>
        <p:origin x="155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err="1"/>
              <a:t>OiPlay:</a:t>
            </a:r>
            <a:r>
              <a:rPr lang="pt-BR" baseline="0" err="1"/>
              <a:t>seoplayforjunto,teriaquelevarmuitacoisadoHeadend</a:t>
            </a:r>
            <a:r>
              <a:rPr lang="pt-BR" baseline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/>
          </a:p>
        </p:txBody>
      </p:sp>
    </p:spTree>
    <p:extLst>
      <p:ext uri="{BB962C8B-B14F-4D97-AF65-F5344CB8AC3E}">
        <p14:creationId xmlns:p14="http://schemas.microsoft.com/office/powerpoint/2010/main" val="443623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8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8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1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8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3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3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Relationship Id="rId6" Type="http://schemas.openxmlformats.org/officeDocument/2006/relationships/chart" Target="../charts/chart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3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4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4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48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Relationship Id="rId6" Type="http://schemas.openxmlformats.org/officeDocument/2006/relationships/chart" Target="../charts/chart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037876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8258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09357064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2851186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404226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47489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30578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84532010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0782958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4086709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59226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3317768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0312498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070" y="-213332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572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5224311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4022675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39161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34423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7325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335499660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2892822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7024912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38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69689195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258490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oleObject" Target="../embeddings/oleObject13.bin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433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  <p:sldLayoutId id="2147484042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516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54" r:id="rId1"/>
    <p:sldLayoutId id="2147484155" r:id="rId2"/>
    <p:sldLayoutId id="214748415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  <p:sldLayoutId id="2147484165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333517"/>
              </p:ext>
            </p:extLst>
          </p:nvPr>
        </p:nvGraphicFramePr>
        <p:xfrm>
          <a:off x="325686" y="594718"/>
          <a:ext cx="10691060" cy="596228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39060">
                  <a:extLst>
                    <a:ext uri="{9D8B030D-6E8A-4147-A177-3AD203B41FA5}">
                      <a16:colId xmlns:a16="http://schemas.microsoft.com/office/drawing/2014/main" val="333727718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37137793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0506870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73303926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8848868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038880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6024237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38000343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62867640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37882498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2604229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41143869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6406550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87234875"/>
                    </a:ext>
                  </a:extLst>
                </a:gridCol>
              </a:tblGrid>
              <a:tr h="245143">
                <a:tc>
                  <a:txBody>
                    <a:bodyPr/>
                    <a:lstStyle/>
                    <a:p>
                      <a:pPr algn="l" fontAlgn="ctr"/>
                      <a:endParaRPr lang="pt-BR" sz="13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13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Fev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13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mar</a:t>
                      </a:r>
                    </a:p>
                  </a:txBody>
                  <a:tcPr marL="8862" marR="8862" marT="8862" marB="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13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abr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3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mai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186576"/>
                  </a:ext>
                </a:extLst>
              </a:tr>
              <a:tr h="2451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Macro</a:t>
                      </a:r>
                      <a:r>
                        <a:rPr lang="pt-BR" sz="13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pt-BR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Atividades</a:t>
                      </a:r>
                    </a:p>
                  </a:txBody>
                  <a:tcPr marL="8862" marR="8862" marT="886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17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24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03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17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24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07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14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21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05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7463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1. Processo competitivo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29654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 Laudo e Aprovação do </a:t>
                      </a:r>
                      <a:r>
                        <a:rPr lang="pt-BR" sz="130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Drop</a:t>
                      </a:r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Clientes (AGEO Oi)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3960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3. </a:t>
                      </a:r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Abertura de 25 filiais 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3293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 Filiais com IE Virtual ou Substituta (Falta 6)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6920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Filiais Físicas com IE (Falta 1 - RN)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4265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4. Transferência de Outorga </a:t>
                      </a:r>
                      <a:r>
                        <a:rPr lang="pt-BR" sz="130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SeAC</a:t>
                      </a:r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 Licenças das Estações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290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5. </a:t>
                      </a:r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Abertura de contas e convênios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296578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6. Conciliação Físico/Contábil de ativos (685M)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6242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7. Assinatura de Contratos (81 exclusivos)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1453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 Transferência de Pessoas - FPW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7548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9. Sistemas (SINN)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27225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Contratação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3064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Desenho de solução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102791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Planejamento de Desenvolvimento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398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Desenvolvimento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32205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Testes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6161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10. </a:t>
                      </a:r>
                      <a:r>
                        <a:rPr lang="pt-BR" sz="130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Desmobilização do Imóvel de Alvorada</a:t>
                      </a:r>
                      <a:endParaRPr lang="pt-BR" sz="13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18487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11. MOS/TSA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894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12. Comunicação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559087"/>
                  </a:ext>
                </a:extLst>
              </a:tr>
            </a:tbl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MACRO CRONOGRAMA UPI TV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</a:t>
            </a:fld>
            <a:endParaRPr lang="pt-BR"/>
          </a:p>
        </p:txBody>
      </p:sp>
      <p:grpSp>
        <p:nvGrpSpPr>
          <p:cNvPr id="10" name="Agrupar 9"/>
          <p:cNvGrpSpPr/>
          <p:nvPr/>
        </p:nvGrpSpPr>
        <p:grpSpPr>
          <a:xfrm>
            <a:off x="4454080" y="1162587"/>
            <a:ext cx="7003026" cy="5355331"/>
            <a:chOff x="4454080" y="1162587"/>
            <a:chExt cx="7003026" cy="5355331"/>
          </a:xfrm>
        </p:grpSpPr>
        <p:sp>
          <p:nvSpPr>
            <p:cNvPr id="41" name="Triângulo isósceles 40">
              <a:extLst>
                <a:ext uri="{FF2B5EF4-FFF2-40B4-BE49-F238E27FC236}">
                  <a16:creationId xmlns:a16="http://schemas.microsoft.com/office/drawing/2014/main" id="{675BF5F2-DCFF-13DA-F5CB-5301772A04E0}"/>
                </a:ext>
              </a:extLst>
            </p:cNvPr>
            <p:cNvSpPr/>
            <p:nvPr/>
          </p:nvSpPr>
          <p:spPr>
            <a:xfrm>
              <a:off x="10379156" y="2596619"/>
              <a:ext cx="120000" cy="120000"/>
            </a:xfrm>
            <a:prstGeom prst="triangle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1162587"/>
              <a:ext cx="50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id="{D4D158E9-A0BF-40D5-AB34-7A11B0410BC6}"/>
                </a:ext>
              </a:extLst>
            </p:cNvPr>
            <p:cNvSpPr txBox="1"/>
            <p:nvPr/>
          </p:nvSpPr>
          <p:spPr>
            <a:xfrm>
              <a:off x="10536322" y="2575873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b="1" dirty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02/05</a:t>
              </a:r>
            </a:p>
          </p:txBody>
        </p: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77AAF290-D0D5-356C-26F7-AD0B2FDBA242}"/>
                </a:ext>
              </a:extLst>
            </p:cNvPr>
            <p:cNvSpPr txBox="1"/>
            <p:nvPr/>
          </p:nvSpPr>
          <p:spPr>
            <a:xfrm>
              <a:off x="7906436" y="6333252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dirty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01/04</a:t>
              </a:r>
            </a:p>
          </p:txBody>
        </p:sp>
        <p:sp>
          <p:nvSpPr>
            <p:cNvPr id="73" name="Balão de Fala: Retângulo 72">
              <a:extLst>
                <a:ext uri="{FF2B5EF4-FFF2-40B4-BE49-F238E27FC236}">
                  <a16:creationId xmlns:a16="http://schemas.microsoft.com/office/drawing/2014/main" id="{BAFBBA2C-52F2-C70D-1B9C-4BF49EA37D07}"/>
                </a:ext>
              </a:extLst>
            </p:cNvPr>
            <p:cNvSpPr/>
            <p:nvPr/>
          </p:nvSpPr>
          <p:spPr>
            <a:xfrm>
              <a:off x="9766511" y="4365062"/>
              <a:ext cx="1690595" cy="884070"/>
            </a:xfrm>
            <a:prstGeom prst="wedgeRectCallout">
              <a:avLst>
                <a:gd name="adj1" fmla="val -92612"/>
                <a:gd name="adj2" fmla="val -61850"/>
              </a:avLst>
            </a:prstGeom>
            <a:solidFill>
              <a:schemeClr val="bg1"/>
            </a:solidFill>
            <a:ln w="9525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2000" tIns="72000" rIns="72000" bIns="72000" numCol="1" spcCol="38100" rtlCol="0" anchor="ctr" anchorCtr="0">
              <a:spAutoFit/>
            </a:bodyPr>
            <a:lstStyle/>
            <a:p>
              <a:pPr algn="ctr"/>
              <a:r>
                <a:rPr lang="pt-BR" sz="1200">
                  <a:solidFill>
                    <a:srgbClr val="000000"/>
                  </a:solidFill>
                  <a:latin typeface="Simplon BP Regular" pitchFamily="2" charset="0"/>
                  <a:ea typeface="+mn-ea"/>
                  <a:cs typeface="+mn-cs"/>
                </a:rPr>
                <a:t>Desenvolvimento/ ajuste dos sistemas para do </a:t>
              </a:r>
              <a:r>
                <a:rPr lang="pt-BR" sz="1200" err="1">
                  <a:solidFill>
                    <a:srgbClr val="000000"/>
                  </a:solidFill>
                  <a:latin typeface="Simplon BP Regular" pitchFamily="2" charset="0"/>
                  <a:ea typeface="+mn-ea"/>
                  <a:cs typeface="+mn-cs"/>
                </a:rPr>
                <a:t>drop</a:t>
              </a:r>
              <a:r>
                <a:rPr lang="pt-BR" sz="1200">
                  <a:solidFill>
                    <a:srgbClr val="000000"/>
                  </a:solidFill>
                  <a:latin typeface="Simplon BP Regular" pitchFamily="2" charset="0"/>
                  <a:ea typeface="+mn-ea"/>
                  <a:cs typeface="+mn-cs"/>
                </a:rPr>
                <a:t> é o caminho crítico</a:t>
              </a:r>
              <a:endParaRPr lang="pt-BR" sz="1200" spc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5966415" y="1437819"/>
              <a:ext cx="4536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5" name="Retângulo 74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1738072"/>
              <a:ext cx="2520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2013304"/>
              <a:ext cx="2520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7" name="Retângulo 76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2322316"/>
              <a:ext cx="1008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2627453"/>
              <a:ext cx="1512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2889037"/>
              <a:ext cx="2016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3188408"/>
              <a:ext cx="2520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3479144"/>
              <a:ext cx="4032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6960432" y="3754376"/>
              <a:ext cx="302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63523" y="4054789"/>
              <a:ext cx="554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4327643"/>
              <a:ext cx="2520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4638744"/>
              <a:ext cx="2016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6470080" y="4931880"/>
              <a:ext cx="504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8" name="Retângulo 87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6973779" y="5213080"/>
              <a:ext cx="2016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9" name="Retângulo 88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8976432" y="5494261"/>
              <a:ext cx="1008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6470080" y="5794168"/>
              <a:ext cx="4032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957779" y="6082818"/>
              <a:ext cx="554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2" name="Retângulo 91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8372416" y="6375041"/>
              <a:ext cx="212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D4D158E9-A0BF-40D5-AB34-7A11B0410BC6}"/>
                </a:ext>
              </a:extLst>
            </p:cNvPr>
            <p:cNvSpPr txBox="1"/>
            <p:nvPr/>
          </p:nvSpPr>
          <p:spPr>
            <a:xfrm>
              <a:off x="10531556" y="1428107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b="1" dirty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02/05</a:t>
              </a:r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D4D158E9-A0BF-40D5-AB34-7A11B0410BC6}"/>
                </a:ext>
              </a:extLst>
            </p:cNvPr>
            <p:cNvSpPr txBox="1"/>
            <p:nvPr/>
          </p:nvSpPr>
          <p:spPr>
            <a:xfrm>
              <a:off x="10541080" y="4023681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b="1" dirty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02/05</a:t>
              </a:r>
            </a:p>
          </p:txBody>
        </p:sp>
        <p:sp>
          <p:nvSpPr>
            <p:cNvPr id="95" name="Triângulo isósceles 94">
              <a:extLst>
                <a:ext uri="{FF2B5EF4-FFF2-40B4-BE49-F238E27FC236}">
                  <a16:creationId xmlns:a16="http://schemas.microsoft.com/office/drawing/2014/main" id="{675BF5F2-DCFF-13DA-F5CB-5301772A04E0}"/>
                </a:ext>
              </a:extLst>
            </p:cNvPr>
            <p:cNvSpPr/>
            <p:nvPr/>
          </p:nvSpPr>
          <p:spPr>
            <a:xfrm>
              <a:off x="10360103" y="4049191"/>
              <a:ext cx="120000" cy="120000"/>
            </a:xfrm>
            <a:prstGeom prst="triangle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6" name="Triângulo isósceles 95">
              <a:extLst>
                <a:ext uri="{FF2B5EF4-FFF2-40B4-BE49-F238E27FC236}">
                  <a16:creationId xmlns:a16="http://schemas.microsoft.com/office/drawing/2014/main" id="{675BF5F2-DCFF-13DA-F5CB-5301772A04E0}"/>
                </a:ext>
              </a:extLst>
            </p:cNvPr>
            <p:cNvSpPr/>
            <p:nvPr/>
          </p:nvSpPr>
          <p:spPr>
            <a:xfrm>
              <a:off x="10355337" y="5487478"/>
              <a:ext cx="120000" cy="120000"/>
            </a:xfrm>
            <a:prstGeom prst="triangle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D4D158E9-A0BF-40D5-AB34-7A11B0410BC6}"/>
                </a:ext>
              </a:extLst>
            </p:cNvPr>
            <p:cNvSpPr txBox="1"/>
            <p:nvPr/>
          </p:nvSpPr>
          <p:spPr>
            <a:xfrm>
              <a:off x="10536316" y="5476255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b="1" dirty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02/05</a:t>
              </a:r>
            </a:p>
          </p:txBody>
        </p:sp>
        <p:sp>
          <p:nvSpPr>
            <p:cNvPr id="99" name="Triângulo isósceles 98">
              <a:extLst>
                <a:ext uri="{FF2B5EF4-FFF2-40B4-BE49-F238E27FC236}">
                  <a16:creationId xmlns:a16="http://schemas.microsoft.com/office/drawing/2014/main" id="{675BF5F2-DCFF-13DA-F5CB-5301772A04E0}"/>
                </a:ext>
              </a:extLst>
            </p:cNvPr>
            <p:cNvSpPr/>
            <p:nvPr/>
          </p:nvSpPr>
          <p:spPr>
            <a:xfrm>
              <a:off x="8302696" y="6363785"/>
              <a:ext cx="120000" cy="120000"/>
            </a:xfrm>
            <a:prstGeom prst="triangle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1" name="Balão de Fala: Retângulo 72">
              <a:extLst>
                <a:ext uri="{FF2B5EF4-FFF2-40B4-BE49-F238E27FC236}">
                  <a16:creationId xmlns:a16="http://schemas.microsoft.com/office/drawing/2014/main" id="{BAFBBA2C-52F2-C70D-1B9C-4BF49EA37D07}"/>
                </a:ext>
              </a:extLst>
            </p:cNvPr>
            <p:cNvSpPr/>
            <p:nvPr/>
          </p:nvSpPr>
          <p:spPr>
            <a:xfrm>
              <a:off x="7732817" y="1845486"/>
              <a:ext cx="1506526" cy="514738"/>
            </a:xfrm>
            <a:prstGeom prst="wedgeRectCallout">
              <a:avLst>
                <a:gd name="adj1" fmla="val -93560"/>
                <a:gd name="adj2" fmla="val -53523"/>
              </a:avLst>
            </a:prstGeom>
            <a:solidFill>
              <a:schemeClr val="bg1"/>
            </a:solidFill>
            <a:ln w="9525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2000" tIns="72000" rIns="72000" bIns="72000" numCol="1" spcCol="38100" rtlCol="0" anchor="ctr" anchorCtr="0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Simplon BP Regular" pitchFamily="2" charset="0"/>
                  <a:ea typeface="+mn-ea"/>
                  <a:cs typeface="+mn-cs"/>
                </a:rPr>
                <a:t>Obtenção das filiais depende SEFAZ</a:t>
              </a:r>
              <a:endParaRPr lang="pt-BR" sz="1200" spc="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171640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57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00&quot; g=&quot;CC&quot; b=&quot;17&quot;/&gt;&lt;/elem&gt;&lt;elem m_fUsage=&quot;1.31949000000000005173E+00&quot;&gt;&lt;m_msothmcolidx val=&quot;0&quot;/&gt;&lt;m_rgb r=&quot;00&quot; g=&quot;9B&quot; b=&quot;0A&quot;/&gt;&lt;/elem&gt;&lt;elem m_fUsage=&quot;1.00000000000000000000E+00&quot;&gt;&lt;m_msothmcolidx val=&quot;0&quot;/&gt;&lt;m_rgb r=&quot;6F&quot; g=&quot;91&quot; b=&quot;BB&quot;/&gt;&lt;/elem&gt;&lt;elem m_fUsage=&quot;6.56100000000000127542E-01&quot;&gt;&lt;m_msothmcolidx val=&quot;0&quot;/&gt;&lt;m_rgb r=&quot;FF&quot; g=&quot;99&quot; b=&quot;66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5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4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 dirty="0">
            <a:ln>
              <a:noFill/>
            </a:ln>
            <a:solidFill>
              <a:sysClr val="windowText" lastClr="000000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3017268D5F2745BD0E6AE90ABFCFAE" ma:contentTypeVersion="18" ma:contentTypeDescription="Create a new document." ma:contentTypeScope="" ma:versionID="1e4cc7a18f9e21b5631f66c9bd3222db">
  <xsd:schema xmlns:xsd="http://www.w3.org/2001/XMLSchema" xmlns:xs="http://www.w3.org/2001/XMLSchema" xmlns:p="http://schemas.microsoft.com/office/2006/metadata/properties" xmlns:ns3="0d9a7a9d-5a9c-4b11-bd52-5460aaf85ccf" xmlns:ns4="35f3c641-4c95-4133-8ef8-76fb5fbc2d0f" targetNamespace="http://schemas.microsoft.com/office/2006/metadata/properties" ma:root="true" ma:fieldsID="3541a1349b4fbd33f0563fd842f78ae7" ns3:_="" ns4:_="">
    <xsd:import namespace="0d9a7a9d-5a9c-4b11-bd52-5460aaf85ccf"/>
    <xsd:import namespace="35f3c641-4c95-4133-8ef8-76fb5fbc2d0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9a7a9d-5a9c-4b11-bd52-5460aaf85c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3c641-4c95-4133-8ef8-76fb5fbc2d0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d9a7a9d-5a9c-4b11-bd52-5460aaf85ccf" xsi:nil="true"/>
  </documentManagement>
</p:properties>
</file>

<file path=customXml/itemProps1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0712BA-7183-4673-90B4-6917999716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9a7a9d-5a9c-4b11-bd52-5460aaf85ccf"/>
    <ds:schemaRef ds:uri="35f3c641-4c95-4133-8ef8-76fb5fbc2d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0d9a7a9d-5a9c-4b11-bd52-5460aaf85ccf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35f3c641-4c95-4133-8ef8-76fb5fbc2d0f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8996</TotalTime>
  <Words>281</Words>
  <Application>Microsoft Macintosh PowerPoint</Application>
  <PresentationFormat>Widescreen</PresentationFormat>
  <Paragraphs>152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Aptos Narrow</vt:lpstr>
      <vt:lpstr>Arial</vt:lpstr>
      <vt:lpstr>Palatino Linotype</vt:lpstr>
      <vt:lpstr>Roboto</vt:lpstr>
      <vt:lpstr>Simplon BP Bold</vt:lpstr>
      <vt:lpstr>Simplon BP Regular</vt:lpstr>
      <vt:lpstr>2_Tema do Office</vt:lpstr>
      <vt:lpstr>3_Tema do Office</vt:lpstr>
      <vt:lpstr>5_Tema do Office</vt:lpstr>
      <vt:lpstr>4_Tema do Office</vt:lpstr>
      <vt:lpstr>Slide do think-cell</vt:lpstr>
      <vt:lpstr>MACRO CRONOGRAMA UPI TV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Alessandro Barbosa</cp:lastModifiedBy>
  <cp:revision>46</cp:revision>
  <dcterms:modified xsi:type="dcterms:W3CDTF">2025-02-12T23:56:58Z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0x010100AD3017268D5F2745BD0E6AE90ABFCFAE</vt:lpwstr>
  </property>
  <property fmtid="{D5CDD505-2E9C-101B-9397-08002B2CF9AE}" pid="3" name="MediaServiceImageTags">
    <vt:lpwstr/>
  </property>
</Properties>
</file>