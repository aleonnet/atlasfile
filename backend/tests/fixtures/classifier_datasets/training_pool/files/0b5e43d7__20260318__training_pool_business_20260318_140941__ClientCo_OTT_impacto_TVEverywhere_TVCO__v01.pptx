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4"/>
  </p:notesMasterIdLst>
  <p:sldIdLst>
    <p:sldId id="2147471269" r:id="rId2"/>
    <p:sldId id="214747126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diaHub x MS" id="{27D8E294-1A8F-1B49-B2FD-2F190A7CE5A7}">
          <p14:sldIdLst>
            <p14:sldId id="2147471269"/>
            <p14:sldId id="2147471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ED"/>
    <a:srgbClr val="F11C37"/>
    <a:srgbClr val="FF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24" autoAdjust="0"/>
    <p:restoredTop sz="96296"/>
  </p:normalViewPr>
  <p:slideViewPr>
    <p:cSldViewPr snapToGrid="0" snapToObjects="1">
      <p:cViewPr varScale="1">
        <p:scale>
          <a:sx n="66" d="100"/>
          <a:sy n="66" d="100"/>
        </p:scale>
        <p:origin x="1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1150D-764A-6C4A-9158-E6ACB7B5CE0E}" type="datetimeFigureOut">
              <a:rPr lang="pt-BR" smtClean="0"/>
              <a:t>07/02/2025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03621-9C78-FA43-9AD6-9C555029E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15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053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14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9A0FF-DB4D-224A-99F1-435069C39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8B4C0-DC2C-2C48-806C-EBDF52402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3522E0-C424-D94F-807F-14A7F9C0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B92C9-68B7-2640-8D32-71628C7E2FD6}" type="datetimeFigureOut">
              <a:rPr lang="pt-BR" smtClean="0"/>
              <a:t>07/02/2025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39B364-17A8-BD4F-A03B-973E541C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83B84-C7D7-0540-B2D6-A297B505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49AD-993B-9B43-A58C-9FD4F3AC52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19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8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7744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-287544" y="1892830"/>
            <a:ext cx="238861" cy="2400268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333" i="0" dirty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287544" y="4293097"/>
            <a:ext cx="238861" cy="2178720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333" i="0" dirty="0">
                <a:solidFill>
                  <a:srgbClr val="4D4D4D"/>
                </a:solidFill>
                <a:latin typeface="Simplon BP Regular"/>
                <a:cs typeface="Simplon BP Regular"/>
              </a:rPr>
              <a:t>Simplon</a:t>
            </a:r>
            <a:r>
              <a:rPr lang="en-US" sz="1333" i="0" baseline="0" dirty="0">
                <a:solidFill>
                  <a:srgbClr val="4D4D4D"/>
                </a:solidFill>
                <a:latin typeface="Simplon BP Regular"/>
                <a:cs typeface="Simplon BP Regular"/>
              </a:rPr>
              <a:t> BP Regular 14pt</a:t>
            </a:r>
            <a:endParaRPr lang="en-US" sz="1333" i="0" dirty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>
            <a:off x="12187618" y="3141032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R 0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G 206</a:t>
            </a: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B 255</a:t>
            </a:r>
            <a:endParaRPr lang="en-US" sz="933" dirty="0">
              <a:solidFill>
                <a:schemeClr val="bg1"/>
              </a:solidFill>
              <a:latin typeface="Simplon BP Regular"/>
              <a:cs typeface="Simplon BP Regular"/>
            </a:endParaRPr>
          </a:p>
        </p:txBody>
      </p:sp>
      <p:sp>
        <p:nvSpPr>
          <p:cNvPr id="17" name="Freeform 16"/>
          <p:cNvSpPr>
            <a:spLocks/>
          </p:cNvSpPr>
          <p:nvPr userDrawn="1"/>
        </p:nvSpPr>
        <p:spPr bwMode="auto">
          <a:xfrm>
            <a:off x="12187618" y="2564968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R 0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G 211</a:t>
            </a: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B 24</a:t>
            </a:r>
            <a:endParaRPr lang="en-US" sz="933" dirty="0">
              <a:solidFill>
                <a:schemeClr val="bg1"/>
              </a:solidFill>
              <a:latin typeface="Simplon BP Regular"/>
              <a:cs typeface="Simplon BP Regular"/>
            </a:endParaRPr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>
            <a:off x="12187618" y="1988904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r>
              <a:rPr lang="en-US" sz="933" dirty="0">
                <a:solidFill>
                  <a:srgbClr val="4D4E50"/>
                </a:solidFill>
                <a:latin typeface="Simplon BP Regular"/>
                <a:cs typeface="Simplon BP Regular"/>
              </a:rPr>
              <a:t>R 255  </a:t>
            </a:r>
          </a:p>
          <a:p>
            <a:r>
              <a:rPr lang="en-US" sz="933" baseline="0" dirty="0">
                <a:solidFill>
                  <a:srgbClr val="4D4E50"/>
                </a:solidFill>
                <a:latin typeface="Simplon BP Regular"/>
                <a:cs typeface="Simplon BP Regular"/>
              </a:rPr>
              <a:t>G 255</a:t>
            </a:r>
            <a:r>
              <a:rPr lang="en-US" sz="933" dirty="0">
                <a:solidFill>
                  <a:srgbClr val="4D4E50"/>
                </a:solidFill>
                <a:latin typeface="Simplon BP Regular"/>
                <a:cs typeface="Simplon BP Regular"/>
              </a:rPr>
              <a:t>  </a:t>
            </a:r>
          </a:p>
          <a:p>
            <a:r>
              <a:rPr lang="en-US" sz="933" baseline="0" dirty="0">
                <a:solidFill>
                  <a:srgbClr val="4D4E50"/>
                </a:solidFill>
                <a:latin typeface="Simplon BP Regular"/>
                <a:cs typeface="Simplon BP Regular"/>
              </a:rPr>
              <a:t>B 0</a:t>
            </a:r>
            <a:endParaRPr lang="en-US" sz="933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>
            <a:off x="12187618" y="1412840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R 255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G </a:t>
            </a: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109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B 0</a:t>
            </a:r>
            <a:endParaRPr lang="en-US" sz="933" dirty="0">
              <a:solidFill>
                <a:schemeClr val="bg1"/>
              </a:solidFill>
              <a:latin typeface="Simplon BP Regular"/>
              <a:cs typeface="Simplon BP Regular"/>
            </a:endParaRPr>
          </a:p>
        </p:txBody>
      </p:sp>
      <p:sp>
        <p:nvSpPr>
          <p:cNvPr id="29" name="Freeform 28"/>
          <p:cNvSpPr>
            <a:spLocks/>
          </p:cNvSpPr>
          <p:nvPr userDrawn="1"/>
        </p:nvSpPr>
        <p:spPr bwMode="auto">
          <a:xfrm>
            <a:off x="12187618" y="83677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R 234 </a:t>
            </a:r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G </a:t>
            </a: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40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B 140</a:t>
            </a:r>
            <a:endParaRPr lang="en-US" sz="933" dirty="0">
              <a:solidFill>
                <a:schemeClr val="bg1"/>
              </a:solidFill>
              <a:latin typeface="Simplon BP Regular"/>
              <a:cs typeface="Simplon BP Regular"/>
            </a:endParaRPr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>
            <a:off x="12187618" y="263981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R</a:t>
            </a:r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 </a:t>
            </a: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160  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G 43  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B 255</a:t>
            </a:r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 </a:t>
            </a:r>
            <a:endParaRPr lang="en-US" sz="933" dirty="0">
              <a:solidFill>
                <a:schemeClr val="bg1"/>
              </a:solidFill>
              <a:latin typeface="Simplon BP Regular"/>
              <a:cs typeface="Simplon BP Regular"/>
            </a:endParaRPr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>
            <a:off x="12187618" y="3717096"/>
            <a:ext cx="437108" cy="576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none" lIns="48000" tIns="48000" rIns="48000" bIns="48000" numCol="1" anchor="t" anchorCtr="0" compatLnSpc="1">
            <a:prstTxWarp prst="textNoShape">
              <a:avLst/>
            </a:prstTxWarp>
          </a:bodyPr>
          <a:lstStyle/>
          <a:p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R 77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G 77</a:t>
            </a:r>
            <a:r>
              <a:rPr lang="en-US" sz="933" dirty="0">
                <a:solidFill>
                  <a:schemeClr val="bg1"/>
                </a:solidFill>
                <a:latin typeface="Simplon BP Regular"/>
                <a:cs typeface="Simplon BP Regular"/>
              </a:rPr>
              <a:t>  </a:t>
            </a:r>
          </a:p>
          <a:p>
            <a:r>
              <a:rPr lang="en-US" sz="933" baseline="0" dirty="0">
                <a:solidFill>
                  <a:schemeClr val="bg1"/>
                </a:solidFill>
                <a:latin typeface="Simplon BP Regular"/>
                <a:cs typeface="Simplon BP Regular"/>
              </a:rPr>
              <a:t>B 77</a:t>
            </a:r>
            <a:endParaRPr lang="en-US" sz="933" dirty="0">
              <a:solidFill>
                <a:schemeClr val="bg1"/>
              </a:solidFill>
              <a:latin typeface="Simplon BP Regular"/>
              <a:cs typeface="Simplon BP Regular"/>
            </a:endParaRPr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>
            <a:off x="12192000" y="4389107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pt-BR" sz="2400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>
            <a:off x="12191999" y="4584400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pt-BR" sz="2400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>
            <a:off x="12348363" y="4584399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pt-BR" sz="2400"/>
          </a:p>
        </p:txBody>
      </p:sp>
      <p:sp>
        <p:nvSpPr>
          <p:cNvPr id="45" name="Freeform 5"/>
          <p:cNvSpPr>
            <a:spLocks/>
          </p:cNvSpPr>
          <p:nvPr userDrawn="1"/>
        </p:nvSpPr>
        <p:spPr bwMode="auto">
          <a:xfrm>
            <a:off x="12504725" y="4584397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pt-BR" sz="2400"/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12192000" y="4872429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7" name="Freeform 5"/>
          <p:cNvSpPr>
            <a:spLocks/>
          </p:cNvSpPr>
          <p:nvPr userDrawn="1"/>
        </p:nvSpPr>
        <p:spPr bwMode="auto">
          <a:xfrm>
            <a:off x="12191999" y="508332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8" name="Freeform 5"/>
          <p:cNvSpPr>
            <a:spLocks/>
          </p:cNvSpPr>
          <p:nvPr userDrawn="1"/>
        </p:nvSpPr>
        <p:spPr bwMode="auto">
          <a:xfrm>
            <a:off x="12348363" y="5083324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9" name="Freeform 5"/>
          <p:cNvSpPr>
            <a:spLocks/>
          </p:cNvSpPr>
          <p:nvPr userDrawn="1"/>
        </p:nvSpPr>
        <p:spPr bwMode="auto">
          <a:xfrm>
            <a:off x="12504725" y="508332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50" name="Freeform 5"/>
          <p:cNvSpPr>
            <a:spLocks/>
          </p:cNvSpPr>
          <p:nvPr userDrawn="1"/>
        </p:nvSpPr>
        <p:spPr bwMode="auto">
          <a:xfrm>
            <a:off x="12192000" y="5352483"/>
            <a:ext cx="432725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51" name="Freeform 5"/>
          <p:cNvSpPr>
            <a:spLocks/>
          </p:cNvSpPr>
          <p:nvPr userDrawn="1"/>
        </p:nvSpPr>
        <p:spPr bwMode="auto">
          <a:xfrm>
            <a:off x="12191999" y="5547776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52" name="Freeform 5"/>
          <p:cNvSpPr>
            <a:spLocks/>
          </p:cNvSpPr>
          <p:nvPr userDrawn="1"/>
        </p:nvSpPr>
        <p:spPr bwMode="auto">
          <a:xfrm>
            <a:off x="12348363" y="5547775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53" name="Freeform 5"/>
          <p:cNvSpPr>
            <a:spLocks/>
          </p:cNvSpPr>
          <p:nvPr userDrawn="1"/>
        </p:nvSpPr>
        <p:spPr bwMode="auto">
          <a:xfrm>
            <a:off x="12504725" y="5547773"/>
            <a:ext cx="120000" cy="144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54" name="TextBox 39"/>
          <p:cNvSpPr txBox="1"/>
          <p:nvPr userDrawn="1"/>
        </p:nvSpPr>
        <p:spPr>
          <a:xfrm>
            <a:off x="12191999" y="5733257"/>
            <a:ext cx="616044" cy="8835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067"/>
              </a:spcBef>
            </a:pPr>
            <a:r>
              <a:rPr lang="en-US" sz="933" i="0" dirty="0" err="1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Esquemas</a:t>
            </a:r>
            <a:r>
              <a:rPr lang="en-US" sz="933" i="0" dirty="0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 de cores (</a:t>
            </a:r>
            <a:r>
              <a:rPr lang="en-US" sz="933" i="0" dirty="0" err="1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usar</a:t>
            </a:r>
            <a:r>
              <a:rPr lang="en-US" sz="933" i="0" dirty="0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 </a:t>
            </a:r>
            <a:r>
              <a:rPr lang="en-US" sz="933" i="0" dirty="0" err="1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apenas</a:t>
            </a:r>
            <a:r>
              <a:rPr lang="en-US" sz="933" i="0" dirty="0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 2 cores dos </a:t>
            </a:r>
            <a:r>
              <a:rPr lang="en-US" sz="933" i="0" dirty="0" err="1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esquemas</a:t>
            </a:r>
            <a:r>
              <a:rPr lang="en-US" sz="933" i="0" dirty="0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 </a:t>
            </a:r>
            <a:r>
              <a:rPr lang="en-US" sz="933" i="0" dirty="0" err="1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abaixo</a:t>
            </a:r>
            <a:r>
              <a:rPr lang="en-US" sz="933" i="0" baseline="0" dirty="0">
                <a:solidFill>
                  <a:srgbClr val="4D4D4D"/>
                </a:solidFill>
                <a:latin typeface="Simplon BP" charset="0"/>
                <a:ea typeface="Simplon BP" charset="0"/>
                <a:cs typeface="Simplon BP" charset="0"/>
              </a:rPr>
              <a:t>)</a:t>
            </a:r>
            <a:endParaRPr lang="en-US" sz="933" i="0" dirty="0">
              <a:solidFill>
                <a:srgbClr val="4D4D4D"/>
              </a:solidFill>
              <a:latin typeface="Simplon BP" charset="0"/>
              <a:ea typeface="Simplon BP" charset="0"/>
              <a:cs typeface="Simplon BP" charset="0"/>
            </a:endParaRPr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>
            <a:off x="12664043" y="263981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D78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33" name="Freeform 5"/>
          <p:cNvSpPr>
            <a:spLocks/>
          </p:cNvSpPr>
          <p:nvPr userDrawn="1"/>
        </p:nvSpPr>
        <p:spPr bwMode="auto">
          <a:xfrm>
            <a:off x="12664043" y="548680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7A23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34" name="Freeform 5"/>
          <p:cNvSpPr>
            <a:spLocks/>
          </p:cNvSpPr>
          <p:nvPr userDrawn="1"/>
        </p:nvSpPr>
        <p:spPr bwMode="auto">
          <a:xfrm>
            <a:off x="12664043" y="87973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86DB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35" name="Freeform 5"/>
          <p:cNvSpPr>
            <a:spLocks/>
          </p:cNvSpPr>
          <p:nvPr userDrawn="1"/>
        </p:nvSpPr>
        <p:spPr bwMode="auto">
          <a:xfrm>
            <a:off x="12664043" y="115550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B51F7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36" name="Freeform 5"/>
          <p:cNvSpPr>
            <a:spLocks/>
          </p:cNvSpPr>
          <p:nvPr userDrawn="1"/>
        </p:nvSpPr>
        <p:spPr bwMode="auto">
          <a:xfrm>
            <a:off x="12664043" y="147086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95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37" name="Freeform 5"/>
          <p:cNvSpPr>
            <a:spLocks/>
          </p:cNvSpPr>
          <p:nvPr userDrawn="1"/>
        </p:nvSpPr>
        <p:spPr bwMode="auto">
          <a:xfrm>
            <a:off x="12664043" y="174663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52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38" name="Freeform 5"/>
          <p:cNvSpPr>
            <a:spLocks/>
          </p:cNvSpPr>
          <p:nvPr userDrawn="1"/>
        </p:nvSpPr>
        <p:spPr bwMode="auto">
          <a:xfrm>
            <a:off x="12664043" y="204967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C8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39" name="Freeform 5"/>
          <p:cNvSpPr>
            <a:spLocks/>
          </p:cNvSpPr>
          <p:nvPr userDrawn="1"/>
        </p:nvSpPr>
        <p:spPr bwMode="auto">
          <a:xfrm>
            <a:off x="12664043" y="232544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CCC6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0" name="Freeform 5"/>
          <p:cNvSpPr>
            <a:spLocks/>
          </p:cNvSpPr>
          <p:nvPr userDrawn="1"/>
        </p:nvSpPr>
        <p:spPr bwMode="auto">
          <a:xfrm>
            <a:off x="12664043" y="2616176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69D17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1" name="Freeform 5"/>
          <p:cNvSpPr>
            <a:spLocks/>
          </p:cNvSpPr>
          <p:nvPr userDrawn="1"/>
        </p:nvSpPr>
        <p:spPr bwMode="auto">
          <a:xfrm>
            <a:off x="12664043" y="28919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9E0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2" name="Freeform 5"/>
          <p:cNvSpPr>
            <a:spLocks/>
          </p:cNvSpPr>
          <p:nvPr userDrawn="1"/>
        </p:nvSpPr>
        <p:spPr bwMode="auto">
          <a:xfrm>
            <a:off x="12664043" y="321961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E6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3" name="Freeform 5"/>
          <p:cNvSpPr>
            <a:spLocks/>
          </p:cNvSpPr>
          <p:nvPr userDrawn="1"/>
        </p:nvSpPr>
        <p:spPr bwMode="auto">
          <a:xfrm>
            <a:off x="12664043" y="3495389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AFC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44" name="Freeform 5"/>
          <p:cNvSpPr>
            <a:spLocks/>
          </p:cNvSpPr>
          <p:nvPr userDrawn="1"/>
        </p:nvSpPr>
        <p:spPr bwMode="auto">
          <a:xfrm>
            <a:off x="12664043" y="381074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DEDED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  <p:sp>
        <p:nvSpPr>
          <p:cNvPr id="55" name="Freeform 5"/>
          <p:cNvSpPr>
            <a:spLocks/>
          </p:cNvSpPr>
          <p:nvPr userDrawn="1"/>
        </p:nvSpPr>
        <p:spPr bwMode="auto">
          <a:xfrm>
            <a:off x="12664043" y="4086517"/>
            <a:ext cx="144000" cy="192000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9C9C9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43130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6" r:id="rId3"/>
    <p:sldLayoutId id="2147483661" r:id="rId4"/>
  </p:sldLayoutIdLst>
  <p:hf hdr="0" dt="0"/>
  <p:txStyles>
    <p:titleStyle>
      <a:lvl1pPr algn="l" defTabSz="609585" rtl="0" eaLnBrk="1" latinLnBrk="0" hangingPunct="1">
        <a:lnSpc>
          <a:spcPts val="5600"/>
        </a:lnSpc>
        <a:spcBef>
          <a:spcPct val="0"/>
        </a:spcBef>
        <a:spcAft>
          <a:spcPts val="0"/>
        </a:spcAft>
        <a:buNone/>
        <a:defRPr lang="en-US" sz="5600" b="0" i="0" kern="1200" noProof="0" dirty="0">
          <a:solidFill>
            <a:schemeClr val="accent5"/>
          </a:solidFill>
          <a:latin typeface="Simplon Oi Headline"/>
          <a:ea typeface="ＭＳ Ｐゴシック" charset="0"/>
          <a:cs typeface="Simplon Oi Headline"/>
        </a:defRPr>
      </a:lvl1pPr>
    </p:titleStyle>
    <p:bodyStyle>
      <a:lvl1pPr marL="245527" indent="-245527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/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1pPr>
      <a:lvl2pPr marL="486821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486821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2pPr>
      <a:lvl3pPr marL="721766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721766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3pPr>
      <a:lvl4pPr marL="956709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956709" algn="l"/>
        </a:tabLst>
        <a:defRPr lang="es-ES_tradnl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4pPr>
      <a:lvl5pPr marL="1191654" indent="-234945" algn="l" defTabSz="609585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Wingdings" charset="2"/>
        <a:buChar char="§"/>
        <a:tabLst>
          <a:tab pos="1191654" algn="l"/>
        </a:tabLst>
        <a:defRPr lang="pt-BR" sz="1867" kern="1200" smtClean="0">
          <a:solidFill>
            <a:srgbClr val="000000"/>
          </a:solidFill>
          <a:latin typeface="Simplon BP Regular"/>
          <a:ea typeface="ＭＳ Ｐゴシック" charset="0"/>
          <a:cs typeface="Simplon BP Regular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894">
          <p15:clr>
            <a:srgbClr val="F26B43"/>
          </p15:clr>
        </p15:guide>
        <p15:guide id="3" orient="horz" pos="169">
          <p15:clr>
            <a:srgbClr val="F26B43"/>
          </p15:clr>
        </p15:guide>
        <p15:guide id="4" pos="295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3072">
          <p15:clr>
            <a:srgbClr val="F26B43"/>
          </p15:clr>
        </p15:guide>
        <p15:guide id="7" orient="horz" pos="6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10" Type="http://schemas.openxmlformats.org/officeDocument/2006/relationships/image" Target="../media/image7.jpe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emf"/><Relationship Id="rId12" Type="http://schemas.openxmlformats.org/officeDocument/2006/relationships/image" Target="../media/image13.pn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78" name="Slide do think-cell" r:id="rId4" imgW="471" imgH="472" progId="TCLayout.ActiveDocument.1">
                  <p:embed/>
                </p:oleObj>
              </mc:Choice>
              <mc:Fallback>
                <p:oleObj name="Slide do think-cell" r:id="rId4" imgW="471" imgH="472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itle 1">
            <a:extLst>
              <a:ext uri="{FF2B5EF4-FFF2-40B4-BE49-F238E27FC236}">
                <a16:creationId xmlns:a16="http://schemas.microsoft.com/office/drawing/2014/main" id="{A3FFE942-E103-F64A-BE1E-E02926865370}"/>
              </a:ext>
            </a:extLst>
          </p:cNvPr>
          <p:cNvSpPr txBox="1">
            <a:spLocks/>
          </p:cNvSpPr>
          <p:nvPr/>
        </p:nvSpPr>
        <p:spPr>
          <a:xfrm>
            <a:off x="570593" y="292947"/>
            <a:ext cx="11215255" cy="660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kern="1200">
                <a:solidFill>
                  <a:schemeClr val="tx1"/>
                </a:solidFill>
                <a:latin typeface="Simplon Oi Headline"/>
                <a:ea typeface="+mj-ea"/>
                <a:cs typeface="+mj-cs"/>
              </a:defRPr>
            </a:lvl1pPr>
          </a:lstStyle>
          <a:p>
            <a:pPr defTabSz="914286">
              <a:defRPr/>
            </a:pPr>
            <a:r>
              <a:rPr lang="pt-BR" sz="2400" dirty="0">
                <a:solidFill>
                  <a:prstClr val="black"/>
                </a:solidFill>
              </a:rPr>
              <a:t>Visão SOLUÇÃO </a:t>
            </a:r>
            <a:r>
              <a:rPr lang="pt-BR" sz="2400" dirty="0" smtClean="0">
                <a:solidFill>
                  <a:prstClr val="black"/>
                </a:solidFill>
              </a:rPr>
              <a:t>OTT</a:t>
            </a:r>
            <a:endParaRPr lang="pt-BR" sz="2400" dirty="0">
              <a:solidFill>
                <a:prstClr val="black"/>
              </a:solidFill>
            </a:endParaRPr>
          </a:p>
        </p:txBody>
      </p:sp>
      <p:cxnSp>
        <p:nvCxnSpPr>
          <p:cNvPr id="64" name="Conector reto 41">
            <a:extLst>
              <a:ext uri="{FF2B5EF4-FFF2-40B4-BE49-F238E27FC236}">
                <a16:creationId xmlns:a16="http://schemas.microsoft.com/office/drawing/2014/main" id="{363E95D8-65B5-074A-ABDE-2C7E5778E5E1}"/>
              </a:ext>
            </a:extLst>
          </p:cNvPr>
          <p:cNvCxnSpPr>
            <a:cxnSpLocks/>
          </p:cNvCxnSpPr>
          <p:nvPr/>
        </p:nvCxnSpPr>
        <p:spPr>
          <a:xfrm flipH="1">
            <a:off x="241412" y="881838"/>
            <a:ext cx="11825316" cy="0"/>
          </a:xfrm>
          <a:prstGeom prst="line">
            <a:avLst/>
          </a:prstGeom>
          <a:ln w="6350">
            <a:solidFill>
              <a:srgbClr val="00D3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68C2C964-3DC8-804D-8FED-9C4F845C3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2610" y="291945"/>
            <a:ext cx="482600" cy="495300"/>
          </a:xfrm>
          <a:prstGeom prst="rect">
            <a:avLst/>
          </a:prstGeom>
        </p:spPr>
      </p:pic>
      <p:cxnSp>
        <p:nvCxnSpPr>
          <p:cNvPr id="145" name="Conector Angulado 144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2419115" y="6479335"/>
            <a:ext cx="215122" cy="275"/>
          </a:xfrm>
          <a:prstGeom prst="bentConnector3">
            <a:avLst>
              <a:gd name="adj1" fmla="val 50000"/>
            </a:avLst>
          </a:prstGeom>
          <a:ln w="19050">
            <a:solidFill>
              <a:srgbClr val="F11C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Angulado 147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2419115" y="6587777"/>
            <a:ext cx="215122" cy="275"/>
          </a:xfrm>
          <a:prstGeom prst="bentConnector3">
            <a:avLst>
              <a:gd name="adj1" fmla="val 50000"/>
            </a:avLst>
          </a:prstGeom>
          <a:ln w="19050"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Angulado 150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2414773" y="6698687"/>
            <a:ext cx="215122" cy="275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/>
          <p:cNvGrpSpPr/>
          <p:nvPr/>
        </p:nvGrpSpPr>
        <p:grpSpPr>
          <a:xfrm>
            <a:off x="577871" y="1254052"/>
            <a:ext cx="2460308" cy="5334000"/>
            <a:chOff x="577871" y="1254052"/>
            <a:chExt cx="2460308" cy="5334000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871" y="1254052"/>
              <a:ext cx="2460308" cy="5334000"/>
            </a:xfrm>
            <a:prstGeom prst="roundRect">
              <a:avLst>
                <a:gd name="adj" fmla="val 11111"/>
              </a:avLst>
            </a:prstGeom>
            <a:ln w="190500" cap="rnd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pic>
        <p:sp>
          <p:nvSpPr>
            <p:cNvPr id="8" name="Retângulo 7"/>
            <p:cNvSpPr/>
            <p:nvPr/>
          </p:nvSpPr>
          <p:spPr>
            <a:xfrm>
              <a:off x="749300" y="5422900"/>
              <a:ext cx="2146300" cy="355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pt-BR" sz="1400" smtClean="0">
                <a:latin typeface="Simplon BP Regular"/>
                <a:cs typeface="Simplon BP Regular"/>
              </a:endParaRPr>
            </a:p>
          </p:txBody>
        </p:sp>
      </p:grpSp>
      <p:grpSp>
        <p:nvGrpSpPr>
          <p:cNvPr id="10" name="Agrupar 9"/>
          <p:cNvGrpSpPr/>
          <p:nvPr/>
        </p:nvGrpSpPr>
        <p:grpSpPr>
          <a:xfrm>
            <a:off x="3369348" y="1253777"/>
            <a:ext cx="2460308" cy="5334000"/>
            <a:chOff x="3369348" y="1253777"/>
            <a:chExt cx="2460308" cy="5334000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9348" y="1253777"/>
              <a:ext cx="2460308" cy="5334000"/>
            </a:xfrm>
            <a:prstGeom prst="roundRect">
              <a:avLst>
                <a:gd name="adj" fmla="val 11111"/>
              </a:avLst>
            </a:prstGeom>
            <a:ln w="190500" cap="rnd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pic>
        <p:sp>
          <p:nvSpPr>
            <p:cNvPr id="87" name="Retângulo 86"/>
            <p:cNvSpPr/>
            <p:nvPr/>
          </p:nvSpPr>
          <p:spPr>
            <a:xfrm>
              <a:off x="3657600" y="5245100"/>
              <a:ext cx="1905000" cy="355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pt-BR" sz="1400" smtClean="0">
                <a:latin typeface="Simplon BP Regular"/>
                <a:cs typeface="Simplon BP Regular"/>
              </a:endParaRPr>
            </a:p>
          </p:txBody>
        </p:sp>
      </p:grpSp>
      <p:grpSp>
        <p:nvGrpSpPr>
          <p:cNvPr id="9" name="Agrupar 8"/>
          <p:cNvGrpSpPr/>
          <p:nvPr/>
        </p:nvGrpSpPr>
        <p:grpSpPr>
          <a:xfrm>
            <a:off x="6160825" y="1254052"/>
            <a:ext cx="2460308" cy="5334000"/>
            <a:chOff x="6160825" y="1254052"/>
            <a:chExt cx="2460308" cy="5334000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0825" y="1254052"/>
              <a:ext cx="2460308" cy="5334000"/>
            </a:xfrm>
            <a:prstGeom prst="roundRect">
              <a:avLst>
                <a:gd name="adj" fmla="val 11111"/>
              </a:avLst>
            </a:prstGeom>
            <a:ln w="190500" cap="rnd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pic>
        <p:sp>
          <p:nvSpPr>
            <p:cNvPr id="88" name="Retângulo 87"/>
            <p:cNvSpPr/>
            <p:nvPr/>
          </p:nvSpPr>
          <p:spPr>
            <a:xfrm>
              <a:off x="6302374" y="3403600"/>
              <a:ext cx="1069975" cy="355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r"/>
              <a:endParaRPr lang="pt-BR" sz="1400" smtClean="0">
                <a:latin typeface="Simplon BP Regular"/>
                <a:cs typeface="Simplon BP Regular"/>
              </a:endParaRPr>
            </a:p>
          </p:txBody>
        </p:sp>
      </p:grpSp>
      <p:grpSp>
        <p:nvGrpSpPr>
          <p:cNvPr id="12" name="Agrupar 11"/>
          <p:cNvGrpSpPr/>
          <p:nvPr/>
        </p:nvGrpSpPr>
        <p:grpSpPr>
          <a:xfrm>
            <a:off x="8952302" y="1253777"/>
            <a:ext cx="2460308" cy="5334000"/>
            <a:chOff x="8952302" y="1253777"/>
            <a:chExt cx="2460308" cy="5334000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2302" y="1253777"/>
              <a:ext cx="2460308" cy="5334000"/>
            </a:xfrm>
            <a:prstGeom prst="roundRect">
              <a:avLst>
                <a:gd name="adj" fmla="val 11111"/>
              </a:avLst>
            </a:prstGeom>
            <a:ln w="190500" cap="rnd">
              <a:noFill/>
              <a:prstDash val="soli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pic>
        <p:sp>
          <p:nvSpPr>
            <p:cNvPr id="90" name="Retângulo 89"/>
            <p:cNvSpPr/>
            <p:nvPr/>
          </p:nvSpPr>
          <p:spPr>
            <a:xfrm>
              <a:off x="9517061" y="1504950"/>
              <a:ext cx="812801" cy="2095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pt-BR" sz="1400" smtClean="0">
                <a:latin typeface="Simplon BP Regular"/>
                <a:cs typeface="Simplon BP Regular"/>
              </a:endParaRPr>
            </a:p>
          </p:txBody>
        </p:sp>
      </p:grpSp>
      <p:cxnSp>
        <p:nvCxnSpPr>
          <p:cNvPr id="14" name="Conector de Seta Reta 13"/>
          <p:cNvCxnSpPr/>
          <p:nvPr/>
        </p:nvCxnSpPr>
        <p:spPr>
          <a:xfrm>
            <a:off x="5562600" y="624114"/>
            <a:ext cx="954314" cy="25109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752251" y="292972"/>
            <a:ext cx="5529325" cy="288147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 rtlCol="0">
            <a:spAutoFit/>
          </a:bodyPr>
          <a:lstStyle/>
          <a:p>
            <a:r>
              <a:rPr lang="pt-BR" sz="1400" b="1" dirty="0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Impactar programadoras de TV para criar novo botão para TVCO</a:t>
            </a:r>
            <a:endParaRPr lang="pt-BR" sz="1400" b="1" dirty="0" smtClean="0">
              <a:solidFill>
                <a:srgbClr val="FF0000"/>
              </a:solidFill>
              <a:latin typeface="Simplon BP" charset="0"/>
              <a:ea typeface="Simplon BP" charset="0"/>
              <a:cs typeface="Simplon BP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33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Conector de Seta Reta 156">
            <a:extLst>
              <a:ext uri="{FF2B5EF4-FFF2-40B4-BE49-F238E27FC236}">
                <a16:creationId xmlns:a16="http://schemas.microsoft.com/office/drawing/2014/main" id="{D7ED2A9D-21D1-B449-BDF5-33761A7D1482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9127933" y="2994429"/>
            <a:ext cx="682068" cy="308317"/>
          </a:xfrm>
          <a:prstGeom prst="straightConnector1">
            <a:avLst/>
          </a:prstGeom>
          <a:ln>
            <a:solidFill>
              <a:srgbClr val="F11C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 50">
            <a:extLst>
              <a:ext uri="{FF2B5EF4-FFF2-40B4-BE49-F238E27FC236}">
                <a16:creationId xmlns:a16="http://schemas.microsoft.com/office/drawing/2014/main" id="{5F76636D-48ED-0D4D-9CF9-18C699A750B4}"/>
              </a:ext>
            </a:extLst>
          </p:cNvPr>
          <p:cNvSpPr/>
          <p:nvPr/>
        </p:nvSpPr>
        <p:spPr>
          <a:xfrm>
            <a:off x="8094558" y="2760963"/>
            <a:ext cx="1033375" cy="466931"/>
          </a:xfrm>
          <a:prstGeom prst="rect">
            <a:avLst/>
          </a:prstGeom>
          <a:solidFill>
            <a:srgbClr val="FFFFFF"/>
          </a:solidFill>
          <a:ln w="381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400" b="1" dirty="0">
                <a:latin typeface="Simplon BP" pitchFamily="2" charset="77"/>
              </a:rPr>
              <a:t>      </a:t>
            </a:r>
            <a:endParaRPr kumimoji="0" lang="pt-BR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implon BP" pitchFamily="2" charset="77"/>
              <a:sym typeface="Calibri"/>
            </a:endParaRPr>
          </a:p>
        </p:txBody>
      </p:sp>
      <p:pic>
        <p:nvPicPr>
          <p:cNvPr id="172057" name="Picture 25" descr="Understanding Siebel for beginners - anjalimehta - Medi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02" y="2581500"/>
            <a:ext cx="1008000" cy="50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09" name="Imagem 108">
            <a:extLst>
              <a:ext uri="{FF2B5EF4-FFF2-40B4-BE49-F238E27FC236}">
                <a16:creationId xmlns:a16="http://schemas.microsoft.com/office/drawing/2014/main" id="{57E0F88F-F46E-9040-9368-1EA2A4663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263" y="1199064"/>
            <a:ext cx="747964" cy="229106"/>
          </a:xfrm>
          <a:prstGeom prst="rect">
            <a:avLst/>
          </a:prstGeom>
        </p:spPr>
      </p:pic>
      <p:cxnSp>
        <p:nvCxnSpPr>
          <p:cNvPr id="105" name="Conector de Seta Reta 104">
            <a:extLst>
              <a:ext uri="{FF2B5EF4-FFF2-40B4-BE49-F238E27FC236}">
                <a16:creationId xmlns:a16="http://schemas.microsoft.com/office/drawing/2014/main" id="{D7ED2A9D-21D1-B449-BDF5-33761A7D1482}"/>
              </a:ext>
            </a:extLst>
          </p:cNvPr>
          <p:cNvCxnSpPr>
            <a:cxnSpLocks/>
          </p:cNvCxnSpPr>
          <p:nvPr/>
        </p:nvCxnSpPr>
        <p:spPr>
          <a:xfrm>
            <a:off x="6227788" y="1848874"/>
            <a:ext cx="1857535" cy="0"/>
          </a:xfrm>
          <a:prstGeom prst="straightConnector1">
            <a:avLst/>
          </a:prstGeom>
          <a:ln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Angulado 75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2921123" y="2994154"/>
            <a:ext cx="5173435" cy="275"/>
          </a:xfrm>
          <a:prstGeom prst="bentConnector3">
            <a:avLst>
              <a:gd name="adj1" fmla="val 50000"/>
            </a:avLst>
          </a:prstGeom>
          <a:ln>
            <a:solidFill>
              <a:srgbClr val="F11C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D7ED2A9D-21D1-B449-BDF5-33761A7D1482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327867" y="1843084"/>
            <a:ext cx="2434298" cy="2365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83" name="Slide do think-cell" r:id="rId6" imgW="471" imgH="472" progId="TCLayout.ActiveDocument.1">
                  <p:embed/>
                </p:oleObj>
              </mc:Choice>
              <mc:Fallback>
                <p:oleObj name="Slide do think-cell" r:id="rId6" imgW="471" imgH="472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itle 1">
            <a:extLst>
              <a:ext uri="{FF2B5EF4-FFF2-40B4-BE49-F238E27FC236}">
                <a16:creationId xmlns:a16="http://schemas.microsoft.com/office/drawing/2014/main" id="{A3FFE942-E103-F64A-BE1E-E02926865370}"/>
              </a:ext>
            </a:extLst>
          </p:cNvPr>
          <p:cNvSpPr txBox="1">
            <a:spLocks/>
          </p:cNvSpPr>
          <p:nvPr/>
        </p:nvSpPr>
        <p:spPr>
          <a:xfrm>
            <a:off x="570593" y="292947"/>
            <a:ext cx="11215255" cy="660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kern="1200">
                <a:solidFill>
                  <a:schemeClr val="tx1"/>
                </a:solidFill>
                <a:latin typeface="Simplon Oi Headline"/>
                <a:ea typeface="+mj-ea"/>
                <a:cs typeface="+mj-cs"/>
              </a:defRPr>
            </a:lvl1pPr>
          </a:lstStyle>
          <a:p>
            <a:pPr defTabSz="914286">
              <a:defRPr/>
            </a:pPr>
            <a:r>
              <a:rPr lang="pt-BR" sz="2400" dirty="0">
                <a:solidFill>
                  <a:prstClr val="black"/>
                </a:solidFill>
              </a:rPr>
              <a:t>Visão SOLUÇÃO </a:t>
            </a:r>
            <a:r>
              <a:rPr lang="pt-BR" sz="2400" dirty="0" smtClean="0">
                <a:solidFill>
                  <a:prstClr val="black"/>
                </a:solidFill>
              </a:rPr>
              <a:t>OTT</a:t>
            </a:r>
            <a:endParaRPr lang="pt-BR" sz="2400" dirty="0">
              <a:solidFill>
                <a:prstClr val="black"/>
              </a:solidFill>
            </a:endParaRPr>
          </a:p>
        </p:txBody>
      </p:sp>
      <p:cxnSp>
        <p:nvCxnSpPr>
          <p:cNvPr id="64" name="Conector reto 41">
            <a:extLst>
              <a:ext uri="{FF2B5EF4-FFF2-40B4-BE49-F238E27FC236}">
                <a16:creationId xmlns:a16="http://schemas.microsoft.com/office/drawing/2014/main" id="{363E95D8-65B5-074A-ABDE-2C7E5778E5E1}"/>
              </a:ext>
            </a:extLst>
          </p:cNvPr>
          <p:cNvCxnSpPr>
            <a:cxnSpLocks/>
          </p:cNvCxnSpPr>
          <p:nvPr/>
        </p:nvCxnSpPr>
        <p:spPr>
          <a:xfrm flipH="1">
            <a:off x="241412" y="881838"/>
            <a:ext cx="11825316" cy="0"/>
          </a:xfrm>
          <a:prstGeom prst="line">
            <a:avLst/>
          </a:prstGeom>
          <a:ln w="6350">
            <a:solidFill>
              <a:srgbClr val="00D3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68C2C964-3DC8-804D-8FED-9C4F845C3A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2610" y="291945"/>
            <a:ext cx="482600" cy="495300"/>
          </a:xfrm>
          <a:prstGeom prst="rect">
            <a:avLst/>
          </a:prstGeom>
        </p:spPr>
      </p:pic>
      <p:sp>
        <p:nvSpPr>
          <p:cNvPr id="44" name="Retângulo 43">
            <a:extLst>
              <a:ext uri="{FF2B5EF4-FFF2-40B4-BE49-F238E27FC236}">
                <a16:creationId xmlns:a16="http://schemas.microsoft.com/office/drawing/2014/main" id="{A988A434-6C7C-6D4B-BEC7-2B95507AC443}"/>
              </a:ext>
            </a:extLst>
          </p:cNvPr>
          <p:cNvSpPr/>
          <p:nvPr/>
        </p:nvSpPr>
        <p:spPr>
          <a:xfrm>
            <a:off x="7624610" y="1010978"/>
            <a:ext cx="208310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chemeClr val="bg1">
                    <a:lumMod val="75000"/>
                  </a:schemeClr>
                </a:solidFill>
                <a:latin typeface="Simplon BP Regular"/>
              </a:rPr>
              <a:t>OTT</a:t>
            </a:r>
          </a:p>
          <a:p>
            <a:pPr algn="ctr"/>
            <a:r>
              <a:rPr lang="pt-BR" sz="1200" b="1" dirty="0">
                <a:solidFill>
                  <a:schemeClr val="bg1">
                    <a:lumMod val="75000"/>
                  </a:schemeClr>
                </a:solidFill>
                <a:latin typeface="Simplon BP Regular"/>
              </a:rPr>
              <a:t>(MEDIAHUB)</a:t>
            </a:r>
            <a:endParaRPr lang="pt-BR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0" name="Imagem 99">
            <a:extLst>
              <a:ext uri="{FF2B5EF4-FFF2-40B4-BE49-F238E27FC236}">
                <a16:creationId xmlns:a16="http://schemas.microsoft.com/office/drawing/2014/main" id="{FE69CA4B-190F-184C-B5E1-222888EB26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8375" y="2699702"/>
            <a:ext cx="446783" cy="446783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E43A0D7C-313E-AF4D-95A9-CE6DB09AD0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6355" y="2866911"/>
            <a:ext cx="871534" cy="238124"/>
          </a:xfrm>
          <a:prstGeom prst="rect">
            <a:avLst/>
          </a:prstGeom>
        </p:spPr>
      </p:pic>
      <p:sp>
        <p:nvSpPr>
          <p:cNvPr id="58" name="Retângulo 57">
            <a:extLst>
              <a:ext uri="{FF2B5EF4-FFF2-40B4-BE49-F238E27FC236}">
                <a16:creationId xmlns:a16="http://schemas.microsoft.com/office/drawing/2014/main" id="{BCB81E7F-169B-6042-9F4F-23814A7C6F19}"/>
              </a:ext>
            </a:extLst>
          </p:cNvPr>
          <p:cNvSpPr/>
          <p:nvPr/>
        </p:nvSpPr>
        <p:spPr>
          <a:xfrm>
            <a:off x="8094131" y="1544928"/>
            <a:ext cx="1046144" cy="466931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b="1" dirty="0" smtClean="0">
                <a:latin typeface="Simplon BP" pitchFamily="2" charset="77"/>
              </a:rPr>
              <a:t>Media Hub   </a:t>
            </a:r>
            <a:endParaRPr kumimoji="0" lang="pt-BR" sz="12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implon BP" pitchFamily="2" charset="77"/>
              <a:sym typeface="Calibri"/>
            </a:endParaRP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5ADA073D-9926-FF41-A3AA-5288D21EB325}"/>
              </a:ext>
            </a:extLst>
          </p:cNvPr>
          <p:cNvSpPr/>
          <p:nvPr/>
        </p:nvSpPr>
        <p:spPr>
          <a:xfrm>
            <a:off x="7176448" y="1730711"/>
            <a:ext cx="400996" cy="25032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100" dirty="0">
                <a:latin typeface="Simplon BP" pitchFamily="2" charset="77"/>
              </a:rPr>
              <a:t>SIS   </a:t>
            </a:r>
            <a:endParaRPr kumimoji="0" lang="pt-BR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implon BP" pitchFamily="2" charset="77"/>
              <a:sym typeface="Calibri"/>
            </a:endParaRP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0B4180C6-AD8A-2B4A-A12D-20694E64E81C}"/>
              </a:ext>
            </a:extLst>
          </p:cNvPr>
          <p:cNvSpPr/>
          <p:nvPr/>
        </p:nvSpPr>
        <p:spPr>
          <a:xfrm>
            <a:off x="4973513" y="1730711"/>
            <a:ext cx="571792" cy="272060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100" b="1" dirty="0">
                <a:latin typeface="Simplon BP" pitchFamily="2" charset="77"/>
              </a:rPr>
              <a:t>COM    </a:t>
            </a:r>
            <a:endParaRPr kumimoji="0" lang="pt-BR" sz="11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implon BP" pitchFamily="2" charset="77"/>
              <a:sym typeface="Calibri"/>
            </a:endParaRP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A69EE4F6-F0FF-6041-820E-FF3E4DD20565}"/>
              </a:ext>
            </a:extLst>
          </p:cNvPr>
          <p:cNvSpPr/>
          <p:nvPr/>
        </p:nvSpPr>
        <p:spPr>
          <a:xfrm>
            <a:off x="5762165" y="1730711"/>
            <a:ext cx="571792" cy="272060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100" b="1" dirty="0">
                <a:latin typeface="Simplon BP" pitchFamily="2" charset="77"/>
              </a:rPr>
              <a:t>SOM    </a:t>
            </a:r>
            <a:endParaRPr kumimoji="0" lang="pt-BR" sz="11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implon BP" pitchFamily="2" charset="77"/>
              <a:sym typeface="Calibri"/>
            </a:endParaRPr>
          </a:p>
        </p:txBody>
      </p:sp>
      <p:sp>
        <p:nvSpPr>
          <p:cNvPr id="71" name="Retângulo Arredondado 70">
            <a:extLst>
              <a:ext uri="{FF2B5EF4-FFF2-40B4-BE49-F238E27FC236}">
                <a16:creationId xmlns:a16="http://schemas.microsoft.com/office/drawing/2014/main" id="{506ACFCC-339F-1144-ADFC-92E74A608AA8}"/>
              </a:ext>
            </a:extLst>
          </p:cNvPr>
          <p:cNvSpPr/>
          <p:nvPr/>
        </p:nvSpPr>
        <p:spPr>
          <a:xfrm>
            <a:off x="6484822" y="1771867"/>
            <a:ext cx="275561" cy="1469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SOA</a:t>
            </a:r>
          </a:p>
        </p:txBody>
      </p:sp>
      <p:sp>
        <p:nvSpPr>
          <p:cNvPr id="72" name="Retângulo Arredondado 71">
            <a:extLst>
              <a:ext uri="{FF2B5EF4-FFF2-40B4-BE49-F238E27FC236}">
                <a16:creationId xmlns:a16="http://schemas.microsoft.com/office/drawing/2014/main" id="{1EC200AA-2461-1E4E-A5F2-58670F477DC4}"/>
              </a:ext>
            </a:extLst>
          </p:cNvPr>
          <p:cNvSpPr/>
          <p:nvPr/>
        </p:nvSpPr>
        <p:spPr>
          <a:xfrm>
            <a:off x="4531523" y="1771591"/>
            <a:ext cx="275561" cy="1469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SOA</a:t>
            </a:r>
          </a:p>
        </p:txBody>
      </p:sp>
      <p:cxnSp>
        <p:nvCxnSpPr>
          <p:cNvPr id="21" name="Conector Angulado 20">
            <a:extLst>
              <a:ext uri="{FF2B5EF4-FFF2-40B4-BE49-F238E27FC236}">
                <a16:creationId xmlns:a16="http://schemas.microsoft.com/office/drawing/2014/main" id="{751C56E9-B06A-6F4E-86E7-0246B03F9E1E}"/>
              </a:ext>
            </a:extLst>
          </p:cNvPr>
          <p:cNvCxnSpPr>
            <a:cxnSpLocks/>
          </p:cNvCxnSpPr>
          <p:nvPr/>
        </p:nvCxnSpPr>
        <p:spPr>
          <a:xfrm>
            <a:off x="6333957" y="1915725"/>
            <a:ext cx="1749035" cy="951186"/>
          </a:xfrm>
          <a:prstGeom prst="bentConnector3">
            <a:avLst>
              <a:gd name="adj1" fmla="val 3529"/>
            </a:avLst>
          </a:prstGeom>
          <a:ln>
            <a:solidFill>
              <a:srgbClr val="F11C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tângulo 72">
            <a:extLst>
              <a:ext uri="{FF2B5EF4-FFF2-40B4-BE49-F238E27FC236}">
                <a16:creationId xmlns:a16="http://schemas.microsoft.com/office/drawing/2014/main" id="{F33F6C60-7B27-DE45-9642-75718D4A110D}"/>
              </a:ext>
            </a:extLst>
          </p:cNvPr>
          <p:cNvSpPr/>
          <p:nvPr/>
        </p:nvSpPr>
        <p:spPr>
          <a:xfrm>
            <a:off x="9810001" y="1843084"/>
            <a:ext cx="970744" cy="1509519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50" b="1" dirty="0">
                <a:solidFill>
                  <a:schemeClr val="accent5"/>
                </a:solidFill>
                <a:latin typeface="Simplon BP" pitchFamily="2" charset="77"/>
              </a:rPr>
              <a:t>Parceiros OTT</a:t>
            </a:r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476CAE20-2264-824C-A122-4840FC97667E}"/>
              </a:ext>
            </a:extLst>
          </p:cNvPr>
          <p:cNvCxnSpPr>
            <a:cxnSpLocks/>
          </p:cNvCxnSpPr>
          <p:nvPr/>
        </p:nvCxnSpPr>
        <p:spPr>
          <a:xfrm flipH="1">
            <a:off x="9157174" y="2583933"/>
            <a:ext cx="641135" cy="282978"/>
          </a:xfrm>
          <a:prstGeom prst="straightConnector1">
            <a:avLst/>
          </a:prstGeom>
          <a:ln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C2AFA2D6-917D-1A4D-90F0-D0DAF9232022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9127933" y="2689354"/>
            <a:ext cx="670375" cy="305075"/>
          </a:xfrm>
          <a:prstGeom prst="straightConnector1">
            <a:avLst/>
          </a:prstGeom>
          <a:ln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tângulo 76">
            <a:extLst>
              <a:ext uri="{FF2B5EF4-FFF2-40B4-BE49-F238E27FC236}">
                <a16:creationId xmlns:a16="http://schemas.microsoft.com/office/drawing/2014/main" id="{61D02063-B732-4F48-AFC5-FD01CC16ECB3}"/>
              </a:ext>
            </a:extLst>
          </p:cNvPr>
          <p:cNvSpPr/>
          <p:nvPr/>
        </p:nvSpPr>
        <p:spPr>
          <a:xfrm>
            <a:off x="5133658" y="1454317"/>
            <a:ext cx="1167307" cy="2308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pt-BR" sz="900" dirty="0">
                <a:solidFill>
                  <a:schemeClr val="accent5"/>
                </a:solidFill>
                <a:latin typeface="Simplon BP Regular"/>
              </a:rPr>
              <a:t>Ativação na compra</a:t>
            </a:r>
            <a:endParaRPr lang="pt-BR" sz="900" dirty="0">
              <a:solidFill>
                <a:schemeClr val="accent5"/>
              </a:solidFill>
            </a:endParaRP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561CDC44-C2D8-6146-A991-51A332E8ECD7}"/>
              </a:ext>
            </a:extLst>
          </p:cNvPr>
          <p:cNvSpPr/>
          <p:nvPr/>
        </p:nvSpPr>
        <p:spPr>
          <a:xfrm>
            <a:off x="6833170" y="2740760"/>
            <a:ext cx="1029217" cy="200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rgbClr val="F11C37"/>
                </a:solidFill>
                <a:latin typeface="Simplon BP Regular"/>
              </a:rPr>
              <a:t>Aprovisiona / Cancela</a:t>
            </a:r>
            <a:endParaRPr lang="pt-BR" sz="700" dirty="0">
              <a:solidFill>
                <a:srgbClr val="F11C37"/>
              </a:solidFill>
            </a:endParaRPr>
          </a:p>
        </p:txBody>
      </p:sp>
      <p:sp>
        <p:nvSpPr>
          <p:cNvPr id="92" name="Retângulo 91">
            <a:extLst>
              <a:ext uri="{FF2B5EF4-FFF2-40B4-BE49-F238E27FC236}">
                <a16:creationId xmlns:a16="http://schemas.microsoft.com/office/drawing/2014/main" id="{2C9E8BED-F8C7-2E40-8926-F63A2224498C}"/>
              </a:ext>
            </a:extLst>
          </p:cNvPr>
          <p:cNvSpPr/>
          <p:nvPr/>
        </p:nvSpPr>
        <p:spPr>
          <a:xfrm>
            <a:off x="8101507" y="1535827"/>
            <a:ext cx="1057283" cy="463240"/>
          </a:xfrm>
          <a:prstGeom prst="rect">
            <a:avLst/>
          </a:prstGeom>
          <a:gradFill flip="none" rotWithShape="1">
            <a:gsLst>
              <a:gs pos="25000">
                <a:srgbClr val="92D050"/>
              </a:gs>
              <a:gs pos="86000">
                <a:srgbClr val="31BF52"/>
              </a:gs>
              <a:gs pos="61000">
                <a:srgbClr val="00B050">
                  <a:lumMod val="98000"/>
                  <a:lumOff val="2000"/>
                </a:srgbClr>
              </a:gs>
              <a:gs pos="100000">
                <a:srgbClr val="92D050"/>
              </a:gs>
            </a:gsLst>
            <a:lin ang="2700000" scaled="1"/>
            <a:tileRect/>
          </a:gradFill>
          <a:ln w="25400" cap="flat">
            <a:solidFill>
              <a:srgbClr val="FF000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050" dirty="0">
                <a:solidFill>
                  <a:schemeClr val="bg1"/>
                </a:solidFill>
                <a:latin typeface="Simplon BP" pitchFamily="2" charset="77"/>
              </a:rPr>
              <a:t>API OI </a:t>
            </a:r>
            <a:br>
              <a:rPr lang="pt-BR" sz="1050" dirty="0">
                <a:solidFill>
                  <a:schemeClr val="bg1"/>
                </a:solidFill>
                <a:latin typeface="Simplon BP" pitchFamily="2" charset="77"/>
              </a:rPr>
            </a:br>
            <a:r>
              <a:rPr lang="pt-BR" sz="900" dirty="0">
                <a:solidFill>
                  <a:schemeClr val="bg1"/>
                </a:solidFill>
                <a:latin typeface="Simplon BP" pitchFamily="2" charset="77"/>
              </a:rPr>
              <a:t>Conecta Parceiros</a:t>
            </a:r>
            <a:endParaRPr lang="pt-BR" sz="1050" dirty="0">
              <a:solidFill>
                <a:schemeClr val="bg1"/>
              </a:solidFill>
              <a:latin typeface="Simplon BP" pitchFamily="2" charset="77"/>
            </a:endParaRPr>
          </a:p>
        </p:txBody>
      </p:sp>
      <p:cxnSp>
        <p:nvCxnSpPr>
          <p:cNvPr id="94" name="Conector Angulado 93">
            <a:extLst>
              <a:ext uri="{FF2B5EF4-FFF2-40B4-BE49-F238E27FC236}">
                <a16:creationId xmlns:a16="http://schemas.microsoft.com/office/drawing/2014/main" id="{21D0C02C-8CD0-264E-87F2-8E72A7AB3781}"/>
              </a:ext>
            </a:extLst>
          </p:cNvPr>
          <p:cNvCxnSpPr>
            <a:cxnSpLocks/>
            <a:stCxn id="51" idx="0"/>
            <a:endCxn id="58" idx="2"/>
          </p:cNvCxnSpPr>
          <p:nvPr/>
        </p:nvCxnSpPr>
        <p:spPr>
          <a:xfrm rot="5400000" flipH="1" flipV="1">
            <a:off x="8239672" y="2383433"/>
            <a:ext cx="749104" cy="5957"/>
          </a:xfrm>
          <a:prstGeom prst="bentConnector3">
            <a:avLst>
              <a:gd name="adj1" fmla="val 50000"/>
            </a:avLst>
          </a:prstGeom>
          <a:ln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tângulo 95">
            <a:extLst>
              <a:ext uri="{FF2B5EF4-FFF2-40B4-BE49-F238E27FC236}">
                <a16:creationId xmlns:a16="http://schemas.microsoft.com/office/drawing/2014/main" id="{42ADB5CC-6809-4040-8979-57BA4EC8960A}"/>
              </a:ext>
            </a:extLst>
          </p:cNvPr>
          <p:cNvSpPr/>
          <p:nvPr/>
        </p:nvSpPr>
        <p:spPr>
          <a:xfrm>
            <a:off x="8094558" y="2211495"/>
            <a:ext cx="1252266" cy="200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rgbClr val="0F2DED"/>
                </a:solidFill>
                <a:latin typeface="Simplon BP Regular"/>
              </a:rPr>
              <a:t>Elegibilidade (</a:t>
            </a:r>
            <a:r>
              <a:rPr lang="pt-BR" sz="700" dirty="0" err="1">
                <a:solidFill>
                  <a:srgbClr val="0F2DED"/>
                </a:solidFill>
                <a:latin typeface="Simplon BP Regular"/>
              </a:rPr>
              <a:t>ex-mediahub</a:t>
            </a:r>
            <a:r>
              <a:rPr lang="pt-BR" sz="700" dirty="0">
                <a:solidFill>
                  <a:srgbClr val="0F2DED"/>
                </a:solidFill>
                <a:latin typeface="Simplon BP Regular"/>
              </a:rPr>
              <a:t>)</a:t>
            </a:r>
          </a:p>
        </p:txBody>
      </p:sp>
      <p:sp>
        <p:nvSpPr>
          <p:cNvPr id="97" name="Retângulo Arredondado 96">
            <a:extLst>
              <a:ext uri="{FF2B5EF4-FFF2-40B4-BE49-F238E27FC236}">
                <a16:creationId xmlns:a16="http://schemas.microsoft.com/office/drawing/2014/main" id="{4CF14403-52CD-A54D-A500-449D5DBF0045}"/>
              </a:ext>
            </a:extLst>
          </p:cNvPr>
          <p:cNvSpPr/>
          <p:nvPr/>
        </p:nvSpPr>
        <p:spPr>
          <a:xfrm>
            <a:off x="6267616" y="2597843"/>
            <a:ext cx="275561" cy="1469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API</a:t>
            </a:r>
          </a:p>
        </p:txBody>
      </p:sp>
      <p:pic>
        <p:nvPicPr>
          <p:cNvPr id="82" name="Imagem 81">
            <a:extLst>
              <a:ext uri="{FF2B5EF4-FFF2-40B4-BE49-F238E27FC236}">
                <a16:creationId xmlns:a16="http://schemas.microsoft.com/office/drawing/2014/main" id="{6CA0ED2B-99B4-3C46-8047-7AB846738B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2218" y="3169245"/>
            <a:ext cx="695129" cy="234313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D2D1746E-BABA-3340-B173-E7E6A7AF4C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2218" y="2535764"/>
            <a:ext cx="579337" cy="220400"/>
          </a:xfrm>
          <a:prstGeom prst="rect">
            <a:avLst/>
          </a:prstGeom>
          <a:ln w="28575">
            <a:solidFill>
              <a:srgbClr val="FF0000"/>
            </a:solidFill>
          </a:ln>
          <a:effectLst>
            <a:softEdge rad="0"/>
          </a:effectLst>
        </p:spPr>
      </p:pic>
      <p:pic>
        <p:nvPicPr>
          <p:cNvPr id="84" name="Imagem 83">
            <a:extLst>
              <a:ext uri="{FF2B5EF4-FFF2-40B4-BE49-F238E27FC236}">
                <a16:creationId xmlns:a16="http://schemas.microsoft.com/office/drawing/2014/main" id="{71E8B84E-EABD-BB41-87C9-7B4B1EB38B7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4680" y="2217517"/>
            <a:ext cx="868144" cy="29164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12" name="Retângulo Arredondado 111">
            <a:extLst>
              <a:ext uri="{FF2B5EF4-FFF2-40B4-BE49-F238E27FC236}">
                <a16:creationId xmlns:a16="http://schemas.microsoft.com/office/drawing/2014/main" id="{084DBAD7-C551-ED42-8FB8-F5680AE061ED}"/>
              </a:ext>
            </a:extLst>
          </p:cNvPr>
          <p:cNvSpPr/>
          <p:nvPr/>
        </p:nvSpPr>
        <p:spPr>
          <a:xfrm>
            <a:off x="4046938" y="2923365"/>
            <a:ext cx="441736" cy="15979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SOA</a:t>
            </a:r>
          </a:p>
        </p:txBody>
      </p:sp>
      <p:pic>
        <p:nvPicPr>
          <p:cNvPr id="127" name="Imagem 126">
            <a:extLst>
              <a:ext uri="{FF2B5EF4-FFF2-40B4-BE49-F238E27FC236}">
                <a16:creationId xmlns:a16="http://schemas.microsoft.com/office/drawing/2014/main" id="{9A90E892-6926-EF41-8361-EB990F191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465" y="2788096"/>
            <a:ext cx="747964" cy="22910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5606844B-E0E8-B64A-875B-95C97CF4A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7363" y="3053314"/>
            <a:ext cx="695129" cy="234313"/>
          </a:xfrm>
          <a:prstGeom prst="rect">
            <a:avLst/>
          </a:prstGeom>
        </p:spPr>
      </p:pic>
      <p:sp>
        <p:nvSpPr>
          <p:cNvPr id="85" name="Retângulo 84">
            <a:extLst>
              <a:ext uri="{FF2B5EF4-FFF2-40B4-BE49-F238E27FC236}">
                <a16:creationId xmlns:a16="http://schemas.microsoft.com/office/drawing/2014/main" id="{CCB0A9C7-BF6D-C343-9E04-A801CF9CC8EA}"/>
              </a:ext>
            </a:extLst>
          </p:cNvPr>
          <p:cNvSpPr/>
          <p:nvPr/>
        </p:nvSpPr>
        <p:spPr>
          <a:xfrm>
            <a:off x="5078436" y="2912179"/>
            <a:ext cx="1012430" cy="200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rgbClr val="F11C37"/>
                </a:solidFill>
                <a:latin typeface="Simplon BP Regular"/>
              </a:rPr>
              <a:t>Aprovisiona / Cancela</a:t>
            </a:r>
            <a:endParaRPr lang="pt-BR" sz="700" dirty="0">
              <a:solidFill>
                <a:srgbClr val="F11C37"/>
              </a:solidFill>
            </a:endParaRPr>
          </a:p>
        </p:txBody>
      </p:sp>
      <p:sp>
        <p:nvSpPr>
          <p:cNvPr id="86" name="Retângulo Arredondado 85">
            <a:extLst>
              <a:ext uri="{FF2B5EF4-FFF2-40B4-BE49-F238E27FC236}">
                <a16:creationId xmlns:a16="http://schemas.microsoft.com/office/drawing/2014/main" id="{166722DE-5323-004A-9AD5-8B85B93BA61A}"/>
              </a:ext>
            </a:extLst>
          </p:cNvPr>
          <p:cNvSpPr/>
          <p:nvPr/>
        </p:nvSpPr>
        <p:spPr>
          <a:xfrm>
            <a:off x="4603920" y="2920694"/>
            <a:ext cx="275561" cy="1469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API</a:t>
            </a:r>
          </a:p>
        </p:txBody>
      </p:sp>
      <p:cxnSp>
        <p:nvCxnSpPr>
          <p:cNvPr id="102" name="Conector Angulado 101">
            <a:extLst>
              <a:ext uri="{FF2B5EF4-FFF2-40B4-BE49-F238E27FC236}">
                <a16:creationId xmlns:a16="http://schemas.microsoft.com/office/drawing/2014/main" id="{5CBA0A1C-1721-804A-B045-1DF6D1056BE4}"/>
              </a:ext>
            </a:extLst>
          </p:cNvPr>
          <p:cNvCxnSpPr>
            <a:cxnSpLocks/>
            <a:stCxn id="172057" idx="3"/>
            <a:endCxn id="71" idx="2"/>
          </p:cNvCxnSpPr>
          <p:nvPr/>
        </p:nvCxnSpPr>
        <p:spPr>
          <a:xfrm flipV="1">
            <a:off x="2929502" y="1918787"/>
            <a:ext cx="3693101" cy="914713"/>
          </a:xfrm>
          <a:prstGeom prst="bentConnector2">
            <a:avLst/>
          </a:prstGeom>
          <a:ln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459087F4-5AAD-114C-B82F-E9389D9F1316}"/>
              </a:ext>
            </a:extLst>
          </p:cNvPr>
          <p:cNvSpPr/>
          <p:nvPr/>
        </p:nvSpPr>
        <p:spPr>
          <a:xfrm>
            <a:off x="4970203" y="2685290"/>
            <a:ext cx="1012430" cy="200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rgbClr val="0F2DED"/>
                </a:solidFill>
                <a:latin typeface="Simplon BP Regular"/>
              </a:rPr>
              <a:t>Aprovisiona / Cancela</a:t>
            </a:r>
            <a:endParaRPr lang="pt-BR" sz="700" dirty="0">
              <a:solidFill>
                <a:srgbClr val="0F2DED"/>
              </a:solidFill>
            </a:endParaRPr>
          </a:p>
        </p:txBody>
      </p:sp>
      <p:pic>
        <p:nvPicPr>
          <p:cNvPr id="110" name="Imagem 109">
            <a:extLst>
              <a:ext uri="{FF2B5EF4-FFF2-40B4-BE49-F238E27FC236}">
                <a16:creationId xmlns:a16="http://schemas.microsoft.com/office/drawing/2014/main" id="{1672BE1D-7FC4-8148-8E3C-8B208C5C85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6277" y="4585226"/>
            <a:ext cx="695129" cy="234313"/>
          </a:xfrm>
          <a:prstGeom prst="rect">
            <a:avLst/>
          </a:prstGeom>
        </p:spPr>
      </p:pic>
      <p:sp>
        <p:nvSpPr>
          <p:cNvPr id="111" name="Retângulo 110">
            <a:extLst>
              <a:ext uri="{FF2B5EF4-FFF2-40B4-BE49-F238E27FC236}">
                <a16:creationId xmlns:a16="http://schemas.microsoft.com/office/drawing/2014/main" id="{830F85A0-71DE-8041-8794-076EE6BF6720}"/>
              </a:ext>
            </a:extLst>
          </p:cNvPr>
          <p:cNvSpPr/>
          <p:nvPr/>
        </p:nvSpPr>
        <p:spPr>
          <a:xfrm>
            <a:off x="2228035" y="4163464"/>
            <a:ext cx="1165118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800" b="1" dirty="0">
                <a:latin typeface="Simplon BP Regular"/>
              </a:rPr>
              <a:t>OI</a:t>
            </a:r>
            <a:endParaRPr lang="pt-BR" sz="800" dirty="0"/>
          </a:p>
        </p:txBody>
      </p:sp>
      <p:sp>
        <p:nvSpPr>
          <p:cNvPr id="119" name="Retângulo 118">
            <a:extLst>
              <a:ext uri="{FF2B5EF4-FFF2-40B4-BE49-F238E27FC236}">
                <a16:creationId xmlns:a16="http://schemas.microsoft.com/office/drawing/2014/main" id="{9530509D-4FE7-1F4A-9172-861357A97362}"/>
              </a:ext>
            </a:extLst>
          </p:cNvPr>
          <p:cNvSpPr/>
          <p:nvPr/>
        </p:nvSpPr>
        <p:spPr>
          <a:xfrm>
            <a:off x="4669747" y="4140147"/>
            <a:ext cx="1165118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800" b="1" dirty="0">
                <a:latin typeface="Simplon BP Regular"/>
              </a:rPr>
              <a:t>AKROSS</a:t>
            </a:r>
            <a:endParaRPr lang="pt-BR" sz="800" dirty="0"/>
          </a:p>
        </p:txBody>
      </p: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19AA23E0-0828-F043-87EC-42A210D387C4}"/>
              </a:ext>
            </a:extLst>
          </p:cNvPr>
          <p:cNvSpPr/>
          <p:nvPr/>
        </p:nvSpPr>
        <p:spPr>
          <a:xfrm>
            <a:off x="6037441" y="4133973"/>
            <a:ext cx="1165118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800" b="1" dirty="0">
                <a:latin typeface="Simplon BP Regular"/>
              </a:rPr>
              <a:t>Parceiro</a:t>
            </a:r>
            <a:endParaRPr lang="pt-BR" sz="800" dirty="0"/>
          </a:p>
        </p:txBody>
      </p:sp>
      <p:sp>
        <p:nvSpPr>
          <p:cNvPr id="131" name="Retângulo 130">
            <a:extLst>
              <a:ext uri="{FF2B5EF4-FFF2-40B4-BE49-F238E27FC236}">
                <a16:creationId xmlns:a16="http://schemas.microsoft.com/office/drawing/2014/main" id="{D8584922-D55C-7C4B-B828-CB7984CB83E9}"/>
              </a:ext>
            </a:extLst>
          </p:cNvPr>
          <p:cNvSpPr/>
          <p:nvPr/>
        </p:nvSpPr>
        <p:spPr>
          <a:xfrm>
            <a:off x="2228035" y="4549432"/>
            <a:ext cx="131281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Solicita a ativação e cancelamento para </a:t>
            </a:r>
            <a:r>
              <a:rPr lang="pt-BR" sz="700" dirty="0" err="1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Akross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7" name="Imagem 136">
            <a:extLst>
              <a:ext uri="{FF2B5EF4-FFF2-40B4-BE49-F238E27FC236}">
                <a16:creationId xmlns:a16="http://schemas.microsoft.com/office/drawing/2014/main" id="{30A021E1-2D6A-8345-BF8C-F7BD483810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6379" y="5111439"/>
            <a:ext cx="458761" cy="174529"/>
          </a:xfrm>
          <a:prstGeom prst="rect">
            <a:avLst/>
          </a:prstGeom>
          <a:effectLst>
            <a:softEdge rad="0"/>
          </a:effectLst>
        </p:spPr>
      </p:pic>
      <p:sp>
        <p:nvSpPr>
          <p:cNvPr id="138" name="Retângulo 137">
            <a:extLst>
              <a:ext uri="{FF2B5EF4-FFF2-40B4-BE49-F238E27FC236}">
                <a16:creationId xmlns:a16="http://schemas.microsoft.com/office/drawing/2014/main" id="{7781FA66-67DF-7144-88A7-467FF28D010C}"/>
              </a:ext>
            </a:extLst>
          </p:cNvPr>
          <p:cNvSpPr/>
          <p:nvPr/>
        </p:nvSpPr>
        <p:spPr>
          <a:xfrm>
            <a:off x="4590094" y="4528599"/>
            <a:ext cx="132264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Orquestra a ativa uma assinatura no parceiro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9" name="Retângulo 138">
            <a:extLst>
              <a:ext uri="{FF2B5EF4-FFF2-40B4-BE49-F238E27FC236}">
                <a16:creationId xmlns:a16="http://schemas.microsoft.com/office/drawing/2014/main" id="{A61209CE-E15F-DC42-BF2A-38A628B6F39A}"/>
              </a:ext>
            </a:extLst>
          </p:cNvPr>
          <p:cNvSpPr/>
          <p:nvPr/>
        </p:nvSpPr>
        <p:spPr>
          <a:xfrm>
            <a:off x="6044634" y="4529682"/>
            <a:ext cx="132264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Elegibilidade interna com a assinatura criada na ativação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3F9B63C-A767-924B-BCB0-4EDC4D1B0168}"/>
              </a:ext>
            </a:extLst>
          </p:cNvPr>
          <p:cNvCxnSpPr>
            <a:cxnSpLocks/>
          </p:cNvCxnSpPr>
          <p:nvPr/>
        </p:nvCxnSpPr>
        <p:spPr>
          <a:xfrm>
            <a:off x="1125833" y="4393776"/>
            <a:ext cx="7602649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1DCFED13-3674-9A4E-9E07-E39ADE7CAA9C}"/>
              </a:ext>
            </a:extLst>
          </p:cNvPr>
          <p:cNvSpPr/>
          <p:nvPr/>
        </p:nvSpPr>
        <p:spPr>
          <a:xfrm>
            <a:off x="7527257" y="4153269"/>
            <a:ext cx="1165118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800" b="1" dirty="0">
                <a:latin typeface="Simplon BP Regular"/>
              </a:rPr>
              <a:t>Tipo</a:t>
            </a:r>
            <a:endParaRPr lang="pt-BR" sz="800" dirty="0"/>
          </a:p>
        </p:txBody>
      </p: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77B7224C-C1ED-C247-BC8C-2648B03BE5DE}"/>
              </a:ext>
            </a:extLst>
          </p:cNvPr>
          <p:cNvSpPr/>
          <p:nvPr/>
        </p:nvSpPr>
        <p:spPr>
          <a:xfrm>
            <a:off x="7484953" y="4548755"/>
            <a:ext cx="132264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latin typeface="Simplon BP Regular"/>
              </a:rPr>
              <a:t>Elegibilidade no parceiro</a:t>
            </a:r>
            <a:endParaRPr lang="pt-BR" sz="700" dirty="0"/>
          </a:p>
        </p:txBody>
      </p:sp>
      <p:sp>
        <p:nvSpPr>
          <p:cNvPr id="142" name="Retângulo 141">
            <a:extLst>
              <a:ext uri="{FF2B5EF4-FFF2-40B4-BE49-F238E27FC236}">
                <a16:creationId xmlns:a16="http://schemas.microsoft.com/office/drawing/2014/main" id="{8F1D8C46-ED74-0F48-B335-E410E866C3F8}"/>
              </a:ext>
            </a:extLst>
          </p:cNvPr>
          <p:cNvSpPr/>
          <p:nvPr/>
        </p:nvSpPr>
        <p:spPr>
          <a:xfrm>
            <a:off x="2198422" y="5223446"/>
            <a:ext cx="132893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Solicita a ativação e cancelamento no </a:t>
            </a:r>
            <a:r>
              <a:rPr lang="pt-BR" sz="700" dirty="0" err="1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MediaHub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3" name="Retângulo 142">
            <a:extLst>
              <a:ext uri="{FF2B5EF4-FFF2-40B4-BE49-F238E27FC236}">
                <a16:creationId xmlns:a16="http://schemas.microsoft.com/office/drawing/2014/main" id="{6E07532B-80FA-4C41-84E4-84B1ABD98D2E}"/>
              </a:ext>
            </a:extLst>
          </p:cNvPr>
          <p:cNvSpPr/>
          <p:nvPr/>
        </p:nvSpPr>
        <p:spPr>
          <a:xfrm>
            <a:off x="3595729" y="4142881"/>
            <a:ext cx="11651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b="1" dirty="0">
                <a:latin typeface="Simplon BP Regular"/>
              </a:rPr>
              <a:t>OI - MEDIAHUB</a:t>
            </a:r>
            <a:endParaRPr lang="pt-BR" sz="800" dirty="0"/>
          </a:p>
        </p:txBody>
      </p:sp>
      <p:sp>
        <p:nvSpPr>
          <p:cNvPr id="144" name="Retângulo 143">
            <a:extLst>
              <a:ext uri="{FF2B5EF4-FFF2-40B4-BE49-F238E27FC236}">
                <a16:creationId xmlns:a16="http://schemas.microsoft.com/office/drawing/2014/main" id="{9AF38B19-D371-854B-8617-3843B66A9302}"/>
              </a:ext>
            </a:extLst>
          </p:cNvPr>
          <p:cNvSpPr/>
          <p:nvPr/>
        </p:nvSpPr>
        <p:spPr>
          <a:xfrm>
            <a:off x="3938866" y="4566259"/>
            <a:ext cx="40854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N/A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C6B9415D-B0F5-7641-A351-28FDA6E6B10A}"/>
              </a:ext>
            </a:extLst>
          </p:cNvPr>
          <p:cNvSpPr/>
          <p:nvPr/>
        </p:nvSpPr>
        <p:spPr>
          <a:xfrm>
            <a:off x="3677379" y="5249565"/>
            <a:ext cx="8992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Elegibilidade (Consultada pela </a:t>
            </a:r>
            <a:r>
              <a:rPr lang="pt-BR" sz="700" dirty="0" err="1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Akross</a:t>
            </a:r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) 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7" name="Retângulo 146">
            <a:extLst>
              <a:ext uri="{FF2B5EF4-FFF2-40B4-BE49-F238E27FC236}">
                <a16:creationId xmlns:a16="http://schemas.microsoft.com/office/drawing/2014/main" id="{73DDA82E-74E4-BB41-A48F-AA3CEB5918C6}"/>
              </a:ext>
            </a:extLst>
          </p:cNvPr>
          <p:cNvSpPr/>
          <p:nvPr/>
        </p:nvSpPr>
        <p:spPr>
          <a:xfrm>
            <a:off x="4753995" y="5223446"/>
            <a:ext cx="8992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Autenticação e Consulta elegibilidade na Oi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9" name="Retângulo 148">
            <a:extLst>
              <a:ext uri="{FF2B5EF4-FFF2-40B4-BE49-F238E27FC236}">
                <a16:creationId xmlns:a16="http://schemas.microsoft.com/office/drawing/2014/main" id="{ACCA9BB6-F82F-3E43-ACB8-434EFA321202}"/>
              </a:ext>
            </a:extLst>
          </p:cNvPr>
          <p:cNvSpPr/>
          <p:nvPr/>
        </p:nvSpPr>
        <p:spPr>
          <a:xfrm>
            <a:off x="6011902" y="5253796"/>
            <a:ext cx="132264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Elegibilidade na base Oi via </a:t>
            </a:r>
            <a:r>
              <a:rPr lang="pt-BR" sz="700" dirty="0" err="1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Akross</a:t>
            </a:r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/</a:t>
            </a:r>
            <a:r>
              <a:rPr lang="pt-BR" sz="700" dirty="0" err="1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Login</a:t>
            </a:r>
            <a:r>
              <a:rPr lang="pt-BR" sz="700" dirty="0">
                <a:solidFill>
                  <a:schemeClr val="bg1">
                    <a:lumMod val="65000"/>
                  </a:schemeClr>
                </a:solidFill>
                <a:latin typeface="Simplon BP Regular"/>
              </a:rPr>
              <a:t> Oi(NAM)</a:t>
            </a:r>
            <a:endParaRPr lang="pt-BR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0" name="Retângulo 149">
            <a:extLst>
              <a:ext uri="{FF2B5EF4-FFF2-40B4-BE49-F238E27FC236}">
                <a16:creationId xmlns:a16="http://schemas.microsoft.com/office/drawing/2014/main" id="{26A048AC-0AF4-6D46-AEAB-3BBD6D52005C}"/>
              </a:ext>
            </a:extLst>
          </p:cNvPr>
          <p:cNvSpPr/>
          <p:nvPr/>
        </p:nvSpPr>
        <p:spPr>
          <a:xfrm>
            <a:off x="7449622" y="5292913"/>
            <a:ext cx="132264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latin typeface="Simplon BP Regular"/>
              </a:rPr>
              <a:t>Elegibilidade na Oi</a:t>
            </a:r>
            <a:endParaRPr lang="pt-BR" sz="700" dirty="0"/>
          </a:p>
        </p:txBody>
      </p:sp>
      <p:pic>
        <p:nvPicPr>
          <p:cNvPr id="152" name="Imagem 151">
            <a:extLst>
              <a:ext uri="{FF2B5EF4-FFF2-40B4-BE49-F238E27FC236}">
                <a16:creationId xmlns:a16="http://schemas.microsoft.com/office/drawing/2014/main" id="{0D92EC3B-0A4A-6049-9AE8-B8BEF4F80B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6034" y="5325379"/>
            <a:ext cx="660319" cy="221826"/>
          </a:xfrm>
          <a:prstGeom prst="rect">
            <a:avLst/>
          </a:prstGeom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57E0F88F-F46E-9040-9368-1EA2A4663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228" y="5611663"/>
            <a:ext cx="747964" cy="229106"/>
          </a:xfrm>
          <a:prstGeom prst="rect">
            <a:avLst/>
          </a:prstGeom>
        </p:spPr>
      </p:pic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E7831FF1-7F51-674F-A09C-399E5F0FED0C}"/>
              </a:ext>
            </a:extLst>
          </p:cNvPr>
          <p:cNvCxnSpPr>
            <a:cxnSpLocks/>
          </p:cNvCxnSpPr>
          <p:nvPr/>
        </p:nvCxnSpPr>
        <p:spPr>
          <a:xfrm>
            <a:off x="1450955" y="4979537"/>
            <a:ext cx="730776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to 154">
            <a:extLst>
              <a:ext uri="{FF2B5EF4-FFF2-40B4-BE49-F238E27FC236}">
                <a16:creationId xmlns:a16="http://schemas.microsoft.com/office/drawing/2014/main" id="{14098421-6199-EB4D-A0FD-7FB3232409B5}"/>
              </a:ext>
            </a:extLst>
          </p:cNvPr>
          <p:cNvCxnSpPr>
            <a:cxnSpLocks/>
          </p:cNvCxnSpPr>
          <p:nvPr/>
        </p:nvCxnSpPr>
        <p:spPr>
          <a:xfrm>
            <a:off x="1125833" y="5900327"/>
            <a:ext cx="764643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Imagem 92">
            <a:extLst>
              <a:ext uri="{FF2B5EF4-FFF2-40B4-BE49-F238E27FC236}">
                <a16:creationId xmlns:a16="http://schemas.microsoft.com/office/drawing/2014/main" id="{0D1254FD-CD42-624B-9B88-7CD8813083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4787" y="1387950"/>
            <a:ext cx="458761" cy="174529"/>
          </a:xfrm>
          <a:prstGeom prst="rect">
            <a:avLst/>
          </a:prstGeom>
          <a:effectLst>
            <a:softEdge rad="0"/>
          </a:effectLst>
        </p:spPr>
      </p:pic>
      <p:pic>
        <p:nvPicPr>
          <p:cNvPr id="95" name="Imagem 94">
            <a:extLst>
              <a:ext uri="{FF2B5EF4-FFF2-40B4-BE49-F238E27FC236}">
                <a16:creationId xmlns:a16="http://schemas.microsoft.com/office/drawing/2014/main" id="{0D4DF50B-5D06-2445-ADF1-571204BD39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7616" y="1356168"/>
            <a:ext cx="660319" cy="221826"/>
          </a:xfrm>
          <a:prstGeom prst="rect">
            <a:avLst/>
          </a:prstGeom>
        </p:spPr>
      </p:pic>
      <p:pic>
        <p:nvPicPr>
          <p:cNvPr id="98" name="Imagem 97">
            <a:extLst>
              <a:ext uri="{FF2B5EF4-FFF2-40B4-BE49-F238E27FC236}">
                <a16:creationId xmlns:a16="http://schemas.microsoft.com/office/drawing/2014/main" id="{5606844B-E0E8-B64A-875B-95C97CF4A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4024" y="2069562"/>
            <a:ext cx="695129" cy="234313"/>
          </a:xfrm>
          <a:prstGeom prst="rect">
            <a:avLst/>
          </a:prstGeom>
        </p:spPr>
      </p:pic>
      <p:cxnSp>
        <p:nvCxnSpPr>
          <p:cNvPr id="107" name="Conector Angulado 106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139256" y="4702382"/>
            <a:ext cx="215122" cy="275"/>
          </a:xfrm>
          <a:prstGeom prst="bentConnector3">
            <a:avLst>
              <a:gd name="adj1" fmla="val 50000"/>
            </a:avLst>
          </a:prstGeom>
          <a:ln w="19050">
            <a:solidFill>
              <a:srgbClr val="F11C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Angulado 107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125833" y="5365950"/>
            <a:ext cx="215122" cy="275"/>
          </a:xfrm>
          <a:prstGeom prst="bentConnector3">
            <a:avLst>
              <a:gd name="adj1" fmla="val 50000"/>
            </a:avLst>
          </a:prstGeom>
          <a:ln w="19050"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Imagem 120">
            <a:extLst>
              <a:ext uri="{FF2B5EF4-FFF2-40B4-BE49-F238E27FC236}">
                <a16:creationId xmlns:a16="http://schemas.microsoft.com/office/drawing/2014/main" id="{57E0F88F-F46E-9040-9368-1EA2A4663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867" y="2417803"/>
            <a:ext cx="747964" cy="229106"/>
          </a:xfrm>
          <a:prstGeom prst="rect">
            <a:avLst/>
          </a:prstGeom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0D1254FD-CD42-624B-9B88-7CD8813083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07391" y="2606689"/>
            <a:ext cx="458761" cy="174529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0D4DF50B-5D06-2445-ADF1-571204BD39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90220" y="2574907"/>
            <a:ext cx="660319" cy="221826"/>
          </a:xfrm>
          <a:prstGeom prst="rect">
            <a:avLst/>
          </a:prstGeom>
        </p:spPr>
      </p:pic>
      <p:cxnSp>
        <p:nvCxnSpPr>
          <p:cNvPr id="145" name="Conector Angulado 144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2419115" y="6479335"/>
            <a:ext cx="215122" cy="275"/>
          </a:xfrm>
          <a:prstGeom prst="bentConnector3">
            <a:avLst>
              <a:gd name="adj1" fmla="val 50000"/>
            </a:avLst>
          </a:prstGeom>
          <a:ln w="19050">
            <a:solidFill>
              <a:srgbClr val="F11C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Angulado 147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2419115" y="6587777"/>
            <a:ext cx="215122" cy="275"/>
          </a:xfrm>
          <a:prstGeom prst="bentConnector3">
            <a:avLst>
              <a:gd name="adj1" fmla="val 50000"/>
            </a:avLst>
          </a:prstGeom>
          <a:ln w="19050"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Angulado 150">
            <a:extLst>
              <a:ext uri="{FF2B5EF4-FFF2-40B4-BE49-F238E27FC236}">
                <a16:creationId xmlns:a16="http://schemas.microsoft.com/office/drawing/2014/main" id="{E1CD7B88-A165-124A-9CF3-730EEFD752E3}"/>
              </a:ext>
            </a:extLst>
          </p:cNvPr>
          <p:cNvCxnSpPr>
            <a:cxnSpLocks/>
          </p:cNvCxnSpPr>
          <p:nvPr/>
        </p:nvCxnSpPr>
        <p:spPr>
          <a:xfrm>
            <a:off x="12414773" y="6698687"/>
            <a:ext cx="215122" cy="275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lchete Direito 19"/>
          <p:cNvSpPr/>
          <p:nvPr/>
        </p:nvSpPr>
        <p:spPr>
          <a:xfrm>
            <a:off x="10636073" y="3209461"/>
            <a:ext cx="243742" cy="129398"/>
          </a:xfrm>
          <a:prstGeom prst="rightBracket">
            <a:avLst/>
          </a:prstGeom>
          <a:ln>
            <a:solidFill>
              <a:srgbClr val="F11C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6" name="Retângulo 155">
            <a:extLst>
              <a:ext uri="{FF2B5EF4-FFF2-40B4-BE49-F238E27FC236}">
                <a16:creationId xmlns:a16="http://schemas.microsoft.com/office/drawing/2014/main" id="{42ADB5CC-6809-4040-8979-57BA4EC8960A}"/>
              </a:ext>
            </a:extLst>
          </p:cNvPr>
          <p:cNvSpPr/>
          <p:nvPr/>
        </p:nvSpPr>
        <p:spPr>
          <a:xfrm>
            <a:off x="10240474" y="3399053"/>
            <a:ext cx="130031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rgbClr val="F11C37"/>
                </a:solidFill>
                <a:latin typeface="Simplon BP Regular"/>
              </a:rPr>
              <a:t>Elegibilidade</a:t>
            </a:r>
          </a:p>
          <a:p>
            <a:pPr algn="ctr"/>
            <a:r>
              <a:rPr lang="pt-BR" sz="700" dirty="0">
                <a:solidFill>
                  <a:srgbClr val="F11C37"/>
                </a:solidFill>
                <a:latin typeface="Simplon BP Regular"/>
              </a:rPr>
              <a:t>interna</a:t>
            </a:r>
          </a:p>
        </p:txBody>
      </p:sp>
      <p:pic>
        <p:nvPicPr>
          <p:cNvPr id="172053" name="Picture 21" descr="https://upload.wikimedia.org/wikipedia/commons/thumb/f/f9/Salesforce.com_logo.svg/1200px-Salesforce.com_logo.svg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72" y="1546439"/>
            <a:ext cx="733416" cy="51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9" name="Retângulo Arredondado 158">
            <a:extLst>
              <a:ext uri="{FF2B5EF4-FFF2-40B4-BE49-F238E27FC236}">
                <a16:creationId xmlns:a16="http://schemas.microsoft.com/office/drawing/2014/main" id="{506ACFCC-339F-1144-ADFC-92E74A608AA8}"/>
              </a:ext>
            </a:extLst>
          </p:cNvPr>
          <p:cNvSpPr/>
          <p:nvPr/>
        </p:nvSpPr>
        <p:spPr>
          <a:xfrm>
            <a:off x="6256683" y="2178542"/>
            <a:ext cx="275561" cy="1469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SOA</a:t>
            </a:r>
          </a:p>
        </p:txBody>
      </p:sp>
      <p:sp>
        <p:nvSpPr>
          <p:cNvPr id="160" name="Colchete Direito 159"/>
          <p:cNvSpPr/>
          <p:nvPr/>
        </p:nvSpPr>
        <p:spPr>
          <a:xfrm>
            <a:off x="9276328" y="1569897"/>
            <a:ext cx="243742" cy="129398"/>
          </a:xfrm>
          <a:prstGeom prst="rightBracket">
            <a:avLst/>
          </a:prstGeom>
          <a:ln>
            <a:solidFill>
              <a:srgbClr val="0F2D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Retângulo 160">
            <a:extLst>
              <a:ext uri="{FF2B5EF4-FFF2-40B4-BE49-F238E27FC236}">
                <a16:creationId xmlns:a16="http://schemas.microsoft.com/office/drawing/2014/main" id="{42ADB5CC-6809-4040-8979-57BA4EC8960A}"/>
              </a:ext>
            </a:extLst>
          </p:cNvPr>
          <p:cNvSpPr/>
          <p:nvPr/>
        </p:nvSpPr>
        <p:spPr>
          <a:xfrm>
            <a:off x="8880729" y="1759489"/>
            <a:ext cx="13003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00" dirty="0">
                <a:solidFill>
                  <a:srgbClr val="0F2DED"/>
                </a:solidFill>
                <a:latin typeface="Simplon BP Regular"/>
              </a:rPr>
              <a:t>Elegibilidade</a:t>
            </a:r>
          </a:p>
          <a:p>
            <a:pPr algn="ctr"/>
            <a:r>
              <a:rPr lang="pt-BR" sz="700" dirty="0" smtClean="0">
                <a:solidFill>
                  <a:srgbClr val="0F2DED"/>
                </a:solidFill>
                <a:latin typeface="Simplon BP Regular"/>
              </a:rPr>
              <a:t>OTT </a:t>
            </a:r>
            <a:r>
              <a:rPr lang="pt-BR" sz="700" dirty="0">
                <a:solidFill>
                  <a:srgbClr val="0F2DED"/>
                </a:solidFill>
                <a:latin typeface="Simplon BP Regular"/>
              </a:rPr>
              <a:t>cliente</a:t>
            </a:r>
            <a:r>
              <a:rPr lang="pt-BR" sz="700" dirty="0" smtClean="0">
                <a:solidFill>
                  <a:srgbClr val="0F2DED"/>
                </a:solidFill>
                <a:latin typeface="Simplon BP Regular"/>
              </a:rPr>
              <a:t> Fibra</a:t>
            </a:r>
            <a:endParaRPr lang="pt-BR" sz="700" dirty="0">
              <a:solidFill>
                <a:srgbClr val="0F2DED"/>
              </a:solidFill>
              <a:latin typeface="Simplon BP Regular"/>
            </a:endParaRPr>
          </a:p>
        </p:txBody>
      </p:sp>
      <p:sp>
        <p:nvSpPr>
          <p:cNvPr id="162" name="Retângulo 161">
            <a:extLst>
              <a:ext uri="{FF2B5EF4-FFF2-40B4-BE49-F238E27FC236}">
                <a16:creationId xmlns:a16="http://schemas.microsoft.com/office/drawing/2014/main" id="{0B4180C6-AD8A-2B4A-A12D-20694E64E81C}"/>
              </a:ext>
            </a:extLst>
          </p:cNvPr>
          <p:cNvSpPr/>
          <p:nvPr/>
        </p:nvSpPr>
        <p:spPr>
          <a:xfrm>
            <a:off x="8867653" y="3758825"/>
            <a:ext cx="791588" cy="347439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bg1">
                <a:lumMod val="8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100" b="1" dirty="0" smtClean="0">
                <a:latin typeface="Simplon BP" pitchFamily="2" charset="77"/>
              </a:rPr>
              <a:t>NAM/NDS   </a:t>
            </a:r>
            <a:endParaRPr kumimoji="0" lang="pt-BR" sz="11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implon BP" pitchFamily="2" charset="77"/>
              <a:sym typeface="Calibri"/>
            </a:endParaRPr>
          </a:p>
        </p:txBody>
      </p:sp>
      <p:grpSp>
        <p:nvGrpSpPr>
          <p:cNvPr id="52" name="Agrupar 51"/>
          <p:cNvGrpSpPr/>
          <p:nvPr/>
        </p:nvGrpSpPr>
        <p:grpSpPr>
          <a:xfrm rot="4908308">
            <a:off x="8610745" y="3287109"/>
            <a:ext cx="603338" cy="410496"/>
            <a:chOff x="8582004" y="3320286"/>
            <a:chExt cx="670376" cy="410496"/>
          </a:xfrm>
        </p:grpSpPr>
        <p:cxnSp>
          <p:nvCxnSpPr>
            <p:cNvPr id="163" name="Conector de Seta Reta 162">
              <a:extLst>
                <a:ext uri="{FF2B5EF4-FFF2-40B4-BE49-F238E27FC236}">
                  <a16:creationId xmlns:a16="http://schemas.microsoft.com/office/drawing/2014/main" id="{476CAE20-2264-824C-A122-4840FC9766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11245" y="3320286"/>
              <a:ext cx="641135" cy="282978"/>
            </a:xfrm>
            <a:prstGeom prst="straightConnector1">
              <a:avLst/>
            </a:prstGeom>
            <a:ln>
              <a:solidFill>
                <a:srgbClr val="0F2DE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de Seta Reta 163">
              <a:extLst>
                <a:ext uri="{FF2B5EF4-FFF2-40B4-BE49-F238E27FC236}">
                  <a16:creationId xmlns:a16="http://schemas.microsoft.com/office/drawing/2014/main" id="{C2AFA2D6-917D-1A4D-90F0-D0DAF92320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2004" y="3425707"/>
              <a:ext cx="670375" cy="305075"/>
            </a:xfrm>
            <a:prstGeom prst="straightConnector1">
              <a:avLst/>
            </a:prstGeom>
            <a:ln>
              <a:solidFill>
                <a:srgbClr val="0F2DE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Retângulo 166">
            <a:extLst>
              <a:ext uri="{FF2B5EF4-FFF2-40B4-BE49-F238E27FC236}">
                <a16:creationId xmlns:a16="http://schemas.microsoft.com/office/drawing/2014/main" id="{42ADB5CC-6809-4040-8979-57BA4EC8960A}"/>
              </a:ext>
            </a:extLst>
          </p:cNvPr>
          <p:cNvSpPr/>
          <p:nvPr/>
        </p:nvSpPr>
        <p:spPr>
          <a:xfrm>
            <a:off x="8267804" y="3380134"/>
            <a:ext cx="1252266" cy="200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700" dirty="0" err="1" smtClean="0">
                <a:solidFill>
                  <a:srgbClr val="0F2DED"/>
                </a:solidFill>
                <a:latin typeface="Simplon BP Regular"/>
              </a:rPr>
              <a:t>Redirect</a:t>
            </a:r>
            <a:r>
              <a:rPr lang="pt-BR" sz="700" dirty="0" smtClean="0">
                <a:solidFill>
                  <a:srgbClr val="0F2DED"/>
                </a:solidFill>
                <a:latin typeface="Simplon BP Regular"/>
              </a:rPr>
              <a:t> </a:t>
            </a:r>
            <a:r>
              <a:rPr lang="pt-BR" sz="700" dirty="0" err="1" smtClean="0">
                <a:solidFill>
                  <a:srgbClr val="0F2DED"/>
                </a:solidFill>
                <a:latin typeface="Simplon BP Regular"/>
              </a:rPr>
              <a:t>login</a:t>
            </a:r>
            <a:r>
              <a:rPr lang="pt-BR" sz="700" dirty="0" smtClean="0">
                <a:solidFill>
                  <a:srgbClr val="0F2DED"/>
                </a:solidFill>
                <a:latin typeface="Simplon BP Regular"/>
              </a:rPr>
              <a:t> Oi</a:t>
            </a:r>
            <a:endParaRPr lang="pt-BR" sz="700" dirty="0">
              <a:solidFill>
                <a:srgbClr val="0F2DED"/>
              </a:solidFill>
              <a:latin typeface="Simplon BP Regular"/>
            </a:endParaRPr>
          </a:p>
        </p:txBody>
      </p:sp>
      <p:sp>
        <p:nvSpPr>
          <p:cNvPr id="168" name="Retângulo Arredondado 167">
            <a:extLst>
              <a:ext uri="{FF2B5EF4-FFF2-40B4-BE49-F238E27FC236}">
                <a16:creationId xmlns:a16="http://schemas.microsoft.com/office/drawing/2014/main" id="{4CF14403-52CD-A54D-A500-449D5DBF0045}"/>
              </a:ext>
            </a:extLst>
          </p:cNvPr>
          <p:cNvSpPr/>
          <p:nvPr/>
        </p:nvSpPr>
        <p:spPr>
          <a:xfrm>
            <a:off x="4057153" y="1759489"/>
            <a:ext cx="275561" cy="14692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API</a:t>
            </a:r>
          </a:p>
        </p:txBody>
      </p:sp>
      <p:sp>
        <p:nvSpPr>
          <p:cNvPr id="88" name="Retângulo Arredondado 87">
            <a:extLst>
              <a:ext uri="{FF2B5EF4-FFF2-40B4-BE49-F238E27FC236}">
                <a16:creationId xmlns:a16="http://schemas.microsoft.com/office/drawing/2014/main" id="{4CF14403-52CD-A54D-A500-449D5DBF0045}"/>
              </a:ext>
            </a:extLst>
          </p:cNvPr>
          <p:cNvSpPr/>
          <p:nvPr/>
        </p:nvSpPr>
        <p:spPr>
          <a:xfrm>
            <a:off x="8479422" y="2520061"/>
            <a:ext cx="275561" cy="146920"/>
          </a:xfrm>
          <a:prstGeom prst="roundRect">
            <a:avLst/>
          </a:prstGeom>
          <a:solidFill>
            <a:schemeClr val="accent5"/>
          </a:solidFill>
          <a:ln w="635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pt-BR" sz="700" dirty="0">
                <a:solidFill>
                  <a:schemeClr val="bg1"/>
                </a:solidFill>
                <a:latin typeface="Simplon BP Regular"/>
                <a:cs typeface="Simplon BP Regular"/>
              </a:rPr>
              <a:t>API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054222" y="4312780"/>
            <a:ext cx="3012506" cy="1149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1400" b="1" dirty="0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Com contorno em vermelho encontra-se indicado o mínimo de impacto para duplicação da comunicação para o fluxo de TV </a:t>
            </a:r>
            <a:r>
              <a:rPr lang="pt-BR" sz="1400" b="1" dirty="0" err="1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Everywhere</a:t>
            </a:r>
            <a:r>
              <a:rPr lang="pt-BR" sz="1400" b="1" dirty="0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 no contexto da TVCO </a:t>
            </a:r>
            <a:endParaRPr lang="pt-BR" sz="1400" b="1" dirty="0" smtClean="0">
              <a:solidFill>
                <a:srgbClr val="FF0000"/>
              </a:solidFill>
              <a:latin typeface="Simplon BP" charset="0"/>
              <a:ea typeface="Simplon BP" charset="0"/>
              <a:cs typeface="Simplon BP" charset="0"/>
            </a:endParaRPr>
          </a:p>
        </p:txBody>
      </p:sp>
      <p:sp>
        <p:nvSpPr>
          <p:cNvPr id="101" name="CaixaDeTexto 100"/>
          <p:cNvSpPr txBox="1"/>
          <p:nvPr/>
        </p:nvSpPr>
        <p:spPr>
          <a:xfrm>
            <a:off x="9083329" y="5632542"/>
            <a:ext cx="3012506" cy="1180699"/>
          </a:xfrm>
          <a:prstGeom prst="rect">
            <a:avLst/>
          </a:prstGeom>
          <a:noFill/>
          <a:ln w="38100"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r>
              <a:rPr lang="pt-BR" sz="1200" dirty="0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Utilizado como base o desenho da solução para ClientCo, portanto onde encontra-se API OI Conecta Parceiros, considerar </a:t>
            </a:r>
            <a:r>
              <a:rPr lang="pt-BR" sz="1200" dirty="0" err="1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MediaHub</a:t>
            </a:r>
            <a:r>
              <a:rPr lang="pt-BR" sz="1200" dirty="0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. E no lugar do Siebel, considerar o SINN. Desconsiderar o </a:t>
            </a:r>
            <a:r>
              <a:rPr lang="pt-BR" sz="1200" dirty="0" err="1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Globoplay</a:t>
            </a:r>
            <a:r>
              <a:rPr lang="pt-BR" sz="1200" dirty="0" smtClean="0">
                <a:solidFill>
                  <a:srgbClr val="FF0000"/>
                </a:solidFill>
                <a:latin typeface="Simplon BP" charset="0"/>
                <a:ea typeface="Simplon BP" charset="0"/>
                <a:cs typeface="Simplon BP" charset="0"/>
              </a:rPr>
              <a:t>, pois não faz parte do contexto do SINN.</a:t>
            </a:r>
            <a:endParaRPr lang="pt-BR" sz="1200" dirty="0" smtClean="0">
              <a:solidFill>
                <a:srgbClr val="FF0000"/>
              </a:solidFill>
              <a:latin typeface="Simplon BP" charset="0"/>
              <a:ea typeface="Simplon BP" charset="0"/>
              <a:cs typeface="Simplon BP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4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i Mestre">
  <a:themeElements>
    <a:clrScheme name="OI">
      <a:dk1>
        <a:srgbClr val="000000"/>
      </a:dk1>
      <a:lt1>
        <a:srgbClr val="FFFFFF"/>
      </a:lt1>
      <a:dk2>
        <a:srgbClr val="5F5F5F"/>
      </a:dk2>
      <a:lt2>
        <a:srgbClr val="EEECE1"/>
      </a:lt2>
      <a:accent1>
        <a:srgbClr val="9F37FE"/>
      </a:accent1>
      <a:accent2>
        <a:srgbClr val="EA2A8B"/>
      </a:accent2>
      <a:accent3>
        <a:srgbClr val="FF6D00"/>
      </a:accent3>
      <a:accent4>
        <a:srgbClr val="FEFB02"/>
      </a:accent4>
      <a:accent5>
        <a:srgbClr val="00D318"/>
      </a:accent5>
      <a:accent6>
        <a:srgbClr val="00CEFF"/>
      </a:accent6>
      <a:hlink>
        <a:srgbClr val="00CEFF"/>
      </a:hlink>
      <a:folHlink>
        <a:srgbClr val="9F37F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2"/>
          </a:solidFill>
        </a:ln>
      </a:spPr>
      <a:bodyPr lIns="36000" tIns="36000" rIns="36000" bIns="36000" rtlCol="0" anchor="ctr"/>
      <a:lstStyle>
        <a:defPPr algn="ctr">
          <a:defRPr sz="1400" smtClean="0">
            <a:latin typeface="Simplon BP Regular"/>
            <a:cs typeface="Simplon BP Regular"/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1">
              <a:lumMod val="75000"/>
            </a:schemeClr>
          </a:solidFill>
        </a:ln>
      </a:spPr>
      <a:bodyPr wrap="square" lIns="36000" tIns="36000" rIns="36000" bIns="36000" rtlCol="0">
        <a:spAutoFit/>
      </a:bodyPr>
      <a:lstStyle>
        <a:defPPr>
          <a:defRPr sz="1400" dirty="0" smtClean="0">
            <a:latin typeface="Simplon BP" charset="0"/>
            <a:ea typeface="Simplon BP" charset="0"/>
            <a:cs typeface="Simplon BP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i2016_template_v07.potx" id="{33B60B56-5345-2F49-A690-3FFF64B8D95A}" vid="{AA72DEF0-0979-FA40-9EA2-2EFD2AFC32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69870</TotalTime>
  <Words>198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1" baseType="lpstr">
      <vt:lpstr>ＭＳ Ｐゴシック</vt:lpstr>
      <vt:lpstr>Arial</vt:lpstr>
      <vt:lpstr>Calibri</vt:lpstr>
      <vt:lpstr>Simplon BP</vt:lpstr>
      <vt:lpstr>Simplon BP Regular</vt:lpstr>
      <vt:lpstr>Simplon Oi Headline</vt:lpstr>
      <vt:lpstr>Wingdings</vt:lpstr>
      <vt:lpstr>1_Oi Mestre</vt:lpstr>
      <vt:lpstr>Slide do think-cell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Nassur De Souza</dc:creator>
  <cp:lastModifiedBy>David Sodre</cp:lastModifiedBy>
  <cp:revision>324</cp:revision>
  <dcterms:created xsi:type="dcterms:W3CDTF">2024-06-20T16:57:37Z</dcterms:created>
  <dcterms:modified xsi:type="dcterms:W3CDTF">2025-02-07T18:04:35Z</dcterms:modified>
</cp:coreProperties>
</file>