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68" r:id="rId3"/>
    <p:sldId id="270" r:id="rId4"/>
    <p:sldId id="271" r:id="rId5"/>
    <p:sldId id="272" r:id="rId6"/>
    <p:sldId id="275" r:id="rId7"/>
    <p:sldId id="274" r:id="rId8"/>
    <p:sldId id="276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cler Alves" userId="e781bfdd8aca46e0" providerId="LiveId" clId="{6D3DF0F8-9B13-40C3-B589-0C1D244F89FE}"/>
    <pc:docChg chg="delSld">
      <pc:chgData name="Josecler Alves" userId="e781bfdd8aca46e0" providerId="LiveId" clId="{6D3DF0F8-9B13-40C3-B589-0C1D244F89FE}" dt="2024-12-27T18:00:57.431" v="5" actId="47"/>
      <pc:docMkLst>
        <pc:docMk/>
      </pc:docMkLst>
      <pc:sldChg chg="del">
        <pc:chgData name="Josecler Alves" userId="e781bfdd8aca46e0" providerId="LiveId" clId="{6D3DF0F8-9B13-40C3-B589-0C1D244F89FE}" dt="2024-12-27T18:00:55.768" v="3" actId="47"/>
        <pc:sldMkLst>
          <pc:docMk/>
          <pc:sldMk cId="882697636" sldId="260"/>
        </pc:sldMkLst>
      </pc:sldChg>
      <pc:sldChg chg="del">
        <pc:chgData name="Josecler Alves" userId="e781bfdd8aca46e0" providerId="LiveId" clId="{6D3DF0F8-9B13-40C3-B589-0C1D244F89FE}" dt="2024-12-27T18:00:56.396" v="4" actId="47"/>
        <pc:sldMkLst>
          <pc:docMk/>
          <pc:sldMk cId="4270002582" sldId="261"/>
        </pc:sldMkLst>
      </pc:sldChg>
      <pc:sldChg chg="del">
        <pc:chgData name="Josecler Alves" userId="e781bfdd8aca46e0" providerId="LiveId" clId="{6D3DF0F8-9B13-40C3-B589-0C1D244F89FE}" dt="2024-12-27T18:00:57.431" v="5" actId="47"/>
        <pc:sldMkLst>
          <pc:docMk/>
          <pc:sldMk cId="2917795249" sldId="262"/>
        </pc:sldMkLst>
      </pc:sldChg>
      <pc:sldChg chg="del">
        <pc:chgData name="Josecler Alves" userId="e781bfdd8aca46e0" providerId="LiveId" clId="{6D3DF0F8-9B13-40C3-B589-0C1D244F89FE}" dt="2024-12-27T18:00:53.227" v="0" actId="47"/>
        <pc:sldMkLst>
          <pc:docMk/>
          <pc:sldMk cId="763174764" sldId="265"/>
        </pc:sldMkLst>
      </pc:sldChg>
      <pc:sldChg chg="del">
        <pc:chgData name="Josecler Alves" userId="e781bfdd8aca46e0" providerId="LiveId" clId="{6D3DF0F8-9B13-40C3-B589-0C1D244F89FE}" dt="2024-12-27T18:00:54.019" v="1" actId="47"/>
        <pc:sldMkLst>
          <pc:docMk/>
          <pc:sldMk cId="2605515442" sldId="266"/>
        </pc:sldMkLst>
      </pc:sldChg>
      <pc:sldChg chg="del">
        <pc:chgData name="Josecler Alves" userId="e781bfdd8aca46e0" providerId="LiveId" clId="{6D3DF0F8-9B13-40C3-B589-0C1D244F89FE}" dt="2024-12-27T18:00:55.236" v="2" actId="47"/>
        <pc:sldMkLst>
          <pc:docMk/>
          <pc:sldMk cId="803786446" sldId="267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D3B55-3AD6-4246-BFEC-0DB6E68C5C9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F2440-FED9-47EC-90C7-9E17FCDC8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05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0D03-FB5A-D1E6-F88A-F0FCD989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BBED1B-51DB-0724-BA1F-C974A55A3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29B097-03E6-65A8-AF91-55175AE0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7822C2-4F79-6EDC-3BA3-80E5EDED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F2440-FED9-47EC-90C7-9E17FCDC812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785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348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477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5809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92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9601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518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emf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406-6D67-1582-A49B-D2BF9D406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3273C2-ED84-2446-4DF4-A213ECF68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F8D5A-80D2-03B1-1E31-47C35AEF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B0C6C-A904-65C2-394E-5232F377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DA39F-AB4F-4CAB-440B-7E928888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18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5375C-CAF0-B6C0-230B-CD6603C0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F4A785-71AE-4144-FA77-0626C4C30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48459F-18F9-EB72-C3D3-642F4BEC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CB6554-6FE6-DC19-488A-E48232F2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353C0-D5D3-D51B-E70F-BC889D4A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13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E66E8-A030-7D14-E920-6381125A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DC76DA-A84D-8CA1-1AAE-35F92179A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D929C-B634-6819-A5AC-BDBA0A91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79E86F-6EFD-166F-347B-DFC06EFC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225CE-6A10-1637-02A5-DCE61746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4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ECCBD-A3E0-269A-851D-E89C6F59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8EDDF-1B90-4D4E-A6FA-F5A71BB8A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8D1E17-7B6A-1CCC-BFF4-15C0C46B9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DD36BB-BBA5-6FCA-092F-35EFF400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5EBD23-70DB-3818-83C6-3FA5D625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3ED620-CB14-18A2-FB0F-FB93534D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27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511C8-9ED4-B162-D449-26A97772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6EC913-E408-818F-420E-B654AF038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CA3BB4-E509-1001-6B98-B7AF68AB5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8E11AA-ADD1-C6C9-9CE7-2A3B91DA5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2A4519-78C1-B227-4FAD-0C3526689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016C27-A693-CB68-7E7A-3C9FFE76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279E91-D95C-FA0A-1A6D-35164307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E0B0B9-30CA-F403-8403-BC7A5237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111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DC08A-9AD2-31CF-28AB-9C40C214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54431B-555D-7E5F-E25F-5135CE75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6192FB-F25A-A60B-C42D-DCE81E8C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7949AE-E4B6-4648-B6C7-A0AC7D15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88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C331E0-B4DB-9221-191E-2FBB3D93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D34F02-9013-5EA1-543A-D73F2317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10BACC-5BE8-CA90-734D-B76D34AE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25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B2A07-2028-439E-1995-415B8E00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492179-CC7B-9A8A-7BF8-70904652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2CA80E-13CA-8C20-5843-D6DE0F7B7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F555F3-F9B1-995A-FF44-BCF0DBB0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AAA697-94FD-B903-0D84-4582B4F2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DF7858-5B7E-2F98-6B5D-A76CA931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96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CF9DC-767E-2F15-CB09-63363B3A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A77514-886E-94C7-3E1E-D65B9CE1D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68E162-B9A3-BFA0-BEC1-E77D5297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7DCC69-2019-88D4-A2B8-B0770C04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849D8-CBE5-31A6-E402-E2DB8DE8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7F8385-304F-7452-3322-CBD336F6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9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C0C26-745D-DF98-1A83-8AED6A86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B5DC21-B08D-1C1D-959C-FB97A9CF0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C0D971-2913-D92B-5FC1-D6B45D94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77FC64-586C-E2C9-034F-8CE66FCE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A9F90-DE5D-6383-75B0-499DED77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05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B32C02-0A49-0765-5180-91A7B6A59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A0EAA9-7903-D69B-0E48-9D96D8599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1D12C-8B20-AAA3-D8E6-F8F2003B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BB9ABD-47A6-4589-7975-5D2290DB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C9AE2-367E-F434-75C8-E0B1EF9E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2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191091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467" name="Google Shape;353;p87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2119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0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356;p8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76" name="Google Shape;357;p8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7" name="Google Shape;358;p8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8" name="Google Shape;359;p8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79" name="Google Shape;360;p8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0" name="Google Shape;361;p8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1" name="Google Shape;362;p8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2" name="Google Shape;363;p8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3" name="Google Shape;364;p8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4" name="Google Shape;365;p8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5" name="Google Shape;366;p8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6" name="Google Shape;367;p8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7" name="Google Shape;368;p8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8" name="Google Shape;369;p8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89" name="Google Shape;370;p8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0" name="Google Shape;371;p8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1" name="Google Shape;372;p8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2" name="Google Shape;373;p8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3" name="Google Shape;374;p8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4" name="Google Shape;375;p8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5" name="Google Shape;376;p8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6" name="Google Shape;377;p8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7" name="Google Shape;378;p8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8" name="Google Shape;379;p8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499" name="Google Shape;380;p8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00" name="Google Shape;381;p8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02" name="Google Shape;382;p88" descr="Google Shape;382;p8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4399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136346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78621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98738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892160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37079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60452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92251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888360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676" name="Google Shape;477;p98"/>
          <p:cNvGrpSpPr/>
          <p:nvPr/>
        </p:nvGrpSpPr>
        <p:grpSpPr>
          <a:xfrm>
            <a:off x="1" y="4145281"/>
            <a:ext cx="4402015" cy="107696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269375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9590968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02062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264230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34763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6547177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71779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5483981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563862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8" name="Google Shape;771;p21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153313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60651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1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6" name="Google Shape;831;p83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521580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6224488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894554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4" y="5296898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4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4" name="Google Shape;895;p25"/>
          <p:cNvSpPr/>
          <p:nvPr/>
        </p:nvSpPr>
        <p:spPr>
          <a:xfrm>
            <a:off x="149397" y="150443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106438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1" y="4145281"/>
            <a:ext cx="4402015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710372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214723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309552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8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935;p34" descr="Google Shape;935;p3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4944324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995797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52194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09981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84960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573631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08775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hangingPunct="0"/>
              <a:endParaRPr sz="1400" kern="0">
                <a:solidFill>
                  <a:srgbClr val="00D318"/>
                </a:solidFill>
                <a:latin typeface="Simplon BP Regular"/>
                <a:sym typeface="Simplon BP Regular"/>
              </a:endParaRPr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hangingPunct="0">
              <a:defRPr>
                <a:solidFill>
                  <a:srgbClr val="4D4D4D"/>
                </a:solidFill>
              </a:defRPr>
            </a:pPr>
            <a:endParaRPr sz="1400" kern="0">
              <a:solidFill>
                <a:srgbClr val="4D4D4D"/>
              </a:solidFill>
              <a:latin typeface="Simplon BP Regular"/>
              <a:sym typeface="Simplon BP Regular"/>
            </a:endParaRPr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264209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77151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3943668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274918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066615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3" y="6217851"/>
            <a:ext cx="33598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846125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IVIANE_ME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Slide do think-cell" r:id="rId6" imgW="421" imgH="423" progId="TCLayout.ActiveDocument.1">
                  <p:embed/>
                </p:oleObj>
              </mc:Choice>
              <mc:Fallback>
                <p:oleObj name="Slide do think-cell" r:id="rId6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Grp="1" noChangeArrowheads="1"/>
          </p:cNvSpPr>
          <p:nvPr>
            <p:ph type="title" hasCustomPrompt="1"/>
            <p:custDataLst>
              <p:tags r:id="rId3"/>
            </p:custDataLst>
          </p:nvPr>
        </p:nvSpPr>
        <p:spPr bwMode="auto">
          <a:xfrm>
            <a:off x="263352" y="332121"/>
            <a:ext cx="11249301" cy="616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0" rIns="36000" bIns="0" numCol="1" anchor="ctr" anchorCtr="0" compatLnSpc="1">
            <a:prstTxWarp prst="textNoShape">
              <a:avLst/>
            </a:prstTxWarp>
          </a:bodyPr>
          <a:lstStyle>
            <a:lvl1pPr algn="l" defTabSz="1058230" rtl="0" fontAlgn="base">
              <a:spcBef>
                <a:spcPct val="0"/>
              </a:spcBef>
              <a:spcAft>
                <a:spcPct val="0"/>
              </a:spcAft>
              <a:defRPr lang="pt-BR" sz="2133" b="1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implon Oi Headline" pitchFamily="2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43075" y="61834"/>
            <a:ext cx="11253039" cy="305921"/>
          </a:xfrm>
          <a:prstGeom prst="rect">
            <a:avLst/>
          </a:prstGeom>
        </p:spPr>
        <p:txBody>
          <a:bodyPr lIns="36000"/>
          <a:lstStyle>
            <a:lvl1pPr marL="0" indent="0">
              <a:buNone/>
              <a:defRPr lang="pt-BR" sz="1400" b="1" kern="1200" baseline="0" dirty="0" smtClean="0">
                <a:solidFill>
                  <a:srgbClr val="FF6D00"/>
                </a:solidFill>
                <a:latin typeface="Simplon Oi Headline" pitchFamily="2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1" name="Slide Number Placeholder 1"/>
          <p:cNvSpPr txBox="1">
            <a:spLocks/>
          </p:cNvSpPr>
          <p:nvPr userDrawn="1"/>
        </p:nvSpPr>
        <p:spPr bwMode="auto">
          <a:xfrm>
            <a:off x="11451604" y="6616827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543D946-5134-1748-A050-11636790511E}" type="slidenum">
              <a:rPr lang="en-US" sz="1200" smtClean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pPr eaLnBrk="1" hangingPunct="1"/>
              <a:t>‹nº›</a:t>
            </a:fld>
            <a:endParaRPr lang="en-US" sz="1200" dirty="0">
              <a:solidFill>
                <a:srgbClr val="4D4D4D"/>
              </a:solidFill>
              <a:latin typeface="Simplon BP Regular"/>
              <a:cs typeface="Simplon BP Regular"/>
              <a:sym typeface="Simplon BP Regular"/>
            </a:endParaRPr>
          </a:p>
        </p:txBody>
      </p: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7697262" y="6616828"/>
            <a:ext cx="3859431" cy="3640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1200" dirty="0">
                <a:solidFill>
                  <a:srgbClr val="4D4D4D"/>
                </a:solidFill>
                <a:latin typeface="Simplon BP Regular"/>
                <a:cs typeface="Simplon BP Regular"/>
                <a:sym typeface="Simplon BP Regular"/>
              </a:rPr>
              <a:t>MATERIAL CONFIDENCIAL  |  SLIDE Nº</a:t>
            </a:r>
          </a:p>
        </p:txBody>
      </p:sp>
    </p:spTree>
    <p:extLst>
      <p:ext uri="{BB962C8B-B14F-4D97-AF65-F5344CB8AC3E}">
        <p14:creationId xmlns:p14="http://schemas.microsoft.com/office/powerpoint/2010/main" val="15784189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vmlDrawing" Target="../drawings/vmlDrawing1.v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ags" Target="../tags/tag1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1C7F26-7EF0-F3F9-6C0C-BF948FEA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F33A1-9CF7-8796-461A-90CB4DB2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8DD6B9-DB2C-59AE-A35E-8A828B00E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DDB8C-5DC5-4971-AEDC-7DAE274E9DE1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131096-09A7-F882-7DA7-1541A8799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D2CA1-B116-2143-7C7C-F45271111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88686-538D-49CF-985C-EE60506F18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51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46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Slide do think-cell" r:id="rId47" imgW="421" imgH="423" progId="TCLayout.ActiveDocument.1">
                  <p:embed/>
                </p:oleObj>
              </mc:Choice>
              <mc:Fallback>
                <p:oleObj name="Slide do think-cell" r:id="rId47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1614" y="6217851"/>
            <a:ext cx="335987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Simplon BP Regular"/>
                <a:sym typeface="Simplon BP Regular"/>
              </a:rPr>
              <a:pPr hangingPunct="0"/>
              <a:t>‹nº›</a:t>
            </a:fld>
            <a:endParaRPr kern="0"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94039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ransition spd="med"/>
  <p:txStyles>
    <p:title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8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8.png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946B-072D-C511-424A-CF2F1F5B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BE9953-B699-60CA-2780-983C2FAC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" t="12939" r="12953" b="9112"/>
          <a:stretch/>
        </p:blipFill>
        <p:spPr>
          <a:xfrm>
            <a:off x="239747" y="845866"/>
            <a:ext cx="9197838" cy="51662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C07C7A6-9E6A-EA00-A10F-F8348CA990AA}"/>
              </a:ext>
            </a:extLst>
          </p:cNvPr>
          <p:cNvSpPr txBox="1"/>
          <p:nvPr/>
        </p:nvSpPr>
        <p:spPr>
          <a:xfrm>
            <a:off x="239747" y="125866"/>
            <a:ext cx="1570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(PÓS DROP)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64F5B4F0-F74A-AC31-1351-1BF3950EB834}"/>
              </a:ext>
            </a:extLst>
          </p:cNvPr>
          <p:cNvSpPr/>
          <p:nvPr/>
        </p:nvSpPr>
        <p:spPr>
          <a:xfrm>
            <a:off x="4057988" y="161078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218603D0-B95D-6A2E-53BA-54885BFACCE8}"/>
              </a:ext>
            </a:extLst>
          </p:cNvPr>
          <p:cNvCxnSpPr/>
          <p:nvPr/>
        </p:nvCxnSpPr>
        <p:spPr>
          <a:xfrm>
            <a:off x="4057987" y="161078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FA7BA0F4-A345-E6FF-FB41-1316AD32DC64}"/>
              </a:ext>
            </a:extLst>
          </p:cNvPr>
          <p:cNvCxnSpPr/>
          <p:nvPr/>
        </p:nvCxnSpPr>
        <p:spPr>
          <a:xfrm flipV="1">
            <a:off x="4057986" y="162390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A469D4C6-4089-7E20-7405-7E64B0453E0A}"/>
              </a:ext>
            </a:extLst>
          </p:cNvPr>
          <p:cNvSpPr/>
          <p:nvPr/>
        </p:nvSpPr>
        <p:spPr>
          <a:xfrm>
            <a:off x="6063535" y="161078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C14806F-E792-8871-014C-682689FDF0D2}"/>
              </a:ext>
            </a:extLst>
          </p:cNvPr>
          <p:cNvCxnSpPr/>
          <p:nvPr/>
        </p:nvCxnSpPr>
        <p:spPr>
          <a:xfrm>
            <a:off x="6063534" y="161078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C972583-E9D4-4327-3B54-C03B08360B45}"/>
              </a:ext>
            </a:extLst>
          </p:cNvPr>
          <p:cNvCxnSpPr/>
          <p:nvPr/>
        </p:nvCxnSpPr>
        <p:spPr>
          <a:xfrm flipV="1">
            <a:off x="6063533" y="162390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68AB181-AE09-61DD-ED41-0554E8E5E68E}"/>
              </a:ext>
            </a:extLst>
          </p:cNvPr>
          <p:cNvSpPr/>
          <p:nvPr/>
        </p:nvSpPr>
        <p:spPr>
          <a:xfrm>
            <a:off x="7638544" y="162080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5D4CE3B-D097-86E1-31BD-C0696A8CBA5A}"/>
              </a:ext>
            </a:extLst>
          </p:cNvPr>
          <p:cNvCxnSpPr/>
          <p:nvPr/>
        </p:nvCxnSpPr>
        <p:spPr>
          <a:xfrm>
            <a:off x="7638543" y="162080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06D378D-2D0A-CCD5-567B-8C209E1A17E7}"/>
              </a:ext>
            </a:extLst>
          </p:cNvPr>
          <p:cNvCxnSpPr/>
          <p:nvPr/>
        </p:nvCxnSpPr>
        <p:spPr>
          <a:xfrm flipV="1">
            <a:off x="7638542" y="163392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80E66BAC-0AC6-1D41-A778-BEBE9ECE3817}"/>
              </a:ext>
            </a:extLst>
          </p:cNvPr>
          <p:cNvSpPr/>
          <p:nvPr/>
        </p:nvSpPr>
        <p:spPr>
          <a:xfrm>
            <a:off x="9630618" y="1271849"/>
            <a:ext cx="538434" cy="249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8BAB4D8-B272-31A2-114E-79979352C951}"/>
              </a:ext>
            </a:extLst>
          </p:cNvPr>
          <p:cNvSpPr txBox="1"/>
          <p:nvPr/>
        </p:nvSpPr>
        <p:spPr>
          <a:xfrm>
            <a:off x="10210302" y="1211973"/>
            <a:ext cx="1242895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900" dirty="0"/>
              <a:t>sistemas não previstos </a:t>
            </a:r>
          </a:p>
          <a:p>
            <a:r>
              <a:rPr lang="pt-BR" sz="900" dirty="0"/>
              <a:t>no pós DROP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5052F75-9435-40F5-46EA-96713E41018D}"/>
              </a:ext>
            </a:extLst>
          </p:cNvPr>
          <p:cNvSpPr/>
          <p:nvPr/>
        </p:nvSpPr>
        <p:spPr>
          <a:xfrm>
            <a:off x="6063533" y="2355554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E1D473F-D1A9-E1B4-243E-C510DC75AF0E}"/>
              </a:ext>
            </a:extLst>
          </p:cNvPr>
          <p:cNvSpPr/>
          <p:nvPr/>
        </p:nvSpPr>
        <p:spPr>
          <a:xfrm>
            <a:off x="7638542" y="2355553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25AF051-BB7F-292C-517D-B70F95F25FE7}"/>
              </a:ext>
            </a:extLst>
          </p:cNvPr>
          <p:cNvSpPr/>
          <p:nvPr/>
        </p:nvSpPr>
        <p:spPr>
          <a:xfrm>
            <a:off x="6063532" y="3072176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835F4EB-25A1-0758-4CEE-A7B6AA5B827D}"/>
              </a:ext>
            </a:extLst>
          </p:cNvPr>
          <p:cNvSpPr/>
          <p:nvPr/>
        </p:nvSpPr>
        <p:spPr>
          <a:xfrm>
            <a:off x="9630618" y="1700661"/>
            <a:ext cx="538434" cy="24958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C466EF3-D731-2A7D-BE50-F55948E57271}"/>
              </a:ext>
            </a:extLst>
          </p:cNvPr>
          <p:cNvSpPr txBox="1"/>
          <p:nvPr/>
        </p:nvSpPr>
        <p:spPr>
          <a:xfrm>
            <a:off x="10210302" y="1641181"/>
            <a:ext cx="1930386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necessário segregação ou adequação para suportar CNPJ SPE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DBCEDC-648C-404D-D1E7-A3B63C88DD6B}"/>
              </a:ext>
            </a:extLst>
          </p:cNvPr>
          <p:cNvSpPr/>
          <p:nvPr/>
        </p:nvSpPr>
        <p:spPr>
          <a:xfrm>
            <a:off x="3906876" y="2919852"/>
            <a:ext cx="1490147" cy="820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6C12E4E-7B8E-83A0-363E-C0402A3CBB9F}"/>
              </a:ext>
            </a:extLst>
          </p:cNvPr>
          <p:cNvSpPr/>
          <p:nvPr/>
        </p:nvSpPr>
        <p:spPr>
          <a:xfrm>
            <a:off x="6903454" y="4581863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521A509-F429-5E0A-2A22-DF3CFE736621}"/>
              </a:ext>
            </a:extLst>
          </p:cNvPr>
          <p:cNvCxnSpPr/>
          <p:nvPr/>
        </p:nvCxnSpPr>
        <p:spPr>
          <a:xfrm>
            <a:off x="6903453" y="4581863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C8CD7C1-F881-1FAC-DD0C-18A25C52A438}"/>
              </a:ext>
            </a:extLst>
          </p:cNvPr>
          <p:cNvCxnSpPr/>
          <p:nvPr/>
        </p:nvCxnSpPr>
        <p:spPr>
          <a:xfrm flipV="1">
            <a:off x="6903452" y="4594989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Retângulo 28">
            <a:extLst>
              <a:ext uri="{FF2B5EF4-FFF2-40B4-BE49-F238E27FC236}">
                <a16:creationId xmlns:a16="http://schemas.microsoft.com/office/drawing/2014/main" id="{4ADF62C2-3A13-A9E4-10CA-C43D080AB083}"/>
              </a:ext>
            </a:extLst>
          </p:cNvPr>
          <p:cNvSpPr/>
          <p:nvPr/>
        </p:nvSpPr>
        <p:spPr>
          <a:xfrm>
            <a:off x="6889807" y="5338987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3E7BD4E-0B74-F7ED-E8DF-C916638ED1AF}"/>
              </a:ext>
            </a:extLst>
          </p:cNvPr>
          <p:cNvSpPr/>
          <p:nvPr/>
        </p:nvSpPr>
        <p:spPr>
          <a:xfrm>
            <a:off x="416103" y="1610782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FC394FD-EA3E-A0B1-D711-B8712DD6C076}"/>
              </a:ext>
            </a:extLst>
          </p:cNvPr>
          <p:cNvSpPr/>
          <p:nvPr/>
        </p:nvSpPr>
        <p:spPr>
          <a:xfrm>
            <a:off x="1806711" y="1618391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C21FC0A-FB6B-707E-B965-3E3FEC548334}"/>
              </a:ext>
            </a:extLst>
          </p:cNvPr>
          <p:cNvSpPr/>
          <p:nvPr/>
        </p:nvSpPr>
        <p:spPr>
          <a:xfrm>
            <a:off x="9626406" y="2129473"/>
            <a:ext cx="538434" cy="24958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05F527A-2A39-5F44-D277-8261B81740ED}"/>
              </a:ext>
            </a:extLst>
          </p:cNvPr>
          <p:cNvSpPr txBox="1"/>
          <p:nvPr/>
        </p:nvSpPr>
        <p:spPr>
          <a:xfrm>
            <a:off x="10210302" y="2079412"/>
            <a:ext cx="193038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manter o processo e sistemas atuais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B8986A4-12E6-0519-EE79-D72FABEAE323}"/>
              </a:ext>
            </a:extLst>
          </p:cNvPr>
          <p:cNvSpPr/>
          <p:nvPr/>
        </p:nvSpPr>
        <p:spPr>
          <a:xfrm>
            <a:off x="1806710" y="2290615"/>
            <a:ext cx="1217397" cy="5642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6AD4569-1F91-AE59-ADFE-B821E5A93359}"/>
              </a:ext>
            </a:extLst>
          </p:cNvPr>
          <p:cNvSpPr/>
          <p:nvPr/>
        </p:nvSpPr>
        <p:spPr>
          <a:xfrm>
            <a:off x="1806710" y="3169872"/>
            <a:ext cx="1217397" cy="56429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FEE8EA9-0BE4-CFDF-3E0F-0D8B11F37351}"/>
              </a:ext>
            </a:extLst>
          </p:cNvPr>
          <p:cNvSpPr txBox="1"/>
          <p:nvPr/>
        </p:nvSpPr>
        <p:spPr>
          <a:xfrm>
            <a:off x="9513910" y="753025"/>
            <a:ext cx="1020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legenda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4AFF0E9D-92BC-C9D4-8AF6-A17ADBA26D15}"/>
              </a:ext>
            </a:extLst>
          </p:cNvPr>
          <p:cNvSpPr/>
          <p:nvPr/>
        </p:nvSpPr>
        <p:spPr>
          <a:xfrm>
            <a:off x="315242" y="3146850"/>
            <a:ext cx="1217397" cy="5642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C2BD396-20DF-A832-EAC2-19BFF92672AE}"/>
              </a:ext>
            </a:extLst>
          </p:cNvPr>
          <p:cNvCxnSpPr/>
          <p:nvPr/>
        </p:nvCxnSpPr>
        <p:spPr>
          <a:xfrm>
            <a:off x="315241" y="3146850"/>
            <a:ext cx="1217398" cy="564299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F26AECE-C73E-93EA-9E94-953ED6135AA0}"/>
              </a:ext>
            </a:extLst>
          </p:cNvPr>
          <p:cNvCxnSpPr/>
          <p:nvPr/>
        </p:nvCxnSpPr>
        <p:spPr>
          <a:xfrm flipV="1">
            <a:off x="315240" y="3159976"/>
            <a:ext cx="1217398" cy="551173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AB0ECD31-AD26-20F5-0715-6BBF62AFBA98}"/>
              </a:ext>
            </a:extLst>
          </p:cNvPr>
          <p:cNvSpPr/>
          <p:nvPr/>
        </p:nvSpPr>
        <p:spPr>
          <a:xfrm>
            <a:off x="239746" y="4091795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D21C3B5-A302-F70A-B631-547310AE8749}"/>
              </a:ext>
            </a:extLst>
          </p:cNvPr>
          <p:cNvSpPr/>
          <p:nvPr/>
        </p:nvSpPr>
        <p:spPr>
          <a:xfrm>
            <a:off x="1658206" y="4091795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C167B5F-BB09-08C9-1EDE-ECD70B27A9E4}"/>
              </a:ext>
            </a:extLst>
          </p:cNvPr>
          <p:cNvSpPr/>
          <p:nvPr/>
        </p:nvSpPr>
        <p:spPr>
          <a:xfrm>
            <a:off x="1658206" y="4774688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A8103251-87B0-E238-902D-2E293657E5FC}"/>
              </a:ext>
            </a:extLst>
          </p:cNvPr>
          <p:cNvSpPr/>
          <p:nvPr/>
        </p:nvSpPr>
        <p:spPr>
          <a:xfrm>
            <a:off x="1658206" y="5393411"/>
            <a:ext cx="1217397" cy="56429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75BE3147-7A6A-DF73-DDD7-6D0022945014}"/>
              </a:ext>
            </a:extLst>
          </p:cNvPr>
          <p:cNvSpPr/>
          <p:nvPr/>
        </p:nvSpPr>
        <p:spPr>
          <a:xfrm>
            <a:off x="9626406" y="2512912"/>
            <a:ext cx="538434" cy="24958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BF70496-F34C-8FFD-E3BF-D605930D7623}"/>
              </a:ext>
            </a:extLst>
          </p:cNvPr>
          <p:cNvSpPr txBox="1"/>
          <p:nvPr/>
        </p:nvSpPr>
        <p:spPr>
          <a:xfrm>
            <a:off x="10210302" y="2467162"/>
            <a:ext cx="193038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900" dirty="0"/>
              <a:t>substituição pelo TOTVS</a:t>
            </a:r>
          </a:p>
        </p:txBody>
      </p:sp>
    </p:spTree>
    <p:extLst>
      <p:ext uri="{BB962C8B-B14F-4D97-AF65-F5344CB8AC3E}">
        <p14:creationId xmlns:p14="http://schemas.microsoft.com/office/powerpoint/2010/main" val="17412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Conector reto 215"/>
          <p:cNvCxnSpPr/>
          <p:nvPr/>
        </p:nvCxnSpPr>
        <p:spPr>
          <a:xfrm flipH="1">
            <a:off x="623394" y="4072840"/>
            <a:ext cx="3240516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Conector de Seta Reta 145"/>
          <p:cNvCxnSpPr/>
          <p:nvPr/>
        </p:nvCxnSpPr>
        <p:spPr>
          <a:xfrm>
            <a:off x="6303784" y="3868282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5147041" y="3856847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>
                <a:solidFill>
                  <a:schemeClr val="accent6"/>
                </a:solidFill>
                <a:sym typeface="Simplon BP Bold"/>
              </a:rPr>
              <a:t>Topologia da TV DTH (PRÉ E PÓS) – AS IS 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7689175" y="2983371"/>
            <a:ext cx="1619220" cy="7370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4665" y="2978094"/>
            <a:ext cx="1614409" cy="737005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9988129" y="3717806"/>
            <a:ext cx="1221488" cy="28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2094439" y="102873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221675" y="102873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OI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2079885" y="3104099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9787662" y="104059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SISRAF/SFA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7696655" y="1033286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TVAS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1896041" y="525463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BR-NOTAS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9767810" y="202814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3" name="Retângulo 82"/>
          <p:cNvSpPr/>
          <p:nvPr/>
        </p:nvSpPr>
        <p:spPr>
          <a:xfrm>
            <a:off x="47329" y="4296899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COMPLY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1896042" y="4293096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SAP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43339" y="304495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FPW/SISJUR/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5052845" y="1040595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4852177" y="2754239"/>
            <a:ext cx="1991017" cy="111404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904306" y="569206"/>
            <a:ext cx="2346220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pt-BR" sz="1600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2109861" y="1968660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1073478" y="3962113"/>
            <a:ext cx="1854675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206667" y="2773258"/>
            <a:ext cx="142346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119170" y="2660915"/>
            <a:ext cx="1749646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grpSp>
        <p:nvGrpSpPr>
          <p:cNvPr id="11" name="Agrupar 10"/>
          <p:cNvGrpSpPr/>
          <p:nvPr/>
        </p:nvGrpSpPr>
        <p:grpSpPr>
          <a:xfrm>
            <a:off x="8797261" y="4975705"/>
            <a:ext cx="1619220" cy="744019"/>
            <a:chOff x="6597945" y="3885945"/>
            <a:chExt cx="1214415" cy="558014"/>
          </a:xfrm>
        </p:grpSpPr>
        <p:pic>
          <p:nvPicPr>
            <p:cNvPr id="161" name="Imagem 1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09636" y="3885945"/>
              <a:ext cx="1202724" cy="558014"/>
            </a:xfrm>
            <a:prstGeom prst="rect">
              <a:avLst/>
            </a:prstGeom>
          </p:spPr>
        </p:pic>
        <p:sp>
          <p:nvSpPr>
            <p:cNvPr id="106" name="Retângulo 105"/>
            <p:cNvSpPr/>
            <p:nvPr/>
          </p:nvSpPr>
          <p:spPr>
            <a:xfrm>
              <a:off x="6597945" y="3891204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09" name="CaixaDeTexto 108"/>
          <p:cNvSpPr txBox="1"/>
          <p:nvPr/>
        </p:nvSpPr>
        <p:spPr>
          <a:xfrm>
            <a:off x="8966065" y="4598631"/>
            <a:ext cx="1192634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7920203" y="548681"/>
            <a:ext cx="3231782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4750937" y="548681"/>
            <a:ext cx="221483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4263966" y="4641014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5966355" y="464018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4750937" y="4106307"/>
            <a:ext cx="217155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7690567" y="2036252"/>
            <a:ext cx="1619220" cy="737005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840895" y="1397236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3713659" y="1397236"/>
            <a:ext cx="1148221" cy="1487888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37" name="Conector de Seta Reta 136"/>
          <p:cNvCxnSpPr>
            <a:stCxn id="84" idx="1"/>
            <a:endCxn id="83" idx="3"/>
          </p:cNvCxnSpPr>
          <p:nvPr/>
        </p:nvCxnSpPr>
        <p:spPr>
          <a:xfrm flipH="1">
            <a:off x="1666548" y="4661599"/>
            <a:ext cx="229493" cy="3803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8" name="Conector de Seta Reta 137"/>
          <p:cNvCxnSpPr/>
          <p:nvPr/>
        </p:nvCxnSpPr>
        <p:spPr>
          <a:xfrm flipV="1">
            <a:off x="2705651" y="5039827"/>
            <a:ext cx="0" cy="197992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4" name="Conector de Seta Reta 143"/>
          <p:cNvCxnSpPr/>
          <p:nvPr/>
        </p:nvCxnSpPr>
        <p:spPr>
          <a:xfrm>
            <a:off x="1240035" y="5623137"/>
            <a:ext cx="622373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" name="Agrupar 3"/>
          <p:cNvGrpSpPr/>
          <p:nvPr/>
        </p:nvGrpSpPr>
        <p:grpSpPr>
          <a:xfrm>
            <a:off x="249325" y="5185085"/>
            <a:ext cx="1114328" cy="892241"/>
            <a:chOff x="347360" y="4408886"/>
            <a:chExt cx="835746" cy="669181"/>
          </a:xfrm>
        </p:grpSpPr>
        <p:pic>
          <p:nvPicPr>
            <p:cNvPr id="19472" name="Picture 16" descr="Grupo de usuários - ícones de pessoas grátis"/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93" y="4408886"/>
              <a:ext cx="582325" cy="582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5" name="CaixaDeTexto 144"/>
            <p:cNvSpPr txBox="1"/>
            <p:nvPr/>
          </p:nvSpPr>
          <p:spPr>
            <a:xfrm>
              <a:off x="347360" y="4916484"/>
              <a:ext cx="835746" cy="161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defTabSz="1219170" hangingPunct="0"/>
              <a:r>
                <a:rPr lang="pt-BR" sz="1400" dirty="0">
                  <a:solidFill>
                    <a:srgbClr val="535353"/>
                  </a:solidFill>
                  <a:latin typeface="Simplon BP Regular"/>
                  <a:ea typeface="+mj-ea"/>
                  <a:cs typeface="+mj-cs"/>
                  <a:sym typeface="Simplon BP Regular"/>
                </a:rPr>
                <a:t>Fornecedores</a:t>
              </a:r>
            </a:p>
          </p:txBody>
        </p: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5847686" y="1777601"/>
            <a:ext cx="14769" cy="9766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7459295" y="3324593"/>
            <a:ext cx="0" cy="537339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9534117" y="3595385"/>
            <a:ext cx="0" cy="26146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9530768" y="3595383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6856025" y="3329815"/>
            <a:ext cx="60350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9322157" y="2396651"/>
            <a:ext cx="44750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6856023" y="2404757"/>
            <a:ext cx="833152" cy="448179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31" name="Conector reto 230"/>
          <p:cNvCxnSpPr/>
          <p:nvPr/>
        </p:nvCxnSpPr>
        <p:spPr>
          <a:xfrm flipV="1">
            <a:off x="7001329" y="1401525"/>
            <a:ext cx="14025" cy="72842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5" name="Conector de Seta Reta 234"/>
          <p:cNvCxnSpPr>
            <a:endCxn id="77" idx="1"/>
          </p:cNvCxnSpPr>
          <p:nvPr/>
        </p:nvCxnSpPr>
        <p:spPr>
          <a:xfrm>
            <a:off x="7014858" y="1401788"/>
            <a:ext cx="68179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489" name="Conector de Seta Reta 19488"/>
          <p:cNvCxnSpPr/>
          <p:nvPr/>
        </p:nvCxnSpPr>
        <p:spPr>
          <a:xfrm>
            <a:off x="9315254" y="1397236"/>
            <a:ext cx="479356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Retângulo 86"/>
          <p:cNvSpPr/>
          <p:nvPr/>
        </p:nvSpPr>
        <p:spPr>
          <a:xfrm>
            <a:off x="8797261" y="5956358"/>
            <a:ext cx="1619220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sp>
        <p:nvSpPr>
          <p:cNvPr id="96" name="Nuvem 95"/>
          <p:cNvSpPr/>
          <p:nvPr/>
        </p:nvSpPr>
        <p:spPr>
          <a:xfrm>
            <a:off x="254989" y="6310249"/>
            <a:ext cx="1205031" cy="375287"/>
          </a:xfrm>
          <a:prstGeom prst="cloud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SEFAZ</a:t>
            </a:r>
          </a:p>
        </p:txBody>
      </p:sp>
      <p:sp>
        <p:nvSpPr>
          <p:cNvPr id="99" name="Retângulo 98"/>
          <p:cNvSpPr/>
          <p:nvPr/>
        </p:nvSpPr>
        <p:spPr>
          <a:xfrm>
            <a:off x="1896041" y="6052368"/>
            <a:ext cx="1619219" cy="737005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NEOGRID</a:t>
            </a:r>
          </a:p>
        </p:txBody>
      </p:sp>
      <p:cxnSp>
        <p:nvCxnSpPr>
          <p:cNvPr id="74" name="Conector reto 73"/>
          <p:cNvCxnSpPr/>
          <p:nvPr/>
        </p:nvCxnSpPr>
        <p:spPr>
          <a:xfrm flipH="1">
            <a:off x="4271798" y="3044957"/>
            <a:ext cx="5848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Conector reto 74"/>
          <p:cNvCxnSpPr/>
          <p:nvPr/>
        </p:nvCxnSpPr>
        <p:spPr>
          <a:xfrm flipV="1">
            <a:off x="4271797" y="2396651"/>
            <a:ext cx="0" cy="64830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de Seta Reta 77"/>
          <p:cNvCxnSpPr/>
          <p:nvPr/>
        </p:nvCxnSpPr>
        <p:spPr>
          <a:xfrm flipH="1">
            <a:off x="3739083" y="2396651"/>
            <a:ext cx="53271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reto 88"/>
          <p:cNvCxnSpPr/>
          <p:nvPr/>
        </p:nvCxnSpPr>
        <p:spPr>
          <a:xfrm flipH="1">
            <a:off x="7459295" y="3856847"/>
            <a:ext cx="207147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6843193" y="3140968"/>
            <a:ext cx="84063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Conector reto 138"/>
          <p:cNvCxnSpPr/>
          <p:nvPr/>
        </p:nvCxnSpPr>
        <p:spPr>
          <a:xfrm flipH="1">
            <a:off x="6472576" y="2123360"/>
            <a:ext cx="5229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7" name="Conector reto 146"/>
          <p:cNvCxnSpPr/>
          <p:nvPr/>
        </p:nvCxnSpPr>
        <p:spPr>
          <a:xfrm flipH="1">
            <a:off x="6855576" y="3525011"/>
            <a:ext cx="50018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7137570" y="4211711"/>
            <a:ext cx="65856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7799305" y="4212551"/>
            <a:ext cx="0" cy="211357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7799305" y="6324860"/>
            <a:ext cx="99795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5" name="Conector de Seta Reta 164"/>
          <p:cNvCxnSpPr/>
          <p:nvPr/>
        </p:nvCxnSpPr>
        <p:spPr>
          <a:xfrm>
            <a:off x="8112224" y="5354667"/>
            <a:ext cx="67207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ector reto 165"/>
          <p:cNvCxnSpPr/>
          <p:nvPr/>
        </p:nvCxnSpPr>
        <p:spPr>
          <a:xfrm>
            <a:off x="6481536" y="2116326"/>
            <a:ext cx="0" cy="63566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2" name="Conector reto 171"/>
          <p:cNvCxnSpPr/>
          <p:nvPr/>
        </p:nvCxnSpPr>
        <p:spPr>
          <a:xfrm flipH="1">
            <a:off x="4079776" y="3717032"/>
            <a:ext cx="78159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8" name="Conector reto 177"/>
          <p:cNvCxnSpPr/>
          <p:nvPr/>
        </p:nvCxnSpPr>
        <p:spPr>
          <a:xfrm flipV="1">
            <a:off x="4079776" y="3720377"/>
            <a:ext cx="0" cy="945024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8" name="Conector reto 187"/>
          <p:cNvCxnSpPr/>
          <p:nvPr/>
        </p:nvCxnSpPr>
        <p:spPr>
          <a:xfrm flipV="1">
            <a:off x="3863909" y="4886515"/>
            <a:ext cx="0" cy="155146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0" name="Conector de Seta Reta 189"/>
          <p:cNvCxnSpPr/>
          <p:nvPr/>
        </p:nvCxnSpPr>
        <p:spPr>
          <a:xfrm flipH="1">
            <a:off x="3536068" y="4659669"/>
            <a:ext cx="54359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3" name="Conector de Seta Reta 192"/>
          <p:cNvCxnSpPr/>
          <p:nvPr/>
        </p:nvCxnSpPr>
        <p:spPr>
          <a:xfrm flipH="1">
            <a:off x="3517526" y="4889935"/>
            <a:ext cx="34638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6855577" y="3728211"/>
            <a:ext cx="290284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Conector de Seta Reta 196"/>
          <p:cNvCxnSpPr>
            <a:endCxn id="97" idx="1"/>
          </p:cNvCxnSpPr>
          <p:nvPr/>
        </p:nvCxnSpPr>
        <p:spPr>
          <a:xfrm>
            <a:off x="3699104" y="3311260"/>
            <a:ext cx="115307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7142685" y="3728211"/>
            <a:ext cx="0" cy="48012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8" name="Conector reto 207"/>
          <p:cNvCxnSpPr/>
          <p:nvPr/>
        </p:nvCxnSpPr>
        <p:spPr>
          <a:xfrm flipV="1">
            <a:off x="7357321" y="3525011"/>
            <a:ext cx="0" cy="45284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Conector reto 209"/>
          <p:cNvCxnSpPr/>
          <p:nvPr/>
        </p:nvCxnSpPr>
        <p:spPr>
          <a:xfrm flipH="1">
            <a:off x="7355757" y="3975411"/>
            <a:ext cx="75646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3" name="Conector reto 212"/>
          <p:cNvCxnSpPr/>
          <p:nvPr/>
        </p:nvCxnSpPr>
        <p:spPr>
          <a:xfrm flipV="1">
            <a:off x="8112225" y="3975411"/>
            <a:ext cx="4641" cy="1379256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4" name="Conector reto 213"/>
          <p:cNvCxnSpPr/>
          <p:nvPr/>
        </p:nvCxnSpPr>
        <p:spPr>
          <a:xfrm flipH="1">
            <a:off x="3863912" y="3506632"/>
            <a:ext cx="988265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5" name="Conector reto 214"/>
          <p:cNvCxnSpPr/>
          <p:nvPr/>
        </p:nvCxnSpPr>
        <p:spPr>
          <a:xfrm flipV="1">
            <a:off x="3863909" y="3506632"/>
            <a:ext cx="0" cy="566208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Conector de Seta Reta 217"/>
          <p:cNvCxnSpPr/>
          <p:nvPr/>
        </p:nvCxnSpPr>
        <p:spPr>
          <a:xfrm>
            <a:off x="626248" y="4072840"/>
            <a:ext cx="0" cy="220256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0" name="Conector de Seta Reta 219"/>
          <p:cNvCxnSpPr/>
          <p:nvPr/>
        </p:nvCxnSpPr>
        <p:spPr>
          <a:xfrm flipH="1">
            <a:off x="3523673" y="6433741"/>
            <a:ext cx="340239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Conector de Seta Reta 221"/>
          <p:cNvCxnSpPr/>
          <p:nvPr/>
        </p:nvCxnSpPr>
        <p:spPr>
          <a:xfrm flipH="1">
            <a:off x="1487489" y="6471525"/>
            <a:ext cx="409847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0843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Conector de Seta Reta 145"/>
          <p:cNvCxnSpPr/>
          <p:nvPr/>
        </p:nvCxnSpPr>
        <p:spPr>
          <a:xfrm>
            <a:off x="6303784" y="3868282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Conector de Seta Reta 119"/>
          <p:cNvCxnSpPr/>
          <p:nvPr/>
        </p:nvCxnSpPr>
        <p:spPr>
          <a:xfrm>
            <a:off x="5147041" y="3856847"/>
            <a:ext cx="1" cy="7560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>
                <a:solidFill>
                  <a:schemeClr val="accent6"/>
                </a:solidFill>
                <a:sym typeface="Simplon BP Bold"/>
              </a:rPr>
              <a:t>Topologia da TV DTH (PRÉ E PÓS) – TO BE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7689175" y="2983371"/>
            <a:ext cx="1619220" cy="737005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FORTUNA/</a:t>
            </a:r>
          </a:p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SERVCELL</a:t>
            </a:r>
          </a:p>
        </p:txBody>
      </p:sp>
      <p:pic>
        <p:nvPicPr>
          <p:cNvPr id="143" name="Imagem 1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4665" y="2978094"/>
            <a:ext cx="1614409" cy="737005"/>
          </a:xfrm>
          <a:prstGeom prst="rect">
            <a:avLst/>
          </a:prstGeom>
        </p:spPr>
      </p:pic>
      <p:sp>
        <p:nvSpPr>
          <p:cNvPr id="160" name="CaixaDeTexto 159"/>
          <p:cNvSpPr txBox="1"/>
          <p:nvPr/>
        </p:nvSpPr>
        <p:spPr>
          <a:xfrm>
            <a:off x="9988129" y="3717806"/>
            <a:ext cx="1221488" cy="28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Convênios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2094439" y="1028734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CDI</a:t>
            </a:r>
          </a:p>
        </p:txBody>
      </p:sp>
      <p:sp>
        <p:nvSpPr>
          <p:cNvPr id="69" name="Retângulo 68"/>
          <p:cNvSpPr/>
          <p:nvPr/>
        </p:nvSpPr>
        <p:spPr>
          <a:xfrm>
            <a:off x="221675" y="1028734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MINHA OI/APP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2079885" y="3383787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CLICK/MUA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9767810" y="2028148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GED360</a:t>
            </a:r>
          </a:p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E-CONTAS</a:t>
            </a:r>
          </a:p>
        </p:txBody>
      </p:sp>
      <p:sp>
        <p:nvSpPr>
          <p:cNvPr id="85" name="Retângulo 84"/>
          <p:cNvSpPr/>
          <p:nvPr/>
        </p:nvSpPr>
        <p:spPr>
          <a:xfrm>
            <a:off x="161173" y="3367056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FCCS</a:t>
            </a:r>
          </a:p>
        </p:txBody>
      </p:sp>
      <p:sp>
        <p:nvSpPr>
          <p:cNvPr id="94" name="Retângulo 93"/>
          <p:cNvSpPr/>
          <p:nvPr/>
        </p:nvSpPr>
        <p:spPr>
          <a:xfrm>
            <a:off x="5052845" y="1040595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PCO</a:t>
            </a:r>
          </a:p>
        </p:txBody>
      </p:sp>
      <p:sp>
        <p:nvSpPr>
          <p:cNvPr id="97" name="Retângulo 96"/>
          <p:cNvSpPr/>
          <p:nvPr/>
        </p:nvSpPr>
        <p:spPr>
          <a:xfrm>
            <a:off x="4852177" y="2754239"/>
            <a:ext cx="1991017" cy="1114043"/>
          </a:xfrm>
          <a:prstGeom prst="rect">
            <a:avLst/>
          </a:prstGeom>
          <a:solidFill>
            <a:srgbClr val="00800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SINN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904306" y="569206"/>
            <a:ext cx="2346220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>
            <a:defPPr>
              <a:defRPr lang="en-US"/>
            </a:defPPr>
            <a:lvl1pPr marR="0" indent="0" defTabSz="9144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pt-BR" sz="1600" dirty="0">
                <a:solidFill>
                  <a:srgbClr val="FFFFFF"/>
                </a:solidFill>
                <a:latin typeface="Simplon BP Regular"/>
                <a:sym typeface="Simplon BP Regular"/>
              </a:rPr>
              <a:t>ATENDIMENTO DIGITAL</a:t>
            </a:r>
          </a:p>
        </p:txBody>
      </p:sp>
      <p:sp>
        <p:nvSpPr>
          <p:cNvPr id="98" name="Retângulo 97"/>
          <p:cNvSpPr/>
          <p:nvPr/>
        </p:nvSpPr>
        <p:spPr>
          <a:xfrm>
            <a:off x="2109861" y="1968660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URA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471334" y="4867191"/>
            <a:ext cx="1854675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FISCAL/CONTÁBIL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206667" y="3052946"/>
            <a:ext cx="142346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WORK FORCE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119170" y="3025418"/>
            <a:ext cx="1749646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ADMINISTRATIVO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9010552" y="5615662"/>
            <a:ext cx="1192634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COBRANÇA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7912931" y="1546413"/>
            <a:ext cx="3231782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FATURAMENTO/ARRECADAÇÃO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4750937" y="548681"/>
            <a:ext cx="221483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ANÁLISE DE CRÉDITO</a:t>
            </a:r>
          </a:p>
        </p:txBody>
      </p:sp>
      <p:sp>
        <p:nvSpPr>
          <p:cNvPr id="113" name="Retângulo 112"/>
          <p:cNvSpPr/>
          <p:nvPr/>
        </p:nvSpPr>
        <p:spPr>
          <a:xfrm>
            <a:off x="3995943" y="4641014"/>
            <a:ext cx="1619220" cy="737005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CAS (NDS)</a:t>
            </a:r>
          </a:p>
        </p:txBody>
      </p:sp>
      <p:sp>
        <p:nvSpPr>
          <p:cNvPr id="114" name="Retângulo 113"/>
          <p:cNvSpPr/>
          <p:nvPr/>
        </p:nvSpPr>
        <p:spPr>
          <a:xfrm>
            <a:off x="5966355" y="4640188"/>
            <a:ext cx="1619220" cy="737005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MEDIA HUB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7690567" y="2036252"/>
            <a:ext cx="1619220" cy="737005"/>
            <a:chOff x="5767927" y="1575546"/>
            <a:chExt cx="1214415" cy="552754"/>
          </a:xfrm>
        </p:grpSpPr>
        <p:sp>
          <p:nvSpPr>
            <p:cNvPr id="100" name="Retângulo 99"/>
            <p:cNvSpPr/>
            <p:nvPr/>
          </p:nvSpPr>
          <p:spPr>
            <a:xfrm>
              <a:off x="5767927" y="1575546"/>
              <a:ext cx="1214415" cy="552754"/>
            </a:xfrm>
            <a:prstGeom prst="rect">
              <a:avLst/>
            </a:prstGeom>
            <a:noFill/>
            <a:ln w="12700" cap="flat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algn="ctr" defTabSz="1219170" hangingPunct="0"/>
              <a:endPara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34066" y="1635601"/>
              <a:ext cx="1114198" cy="396480"/>
            </a:xfrm>
            <a:prstGeom prst="rect">
              <a:avLst/>
            </a:prstGeom>
          </p:spPr>
        </p:pic>
      </p:grpSp>
      <p:cxnSp>
        <p:nvCxnSpPr>
          <p:cNvPr id="24" name="Conector de Seta Reta 23"/>
          <p:cNvCxnSpPr>
            <a:stCxn id="69" idx="3"/>
            <a:endCxn id="68" idx="1"/>
          </p:cNvCxnSpPr>
          <p:nvPr/>
        </p:nvCxnSpPr>
        <p:spPr>
          <a:xfrm>
            <a:off x="1840895" y="1397236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3" name="Agrupar 72"/>
          <p:cNvGrpSpPr/>
          <p:nvPr/>
        </p:nvGrpSpPr>
        <p:grpSpPr>
          <a:xfrm>
            <a:off x="3713659" y="1397236"/>
            <a:ext cx="1148221" cy="1487888"/>
            <a:chOff x="2785244" y="1047927"/>
            <a:chExt cx="861166" cy="1115916"/>
          </a:xfrm>
        </p:grpSpPr>
        <p:cxnSp>
          <p:nvCxnSpPr>
            <p:cNvPr id="64" name="Conector reto 63"/>
            <p:cNvCxnSpPr/>
            <p:nvPr/>
          </p:nvCxnSpPr>
          <p:spPr>
            <a:xfrm flipH="1">
              <a:off x="3419872" y="2163843"/>
              <a:ext cx="226538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3419872" y="1047927"/>
              <a:ext cx="0" cy="1115916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2" name="Conector de Seta Reta 71"/>
            <p:cNvCxnSpPr>
              <a:endCxn id="68" idx="3"/>
            </p:cNvCxnSpPr>
            <p:nvPr/>
          </p:nvCxnSpPr>
          <p:spPr>
            <a:xfrm flipH="1">
              <a:off x="2785244" y="1047927"/>
              <a:ext cx="634628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187" name="Conector de Seta Reta 186"/>
          <p:cNvCxnSpPr>
            <a:stCxn id="94" idx="2"/>
            <a:endCxn id="97" idx="0"/>
          </p:cNvCxnSpPr>
          <p:nvPr/>
        </p:nvCxnSpPr>
        <p:spPr>
          <a:xfrm flipH="1">
            <a:off x="5847686" y="1777601"/>
            <a:ext cx="14769" cy="976639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Conector reto 204"/>
          <p:cNvCxnSpPr/>
          <p:nvPr/>
        </p:nvCxnSpPr>
        <p:spPr>
          <a:xfrm flipV="1">
            <a:off x="7459295" y="3324593"/>
            <a:ext cx="0" cy="537339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Conector reto 208"/>
          <p:cNvCxnSpPr/>
          <p:nvPr/>
        </p:nvCxnSpPr>
        <p:spPr>
          <a:xfrm flipV="1">
            <a:off x="9534117" y="3595385"/>
            <a:ext cx="0" cy="26146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Conector de Seta Reta 210"/>
          <p:cNvCxnSpPr/>
          <p:nvPr/>
        </p:nvCxnSpPr>
        <p:spPr>
          <a:xfrm>
            <a:off x="9530768" y="3595383"/>
            <a:ext cx="25354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Conector de Seta Reta 211"/>
          <p:cNvCxnSpPr/>
          <p:nvPr/>
        </p:nvCxnSpPr>
        <p:spPr>
          <a:xfrm flipH="1">
            <a:off x="6856025" y="3329815"/>
            <a:ext cx="60350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Conector de Seta Reta 218"/>
          <p:cNvCxnSpPr/>
          <p:nvPr/>
        </p:nvCxnSpPr>
        <p:spPr>
          <a:xfrm>
            <a:off x="9322157" y="2396651"/>
            <a:ext cx="447504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479" name="Agrupar 19478"/>
          <p:cNvGrpSpPr/>
          <p:nvPr/>
        </p:nvGrpSpPr>
        <p:grpSpPr>
          <a:xfrm>
            <a:off x="6856023" y="2404757"/>
            <a:ext cx="833152" cy="448179"/>
            <a:chOff x="5142017" y="1803568"/>
            <a:chExt cx="624864" cy="336134"/>
          </a:xfrm>
        </p:grpSpPr>
        <p:cxnSp>
          <p:nvCxnSpPr>
            <p:cNvPr id="223" name="Conector reto 222"/>
            <p:cNvCxnSpPr/>
            <p:nvPr/>
          </p:nvCxnSpPr>
          <p:spPr>
            <a:xfrm flipH="1">
              <a:off x="5142017" y="2139702"/>
              <a:ext cx="441369" cy="0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5" name="Conector reto 224"/>
            <p:cNvCxnSpPr/>
            <p:nvPr/>
          </p:nvCxnSpPr>
          <p:spPr>
            <a:xfrm flipV="1">
              <a:off x="5580112" y="1803568"/>
              <a:ext cx="0" cy="336134"/>
            </a:xfrm>
            <a:prstGeom prst="line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7" name="Conector de Seta Reta 226"/>
            <p:cNvCxnSpPr/>
            <p:nvPr/>
          </p:nvCxnSpPr>
          <p:spPr>
            <a:xfrm>
              <a:off x="5575195" y="1805673"/>
              <a:ext cx="191686" cy="0"/>
            </a:xfrm>
            <a:prstGeom prst="straightConnector1">
              <a:avLst/>
            </a:prstGeom>
            <a:noFill/>
            <a:ln w="9525" cap="flat">
              <a:solidFill>
                <a:schemeClr val="bg1">
                  <a:lumMod val="65000"/>
                </a:schemeClr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7" name="Retângulo 86"/>
          <p:cNvSpPr/>
          <p:nvPr/>
        </p:nvSpPr>
        <p:spPr>
          <a:xfrm>
            <a:off x="8797261" y="5956358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PORTAL DE COBRANÇA</a:t>
            </a:r>
          </a:p>
        </p:txBody>
      </p:sp>
      <p:cxnSp>
        <p:nvCxnSpPr>
          <p:cNvPr id="74" name="Conector reto 73"/>
          <p:cNvCxnSpPr/>
          <p:nvPr/>
        </p:nvCxnSpPr>
        <p:spPr>
          <a:xfrm flipH="1">
            <a:off x="4271798" y="3044957"/>
            <a:ext cx="5848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Conector reto 74"/>
          <p:cNvCxnSpPr/>
          <p:nvPr/>
        </p:nvCxnSpPr>
        <p:spPr>
          <a:xfrm flipV="1">
            <a:off x="4271797" y="2396651"/>
            <a:ext cx="0" cy="648307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Conector de Seta Reta 77"/>
          <p:cNvCxnSpPr/>
          <p:nvPr/>
        </p:nvCxnSpPr>
        <p:spPr>
          <a:xfrm flipH="1">
            <a:off x="3739083" y="2396651"/>
            <a:ext cx="53271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9" name="Conector reto 88"/>
          <p:cNvCxnSpPr/>
          <p:nvPr/>
        </p:nvCxnSpPr>
        <p:spPr>
          <a:xfrm flipH="1">
            <a:off x="7459295" y="3856847"/>
            <a:ext cx="2071477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Conector de Seta Reta 127"/>
          <p:cNvCxnSpPr/>
          <p:nvPr/>
        </p:nvCxnSpPr>
        <p:spPr>
          <a:xfrm>
            <a:off x="6843193" y="3140968"/>
            <a:ext cx="840632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Conector reto 138"/>
          <p:cNvCxnSpPr/>
          <p:nvPr/>
        </p:nvCxnSpPr>
        <p:spPr>
          <a:xfrm flipH="1">
            <a:off x="6472576" y="2123360"/>
            <a:ext cx="522969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Conector reto 157"/>
          <p:cNvCxnSpPr/>
          <p:nvPr/>
        </p:nvCxnSpPr>
        <p:spPr>
          <a:xfrm flipH="1">
            <a:off x="7137570" y="4211711"/>
            <a:ext cx="658561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2" name="Conector reto 161"/>
          <p:cNvCxnSpPr/>
          <p:nvPr/>
        </p:nvCxnSpPr>
        <p:spPr>
          <a:xfrm flipV="1">
            <a:off x="7799305" y="4212551"/>
            <a:ext cx="0" cy="211357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3" name="Conector de Seta Reta 162"/>
          <p:cNvCxnSpPr>
            <a:endCxn id="87" idx="1"/>
          </p:cNvCxnSpPr>
          <p:nvPr/>
        </p:nvCxnSpPr>
        <p:spPr>
          <a:xfrm>
            <a:off x="7799305" y="6324860"/>
            <a:ext cx="997955" cy="0"/>
          </a:xfrm>
          <a:prstGeom prst="straightConnector1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Conector reto 165"/>
          <p:cNvCxnSpPr/>
          <p:nvPr/>
        </p:nvCxnSpPr>
        <p:spPr>
          <a:xfrm>
            <a:off x="6481536" y="2116326"/>
            <a:ext cx="0" cy="635661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5" name="Conector reto 194"/>
          <p:cNvCxnSpPr/>
          <p:nvPr/>
        </p:nvCxnSpPr>
        <p:spPr>
          <a:xfrm flipH="1">
            <a:off x="6855577" y="3728211"/>
            <a:ext cx="290284" cy="0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3" name="Conector reto 202"/>
          <p:cNvCxnSpPr/>
          <p:nvPr/>
        </p:nvCxnSpPr>
        <p:spPr>
          <a:xfrm flipV="1">
            <a:off x="7142685" y="3728211"/>
            <a:ext cx="0" cy="480123"/>
          </a:xfrm>
          <a:prstGeom prst="line">
            <a:avLst/>
          </a:pr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etângulo 94"/>
          <p:cNvSpPr/>
          <p:nvPr/>
        </p:nvSpPr>
        <p:spPr>
          <a:xfrm>
            <a:off x="412508" y="5285716"/>
            <a:ext cx="1991017" cy="1114043"/>
          </a:xfrm>
          <a:prstGeom prst="rect">
            <a:avLst/>
          </a:prstGeom>
          <a:solidFill>
            <a:srgbClr val="7030A0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TOTVS</a:t>
            </a:r>
          </a:p>
        </p:txBody>
      </p:sp>
      <p:sp>
        <p:nvSpPr>
          <p:cNvPr id="101" name="Retângulo 100"/>
          <p:cNvSpPr/>
          <p:nvPr/>
        </p:nvSpPr>
        <p:spPr>
          <a:xfrm>
            <a:off x="216262" y="1878946"/>
            <a:ext cx="1619220" cy="737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600" b="1" dirty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JOICE/TÉCNICO VIRTUAL</a:t>
            </a:r>
          </a:p>
        </p:txBody>
      </p:sp>
      <p:cxnSp>
        <p:nvCxnSpPr>
          <p:cNvPr id="6" name="Conector Angulado 5"/>
          <p:cNvCxnSpPr>
            <a:stCxn id="97" idx="1"/>
            <a:endCxn id="70" idx="3"/>
          </p:cNvCxnSpPr>
          <p:nvPr/>
        </p:nvCxnSpPr>
        <p:spPr>
          <a:xfrm rot="10800000" flipV="1">
            <a:off x="3699104" y="3311260"/>
            <a:ext cx="1153072" cy="441029"/>
          </a:xfrm>
          <a:prstGeom prst="bentConnector3">
            <a:avLst/>
          </a:prstGeom>
          <a:noFill/>
          <a:ln w="6350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Conector Angulado 8"/>
          <p:cNvCxnSpPr>
            <a:stCxn id="97" idx="2"/>
            <a:endCxn id="95" idx="3"/>
          </p:cNvCxnSpPr>
          <p:nvPr/>
        </p:nvCxnSpPr>
        <p:spPr>
          <a:xfrm rot="5400000">
            <a:off x="3138377" y="3133430"/>
            <a:ext cx="1974456" cy="3444161"/>
          </a:xfrm>
          <a:prstGeom prst="bentConnector2">
            <a:avLst/>
          </a:prstGeom>
          <a:noFill/>
          <a:ln w="3175" cap="flat">
            <a:solidFill>
              <a:schemeClr val="accent6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CaixaDeTexto 114"/>
          <p:cNvSpPr txBox="1"/>
          <p:nvPr/>
        </p:nvSpPr>
        <p:spPr>
          <a:xfrm>
            <a:off x="4750937" y="4106307"/>
            <a:ext cx="2171557" cy="24622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600" b="1" dirty="0">
                <a:solidFill>
                  <a:srgbClr val="FFFFFF"/>
                </a:solidFill>
                <a:latin typeface="Simplon BP Regular"/>
                <a:ea typeface="+mj-ea"/>
                <a:cs typeface="+mj-cs"/>
                <a:sym typeface="Simplon BP Regular"/>
              </a:rPr>
              <a:t>APROVISIONAMENTO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078163" y="110115"/>
            <a:ext cx="3499020" cy="8204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r>
              <a:rPr lang="pt-BR" sz="1333" b="1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Legenda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com TSA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Sistemas </a:t>
            </a:r>
            <a:r>
              <a:rPr lang="pt-BR" sz="1333" dirty="0" err="1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Dropados</a:t>
            </a:r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 para TVCO</a:t>
            </a:r>
          </a:p>
          <a:p>
            <a:pPr defTabSz="1219170" hangingPunct="0"/>
            <a:r>
              <a:rPr lang="pt-BR" sz="1333" dirty="0">
                <a:solidFill>
                  <a:srgbClr val="2B2B2B"/>
                </a:solidFill>
                <a:latin typeface="Simplon BP Regular"/>
                <a:ea typeface="+mj-ea"/>
                <a:cs typeface="+mj-cs"/>
                <a:sym typeface="Simplon BP Regular"/>
              </a:rPr>
              <a:t>Sistema Externo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9587396" y="218895"/>
            <a:ext cx="348081" cy="287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10506410" y="476526"/>
            <a:ext cx="348081" cy="287323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Retângulo 107"/>
          <p:cNvSpPr/>
          <p:nvPr/>
        </p:nvSpPr>
        <p:spPr>
          <a:xfrm>
            <a:off x="9414332" y="752632"/>
            <a:ext cx="348081" cy="287323"/>
          </a:xfrm>
          <a:prstGeom prst="rect">
            <a:avLst/>
          </a:prstGeom>
          <a:solidFill>
            <a:srgbClr val="7030A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19" name="Retângulo Arredondado 18"/>
          <p:cNvSpPr/>
          <p:nvPr/>
        </p:nvSpPr>
        <p:spPr>
          <a:xfrm>
            <a:off x="7912932" y="94664"/>
            <a:ext cx="3235673" cy="1152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 hangingPunct="0"/>
            <a:endParaRPr lang="pt-BR" sz="1867">
              <a:solidFill>
                <a:srgbClr val="00D318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4877911" y="2023293"/>
            <a:ext cx="751731" cy="5092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defTabSz="1219170" hangingPunct="0"/>
            <a:r>
              <a:rPr lang="pt-BR" sz="1867" b="1" dirty="0" smtClean="0">
                <a:solidFill>
                  <a:srgbClr val="535353"/>
                </a:solidFill>
                <a:latin typeface="Simplon BP Regular"/>
                <a:ea typeface="+mj-ea"/>
                <a:cs typeface="+mj-cs"/>
                <a:sym typeface="Simplon BP Regular"/>
              </a:rPr>
              <a:t>NDS</a:t>
            </a:r>
            <a:endParaRPr lang="pt-BR" sz="1867" b="1" dirty="0">
              <a:solidFill>
                <a:srgbClr val="535353"/>
              </a:solidFill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5" name="Conector Angulado 4"/>
          <p:cNvCxnSpPr>
            <a:stCxn id="67" idx="2"/>
          </p:cNvCxnSpPr>
          <p:nvPr/>
        </p:nvCxnSpPr>
        <p:spPr>
          <a:xfrm rot="16200000" flipH="1">
            <a:off x="5180203" y="2606101"/>
            <a:ext cx="232626" cy="85478"/>
          </a:xfrm>
          <a:prstGeom prst="bentConnector3">
            <a:avLst/>
          </a:prstGeom>
          <a:noFill/>
          <a:ln w="25400" cap="flat">
            <a:solidFill>
              <a:schemeClr val="accent6">
                <a:lumMod val="25000"/>
                <a:lumOff val="75000"/>
              </a:schemeClr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0200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Tabela 76">
            <a:extLst>
              <a:ext uri="{FF2B5EF4-FFF2-40B4-BE49-F238E27FC236}">
                <a16:creationId xmlns:a16="http://schemas.microsoft.com/office/drawing/2014/main" id="{4E1FDA6A-5CEC-A331-AFA5-1999091DE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76827"/>
              </p:ext>
            </p:extLst>
          </p:nvPr>
        </p:nvGraphicFramePr>
        <p:xfrm>
          <a:off x="165927" y="820102"/>
          <a:ext cx="11860146" cy="594360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952243410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3852516155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>
                          <a:solidFill>
                            <a:schemeClr val="accent6"/>
                          </a:solidFill>
                        </a:rPr>
                        <a:t>Análise de Crédito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pt-BR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276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PCO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Confirmado que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 hoje utilizamos o P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CO para vendas de DTH, como estamos com estas vendas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 suspensas o PCO não esta sendo utilizado, mas precisa ser feita uma adaptação caso as vendas voltem a ocorrer.</a:t>
                      </a:r>
                      <a:endParaRPr lang="pt-BR" sz="1200" dirty="0" smtClean="0">
                        <a:solidFill>
                          <a:schemeClr val="accent6"/>
                        </a:solidFill>
                      </a:endParaRPr>
                    </a:p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No SINN estão acontecendo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 as vendas de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BRI leva em consideração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 a politica de credito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 dentro do SINN considerando a inadimplência, score, etc...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262725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b="1" dirty="0" smtClean="0">
                          <a:solidFill>
                            <a:schemeClr val="accent6"/>
                          </a:solidFill>
                        </a:rPr>
                        <a:t>Faturamento/Arrecadação</a:t>
                      </a:r>
                      <a:endParaRPr lang="pt-BR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00667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TVAS/SISTAF/SFA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Já foi avaliado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 e no SINN não existem mais clientes com cobrança no SFA/SISRAF, será feito mais um Check no TVAS. </a:t>
                      </a:r>
                      <a:r>
                        <a:rPr lang="pt-BR" sz="1200" baseline="0" dirty="0" err="1" smtClean="0">
                          <a:solidFill>
                            <a:schemeClr val="accent6"/>
                          </a:solidFill>
                        </a:rPr>
                        <a:t>Resp</a:t>
                      </a:r>
                      <a:r>
                        <a:rPr lang="pt-BR" sz="1200" baseline="0" dirty="0" smtClean="0">
                          <a:solidFill>
                            <a:schemeClr val="accent6"/>
                          </a:solidFill>
                        </a:rPr>
                        <a:t>: Vivian Jesus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6740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PRINT CENTER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deverá ser feito contrato da SPE com a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printcenter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560119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GED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360 – E-contas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repositório de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PDFs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 de faturas. Necessário para ser acessado pela minha Oi e encaminhar a fatura ao cliente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Ação: criar uma nova empresa para segregar as faturas de TV para a SPE. Avaliar esforço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7738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E-mail Seguro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responsável pelo envio automático das faturas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PDFs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 aos clientes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Ação: criar uma nova empresa para segregar as faturas de TV para a SPE. Avaliar esforço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0495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Fortuna/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</a:rPr>
                        <a:t>servcell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Avaliar contrato do fortuna e 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</a:rPr>
                        <a:t>servcell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para entendimentos dos custos envolvidos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Ação: enviar contrato para Time Mileto (Roberto G.) e Renato S. ((responsável : Karina Duprat)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Ação: criar uma nova empresa para emissão das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NFs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 no CNPJ da SPE. Avaliar esforço (responsável : Vivian Jesus). Ação de desenvolvimento somente será realizada após aprovação de continuidade do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fortuna/</a:t>
                      </a:r>
                      <a:r>
                        <a:rPr lang="pt-BR" sz="1200" dirty="0" err="1" smtClean="0">
                          <a:solidFill>
                            <a:schemeClr val="accent6"/>
                          </a:solidFill>
                        </a:rPr>
                        <a:t>servcell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pelo Roberto G.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95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SINN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Criar o novo CNPJ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Adaptar os convênios e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febrabans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 – avaliar as modalidades de arrecadação: Código de Barras, DACC e PIX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Integrar o SINN ao TOTVS (sistema Externo) – Avaliar com segurança da informação a abertura de porta de Firewall/uso do NDS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 e criar lógica para enviar os movimentos anteriores a 01/02/25 para o </a:t>
                      </a:r>
                      <a:r>
                        <a:rPr lang="pt-BR" sz="1200" b="0" i="0" u="none" strike="noStrike" cap="none" spc="0" baseline="0" dirty="0" err="1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Comply</a:t>
                      </a: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 e SAP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Avaliar o processo de venda para não utilizar o PCO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Avaliar integração com o DA, visto que será feito um novo modelo via TOTVS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Criar relatórios para repasse/controle de arrecadação para as faturas antigas da OI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59479"/>
                  </a:ext>
                </a:extLst>
              </a:tr>
            </a:tbl>
          </a:graphicData>
        </a:graphic>
      </p:graphicFrame>
      <p:sp>
        <p:nvSpPr>
          <p:cNvPr id="7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0529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ACD9256-1910-2F74-29D5-0642D811B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59349"/>
              </p:ext>
            </p:extLst>
          </p:nvPr>
        </p:nvGraphicFramePr>
        <p:xfrm>
          <a:off x="165927" y="1261364"/>
          <a:ext cx="11860146" cy="365760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952243410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3852516155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smtClean="0">
                          <a:solidFill>
                            <a:schemeClr val="accent6"/>
                          </a:solidFill>
                        </a:rPr>
                        <a:t>Cobrança</a:t>
                      </a:r>
                      <a:endParaRPr lang="pt-BR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608380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Serasa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não é necessário adequações. Sistema Oi Services.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Necessário inclusão no TSA.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Avaliar qual é a interface para gestão de estoque de STB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276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Portal de Cobrança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Necessário fazer adaptação para suportar SPE. Avaliar esforço (responsável : Vivian Jesus)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262725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 err="1" smtClean="0">
                          <a:solidFill>
                            <a:schemeClr val="accent6"/>
                          </a:solidFill>
                        </a:rPr>
                        <a:t>Work</a:t>
                      </a:r>
                      <a:r>
                        <a:rPr lang="pt-BR" sz="1200" b="1" dirty="0" smtClean="0">
                          <a:solidFill>
                            <a:schemeClr val="accent6"/>
                          </a:solidFill>
                        </a:rPr>
                        <a:t> </a:t>
                      </a:r>
                      <a:r>
                        <a:rPr lang="pt-BR" sz="1200" b="1" dirty="0">
                          <a:solidFill>
                            <a:schemeClr val="accent6"/>
                          </a:solidFill>
                        </a:rPr>
                        <a:t>force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357542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Click/MUA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não é necessário adequações. Sistema Oi Services.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Necessário inclusão no TSA.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Avaliar qual é a interface para gestão de estoque de STB (responsável : Vivian Jesus)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67403"/>
                  </a:ext>
                </a:extLst>
              </a:tr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Atendimento digital</a:t>
                      </a:r>
                      <a:endParaRPr kumimoji="0" lang="pt-B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560119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URA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Contrato entre área de negócio e CONTAX. Avaliar TSA com área de Atendimento.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77386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Minha Oi WEB e APP /  CDI / Joice / Técnico Virtual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sistemas Oi Services.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manter modelo atual até o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closing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, depois necessário TSA após a substituição pelo </a:t>
                      </a: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NGBilling</a:t>
                      </a:r>
                      <a:endParaRPr lang="pt-BR" sz="1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604956"/>
                  </a:ext>
                </a:extLst>
              </a:tr>
            </a:tbl>
          </a:graphicData>
        </a:graphic>
      </p:graphicFrame>
      <p:sp>
        <p:nvSpPr>
          <p:cNvPr id="6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56354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364370"/>
              </p:ext>
            </p:extLst>
          </p:nvPr>
        </p:nvGraphicFramePr>
        <p:xfrm>
          <a:off x="105104" y="990600"/>
          <a:ext cx="11860146" cy="4023360"/>
        </p:xfrm>
        <a:graphic>
          <a:graphicData uri="http://schemas.openxmlformats.org/drawingml/2006/table">
            <a:tbl>
              <a:tblPr firstRow="1" bandRow="1"/>
              <a:tblGrid>
                <a:gridCol w="1762733">
                  <a:extLst>
                    <a:ext uri="{9D8B030D-6E8A-4147-A177-3AD203B41FA5}">
                      <a16:colId xmlns:a16="http://schemas.microsoft.com/office/drawing/2014/main" val="1464074793"/>
                    </a:ext>
                  </a:extLst>
                </a:gridCol>
                <a:gridCol w="10097413">
                  <a:extLst>
                    <a:ext uri="{9D8B030D-6E8A-4147-A177-3AD203B41FA5}">
                      <a16:colId xmlns:a16="http://schemas.microsoft.com/office/drawing/2014/main" val="1112408972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200" b="1" dirty="0">
                          <a:solidFill>
                            <a:schemeClr val="accent6"/>
                          </a:solidFill>
                        </a:rPr>
                        <a:t>A</a:t>
                      </a:r>
                      <a:r>
                        <a:rPr lang="pt-BR" sz="1200" b="1" dirty="0" smtClean="0">
                          <a:solidFill>
                            <a:schemeClr val="accent6"/>
                          </a:solidFill>
                        </a:rPr>
                        <a:t>dministrativo</a:t>
                      </a:r>
                      <a:endParaRPr lang="pt-BR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45654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FPW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Será realizada carga dos colaboradores no TOTVS.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Necessário geração de arquivo para o DROP.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24223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SISJUR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Sistema para gestão de processos jurídicos.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Ação; levantar a quantidade de processos de TV. Visões mensais e acumulado e processos em aberto. (responsável: Charlene)</a:t>
                      </a:r>
                    </a:p>
                    <a:p>
                      <a:pPr algn="l"/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Ação: Mileto decidir estratégia com base na volumetria a ser informada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41154"/>
                  </a:ext>
                </a:extLst>
              </a:tr>
              <a:tr h="0"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FCCS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1pPr>
                      <a:lvl2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2pPr>
                      <a:lvl3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3pPr>
                      <a:lvl4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4pPr>
                      <a:lvl5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5pPr>
                      <a:lvl6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6pPr>
                      <a:lvl7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7pPr>
                      <a:lvl8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8pPr>
                      <a:lvl9pPr marL="0" marR="0" indent="0" algn="r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ptos" panose="02110004020202020204"/>
                          <a:sym typeface="Simplon BP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Sistema para consolidação de resultado de empresas do grupo Oi.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Não será utilizado pela Mileto.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 err="1">
                          <a:solidFill>
                            <a:schemeClr val="accent6"/>
                          </a:solidFill>
                        </a:rPr>
                        <a:t>TOTVs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 irá gerar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arquivo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para carga e consolidação das </a:t>
                      </a:r>
                      <a:r>
                        <a:rPr lang="pt-BR" sz="1200" dirty="0" smtClean="0">
                          <a:solidFill>
                            <a:schemeClr val="accent6"/>
                          </a:solidFill>
                        </a:rPr>
                        <a:t>informações de Balanço </a:t>
                      </a:r>
                      <a:r>
                        <a:rPr lang="pt-BR" sz="1200" dirty="0">
                          <a:solidFill>
                            <a:schemeClr val="accent6"/>
                          </a:solidFill>
                        </a:rPr>
                        <a:t>pelo FCCS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4028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pt-BR" sz="1200" b="1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Fiscal/Contábil</a:t>
                      </a:r>
                      <a:endParaRPr lang="pt-BR" sz="1200" b="1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060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marR="0" indent="-171450" algn="l" defTabSz="914377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SAP/COMPLY, BR NOTAS e NEOGRID</a:t>
                      </a:r>
                      <a:endParaRPr lang="pt-BR" sz="1200" b="0" i="0" u="none" strike="noStrike" cap="none" spc="0" baseline="0" dirty="0">
                        <a:solidFill>
                          <a:schemeClr val="accent6"/>
                        </a:solidFill>
                        <a:uFillTx/>
                        <a:latin typeface="Aptos" panose="02110004020202020204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Não serão utilizados, a empresa TVCO será criada no sistema Externo da TOTVS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Necessário criar extração de contratos e fornecedores para carga na TOTVS – Necessário informar campos para elaboração da OG por 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Avaliar plano de contas/centro de custo e centro de Lucro – Time Mileto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Necessário Baixa de ativos e carga na TOTVS – Avaliar com o time da Contabilidade se será necessário ação de 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cap="none" spc="0" baseline="0" dirty="0" smtClean="0">
                          <a:solidFill>
                            <a:schemeClr val="accent6"/>
                          </a:solidFill>
                          <a:uFillTx/>
                          <a:latin typeface="Aptos" panose="02110004020202020204"/>
                          <a:ea typeface="+mn-ea"/>
                          <a:cs typeface="+mn-cs"/>
                          <a:sym typeface="Simplon BP Regular"/>
                        </a:rPr>
                        <a:t>Alinhar com as área de negócio: Posto Fiscal, Contabilidade, Contas a Pagar, Tesouraria, Arrecadação e Tributos que todos os controles a parte de 01/02/25 serão realizados no sistema da TOTVS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756650"/>
                  </a:ext>
                </a:extLst>
              </a:tr>
            </a:tbl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329125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1423;p39"/>
          <p:cNvSpPr txBox="1"/>
          <p:nvPr/>
        </p:nvSpPr>
        <p:spPr>
          <a:xfrm>
            <a:off x="221675" y="147216"/>
            <a:ext cx="11101964" cy="26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2400" b="1">
                <a:solidFill>
                  <a:schemeClr val="tx2"/>
                </a:solidFill>
                <a:latin typeface="Simplon BP Bold"/>
                <a:ea typeface="Simplon BP Bold"/>
                <a:cs typeface="Simplon BP Bold"/>
              </a:defRPr>
            </a:lvl1pPr>
          </a:lstStyle>
          <a:p>
            <a:pPr defTabSz="914377" hangingPunct="0">
              <a:defRPr sz="2000">
                <a:solidFill>
                  <a:srgbClr val="4D4D4D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pPr>
            <a:r>
              <a:rPr lang="pt-BR" sz="2133" kern="0" dirty="0" smtClean="0">
                <a:solidFill>
                  <a:schemeClr val="accent6"/>
                </a:solidFill>
                <a:sym typeface="Simplon BP Bold"/>
              </a:rPr>
              <a:t>Análise de Impacto na Criação da TVCO</a:t>
            </a:r>
            <a:endParaRPr lang="pt-BR" sz="2133" kern="0" dirty="0">
              <a:solidFill>
                <a:schemeClr val="accent6"/>
              </a:solidFill>
              <a:sym typeface="Simplon BP Bold"/>
            </a:endParaRPr>
          </a:p>
        </p:txBody>
      </p:sp>
      <p:pic>
        <p:nvPicPr>
          <p:cNvPr id="9218" name="Imagem 9" descr="image00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4" y="514475"/>
            <a:ext cx="9614995" cy="626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56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876</Words>
  <Application>Microsoft Office PowerPoint</Application>
  <PresentationFormat>Widescreen</PresentationFormat>
  <Paragraphs>141</Paragraphs>
  <Slides>7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9" baseType="lpstr">
      <vt:lpstr>ＭＳ Ｐゴシック</vt:lpstr>
      <vt:lpstr>Aptos</vt:lpstr>
      <vt:lpstr>Aptos Display</vt:lpstr>
      <vt:lpstr>Arial</vt:lpstr>
      <vt:lpstr>Helvetica</vt:lpstr>
      <vt:lpstr>Simplon BP Bold</vt:lpstr>
      <vt:lpstr>Simplon BP Regular</vt:lpstr>
      <vt:lpstr>Simplon Oi Headline</vt:lpstr>
      <vt:lpstr>Verdana</vt:lpstr>
      <vt:lpstr>Tema do Office</vt:lpstr>
      <vt:lpstr>5_Tema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Josecler Alves</dc:creator>
  <cp:lastModifiedBy>Vivian Aparecida De Jesus</cp:lastModifiedBy>
  <cp:revision>11</cp:revision>
  <dcterms:created xsi:type="dcterms:W3CDTF">2024-12-26T15:10:33Z</dcterms:created>
  <dcterms:modified xsi:type="dcterms:W3CDTF">2024-12-27T23:27:55Z</dcterms:modified>
</cp:coreProperties>
</file>