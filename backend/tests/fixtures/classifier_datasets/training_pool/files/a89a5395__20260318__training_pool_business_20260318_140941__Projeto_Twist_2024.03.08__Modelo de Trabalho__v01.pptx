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rts/chart1.xml" ContentType="application/vnd.openxmlformats-officedocument.drawingml.chart+xml"/>
  <Override PartName="/ppt/tags/tag13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charts/chart2.xml" ContentType="application/vnd.openxmlformats-officedocument.drawingml.chart+xml"/>
  <Override PartName="/ppt/tags/tag25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4.xml" ContentType="application/vnd.openxmlformats-officedocument.theme+xml"/>
  <Override PartName="/ppt/tags/tag2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ppt/notesSlides/notesSlide10.xml" ContentType="application/vnd.openxmlformats-officedocument.presentationml.notesSlide+xml"/>
  <Override PartName="/ppt/tags/tag31.xml" ContentType="application/vnd.openxmlformats-officedocument.presentationml.tags+xml"/>
  <Override PartName="/ppt/notesSlides/notesSlide11.xml" ContentType="application/vnd.openxmlformats-officedocument.presentationml.notesSlide+xml"/>
  <Override PartName="/ppt/tags/tag3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3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  <p:sldMasterId id="2147483864" r:id="rId6"/>
  </p:sldMasterIdLst>
  <p:notesMasterIdLst>
    <p:notesMasterId r:id="rId22"/>
  </p:notesMasterIdLst>
  <p:sldIdLst>
    <p:sldId id="293" r:id="rId7"/>
    <p:sldId id="396" r:id="rId8"/>
    <p:sldId id="393" r:id="rId9"/>
    <p:sldId id="349" r:id="rId10"/>
    <p:sldId id="363" r:id="rId11"/>
    <p:sldId id="364" r:id="rId12"/>
    <p:sldId id="340" r:id="rId13"/>
    <p:sldId id="347" r:id="rId14"/>
    <p:sldId id="345" r:id="rId15"/>
    <p:sldId id="392" r:id="rId16"/>
    <p:sldId id="412" r:id="rId17"/>
    <p:sldId id="408" r:id="rId18"/>
    <p:sldId id="406" r:id="rId19"/>
    <p:sldId id="346" r:id="rId20"/>
    <p:sldId id="413" r:id="rId21"/>
  </p:sldIdLst>
  <p:sldSz cx="12192000" cy="6858000"/>
  <p:notesSz cx="6858000" cy="9144000"/>
  <p:custDataLst>
    <p:tags r:id="rId2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2FD906F-F81E-4346-8F91-A19CEB2BE249}">
          <p14:sldIdLst>
            <p14:sldId id="293"/>
          </p14:sldIdLst>
        </p14:section>
        <p14:section name="Premissas" id="{33CC7762-8159-4DD5-B6EE-53723DC57AB1}">
          <p14:sldIdLst>
            <p14:sldId id="396"/>
            <p14:sldId id="393"/>
            <p14:sldId id="349"/>
            <p14:sldId id="363"/>
            <p14:sldId id="364"/>
            <p14:sldId id="340"/>
            <p14:sldId id="347"/>
            <p14:sldId id="345"/>
            <p14:sldId id="392"/>
          </p14:sldIdLst>
        </p14:section>
        <p14:section name="Plano de Trabalho" id="{F4030522-FECF-41D6-AC99-99AD1A76269B}">
          <p14:sldIdLst>
            <p14:sldId id="412"/>
            <p14:sldId id="408"/>
          </p14:sldIdLst>
        </p14:section>
        <p14:section name="Organização Frente" id="{3032BC1B-20BC-4EEF-88F3-0099FED755FA}">
          <p14:sldIdLst>
            <p14:sldId id="406"/>
            <p14:sldId id="346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D9FF"/>
    <a:srgbClr val="FFFF00"/>
    <a:srgbClr val="F5F5F5"/>
    <a:srgbClr val="009E0B"/>
    <a:srgbClr val="00D318"/>
    <a:srgbClr val="4D4D4D"/>
    <a:srgbClr val="FFFFFF"/>
    <a:srgbClr val="3399FF"/>
    <a:srgbClr val="000000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343" autoAdjust="0"/>
  </p:normalViewPr>
  <p:slideViewPr>
    <p:cSldViewPr snapToGrid="0" snapToObjects="1">
      <p:cViewPr>
        <p:scale>
          <a:sx n="69" d="100"/>
          <a:sy n="69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gs" Target="tags/tag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" userId="7e73802f-f059-456e-9b61-17d2c2afb959" providerId="ADAL" clId="{19DA34B9-23C0-49E6-A2BC-6995FB75D246}"/>
    <pc:docChg chg="undo custSel addSld delSld modSld sldOrd">
      <pc:chgData name="FRANCISCO" userId="7e73802f-f059-456e-9b61-17d2c2afb959" providerId="ADAL" clId="{19DA34B9-23C0-49E6-A2BC-6995FB75D246}" dt="2024-02-05T17:29:05.178" v="506" actId="20577"/>
      <pc:docMkLst>
        <pc:docMk/>
      </pc:docMkLst>
      <pc:sldChg chg="addSp delSp modSp mod">
        <pc:chgData name="FRANCISCO" userId="7e73802f-f059-456e-9b61-17d2c2afb959" providerId="ADAL" clId="{19DA34B9-23C0-49E6-A2BC-6995FB75D246}" dt="2024-02-05T14:36:28.625" v="437" actId="478"/>
        <pc:sldMkLst>
          <pc:docMk/>
          <pc:sldMk cId="3033749965" sldId="330"/>
        </pc:sldMkLst>
        <pc:spChg chg="mod">
          <ac:chgData name="FRANCISCO" userId="7e73802f-f059-456e-9b61-17d2c2afb959" providerId="ADAL" clId="{19DA34B9-23C0-49E6-A2BC-6995FB75D246}" dt="2024-02-05T13:46:31.614" v="159" actId="14100"/>
          <ac:spMkLst>
            <pc:docMk/>
            <pc:sldMk cId="3033749965" sldId="330"/>
            <ac:spMk id="3" creationId="{00000000-0000-0000-0000-000000000000}"/>
          </ac:spMkLst>
        </pc:spChg>
        <pc:spChg chg="add del mod">
          <ac:chgData name="FRANCISCO" userId="7e73802f-f059-456e-9b61-17d2c2afb959" providerId="ADAL" clId="{19DA34B9-23C0-49E6-A2BC-6995FB75D246}" dt="2024-02-05T14:07:21.731" v="336" actId="478"/>
          <ac:spMkLst>
            <pc:docMk/>
            <pc:sldMk cId="3033749965" sldId="330"/>
            <ac:spMk id="6" creationId="{B2C47DDC-D547-A413-F6E2-FE42AFAAED73}"/>
          </ac:spMkLst>
        </pc:spChg>
        <pc:spChg chg="add del mod">
          <ac:chgData name="FRANCISCO" userId="7e73802f-f059-456e-9b61-17d2c2afb959" providerId="ADAL" clId="{19DA34B9-23C0-49E6-A2BC-6995FB75D246}" dt="2024-02-05T14:07:50.741" v="339" actId="478"/>
          <ac:spMkLst>
            <pc:docMk/>
            <pc:sldMk cId="3033749965" sldId="330"/>
            <ac:spMk id="7" creationId="{1F683862-4371-B57B-E5B4-E33759D19320}"/>
          </ac:spMkLst>
        </pc:spChg>
        <pc:spChg chg="mod">
          <ac:chgData name="FRANCISCO" userId="7e73802f-f059-456e-9b61-17d2c2afb959" providerId="ADAL" clId="{19DA34B9-23C0-49E6-A2BC-6995FB75D246}" dt="2024-02-05T13:43:53.907" v="105" actId="1076"/>
          <ac:spMkLst>
            <pc:docMk/>
            <pc:sldMk cId="3033749965" sldId="330"/>
            <ac:spMk id="21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5:54.279" v="131" actId="1076"/>
          <ac:spMkLst>
            <pc:docMk/>
            <pc:sldMk cId="3033749965" sldId="330"/>
            <ac:spMk id="23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6:38.451" v="186" actId="1038"/>
          <ac:spMkLst>
            <pc:docMk/>
            <pc:sldMk cId="3033749965" sldId="330"/>
            <ac:spMk id="24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5:03.185" v="129" actId="1076"/>
          <ac:spMkLst>
            <pc:docMk/>
            <pc:sldMk cId="3033749965" sldId="330"/>
            <ac:spMk id="25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8:11.794" v="322" actId="14100"/>
          <ac:spMkLst>
            <pc:docMk/>
            <pc:sldMk cId="3033749965" sldId="330"/>
            <ac:spMk id="27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28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29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30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6:18.774" v="134" actId="1076"/>
          <ac:spMkLst>
            <pc:docMk/>
            <pc:sldMk cId="3033749965" sldId="330"/>
            <ac:spMk id="32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6:12.165" v="133" actId="1076"/>
          <ac:spMkLst>
            <pc:docMk/>
            <pc:sldMk cId="3033749965" sldId="330"/>
            <ac:spMk id="33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34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35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36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37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4:35:00.294" v="425" actId="14100"/>
          <ac:spMkLst>
            <pc:docMk/>
            <pc:sldMk cId="3033749965" sldId="330"/>
            <ac:spMk id="38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39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28.612" v="276" actId="1037"/>
          <ac:spMkLst>
            <pc:docMk/>
            <pc:sldMk cId="3033749965" sldId="330"/>
            <ac:spMk id="40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42" creationId="{00000000-0000-0000-0000-000000000000}"/>
          </ac:spMkLst>
        </pc:spChg>
        <pc:spChg chg="add mod">
          <ac:chgData name="FRANCISCO" userId="7e73802f-f059-456e-9b61-17d2c2afb959" providerId="ADAL" clId="{19DA34B9-23C0-49E6-A2BC-6995FB75D246}" dt="2024-02-05T14:21:10.492" v="404" actId="20577"/>
          <ac:spMkLst>
            <pc:docMk/>
            <pc:sldMk cId="3033749965" sldId="330"/>
            <ac:spMk id="43" creationId="{9AD4C9EA-1716-626B-3C0F-EA8FC081EA19}"/>
          </ac:spMkLst>
        </pc:spChg>
        <pc:spChg chg="mod">
          <ac:chgData name="FRANCISCO" userId="7e73802f-f059-456e-9b61-17d2c2afb959" providerId="ADAL" clId="{19DA34B9-23C0-49E6-A2BC-6995FB75D246}" dt="2024-02-05T13:41:49.789" v="85" actId="14100"/>
          <ac:spMkLst>
            <pc:docMk/>
            <pc:sldMk cId="3033749965" sldId="330"/>
            <ac:spMk id="46" creationId="{00000000-0000-0000-0000-000000000000}"/>
          </ac:spMkLst>
        </pc:spChg>
        <pc:spChg chg="add mod">
          <ac:chgData name="FRANCISCO" userId="7e73802f-f059-456e-9b61-17d2c2afb959" providerId="ADAL" clId="{19DA34B9-23C0-49E6-A2BC-6995FB75D246}" dt="2024-02-05T14:07:15.371" v="335" actId="207"/>
          <ac:spMkLst>
            <pc:docMk/>
            <pc:sldMk cId="3033749965" sldId="330"/>
            <ac:spMk id="47" creationId="{62FC1B49-13FD-CCF4-C9D0-6C681658E3BD}"/>
          </ac:spMkLst>
        </pc:spChg>
        <pc:spChg chg="mod">
          <ac:chgData name="FRANCISCO" userId="7e73802f-f059-456e-9b61-17d2c2afb959" providerId="ADAL" clId="{19DA34B9-23C0-49E6-A2BC-6995FB75D246}" dt="2024-02-05T13:47:51.211" v="295" actId="1038"/>
          <ac:spMkLst>
            <pc:docMk/>
            <pc:sldMk cId="3033749965" sldId="330"/>
            <ac:spMk id="48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4:18:29.840" v="360" actId="14100"/>
          <ac:spMkLst>
            <pc:docMk/>
            <pc:sldMk cId="3033749965" sldId="330"/>
            <ac:spMk id="49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50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51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6:38.451" v="186" actId="1038"/>
          <ac:spMkLst>
            <pc:docMk/>
            <pc:sldMk cId="3033749965" sldId="330"/>
            <ac:spMk id="53" creationId="{00000000-0000-0000-0000-000000000000}"/>
          </ac:spMkLst>
        </pc:spChg>
        <pc:spChg chg="add mod">
          <ac:chgData name="FRANCISCO" userId="7e73802f-f059-456e-9b61-17d2c2afb959" providerId="ADAL" clId="{19DA34B9-23C0-49E6-A2BC-6995FB75D246}" dt="2024-02-05T14:20:49.840" v="402" actId="20577"/>
          <ac:spMkLst>
            <pc:docMk/>
            <pc:sldMk cId="3033749965" sldId="330"/>
            <ac:spMk id="63" creationId="{4F2D9C09-B578-75A8-AEA4-88F2B055A68B}"/>
          </ac:spMkLst>
        </pc:spChg>
        <pc:spChg chg="add mod">
          <ac:chgData name="FRANCISCO" userId="7e73802f-f059-456e-9b61-17d2c2afb959" providerId="ADAL" clId="{19DA34B9-23C0-49E6-A2BC-6995FB75D246}" dt="2024-02-05T14:18:59.573" v="364" actId="1076"/>
          <ac:spMkLst>
            <pc:docMk/>
            <pc:sldMk cId="3033749965" sldId="330"/>
            <ac:spMk id="64" creationId="{657A45A9-502E-D726-880D-CC1DE083C4DE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81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4:24.718" v="126" actId="1037"/>
          <ac:spMkLst>
            <pc:docMk/>
            <pc:sldMk cId="3033749965" sldId="330"/>
            <ac:spMk id="82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5:39.961" v="130" actId="1076"/>
          <ac:spMkLst>
            <pc:docMk/>
            <pc:sldMk cId="3033749965" sldId="330"/>
            <ac:spMk id="83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5:58.632" v="132" actId="1076"/>
          <ac:spMkLst>
            <pc:docMk/>
            <pc:sldMk cId="3033749965" sldId="330"/>
            <ac:spMk id="85" creationId="{00000000-0000-0000-0000-000000000000}"/>
          </ac:spMkLst>
        </pc:spChg>
        <pc:spChg chg="add mod">
          <ac:chgData name="FRANCISCO" userId="7e73802f-f059-456e-9b61-17d2c2afb959" providerId="ADAL" clId="{19DA34B9-23C0-49E6-A2BC-6995FB75D246}" dt="2024-02-05T14:33:24.217" v="411" actId="1076"/>
          <ac:spMkLst>
            <pc:docMk/>
            <pc:sldMk cId="3033749965" sldId="330"/>
            <ac:spMk id="91" creationId="{38FC6AFC-49E3-77DB-E9CD-A621F7DAB0C7}"/>
          </ac:spMkLst>
        </pc:spChg>
        <pc:spChg chg="add mod">
          <ac:chgData name="FRANCISCO" userId="7e73802f-f059-456e-9b61-17d2c2afb959" providerId="ADAL" clId="{19DA34B9-23C0-49E6-A2BC-6995FB75D246}" dt="2024-02-05T14:33:24.217" v="411" actId="1076"/>
          <ac:spMkLst>
            <pc:docMk/>
            <pc:sldMk cId="3033749965" sldId="330"/>
            <ac:spMk id="92" creationId="{2B37B5DB-8B84-2E05-CFB0-023E57A4C913}"/>
          </ac:spMkLst>
        </pc:spChg>
        <pc:spChg chg="add mod">
          <ac:chgData name="FRANCISCO" userId="7e73802f-f059-456e-9b61-17d2c2afb959" providerId="ADAL" clId="{19DA34B9-23C0-49E6-A2BC-6995FB75D246}" dt="2024-02-05T14:33:19.774" v="410" actId="1076"/>
          <ac:spMkLst>
            <pc:docMk/>
            <pc:sldMk cId="3033749965" sldId="330"/>
            <ac:spMk id="93" creationId="{E8D1FAA8-7F28-FACF-343E-F2D3C2158353}"/>
          </ac:spMkLst>
        </pc:spChg>
        <pc:spChg chg="add mod">
          <ac:chgData name="FRANCISCO" userId="7e73802f-f059-456e-9b61-17d2c2afb959" providerId="ADAL" clId="{19DA34B9-23C0-49E6-A2BC-6995FB75D246}" dt="2024-02-05T14:34:15.201" v="417" actId="20577"/>
          <ac:spMkLst>
            <pc:docMk/>
            <pc:sldMk cId="3033749965" sldId="330"/>
            <ac:spMk id="94" creationId="{25AEE74C-0613-BA2B-334E-0B3AB2321A2A}"/>
          </ac:spMkLst>
        </pc:spChg>
        <pc:spChg chg="add mod">
          <ac:chgData name="FRANCISCO" userId="7e73802f-f059-456e-9b61-17d2c2afb959" providerId="ADAL" clId="{19DA34B9-23C0-49E6-A2BC-6995FB75D246}" dt="2024-02-05T14:34:27.618" v="421" actId="20577"/>
          <ac:spMkLst>
            <pc:docMk/>
            <pc:sldMk cId="3033749965" sldId="330"/>
            <ac:spMk id="95" creationId="{E8F4053F-AEED-4A0B-66A0-5797DDAE43B5}"/>
          </ac:spMkLst>
        </pc:spChg>
        <pc:spChg chg="add mod">
          <ac:chgData name="FRANCISCO" userId="7e73802f-f059-456e-9b61-17d2c2afb959" providerId="ADAL" clId="{19DA34B9-23C0-49E6-A2BC-6995FB75D246}" dt="2024-02-05T14:34:35.720" v="423" actId="1076"/>
          <ac:spMkLst>
            <pc:docMk/>
            <pc:sldMk cId="3033749965" sldId="330"/>
            <ac:spMk id="96" creationId="{AA855927-685F-55D3-ED15-F9EC980D00A8}"/>
          </ac:spMkLst>
        </pc:spChg>
        <pc:graphicFrameChg chg="mod modGraphic">
          <ac:chgData name="FRANCISCO" userId="7e73802f-f059-456e-9b61-17d2c2afb959" providerId="ADAL" clId="{19DA34B9-23C0-49E6-A2BC-6995FB75D246}" dt="2024-02-05T13:41:27.207" v="25" actId="14100"/>
          <ac:graphicFrameMkLst>
            <pc:docMk/>
            <pc:sldMk cId="3033749965" sldId="330"/>
            <ac:graphicFrameMk id="22" creationId="{722984D9-B1D7-3135-695E-2E73B4AF9300}"/>
          </ac:graphicFrameMkLst>
        </pc:graphicFrameChg>
        <pc:picChg chg="add del mod">
          <ac:chgData name="FRANCISCO" userId="7e73802f-f059-456e-9b61-17d2c2afb959" providerId="ADAL" clId="{19DA34B9-23C0-49E6-A2BC-6995FB75D246}" dt="2024-02-05T14:36:28.625" v="437" actId="478"/>
          <ac:picMkLst>
            <pc:docMk/>
            <pc:sldMk cId="3033749965" sldId="330"/>
            <ac:picMk id="4" creationId="{18F54945-4800-936F-7680-DFACAC6FAA8E}"/>
          </ac:picMkLst>
        </pc:picChg>
        <pc:cxnChg chg="add del mod">
          <ac:chgData name="FRANCISCO" userId="7e73802f-f059-456e-9b61-17d2c2afb959" providerId="ADAL" clId="{19DA34B9-23C0-49E6-A2BC-6995FB75D246}" dt="2024-02-05T14:08:09.052" v="344" actId="478"/>
          <ac:cxnSpMkLst>
            <pc:docMk/>
            <pc:sldMk cId="3033749965" sldId="330"/>
            <ac:cxnSpMk id="9" creationId="{6B19A05A-FF20-D166-D986-4E910D5ECAD6}"/>
          </ac:cxnSpMkLst>
        </pc:cxnChg>
        <pc:cxnChg chg="add mod">
          <ac:chgData name="FRANCISCO" userId="7e73802f-f059-456e-9b61-17d2c2afb959" providerId="ADAL" clId="{19DA34B9-23C0-49E6-A2BC-6995FB75D246}" dt="2024-02-05T14:08:50.082" v="355" actId="693"/>
          <ac:cxnSpMkLst>
            <pc:docMk/>
            <pc:sldMk cId="3033749965" sldId="330"/>
            <ac:cxnSpMk id="14" creationId="{562C43CE-2DA3-0953-55C3-D97DF4B05656}"/>
          </ac:cxnSpMkLst>
        </pc:cxnChg>
        <pc:cxnChg chg="add del mod">
          <ac:chgData name="FRANCISCO" userId="7e73802f-f059-456e-9b61-17d2c2afb959" providerId="ADAL" clId="{19DA34B9-23C0-49E6-A2BC-6995FB75D246}" dt="2024-02-05T14:19:17.172" v="370" actId="478"/>
          <ac:cxnSpMkLst>
            <pc:docMk/>
            <pc:sldMk cId="3033749965" sldId="330"/>
            <ac:cxnSpMk id="61" creationId="{B17C1DAA-BD87-AA36-ECD2-31620A4B514D}"/>
          </ac:cxnSpMkLst>
        </pc:cxnChg>
        <pc:cxnChg chg="add del mod">
          <ac:chgData name="FRANCISCO" userId="7e73802f-f059-456e-9b61-17d2c2afb959" providerId="ADAL" clId="{19DA34B9-23C0-49E6-A2BC-6995FB75D246}" dt="2024-02-05T14:19:53.448" v="385" actId="478"/>
          <ac:cxnSpMkLst>
            <pc:docMk/>
            <pc:sldMk cId="3033749965" sldId="330"/>
            <ac:cxnSpMk id="69" creationId="{2C58582C-8029-FC86-90A9-4FB16190F8B1}"/>
          </ac:cxnSpMkLst>
        </pc:cxnChg>
        <pc:cxnChg chg="add del mod">
          <ac:chgData name="FRANCISCO" userId="7e73802f-f059-456e-9b61-17d2c2afb959" providerId="ADAL" clId="{19DA34B9-23C0-49E6-A2BC-6995FB75D246}" dt="2024-02-05T14:20:19.745" v="396" actId="478"/>
          <ac:cxnSpMkLst>
            <pc:docMk/>
            <pc:sldMk cId="3033749965" sldId="330"/>
            <ac:cxnSpMk id="80" creationId="{8CFECF7C-3ACC-B0CF-0C5D-F8D189F82CA1}"/>
          </ac:cxnSpMkLst>
        </pc:cxnChg>
        <pc:cxnChg chg="add mod">
          <ac:chgData name="FRANCISCO" userId="7e73802f-f059-456e-9b61-17d2c2afb959" providerId="ADAL" clId="{19DA34B9-23C0-49E6-A2BC-6995FB75D246}" dt="2024-02-05T14:20:44.219" v="399" actId="14100"/>
          <ac:cxnSpMkLst>
            <pc:docMk/>
            <pc:sldMk cId="3033749965" sldId="330"/>
            <ac:cxnSpMk id="89" creationId="{44F2F8D2-1FC6-70FA-E330-7C32EF4F4610}"/>
          </ac:cxnSpMkLst>
        </pc:cxnChg>
        <pc:cxnChg chg="add mod">
          <ac:chgData name="FRANCISCO" userId="7e73802f-f059-456e-9b61-17d2c2afb959" providerId="ADAL" clId="{19DA34B9-23C0-49E6-A2BC-6995FB75D246}" dt="2024-02-05T14:36:01.583" v="431" actId="1076"/>
          <ac:cxnSpMkLst>
            <pc:docMk/>
            <pc:sldMk cId="3033749965" sldId="330"/>
            <ac:cxnSpMk id="97" creationId="{EAD9D55B-F9B3-9A57-0416-3F2DFFC24B96}"/>
          </ac:cxnSpMkLst>
        </pc:cxnChg>
        <pc:cxnChg chg="add mod">
          <ac:chgData name="FRANCISCO" userId="7e73802f-f059-456e-9b61-17d2c2afb959" providerId="ADAL" clId="{19DA34B9-23C0-49E6-A2BC-6995FB75D246}" dt="2024-02-05T14:36:08.541" v="434" actId="14100"/>
          <ac:cxnSpMkLst>
            <pc:docMk/>
            <pc:sldMk cId="3033749965" sldId="330"/>
            <ac:cxnSpMk id="100" creationId="{282ECB89-662D-08DF-6F43-F81E6AF92783}"/>
          </ac:cxnSpMkLst>
        </pc:cxnChg>
        <pc:cxnChg chg="add mod">
          <ac:chgData name="FRANCISCO" userId="7e73802f-f059-456e-9b61-17d2c2afb959" providerId="ADAL" clId="{19DA34B9-23C0-49E6-A2BC-6995FB75D246}" dt="2024-02-05T14:36:15.219" v="436" actId="1076"/>
          <ac:cxnSpMkLst>
            <pc:docMk/>
            <pc:sldMk cId="3033749965" sldId="330"/>
            <ac:cxnSpMk id="102" creationId="{3341CC8E-65CA-58E3-2B9D-F05350E26113}"/>
          </ac:cxnSpMkLst>
        </pc:cxnChg>
      </pc:sldChg>
      <pc:sldChg chg="modSp mod ord modShow">
        <pc:chgData name="FRANCISCO" userId="7e73802f-f059-456e-9b61-17d2c2afb959" providerId="ADAL" clId="{19DA34B9-23C0-49E6-A2BC-6995FB75D246}" dt="2024-02-05T17:29:05.178" v="506" actId="20577"/>
        <pc:sldMkLst>
          <pc:docMk/>
          <pc:sldMk cId="2724206952" sldId="338"/>
        </pc:sldMkLst>
        <pc:spChg chg="mod">
          <ac:chgData name="FRANCISCO" userId="7e73802f-f059-456e-9b61-17d2c2afb959" providerId="ADAL" clId="{19DA34B9-23C0-49E6-A2BC-6995FB75D246}" dt="2024-02-05T17:29:05.178" v="506" actId="20577"/>
          <ac:spMkLst>
            <pc:docMk/>
            <pc:sldMk cId="2724206952" sldId="338"/>
            <ac:spMk id="30" creationId="{00000000-0000-0000-0000-000000000000}"/>
          </ac:spMkLst>
        </pc:spChg>
      </pc:sldChg>
      <pc:sldChg chg="delSp mod">
        <pc:chgData name="FRANCISCO" userId="7e73802f-f059-456e-9b61-17d2c2afb959" providerId="ADAL" clId="{19DA34B9-23C0-49E6-A2BC-6995FB75D246}" dt="2024-02-05T14:40:21.028" v="466" actId="478"/>
        <pc:sldMkLst>
          <pc:docMk/>
          <pc:sldMk cId="3563350130" sldId="340"/>
        </pc:sldMkLst>
        <pc:spChg chg="del">
          <ac:chgData name="FRANCISCO" userId="7e73802f-f059-456e-9b61-17d2c2afb959" providerId="ADAL" clId="{19DA34B9-23C0-49E6-A2BC-6995FB75D246}" dt="2024-02-05T14:40:12.920" v="465" actId="478"/>
          <ac:spMkLst>
            <pc:docMk/>
            <pc:sldMk cId="3563350130" sldId="340"/>
            <ac:spMk id="4" creationId="{00000000-0000-0000-0000-000000000000}"/>
          </ac:spMkLst>
        </pc:spChg>
        <pc:spChg chg="del">
          <ac:chgData name="FRANCISCO" userId="7e73802f-f059-456e-9b61-17d2c2afb959" providerId="ADAL" clId="{19DA34B9-23C0-49E6-A2BC-6995FB75D246}" dt="2024-02-05T14:40:21.028" v="466" actId="478"/>
          <ac:spMkLst>
            <pc:docMk/>
            <pc:sldMk cId="3563350130" sldId="340"/>
            <ac:spMk id="54" creationId="{00000000-0000-0000-0000-000000000000}"/>
          </ac:spMkLst>
        </pc:spChg>
      </pc:sldChg>
      <pc:sldChg chg="modSp mod modShow">
        <pc:chgData name="FRANCISCO" userId="7e73802f-f059-456e-9b61-17d2c2afb959" providerId="ADAL" clId="{19DA34B9-23C0-49E6-A2BC-6995FB75D246}" dt="2024-02-05T13:38:37.030" v="11" actId="20577"/>
        <pc:sldMkLst>
          <pc:docMk/>
          <pc:sldMk cId="1844061124" sldId="341"/>
        </pc:sldMkLst>
        <pc:spChg chg="mod">
          <ac:chgData name="FRANCISCO" userId="7e73802f-f059-456e-9b61-17d2c2afb959" providerId="ADAL" clId="{19DA34B9-23C0-49E6-A2BC-6995FB75D246}" dt="2024-02-05T13:38:37.030" v="11" actId="20577"/>
          <ac:spMkLst>
            <pc:docMk/>
            <pc:sldMk cId="1844061124" sldId="341"/>
            <ac:spMk id="91" creationId="{00000000-0000-0000-0000-000000000000}"/>
          </ac:spMkLst>
        </pc:spChg>
      </pc:sldChg>
      <pc:sldChg chg="mod modShow">
        <pc:chgData name="FRANCISCO" userId="7e73802f-f059-456e-9b61-17d2c2afb959" providerId="ADAL" clId="{19DA34B9-23C0-49E6-A2BC-6995FB75D246}" dt="2024-02-05T13:38:42.653" v="12" actId="729"/>
        <pc:sldMkLst>
          <pc:docMk/>
          <pc:sldMk cId="4116025839" sldId="342"/>
        </pc:sldMkLst>
      </pc:sldChg>
      <pc:sldChg chg="mod modShow">
        <pc:chgData name="FRANCISCO" userId="7e73802f-f059-456e-9b61-17d2c2afb959" providerId="ADAL" clId="{19DA34B9-23C0-49E6-A2BC-6995FB75D246}" dt="2024-02-05T13:38:52.454" v="14" actId="729"/>
        <pc:sldMkLst>
          <pc:docMk/>
          <pc:sldMk cId="846290421" sldId="344"/>
        </pc:sldMkLst>
      </pc:sldChg>
      <pc:sldChg chg="mod modShow">
        <pc:chgData name="FRANCISCO" userId="7e73802f-f059-456e-9b61-17d2c2afb959" providerId="ADAL" clId="{19DA34B9-23C0-49E6-A2BC-6995FB75D246}" dt="2024-02-05T13:38:23.546" v="0" actId="729"/>
        <pc:sldMkLst>
          <pc:docMk/>
          <pc:sldMk cId="968336447" sldId="345"/>
        </pc:sldMkLst>
      </pc:sldChg>
      <pc:sldChg chg="mod modShow">
        <pc:chgData name="FRANCISCO" userId="7e73802f-f059-456e-9b61-17d2c2afb959" providerId="ADAL" clId="{19DA34B9-23C0-49E6-A2BC-6995FB75D246}" dt="2024-02-05T13:38:25.578" v="1" actId="729"/>
        <pc:sldMkLst>
          <pc:docMk/>
          <pc:sldMk cId="1037968456" sldId="346"/>
        </pc:sldMkLst>
      </pc:sldChg>
      <pc:sldChg chg="delSp modSp mod ord modShow">
        <pc:chgData name="FRANCISCO" userId="7e73802f-f059-456e-9b61-17d2c2afb959" providerId="ADAL" clId="{19DA34B9-23C0-49E6-A2BC-6995FB75D246}" dt="2024-02-05T14:40:02.101" v="462" actId="729"/>
        <pc:sldMkLst>
          <pc:docMk/>
          <pc:sldMk cId="2045046335" sldId="347"/>
        </pc:sldMkLst>
        <pc:spChg chg="mod">
          <ac:chgData name="FRANCISCO" userId="7e73802f-f059-456e-9b61-17d2c2afb959" providerId="ADAL" clId="{19DA34B9-23C0-49E6-A2BC-6995FB75D246}" dt="2024-02-05T14:37:08.498" v="440" actId="1076"/>
          <ac:spMkLst>
            <pc:docMk/>
            <pc:sldMk cId="2045046335" sldId="347"/>
            <ac:spMk id="38" creationId="{00000000-0000-0000-0000-000000000000}"/>
          </ac:spMkLst>
        </pc:spChg>
        <pc:spChg chg="del">
          <ac:chgData name="FRANCISCO" userId="7e73802f-f059-456e-9b61-17d2c2afb959" providerId="ADAL" clId="{19DA34B9-23C0-49E6-A2BC-6995FB75D246}" dt="2024-02-05T14:39:03.666" v="458" actId="478"/>
          <ac:spMkLst>
            <pc:docMk/>
            <pc:sldMk cId="2045046335" sldId="347"/>
            <ac:spMk id="121" creationId="{00000000-0000-0000-0000-000000000000}"/>
          </ac:spMkLst>
        </pc:spChg>
        <pc:spChg chg="del">
          <ac:chgData name="FRANCISCO" userId="7e73802f-f059-456e-9b61-17d2c2afb959" providerId="ADAL" clId="{19DA34B9-23C0-49E6-A2BC-6995FB75D246}" dt="2024-02-05T14:39:06.114" v="459" actId="478"/>
          <ac:spMkLst>
            <pc:docMk/>
            <pc:sldMk cId="2045046335" sldId="347"/>
            <ac:spMk id="122" creationId="{B1C13B27-89CB-E9F5-DB92-5D5C41AD1512}"/>
          </ac:spMkLst>
        </pc:spChg>
        <pc:spChg chg="mod">
          <ac:chgData name="FRANCISCO" userId="7e73802f-f059-456e-9b61-17d2c2afb959" providerId="ADAL" clId="{19DA34B9-23C0-49E6-A2BC-6995FB75D246}" dt="2024-02-05T14:38:49.507" v="453" actId="20577"/>
          <ac:spMkLst>
            <pc:docMk/>
            <pc:sldMk cId="2045046335" sldId="347"/>
            <ac:spMk id="132" creationId="{B1C13B27-89CB-E9F5-DB92-5D5C41AD1512}"/>
          </ac:spMkLst>
        </pc:spChg>
        <pc:spChg chg="del">
          <ac:chgData name="FRANCISCO" userId="7e73802f-f059-456e-9b61-17d2c2afb959" providerId="ADAL" clId="{19DA34B9-23C0-49E6-A2BC-6995FB75D246}" dt="2024-02-05T14:38:56.404" v="454" actId="478"/>
          <ac:spMkLst>
            <pc:docMk/>
            <pc:sldMk cId="2045046335" sldId="347"/>
            <ac:spMk id="134" creationId="{B1C13B27-89CB-E9F5-DB92-5D5C41AD1512}"/>
          </ac:spMkLst>
        </pc:spChg>
        <pc:spChg chg="del">
          <ac:chgData name="FRANCISCO" userId="7e73802f-f059-456e-9b61-17d2c2afb959" providerId="ADAL" clId="{19DA34B9-23C0-49E6-A2BC-6995FB75D246}" dt="2024-02-05T14:38:57.410" v="455" actId="478"/>
          <ac:spMkLst>
            <pc:docMk/>
            <pc:sldMk cId="2045046335" sldId="347"/>
            <ac:spMk id="135" creationId="{00000000-0000-0000-0000-000000000000}"/>
          </ac:spMkLst>
        </pc:spChg>
        <pc:spChg chg="del">
          <ac:chgData name="FRANCISCO" userId="7e73802f-f059-456e-9b61-17d2c2afb959" providerId="ADAL" clId="{19DA34B9-23C0-49E6-A2BC-6995FB75D246}" dt="2024-02-05T14:39:54.261" v="461" actId="478"/>
          <ac:spMkLst>
            <pc:docMk/>
            <pc:sldMk cId="2045046335" sldId="347"/>
            <ac:spMk id="136" creationId="{00000000-0000-0000-0000-000000000000}"/>
          </ac:spMkLst>
        </pc:spChg>
        <pc:spChg chg="del mod">
          <ac:chgData name="FRANCISCO" userId="7e73802f-f059-456e-9b61-17d2c2afb959" providerId="ADAL" clId="{19DA34B9-23C0-49E6-A2BC-6995FB75D246}" dt="2024-02-05T14:39:51.848" v="460" actId="478"/>
          <ac:spMkLst>
            <pc:docMk/>
            <pc:sldMk cId="2045046335" sldId="347"/>
            <ac:spMk id="137" creationId="{00000000-0000-0000-0000-000000000000}"/>
          </ac:spMkLst>
        </pc:spChg>
        <pc:cxnChg chg="del">
          <ac:chgData name="FRANCISCO" userId="7e73802f-f059-456e-9b61-17d2c2afb959" providerId="ADAL" clId="{19DA34B9-23C0-49E6-A2BC-6995FB75D246}" dt="2024-02-05T14:39:02.677" v="457" actId="478"/>
          <ac:cxnSpMkLst>
            <pc:docMk/>
            <pc:sldMk cId="2045046335" sldId="347"/>
            <ac:cxnSpMk id="7" creationId="{00000000-0000-0000-0000-000000000000}"/>
          </ac:cxnSpMkLst>
        </pc:cxnChg>
        <pc:cxnChg chg="del">
          <ac:chgData name="FRANCISCO" userId="7e73802f-f059-456e-9b61-17d2c2afb959" providerId="ADAL" clId="{19DA34B9-23C0-49E6-A2BC-6995FB75D246}" dt="2024-02-05T14:38:58.262" v="456" actId="478"/>
          <ac:cxnSpMkLst>
            <pc:docMk/>
            <pc:sldMk cId="2045046335" sldId="347"/>
            <ac:cxnSpMk id="133" creationId="{00000000-0000-0000-0000-000000000000}"/>
          </ac:cxnSpMkLst>
        </pc:cxnChg>
      </pc:sldChg>
      <pc:sldChg chg="add">
        <pc:chgData name="FRANCISCO" userId="7e73802f-f059-456e-9b61-17d2c2afb959" providerId="ADAL" clId="{19DA34B9-23C0-49E6-A2BC-6995FB75D246}" dt="2024-02-05T17:15:07.220" v="467"/>
        <pc:sldMkLst>
          <pc:docMk/>
          <pc:sldMk cId="411152894" sldId="348"/>
        </pc:sldMkLst>
      </pc:sldChg>
      <pc:sldChg chg="del">
        <pc:chgData name="FRANCISCO" userId="7e73802f-f059-456e-9b61-17d2c2afb959" providerId="ADAL" clId="{19DA34B9-23C0-49E6-A2BC-6995FB75D246}" dt="2024-02-05T14:36:30.900" v="438" actId="47"/>
        <pc:sldMkLst>
          <pc:docMk/>
          <pc:sldMk cId="3462348265" sldId="348"/>
        </pc:sldMkLst>
      </pc:sldChg>
      <pc:sldChg chg="add">
        <pc:chgData name="FRANCISCO" userId="7e73802f-f059-456e-9b61-17d2c2afb959" providerId="ADAL" clId="{19DA34B9-23C0-49E6-A2BC-6995FB75D246}" dt="2024-02-05T17:15:07.220" v="467"/>
        <pc:sldMkLst>
          <pc:docMk/>
          <pc:sldMk cId="1014084903" sldId="349"/>
        </pc:sldMkLst>
      </pc:sldChg>
      <pc:sldChg chg="add">
        <pc:chgData name="FRANCISCO" userId="7e73802f-f059-456e-9b61-17d2c2afb959" providerId="ADAL" clId="{19DA34B9-23C0-49E6-A2BC-6995FB75D246}" dt="2024-02-05T17:15:07.220" v="467"/>
        <pc:sldMkLst>
          <pc:docMk/>
          <pc:sldMk cId="3120346850" sldId="35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2643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225375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1450909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1007795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E-</a:t>
            </a:r>
            <a:r>
              <a:rPr lang="pt-BR" dirty="0" err="1"/>
              <a:t>SOCéumaplataforma</a:t>
            </a:r>
            <a:r>
              <a:rPr lang="pt-BR" baseline="0" dirty="0" err="1"/>
              <a:t>quemonitoraaexperiênciadoclienteOiFibra</a:t>
            </a:r>
            <a:endParaRPr lang="pt-BR" baseline="0" dirty="0"/>
          </a:p>
          <a:p>
            <a:r>
              <a:rPr lang="pt-BR" baseline="0" dirty="0" err="1"/>
              <a:t>ComotratarainfraestruturadeURA</a:t>
            </a:r>
            <a:r>
              <a:rPr lang="pt-BR" baseline="0" dirty="0"/>
              <a:t>-&gt;</a:t>
            </a:r>
            <a:r>
              <a:rPr lang="pt-BR" baseline="0" dirty="0" err="1"/>
              <a:t>vaificaraquieterumTSA</a:t>
            </a:r>
            <a:r>
              <a:rPr lang="pt-BR" baseline="0" dirty="0"/>
              <a:t>?</a:t>
            </a:r>
          </a:p>
          <a:p>
            <a:r>
              <a:rPr lang="pt-BR" baseline="0" dirty="0"/>
              <a:t>NWCCeSmartwifi:</a:t>
            </a:r>
            <a:r>
              <a:rPr lang="pt-BR" dirty="0"/>
              <a:t>PlataformasresponsáveispelamonitoraçãodaexperiênciaefalhasnoWifi,naONTouMesh,dosfornecedoresNokia(NWCC)</a:t>
            </a:r>
            <a:r>
              <a:rPr lang="pt-BR" dirty="0" err="1"/>
              <a:t>eHuawei</a:t>
            </a:r>
            <a:r>
              <a:rPr lang="pt-BR" dirty="0"/>
              <a:t>(</a:t>
            </a:r>
            <a:r>
              <a:rPr lang="pt-BR" dirty="0" err="1"/>
              <a:t>SmartWifi</a:t>
            </a:r>
            <a:r>
              <a:rPr lang="pt-BR" dirty="0"/>
              <a:t>)</a:t>
            </a:r>
            <a:endParaRPr lang="pt-BR" baseline="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0973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E-</a:t>
            </a:r>
            <a:r>
              <a:rPr lang="pt-BR" dirty="0" err="1"/>
              <a:t>SOCéumaplataforma</a:t>
            </a:r>
            <a:r>
              <a:rPr lang="pt-BR" baseline="0" dirty="0" err="1"/>
              <a:t>quemonitoraaexperiênciadoclienteOiFibra</a:t>
            </a:r>
            <a:endParaRPr lang="pt-BR" baseline="0" dirty="0"/>
          </a:p>
          <a:p>
            <a:r>
              <a:rPr lang="pt-BR" baseline="0" dirty="0" err="1"/>
              <a:t>ComotratarainfraestruturadeURA</a:t>
            </a:r>
            <a:r>
              <a:rPr lang="pt-BR" baseline="0" dirty="0"/>
              <a:t>-&gt;</a:t>
            </a:r>
            <a:r>
              <a:rPr lang="pt-BR" baseline="0" dirty="0" err="1"/>
              <a:t>vaificaraquieterumTSA</a:t>
            </a:r>
            <a:r>
              <a:rPr lang="pt-BR" baseline="0" dirty="0"/>
              <a:t>?</a:t>
            </a:r>
          </a:p>
          <a:p>
            <a:r>
              <a:rPr lang="pt-BR" baseline="0" dirty="0"/>
              <a:t>NWCCeSmartwifi:</a:t>
            </a:r>
            <a:r>
              <a:rPr lang="pt-BR" dirty="0"/>
              <a:t>PlataformasresponsáveispelamonitoraçãodaexperiênciaefalhasnoWifi,naONTouMesh,dosfornecedoresNokia(NWCC)</a:t>
            </a:r>
            <a:r>
              <a:rPr lang="pt-BR" dirty="0" err="1"/>
              <a:t>eHuawei</a:t>
            </a:r>
            <a:r>
              <a:rPr lang="pt-BR" dirty="0"/>
              <a:t>(</a:t>
            </a:r>
            <a:r>
              <a:rPr lang="pt-BR" dirty="0" err="1"/>
              <a:t>SmartWifi</a:t>
            </a:r>
            <a:r>
              <a:rPr lang="pt-BR" dirty="0"/>
              <a:t>)</a:t>
            </a:r>
            <a:endParaRPr lang="pt-BR" baseline="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8892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9757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4228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7379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833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6515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581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3882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74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1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9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8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chart" Target="../charts/chart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2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2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chart" Target="../charts/chart2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título da</a:t>
            </a:r>
            <a:endParaRPr lang="en-US" dirty="0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Subtítulo da apresentação</a:t>
            </a:r>
            <a:endParaRPr lang="en-US" dirty="0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 dirty="0"/>
              <a:t>Mês 2023</a:t>
            </a:r>
            <a:endParaRPr lang="en-US" dirty="0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apresentação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sumário</a:t>
            </a:r>
            <a:endParaRPr lang="en-US" dirty="0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 dirty="0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destaque</a:t>
            </a:r>
            <a:endParaRPr lang="en-US" dirty="0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título da subcapa</a:t>
            </a:r>
            <a:endParaRPr lang="en-US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Praesent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sem et </a:t>
            </a:r>
            <a:r>
              <a:rPr lang="pt-BR" dirty="0" err="1"/>
              <a:t>nibh</a:t>
            </a:r>
            <a:r>
              <a:rPr lang="pt-BR" dirty="0"/>
              <a:t> </a:t>
            </a:r>
            <a:r>
              <a:rPr lang="pt-BR" dirty="0" err="1"/>
              <a:t>elementum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quis </a:t>
            </a:r>
            <a:r>
              <a:rPr lang="pt-BR" dirty="0" err="1"/>
              <a:t>volutpat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2</a:t>
            </a:r>
            <a:endParaRPr lang="en-US" dirty="0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3</a:t>
            </a:r>
            <a:endParaRPr lang="en-US" dirty="0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1</a:t>
            </a:r>
            <a:endParaRPr lang="en-US" dirty="0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rPr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8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icones</a:t>
            </a:r>
            <a:endParaRPr lang="en-US" dirty="0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Timeline</a:t>
            </a:r>
            <a:r>
              <a:rPr lang="pt-BR" dirty="0"/>
              <a:t> exemplo</a:t>
            </a:r>
            <a:endParaRPr lang="en-US" dirty="0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</a:t>
            </a:r>
            <a:r>
              <a:rPr lang="pt-BR" dirty="0"/>
              <a:t>exemplo</a:t>
            </a:r>
            <a:endParaRPr lang="en-US" dirty="0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 err="1"/>
                <a:t>loremipsum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dirty="0" err="1"/>
                <a:t>valoresdolor</a:t>
              </a:r>
              <a:r>
                <a:rPr dirty="0"/>
                <a:t/>
              </a:r>
              <a:br>
                <a:rPr dirty="0"/>
              </a:br>
              <a:r>
                <a:rPr dirty="0" err="1"/>
                <a:t>loremipsum</a:t>
              </a:r>
              <a:endParaRPr dirty="0"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rPr dirty="0"/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dirty="0" err="1"/>
                <a:t>textoem</a:t>
              </a:r>
              <a:r>
                <a:rPr sz="4800" dirty="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 dirty="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rPr dirty="0"/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título da</a:t>
            </a:r>
            <a:endParaRPr lang="en-US" dirty="0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Subtítulo da apresentação</a:t>
            </a:r>
            <a:endParaRPr lang="en-US" dirty="0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 dirty="0"/>
              <a:t>Mês 2023</a:t>
            </a:r>
            <a:endParaRPr lang="en-US" dirty="0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apresentação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sumário</a:t>
            </a:r>
            <a:endParaRPr lang="en-US" dirty="0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 dirty="0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destaque</a:t>
            </a:r>
            <a:endParaRPr lang="en-US" dirty="0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título da subcapa</a:t>
            </a:r>
            <a:endParaRPr lang="en-US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Praesent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sem et </a:t>
            </a:r>
            <a:r>
              <a:rPr lang="pt-BR" dirty="0" err="1"/>
              <a:t>nibh</a:t>
            </a:r>
            <a:r>
              <a:rPr lang="pt-BR" dirty="0"/>
              <a:t> </a:t>
            </a:r>
            <a:r>
              <a:rPr lang="pt-BR" dirty="0" err="1"/>
              <a:t>elementum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quis </a:t>
            </a:r>
            <a:r>
              <a:rPr lang="pt-BR" dirty="0" err="1"/>
              <a:t>volutpat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2</a:t>
            </a:r>
            <a:endParaRPr lang="en-US" dirty="0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3</a:t>
            </a:r>
            <a:endParaRPr lang="en-US" dirty="0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1</a:t>
            </a:r>
            <a:endParaRPr lang="en-US" dirty="0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rPr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6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icones</a:t>
            </a:r>
            <a:endParaRPr lang="en-US" dirty="0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Timeline</a:t>
            </a:r>
            <a:r>
              <a:rPr lang="pt-BR" dirty="0"/>
              <a:t> exemplo</a:t>
            </a:r>
            <a:endParaRPr lang="en-US" dirty="0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</a:t>
            </a:r>
            <a:r>
              <a:rPr lang="pt-BR" dirty="0"/>
              <a:t>exemplo</a:t>
            </a:r>
            <a:endParaRPr lang="en-US" dirty="0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 err="1"/>
                <a:t>loremipsum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dirty="0" err="1"/>
                <a:t>valoresdolor</a:t>
              </a:r>
              <a:r>
                <a:rPr dirty="0"/>
                <a:t/>
              </a:r>
              <a:br>
                <a:rPr dirty="0"/>
              </a:br>
              <a:r>
                <a:rPr dirty="0" err="1"/>
                <a:t>loremipsum</a:t>
              </a:r>
              <a:endParaRPr dirty="0"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rPr dirty="0"/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dirty="0" err="1"/>
                <a:t>textoem</a:t>
              </a:r>
              <a:r>
                <a:rPr sz="4800" dirty="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 dirty="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rPr dirty="0"/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1037876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5331233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475494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7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266;p85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368" name="Google Shape;267;p8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69" name="Google Shape;268;p8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0" name="Google Shape;269;p8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1" name="Google Shape;270;p8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2" name="Google Shape;271;p8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3" name="Google Shape;272;p8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4" name="Google Shape;273;p8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5" name="Google Shape;274;p8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6" name="Google Shape;275;p8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7" name="Google Shape;276;p8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8" name="Google Shape;277;p8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9" name="Google Shape;278;p8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0" name="Google Shape;279;p8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1" name="Google Shape;280;p8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2" name="Google Shape;281;p8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3" name="Google Shape;282;p8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4" name="Google Shape;283;p8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5" name="Google Shape;284;p8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6" name="Google Shape;285;p8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7" name="Google Shape;286;p8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8" name="Google Shape;287;p8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9" name="Google Shape;288;p8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90" name="Google Shape;289;p8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91" name="Google Shape;290;p8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92" name="Google Shape;291;p8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94" name="Google Shape;292;p85" descr="Google Shape;292;p8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95" name="Google Shape;293;p85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96" name="Google Shape;294;p85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4874453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296;p86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404" name="Google Shape;297;p8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5" name="Google Shape;298;p8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6" name="Google Shape;299;p8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7" name="Google Shape;300;p8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8" name="Google Shape;301;p8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9" name="Google Shape;302;p8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0" name="Google Shape;303;p8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1" name="Google Shape;304;p8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2" name="Google Shape;305;p8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3" name="Google Shape;306;p8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4" name="Google Shape;307;p8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5" name="Google Shape;308;p8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6" name="Google Shape;309;p8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7" name="Google Shape;310;p8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8" name="Google Shape;311;p8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9" name="Google Shape;312;p8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0" name="Google Shape;313;p8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1" name="Google Shape;314;p8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2" name="Google Shape;315;p8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3" name="Google Shape;316;p8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4" name="Google Shape;317;p8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5" name="Google Shape;318;p8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6" name="Google Shape;319;p8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Google Shape;320;p8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8" name="Google Shape;321;p8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30" name="Google Shape;322;p86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31" name="Google Shape;323;p86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432" name="Google Shape;324;p86" descr="Google Shape;324;p8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8924722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326;p87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440" name="Google Shape;327;p8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1" name="Google Shape;328;p8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2" name="Google Shape;329;p8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3" name="Google Shape;330;p8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Google Shape;331;p8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Google Shape;332;p8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6" name="Google Shape;333;p8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7" name="Google Shape;334;p8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8" name="Google Shape;335;p8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9" name="Google Shape;336;p8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0" name="Google Shape;337;p8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1" name="Google Shape;338;p8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2" name="Google Shape;339;p8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3" name="Google Shape;340;p8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4" name="Google Shape;341;p8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5" name="Google Shape;342;p8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6" name="Google Shape;343;p8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7" name="Google Shape;344;p8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Google Shape;345;p8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9" name="Google Shape;346;p8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0" name="Google Shape;347;p8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1" name="Google Shape;348;p8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2" name="Google Shape;349;p8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3" name="Google Shape;350;p8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Google Shape;351;p8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66" name="Google Shape;352;p87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67" name="Google Shape;353;p87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468" name="Google Shape;354;p87" descr="Google Shape;354;p8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18925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1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384;p89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510" name="Google Shape;385;p89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1" name="Google Shape;386;p89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2" name="Google Shape;387;p89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3" name="Google Shape;388;p89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4" name="Google Shape;389;p89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5" name="Google Shape;390;p89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6" name="Google Shape;391;p89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7" name="Google Shape;392;p89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8" name="Google Shape;393;p89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9" name="Google Shape;394;p89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0" name="Google Shape;395;p89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1" name="Google Shape;396;p89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2" name="Google Shape;397;p89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3" name="Google Shape;398;p89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4" name="Google Shape;399;p89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5" name="Google Shape;400;p89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6" name="Google Shape;401;p89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7" name="Google Shape;402;p89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8" name="Google Shape;403;p89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9" name="Google Shape;404;p89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0" name="Google Shape;405;p89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1" name="Google Shape;406;p89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2" name="Google Shape;407;p89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3" name="Google Shape;408;p89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4" name="Google Shape;409;p89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536" name="Google Shape;410;p89" descr="Google Shape;410;p8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5304321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412;p90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544" name="Google Shape;413;p9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5" name="Google Shape;414;p9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6" name="Google Shape;415;p9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7" name="Google Shape;416;p9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8" name="Google Shape;417;p9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9" name="Google Shape;418;p9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0" name="Google Shape;419;p9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1" name="Google Shape;420;p9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2" name="Google Shape;421;p9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3" name="Google Shape;422;p9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4" name="Google Shape;423;p9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5" name="Google Shape;424;p9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6" name="Google Shape;425;p9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7" name="Google Shape;426;p9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8" name="Google Shape;427;p9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9" name="Google Shape;428;p9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0" name="Google Shape;429;p9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1" name="Google Shape;430;p9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2" name="Google Shape;431;p9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3" name="Google Shape;432;p9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4" name="Google Shape;433;p9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5" name="Google Shape;434;p9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6" name="Google Shape;435;p9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7" name="Google Shape;436;p9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8" name="Google Shape;437;p9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570" name="Google Shape;438;p90" descr="Google Shape;438;p9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37507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440;p9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578" name="Google Shape;441;p9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79" name="Google Shape;442;p9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0" name="Google Shape;443;p9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1" name="Google Shape;444;p9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2" name="Google Shape;445;p9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3" name="Google Shape;446;p9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4" name="Google Shape;447;p9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5" name="Google Shape;448;p9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6" name="Google Shape;449;p9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7" name="Google Shape;450;p9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8" name="Google Shape;451;p9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9" name="Google Shape;452;p9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0" name="Google Shape;453;p9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1" name="Google Shape;454;p9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2" name="Google Shape;455;p9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3" name="Google Shape;456;p9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4" name="Google Shape;457;p9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5" name="Google Shape;458;p9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6" name="Google Shape;459;p9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7" name="Google Shape;460;p9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8" name="Google Shape;461;p9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9" name="Google Shape;462;p9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00" name="Google Shape;463;p9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01" name="Google Shape;464;p9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02" name="Google Shape;465;p9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604" name="Google Shape;466;p91" descr="Google Shape;466;p9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7271769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36958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612837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470;p95" descr="Google Shape;470;p9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764810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472;p96" descr="Google Shape;472;p9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2127644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474;p97" descr="Google Shape;474;p9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0165199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476;p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676" name="Google Shape;477;p98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651" name="Google Shape;478;p9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2" name="Google Shape;479;p9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3" name="Google Shape;480;p9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4" name="Google Shape;481;p9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5" name="Google Shape;482;p9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6" name="Google Shape;483;p9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7" name="Google Shape;484;p9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8" name="Google Shape;485;p9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9" name="Google Shape;486;p9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0" name="Google Shape;487;p9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1" name="Google Shape;488;p9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2" name="Google Shape;489;p9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3" name="Google Shape;490;p9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4" name="Google Shape;491;p9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5" name="Google Shape;492;p9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6" name="Google Shape;493;p9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7" name="Google Shape;494;p9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8" name="Google Shape;495;p9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9" name="Google Shape;496;p9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0" name="Google Shape;497;p9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1" name="Google Shape;498;p9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2" name="Google Shape;499;p9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3" name="Google Shape;500;p9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4" name="Google Shape;501;p9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5" name="Google Shape;502;p9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169504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505;p99" descr="Google Shape;505;p9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569575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507;p100" descr="Google Shape;507;p10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3081337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509;p10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700" name="Google Shape;510;p10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1" name="Google Shape;511;p10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2" name="Google Shape;512;p10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3" name="Google Shape;513;p10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4" name="Google Shape;514;p10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5" name="Google Shape;515;p10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6" name="Google Shape;516;p10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7" name="Google Shape;517;p10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8" name="Google Shape;518;p10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9" name="Google Shape;519;p10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0" name="Google Shape;520;p10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1" name="Google Shape;521;p10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2" name="Google Shape;522;p10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3" name="Google Shape;523;p10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4" name="Google Shape;524;p10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5" name="Google Shape;525;p10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6" name="Google Shape;526;p10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7" name="Google Shape;527;p10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8" name="Google Shape;528;p10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9" name="Google Shape;529;p10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0" name="Google Shape;530;p10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1" name="Google Shape;531;p10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2" name="Google Shape;532;p10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3" name="Google Shape;533;p10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4" name="Google Shape;534;p10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726" name="Google Shape;535;p101" descr="Google Shape;535;p10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Google Shape;536;p101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067405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538;p102" descr="Google Shape;538;p10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736" name="Google Shape;539;p102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762" name="Google Shape;540;p102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737" name="Google Shape;541;p10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8" name="Google Shape;542;p10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9" name="Google Shape;543;p10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0" name="Google Shape;544;p10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1" name="Google Shape;545;p10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2" name="Google Shape;546;p10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3" name="Google Shape;547;p10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4" name="Google Shape;548;p10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5" name="Google Shape;549;p10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6" name="Google Shape;550;p10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7" name="Google Shape;551;p10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8" name="Google Shape;552;p10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9" name="Google Shape;553;p10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0" name="Google Shape;554;p10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1" name="Google Shape;555;p10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2" name="Google Shape;556;p10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3" name="Google Shape;557;p10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4" name="Google Shape;558;p10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5" name="Google Shape;559;p10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6" name="Google Shape;560;p10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7" name="Google Shape;561;p10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8" name="Google Shape;562;p10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9" name="Google Shape;563;p10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0" name="Google Shape;564;p10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1" name="Google Shape;565;p10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7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8460613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567;p10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770" name="Google Shape;568;p10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1" name="Google Shape;569;p10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2" name="Google Shape;570;p10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3" name="Google Shape;571;p10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4" name="Google Shape;572;p10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5" name="Google Shape;573;p10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6" name="Google Shape;574;p10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7" name="Google Shape;575;p10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8" name="Google Shape;576;p10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9" name="Google Shape;577;p10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0" name="Google Shape;578;p10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1" name="Google Shape;579;p10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2" name="Google Shape;580;p10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3" name="Google Shape;581;p10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4" name="Google Shape;582;p10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5" name="Google Shape;583;p10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6" name="Google Shape;584;p10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7" name="Google Shape;585;p10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8" name="Google Shape;586;p10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9" name="Google Shape;587;p10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0" name="Google Shape;588;p10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1" name="Google Shape;589;p10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2" name="Google Shape;590;p10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3" name="Google Shape;591;p10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4" name="Google Shape;592;p10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796" name="Google Shape;593;p103" descr="Google Shape;593;p10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797" name="Google Shape;594;p103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2497067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596;p104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805" name="Google Shape;597;p104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6" name="Google Shape;598;p104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7" name="Google Shape;599;p104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8" name="Google Shape;600;p104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9" name="Google Shape;601;p104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0" name="Google Shape;602;p104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1" name="Google Shape;603;p104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2" name="Google Shape;604;p104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3" name="Google Shape;605;p104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4" name="Google Shape;606;p104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5" name="Google Shape;607;p104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6" name="Google Shape;608;p104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7" name="Google Shape;609;p104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8" name="Google Shape;610;p104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9" name="Google Shape;611;p104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0" name="Google Shape;612;p104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1" name="Google Shape;613;p104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2" name="Google Shape;614;p104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3" name="Google Shape;615;p104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4" name="Google Shape;616;p104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5" name="Google Shape;617;p104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6" name="Google Shape;618;p104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7" name="Google Shape;619;p104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8" name="Google Shape;620;p104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9" name="Google Shape;621;p104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831" name="Google Shape;622;p104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832" name="Google Shape;623;p104" descr="Google Shape;623;p10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8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3592987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625;p105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840" name="Google Shape;626;p10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1" name="Google Shape;627;p10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2" name="Google Shape;628;p10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3" name="Google Shape;629;p10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4" name="Google Shape;630;p10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5" name="Google Shape;631;p10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6" name="Google Shape;632;p10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7" name="Google Shape;633;p10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8" name="Google Shape;634;p10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9" name="Google Shape;635;p10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0" name="Google Shape;636;p10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1" name="Google Shape;637;p10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2" name="Google Shape;638;p10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3" name="Google Shape;639;p10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4" name="Google Shape;640;p10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5" name="Google Shape;641;p10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6" name="Google Shape;642;p10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7" name="Google Shape;643;p10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8" name="Google Shape;644;p10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9" name="Google Shape;645;p10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0" name="Google Shape;646;p10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1" name="Google Shape;647;p10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2" name="Google Shape;648;p10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3" name="Google Shape;649;p10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4" name="Google Shape;650;p10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866" name="Google Shape;651;p105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867" name="Google Shape;652;p105" descr="Google Shape;652;p10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7905032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654;p106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875" name="Google Shape;655;p10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6" name="Google Shape;656;p10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7" name="Google Shape;657;p10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8" name="Google Shape;658;p10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9" name="Google Shape;659;p10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0" name="Google Shape;660;p10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1" name="Google Shape;661;p10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2" name="Google Shape;662;p10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3" name="Google Shape;663;p10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4" name="Google Shape;664;p10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5" name="Google Shape;665;p10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6" name="Google Shape;666;p10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7" name="Google Shape;667;p10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8" name="Google Shape;668;p10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9" name="Google Shape;669;p10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0" name="Google Shape;670;p10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1" name="Google Shape;671;p10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2" name="Google Shape;672;p10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3" name="Google Shape;673;p10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4" name="Google Shape;674;p10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5" name="Google Shape;675;p10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6" name="Google Shape;676;p10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7" name="Google Shape;677;p10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8" name="Google Shape;678;p10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9" name="Google Shape;679;p10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901" name="Google Shape;680;p106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902" name="Google Shape;681;p106" descr="Google Shape;681;p10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995450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9" name="Google Shape;713;p20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944" name="Google Shape;714;p2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5" name="Google Shape;715;p2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6" name="Google Shape;716;p2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7" name="Google Shape;717;p2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8" name="Google Shape;718;p2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9" name="Google Shape;719;p2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0" name="Google Shape;720;p2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1" name="Google Shape;721;p2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2" name="Google Shape;722;p2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3" name="Google Shape;723;p2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4" name="Google Shape;724;p2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5" name="Google Shape;725;p2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6" name="Google Shape;726;p2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7" name="Google Shape;727;p2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8" name="Google Shape;728;p2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9" name="Google Shape;729;p2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0" name="Google Shape;730;p2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1" name="Google Shape;731;p2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2" name="Google Shape;732;p2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3" name="Google Shape;733;p2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4" name="Google Shape;734;p2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5" name="Google Shape;735;p2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6" name="Google Shape;736;p2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7" name="Google Shape;737;p2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8" name="Google Shape;738;p2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70" name="Google Shape;739;p20" descr="Google Shape;739;p2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71" name="Google Shape;740;p20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972" name="Google Shape;741;p20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1563833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oogle Shape;743;p2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980" name="Google Shape;744;p2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1" name="Google Shape;745;p2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2" name="Google Shape;746;p2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3" name="Google Shape;747;p2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4" name="Google Shape;748;p2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5" name="Google Shape;749;p2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6" name="Google Shape;750;p2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7" name="Google Shape;751;p2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8" name="Google Shape;752;p2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9" name="Google Shape;753;p2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0" name="Google Shape;754;p2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1" name="Google Shape;755;p2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2" name="Google Shape;756;p2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3" name="Google Shape;757;p2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4" name="Google Shape;758;p2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5" name="Google Shape;759;p2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6" name="Google Shape;760;p2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7" name="Google Shape;761;p2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8" name="Google Shape;762;p2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9" name="Google Shape;763;p2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0" name="Google Shape;764;p2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1" name="Google Shape;765;p2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2" name="Google Shape;766;p2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3" name="Google Shape;767;p2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4" name="Google Shape;768;p2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06" name="Google Shape;769;p21" descr="Google Shape;769;p2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07" name="Google Shape;770;p21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08" name="Google Shape;771;p21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760653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773;p8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016" name="Google Shape;774;p8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17" name="Google Shape;775;p8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18" name="Google Shape;776;p8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19" name="Google Shape;777;p8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0" name="Google Shape;778;p8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1" name="Google Shape;779;p8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2" name="Google Shape;780;p8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3" name="Google Shape;781;p8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4" name="Google Shape;782;p8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5" name="Google Shape;783;p8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6" name="Google Shape;784;p8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7" name="Google Shape;785;p8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8" name="Google Shape;786;p8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9" name="Google Shape;787;p8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0" name="Google Shape;788;p8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1" name="Google Shape;789;p8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2" name="Google Shape;790;p8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3" name="Google Shape;791;p8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4" name="Google Shape;792;p8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5" name="Google Shape;793;p8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6" name="Google Shape;794;p8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7" name="Google Shape;795;p8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8" name="Google Shape;796;p8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9" name="Google Shape;797;p8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40" name="Google Shape;798;p8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42" name="Google Shape;799;p81" descr="Google Shape;799;p8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1541427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801;p82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050" name="Google Shape;802;p8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1" name="Google Shape;803;p8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2" name="Google Shape;804;p8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3" name="Google Shape;805;p8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4" name="Google Shape;806;p8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5" name="Google Shape;807;p8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6" name="Google Shape;808;p8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7" name="Google Shape;809;p8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8" name="Google Shape;810;p8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9" name="Google Shape;811;p8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0" name="Google Shape;812;p8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1" name="Google Shape;813;p8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2" name="Google Shape;814;p8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3" name="Google Shape;815;p8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4" name="Google Shape;816;p8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5" name="Google Shape;817;p8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6" name="Google Shape;818;p8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7" name="Google Shape;819;p8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8" name="Google Shape;820;p8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9" name="Google Shape;821;p8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0" name="Google Shape;822;p8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1" name="Google Shape;823;p8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2" name="Google Shape;824;p8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3" name="Google Shape;825;p8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4" name="Google Shape;826;p8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76" name="Google Shape;827;p82" descr="Google Shape;827;p8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3850431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829;p83"/>
          <p:cNvSpPr/>
          <p:nvPr/>
        </p:nvSpPr>
        <p:spPr>
          <a:xfrm flipH="1">
            <a:off x="0" y="0"/>
            <a:ext cx="7481977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85" name="Google Shape;830;p8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86" name="Google Shape;831;p8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5697042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8780468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834;p24" descr="Google Shape;834;p2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2631844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7_Slide de Título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9" name="Google Shape;836;p122" descr="Google Shape;836;p12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7416" y="226692"/>
            <a:ext cx="1216567" cy="20753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35" name="Google Shape;837;p122"/>
          <p:cNvGrpSpPr/>
          <p:nvPr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1110" name="Google Shape;838;p12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1" name="Google Shape;839;p12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2" name="Google Shape;840;p12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3" name="Google Shape;841;p12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4" name="Google Shape;842;p12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5" name="Google Shape;843;p12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6" name="Google Shape;844;p12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7" name="Google Shape;845;p12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8" name="Google Shape;846;p12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9" name="Google Shape;847;p12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0" name="Google Shape;848;p12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1" name="Google Shape;849;p12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2" name="Google Shape;850;p12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3" name="Google Shape;851;p12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4" name="Google Shape;852;p12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5" name="Google Shape;853;p12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6" name="Google Shape;854;p12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7" name="Google Shape;855;p12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8" name="Google Shape;856;p12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9" name="Google Shape;857;p12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0" name="Google Shape;858;p12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1" name="Google Shape;859;p12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2" name="Google Shape;860;p12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3" name="Google Shape;861;p12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4" name="Google Shape;862;p12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136" name="Google Shape;863;p122"/>
          <p:cNvSpPr/>
          <p:nvPr/>
        </p:nvSpPr>
        <p:spPr>
          <a:xfrm>
            <a:off x="674913" y="1463039"/>
            <a:ext cx="10927807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137" name="Google Shape;864;p122" descr="Google Shape;864;p12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38" name="Google Shape;865;p122"/>
          <p:cNvSpPr/>
          <p:nvPr/>
        </p:nvSpPr>
        <p:spPr>
          <a:xfrm>
            <a:off x="149395" y="150442"/>
            <a:ext cx="2175679" cy="3600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188544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867;p25"/>
          <p:cNvGrpSpPr/>
          <p:nvPr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1146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7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8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9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0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1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2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3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4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5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6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7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8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9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0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1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2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3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4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5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6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7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8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9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70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172" name="Google Shape;893;p25" descr="Google Shape;893;p2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73" name="Google Shape;894;p25"/>
          <p:cNvSpPr/>
          <p:nvPr/>
        </p:nvSpPr>
        <p:spPr>
          <a:xfrm>
            <a:off x="674913" y="1463039"/>
            <a:ext cx="10927807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174" name="Google Shape;895;p25"/>
          <p:cNvSpPr/>
          <p:nvPr/>
        </p:nvSpPr>
        <p:spPr>
          <a:xfrm>
            <a:off x="149395" y="150442"/>
            <a:ext cx="2175679" cy="3600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1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209491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Slide de Título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897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1208" name="Google Shape;898;p28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1183" name="Google Shape;899;p2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4" name="Google Shape;900;p2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5" name="Google Shape;901;p2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6" name="Google Shape;902;p2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7" name="Google Shape;903;p2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8" name="Google Shape;904;p2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9" name="Google Shape;905;p2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0" name="Google Shape;906;p2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1" name="Google Shape;907;p2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2" name="Google Shape;908;p2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3" name="Google Shape;909;p2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4" name="Google Shape;910;p2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5" name="Google Shape;911;p2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6" name="Google Shape;912;p2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7" name="Google Shape;913;p2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8" name="Google Shape;914;p2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9" name="Google Shape;915;p2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0" name="Google Shape;916;p2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1" name="Google Shape;917;p2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2" name="Google Shape;918;p2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3" name="Google Shape;919;p2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4" name="Google Shape;920;p2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5" name="Google Shape;921;p2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6" name="Google Shape;922;p2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7" name="Google Shape;923;p2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2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804290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6" name="Google Shape;925;p29" descr="Google Shape;925;p2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792336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4" name="Google Shape;927;p30" descr="Google Shape;927;p3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281708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2" name="Google Shape;929;p31" descr="Google Shape;929;p3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9069684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931;p32" descr="Google Shape;931;p3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3129507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933;p33" descr="Google Shape;933;p3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8176345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8578628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303338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3" name="Google Shape;939;p35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278" name="Google Shape;940;p3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79" name="Google Shape;941;p3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0" name="Google Shape;942;p3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1" name="Google Shape;943;p3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2" name="Google Shape;944;p3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3" name="Google Shape;945;p3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4" name="Google Shape;946;p3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5" name="Google Shape;947;p3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6" name="Google Shape;948;p3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7" name="Google Shape;949;p3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8" name="Google Shape;950;p3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9" name="Google Shape;951;p3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0" name="Google Shape;952;p3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1" name="Google Shape;953;p3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2" name="Google Shape;954;p3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3" name="Google Shape;955;p3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4" name="Google Shape;956;p3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5" name="Google Shape;957;p3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6" name="Google Shape;958;p3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7" name="Google Shape;959;p3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8" name="Google Shape;960;p3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9" name="Google Shape;961;p3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00" name="Google Shape;962;p3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01" name="Google Shape;963;p3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02" name="Google Shape;964;p3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304" name="Google Shape;965;p35" descr="Google Shape;965;p3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305" name="Google Shape;966;p35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3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41827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968;p36" descr="Google Shape;968;p3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314" name="Google Shape;969;p36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1340" name="Google Shape;970;p36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315" name="Google Shape;971;p3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6" name="Google Shape;972;p3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7" name="Google Shape;973;p3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8" name="Google Shape;974;p3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9" name="Google Shape;975;p3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0" name="Google Shape;976;p3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1" name="Google Shape;977;p3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2" name="Google Shape;978;p3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3" name="Google Shape;979;p3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4" name="Google Shape;980;p3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5" name="Google Shape;981;p3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6" name="Google Shape;982;p3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7" name="Google Shape;983;p3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8" name="Google Shape;984;p3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9" name="Google Shape;985;p3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0" name="Google Shape;986;p3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1" name="Google Shape;987;p3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2" name="Google Shape;988;p3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3" name="Google Shape;989;p3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4" name="Google Shape;990;p3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5" name="Google Shape;991;p3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6" name="Google Shape;992;p3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7" name="Google Shape;993;p3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8" name="Google Shape;994;p3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9" name="Google Shape;995;p3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9482693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997;p37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348" name="Google Shape;998;p3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49" name="Google Shape;999;p3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0" name="Google Shape;1000;p3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1" name="Google Shape;1001;p3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2" name="Google Shape;1002;p3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3" name="Google Shape;1003;p3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4" name="Google Shape;1004;p3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5" name="Google Shape;1005;p3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6" name="Google Shape;1006;p3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7" name="Google Shape;1007;p3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8" name="Google Shape;1008;p3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9" name="Google Shape;1009;p3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0" name="Google Shape;1010;p3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1" name="Google Shape;1011;p3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2" name="Google Shape;1012;p3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3" name="Google Shape;1013;p3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4" name="Google Shape;1014;p3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5" name="Google Shape;1015;p3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6" name="Google Shape;1016;p3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7" name="Google Shape;1017;p3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8" name="Google Shape;1018;p3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9" name="Google Shape;1019;p3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70" name="Google Shape;1020;p3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71" name="Google Shape;1021;p3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72" name="Google Shape;1022;p3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374" name="Google Shape;1023;p37" descr="Google Shape;1023;p3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375" name="Google Shape;1024;p37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3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12257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oogle Shape;1026;p38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383" name="Google Shape;1027;p3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4" name="Google Shape;1028;p3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5" name="Google Shape;1029;p3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6" name="Google Shape;1030;p3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7" name="Google Shape;1031;p3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8" name="Google Shape;1032;p3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9" name="Google Shape;1033;p3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0" name="Google Shape;1034;p3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1" name="Google Shape;1035;p3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2" name="Google Shape;1036;p3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3" name="Google Shape;1037;p3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4" name="Google Shape;1038;p3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5" name="Google Shape;1039;p3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6" name="Google Shape;1040;p3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7" name="Google Shape;1041;p3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8" name="Google Shape;1042;p3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9" name="Google Shape;1043;p3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0" name="Google Shape;1044;p3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1" name="Google Shape;1045;p3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2" name="Google Shape;1046;p3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3" name="Google Shape;1047;p3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4" name="Google Shape;1048;p3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5" name="Google Shape;1049;p3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6" name="Google Shape;1050;p3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7" name="Google Shape;1051;p3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409" name="Google Shape;1052;p38" descr="Google Shape;1052;p3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410" name="Google Shape;1053;p38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4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5118418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055;p40" descr="Google Shape;1055;p4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44" name="Google Shape;1056;p40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419" name="Google Shape;1057;p4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0" name="Google Shape;1058;p4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1" name="Google Shape;1059;p4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2" name="Google Shape;1060;p4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3" name="Google Shape;1061;p4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4" name="Google Shape;1062;p4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5" name="Google Shape;1063;p4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6" name="Google Shape;1064;p4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7" name="Google Shape;1065;p4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8" name="Google Shape;1066;p4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9" name="Google Shape;1067;p4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0" name="Google Shape;1068;p4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1" name="Google Shape;1069;p4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2" name="Google Shape;1070;p4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3" name="Google Shape;1071;p4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4" name="Google Shape;1072;p4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5" name="Google Shape;1073;p4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6" name="Google Shape;1074;p4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7" name="Google Shape;1075;p4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8" name="Google Shape;1076;p4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9" name="Google Shape;1077;p4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0" name="Google Shape;1078;p4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1" name="Google Shape;1079;p4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2" name="Google Shape;1080;p4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3" name="Google Shape;1081;p4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445" name="Google Shape;1082;p40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4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0706951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084;p42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453" name="Google Shape;1085;p4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4" name="Google Shape;1086;p4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5" name="Google Shape;1087;p4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6" name="Google Shape;1088;p4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7" name="Google Shape;1089;p4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8" name="Google Shape;1090;p4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9" name="Google Shape;1091;p4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0" name="Google Shape;1092;p4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1" name="Google Shape;1093;p4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2" name="Google Shape;1094;p4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3" name="Google Shape;1095;p4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4" name="Google Shape;1096;p4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5" name="Google Shape;1097;p4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6" name="Google Shape;1098;p4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7" name="Google Shape;1099;p4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8" name="Google Shape;1100;p4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9" name="Google Shape;1101;p4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0" name="Google Shape;1102;p4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1" name="Google Shape;1103;p4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2" name="Google Shape;1104;p4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3" name="Google Shape;1105;p4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4" name="Google Shape;1106;p4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5" name="Google Shape;1107;p4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6" name="Google Shape;1108;p4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7" name="Google Shape;1109;p4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479" name="Google Shape;1110;p42" descr="Google Shape;1110;p4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480" name="Google Shape;1111;p42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4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2483924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113;p43" descr="Google Shape;1113;p4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652473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115;p44" descr="Google Shape;1115;p4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756408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117;p45" descr="Google Shape;1117;p4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9711785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119;p46" descr="Google Shape;1119;p4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3004795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5147962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0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77405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14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vmlDrawing" Target="../drawings/vmlDrawing13.v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57.xml"/><Relationship Id="rId42" Type="http://schemas.openxmlformats.org/officeDocument/2006/relationships/slideLayout" Target="../slideLayouts/slideLayout65.xml"/><Relationship Id="rId47" Type="http://schemas.openxmlformats.org/officeDocument/2006/relationships/slideLayout" Target="../slideLayouts/slideLayout70.xml"/><Relationship Id="rId50" Type="http://schemas.openxmlformats.org/officeDocument/2006/relationships/slideLayout" Target="../slideLayouts/slideLayout73.xml"/><Relationship Id="rId55" Type="http://schemas.openxmlformats.org/officeDocument/2006/relationships/oleObject" Target="../embeddings/oleObject25.bin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33" Type="http://schemas.openxmlformats.org/officeDocument/2006/relationships/slideLayout" Target="../slideLayouts/slideLayout56.xml"/><Relationship Id="rId38" Type="http://schemas.openxmlformats.org/officeDocument/2006/relationships/slideLayout" Target="../slideLayouts/slideLayout61.xml"/><Relationship Id="rId46" Type="http://schemas.openxmlformats.org/officeDocument/2006/relationships/slideLayout" Target="../slideLayouts/slideLayout69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64.xml"/><Relationship Id="rId54" Type="http://schemas.openxmlformats.org/officeDocument/2006/relationships/tags" Target="../tags/tag26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32" Type="http://schemas.openxmlformats.org/officeDocument/2006/relationships/slideLayout" Target="../slideLayouts/slideLayout55.xml"/><Relationship Id="rId37" Type="http://schemas.openxmlformats.org/officeDocument/2006/relationships/slideLayout" Target="../slideLayouts/slideLayout60.xml"/><Relationship Id="rId40" Type="http://schemas.openxmlformats.org/officeDocument/2006/relationships/slideLayout" Target="../slideLayouts/slideLayout63.xml"/><Relationship Id="rId45" Type="http://schemas.openxmlformats.org/officeDocument/2006/relationships/slideLayout" Target="../slideLayouts/slideLayout68.xml"/><Relationship Id="rId53" Type="http://schemas.openxmlformats.org/officeDocument/2006/relationships/vmlDrawing" Target="../drawings/vmlDrawing25.v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51.xml"/><Relationship Id="rId36" Type="http://schemas.openxmlformats.org/officeDocument/2006/relationships/slideLayout" Target="../slideLayouts/slideLayout59.xml"/><Relationship Id="rId49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54.xml"/><Relationship Id="rId44" Type="http://schemas.openxmlformats.org/officeDocument/2006/relationships/slideLayout" Target="../slideLayouts/slideLayout67.xml"/><Relationship Id="rId52" Type="http://schemas.openxmlformats.org/officeDocument/2006/relationships/theme" Target="../theme/theme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50.xml"/><Relationship Id="rId30" Type="http://schemas.openxmlformats.org/officeDocument/2006/relationships/slideLayout" Target="../slideLayouts/slideLayout53.xml"/><Relationship Id="rId35" Type="http://schemas.openxmlformats.org/officeDocument/2006/relationships/slideLayout" Target="../slideLayouts/slideLayout58.xml"/><Relationship Id="rId43" Type="http://schemas.openxmlformats.org/officeDocument/2006/relationships/slideLayout" Target="../slideLayouts/slideLayout66.xml"/><Relationship Id="rId48" Type="http://schemas.openxmlformats.org/officeDocument/2006/relationships/slideLayout" Target="../slideLayouts/slideLayout71.xml"/><Relationship Id="rId56" Type="http://schemas.openxmlformats.org/officeDocument/2006/relationships/image" Target="../media/image1.emf"/><Relationship Id="rId8" Type="http://schemas.openxmlformats.org/officeDocument/2006/relationships/slideLayout" Target="../slideLayouts/slideLayout31.xml"/><Relationship Id="rId51" Type="http://schemas.openxmlformats.org/officeDocument/2006/relationships/slideLayout" Target="../slideLayouts/slideLayout74.xml"/><Relationship Id="rId3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dirty="0"/>
              <a:t>tópico/texto</a:t>
            </a:r>
            <a:endParaRPr lang="en-US" dirty="0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pt-BR" dirty="0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90" r:id="rId3"/>
    <p:sldLayoutId id="2147483755" r:id="rId4"/>
    <p:sldLayoutId id="2147483791" r:id="rId5"/>
    <p:sldLayoutId id="2147483799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8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dirty="0"/>
              <a:t>tópico/texto</a:t>
            </a:r>
            <a:endParaRPr lang="en-US" dirty="0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pt-BR" dirty="0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5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4" name="think-cell Slide" r:id="rId55" imgW="421" imgH="423" progId="TCLayout.ActiveDocument.1">
                  <p:embed/>
                </p:oleObj>
              </mc:Choice>
              <mc:Fallback>
                <p:oleObj name="think-cell Slide" r:id="rId5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2739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  <p:sldLayoutId id="2147483882" r:id="rId18"/>
    <p:sldLayoutId id="2147483883" r:id="rId19"/>
    <p:sldLayoutId id="2147483884" r:id="rId20"/>
    <p:sldLayoutId id="2147483885" r:id="rId21"/>
    <p:sldLayoutId id="2147483886" r:id="rId22"/>
    <p:sldLayoutId id="2147483887" r:id="rId23"/>
    <p:sldLayoutId id="2147483888" r:id="rId24"/>
    <p:sldLayoutId id="2147483889" r:id="rId25"/>
    <p:sldLayoutId id="2147483890" r:id="rId26"/>
    <p:sldLayoutId id="2147483891" r:id="rId27"/>
    <p:sldLayoutId id="2147483892" r:id="rId28"/>
    <p:sldLayoutId id="2147483893" r:id="rId29"/>
    <p:sldLayoutId id="2147483894" r:id="rId30"/>
    <p:sldLayoutId id="2147483895" r:id="rId31"/>
    <p:sldLayoutId id="2147483896" r:id="rId32"/>
    <p:sldLayoutId id="2147483897" r:id="rId33"/>
    <p:sldLayoutId id="2147483898" r:id="rId34"/>
    <p:sldLayoutId id="2147483899" r:id="rId35"/>
    <p:sldLayoutId id="2147483900" r:id="rId36"/>
    <p:sldLayoutId id="2147483901" r:id="rId37"/>
    <p:sldLayoutId id="2147483902" r:id="rId38"/>
    <p:sldLayoutId id="2147483903" r:id="rId39"/>
    <p:sldLayoutId id="2147483904" r:id="rId40"/>
    <p:sldLayoutId id="2147483905" r:id="rId41"/>
    <p:sldLayoutId id="2147483906" r:id="rId42"/>
    <p:sldLayoutId id="2147483907" r:id="rId43"/>
    <p:sldLayoutId id="2147483908" r:id="rId44"/>
    <p:sldLayoutId id="2147483909" r:id="rId45"/>
    <p:sldLayoutId id="2147483910" r:id="rId46"/>
    <p:sldLayoutId id="2147483911" r:id="rId47"/>
    <p:sldLayoutId id="2147483912" r:id="rId48"/>
    <p:sldLayoutId id="2147483913" r:id="rId49"/>
    <p:sldLayoutId id="2147483914" r:id="rId50"/>
    <p:sldLayoutId id="2147483915" r:id="rId5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6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slide" Target="slide15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7.png"/><Relationship Id="rId7" Type="http://schemas.openxmlformats.org/officeDocument/2006/relationships/image" Target="../media/image48.png"/><Relationship Id="rId12" Type="http://schemas.openxmlformats.org/officeDocument/2006/relationships/slide" Target="slide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slide" Target="slide8.xml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49.emf"/><Relationship Id="rId2" Type="http://schemas.openxmlformats.org/officeDocument/2006/relationships/tags" Target="../tags/tag29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7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50.emf"/><Relationship Id="rId2" Type="http://schemas.openxmlformats.org/officeDocument/2006/relationships/tags" Target="../tags/tag30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7.bin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31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8.bin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3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9.bin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33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8.bin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77320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7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90260" y="998024"/>
            <a:ext cx="5923700" cy="791776"/>
          </a:xfrm>
        </p:spPr>
        <p:txBody>
          <a:bodyPr/>
          <a:lstStyle/>
          <a:p>
            <a:r>
              <a:rPr lang="en-US" dirty="0"/>
              <a:t>Twist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M&amp;A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mtClean="0"/>
              <a:t>08 </a:t>
            </a:r>
            <a:r>
              <a:rPr lang="en-US" dirty="0" err="1" smtClean="0"/>
              <a:t>Março</a:t>
            </a:r>
            <a:r>
              <a:rPr lang="en-US" dirty="0" smtClean="0"/>
              <a:t> </a:t>
            </a:r>
            <a:r>
              <a:rPr lang="en-US" dirty="0"/>
              <a:t>2024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2"/>
          </p:nvPr>
        </p:nvSpPr>
        <p:spPr>
          <a:xfrm>
            <a:off x="1190260" y="1699641"/>
            <a:ext cx="7994318" cy="1016000"/>
          </a:xfrm>
        </p:spPr>
        <p:txBody>
          <a:bodyPr/>
          <a:lstStyle/>
          <a:p>
            <a:r>
              <a:rPr lang="en-US" dirty="0" err="1"/>
              <a:t>Criação</a:t>
            </a:r>
            <a:r>
              <a:rPr lang="en-US" dirty="0"/>
              <a:t> UPI </a:t>
            </a:r>
            <a:r>
              <a:rPr lang="en-US" dirty="0" err="1"/>
              <a:t>ClientCo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3122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9E0B"/>
                </a:solidFill>
              </a:rPr>
              <a:t>CONTEXTO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314182" y="955343"/>
            <a:ext cx="11653230" cy="5641423"/>
          </a:xfrm>
          <a:prstGeom prst="rect">
            <a:avLst/>
          </a:prstGeom>
          <a:noFill/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584644" y="2200564"/>
            <a:ext cx="937082" cy="3313131"/>
          </a:xfrm>
          <a:prstGeom prst="rect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CENÁRIO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ATUAL</a:t>
            </a:r>
            <a:endParaRPr kumimoji="0" lang="pt-BR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2703868" y="2200565"/>
            <a:ext cx="8298115" cy="3094766"/>
          </a:xfrm>
          <a:prstGeom prst="rect">
            <a:avLst/>
          </a:prstGeom>
          <a:noFill/>
          <a:ln w="127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2000" tIns="72000" rIns="0" bIns="0" numCol="1" spcCol="38100" rtlCol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9E0B"/>
                </a:solidFill>
              </a:rPr>
              <a:t>UPI </a:t>
            </a:r>
            <a:r>
              <a:rPr lang="pt-BR" sz="1600" dirty="0" err="1">
                <a:solidFill>
                  <a:srgbClr val="009E0B"/>
                </a:solidFill>
              </a:rPr>
              <a:t>ClientCo</a:t>
            </a:r>
            <a:r>
              <a:rPr lang="pt-BR" sz="1600" dirty="0">
                <a:solidFill>
                  <a:srgbClr val="009E0B"/>
                </a:solidFill>
              </a:rPr>
              <a:t> faz parte do Plano de Recuperação Judicial </a:t>
            </a: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da Oi submetido </a:t>
            </a:r>
            <a:r>
              <a:rPr lang="pt-BR" sz="1600" dirty="0">
                <a:solidFill>
                  <a:schemeClr val="accent6"/>
                </a:solidFill>
              </a:rPr>
              <a:t>à</a:t>
            </a: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lang="pt-BR" sz="1600" dirty="0">
                <a:solidFill>
                  <a:schemeClr val="accent6"/>
                </a:solidFill>
              </a:rPr>
              <a:t>a</a:t>
            </a: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provação da AGC (05/03)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pt-BR" sz="1600" dirty="0">
              <a:solidFill>
                <a:schemeClr val="accent6"/>
              </a:solidFill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No PRJ, o fechamento da UPI </a:t>
            </a:r>
            <a:r>
              <a:rPr kumimoji="0" lang="pt-BR" sz="1600" b="0" i="0" u="none" strike="noStrike" cap="none" spc="0" normalizeH="0" dirty="0" err="1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ClientCo</a:t>
            </a: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e a entrada de recursos deve acontecer no </a:t>
            </a:r>
            <a:r>
              <a:rPr lang="pt-BR" sz="1600" dirty="0">
                <a:solidFill>
                  <a:srgbClr val="009E0B"/>
                </a:solidFill>
              </a:rPr>
              <a:t>1º trimestre de 2025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pt-BR" sz="1600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accent6"/>
                </a:solidFill>
              </a:rPr>
              <a:t>Necessidade de iniciar a criação da(s) UPI(s) para garantir prazo previsto para o fechamento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accent6"/>
                </a:solidFill>
              </a:rPr>
              <a:t>UPI </a:t>
            </a:r>
            <a:r>
              <a:rPr lang="pt-BR" sz="1600" dirty="0" err="1">
                <a:solidFill>
                  <a:schemeClr val="accent6"/>
                </a:solidFill>
              </a:rPr>
              <a:t>ClientCo</a:t>
            </a:r>
            <a:r>
              <a:rPr lang="pt-BR" sz="1600" dirty="0">
                <a:solidFill>
                  <a:schemeClr val="accent6"/>
                </a:solidFill>
              </a:rPr>
              <a:t> tem como escopo a venda da base de </a:t>
            </a:r>
            <a:r>
              <a:rPr lang="pt-BR" sz="1600" dirty="0">
                <a:solidFill>
                  <a:srgbClr val="009E0B"/>
                </a:solidFill>
              </a:rPr>
              <a:t>clientes FTTH Oi do segmento Varejo e Empresarial </a:t>
            </a:r>
            <a:r>
              <a:rPr lang="pt-BR" sz="1600" dirty="0">
                <a:solidFill>
                  <a:schemeClr val="accent6"/>
                </a:solidFill>
              </a:rPr>
              <a:t>com os </a:t>
            </a:r>
            <a:r>
              <a:rPr lang="pt-BR" sz="1600" dirty="0">
                <a:solidFill>
                  <a:srgbClr val="009E0B"/>
                </a:solidFill>
              </a:rPr>
              <a:t>ativos</a:t>
            </a:r>
            <a:r>
              <a:rPr lang="pt-BR" sz="1600" dirty="0">
                <a:solidFill>
                  <a:schemeClr val="accent6"/>
                </a:solidFill>
              </a:rPr>
              <a:t> relacionados à prestação do serviço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accent6"/>
                </a:solidFill>
              </a:rPr>
              <a:t>Atualmente, estamos na etapa de recebimento e avaliação das propostas de compra e venda da UPI </a:t>
            </a:r>
            <a:r>
              <a:rPr lang="pt-BR" sz="1600" dirty="0" err="1">
                <a:solidFill>
                  <a:schemeClr val="accent6"/>
                </a:solidFill>
              </a:rPr>
              <a:t>ClientCo</a:t>
            </a:r>
            <a:endParaRPr lang="pt-BR" sz="1600" dirty="0">
              <a:solidFill>
                <a:schemeClr val="accent6"/>
              </a:solidFill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pt-BR" sz="1600" b="0" i="0" u="none" strike="noStrike" cap="none" spc="0" normalizeH="0" baseline="0" dirty="0">
              <a:ln>
                <a:noFill/>
              </a:ln>
              <a:solidFill>
                <a:srgbClr val="009E0B"/>
              </a:solidFill>
              <a:effectLst/>
              <a:uFillTx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40717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9E0B"/>
                </a:solidFill>
              </a:rPr>
              <a:t>AGENDA</a:t>
            </a:r>
            <a:endParaRPr lang="en-US" dirty="0">
              <a:solidFill>
                <a:srgbClr val="009E0B"/>
              </a:solidFill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314182" y="955343"/>
            <a:ext cx="11653230" cy="5641423"/>
          </a:xfrm>
          <a:prstGeom prst="rect">
            <a:avLst/>
          </a:prstGeom>
          <a:noFill/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2703868" y="2244782"/>
            <a:ext cx="8051525" cy="3094766"/>
          </a:xfrm>
          <a:prstGeom prst="rect">
            <a:avLst/>
          </a:prstGeom>
          <a:noFill/>
          <a:ln w="127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2000" tIns="72000" rIns="0" bIns="0" numCol="1" spcCol="38100" rtlCol="0" anchor="t">
            <a:noAutofit/>
          </a:bodyPr>
          <a:lstStyle/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chemeClr val="accent6"/>
                </a:solidFill>
              </a:rPr>
              <a:t>Perímetro da Operação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chemeClr val="accent6"/>
                </a:solidFill>
              </a:rPr>
              <a:t>Frentes e Escopo por frente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chemeClr val="accent6"/>
                </a:solidFill>
              </a:rPr>
              <a:t>Principais Marcos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chemeClr val="accent6"/>
                </a:solidFill>
              </a:rPr>
              <a:t>Líderes </a:t>
            </a:r>
            <a:r>
              <a:rPr lang="pt-BR" sz="2000" dirty="0">
                <a:solidFill>
                  <a:schemeClr val="accent6"/>
                </a:solidFill>
              </a:rPr>
              <a:t>e Governança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chemeClr val="accent6"/>
                </a:solidFill>
              </a:rPr>
              <a:t>Frente de Sistemas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chemeClr val="accent6"/>
                </a:solidFill>
              </a:rPr>
              <a:t>Próximos Passos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pt-BR" sz="2000" b="0" i="0" u="none" strike="noStrike" cap="none" spc="0" normalizeH="0" baseline="0" dirty="0">
              <a:ln>
                <a:noFill/>
              </a:ln>
              <a:solidFill>
                <a:srgbClr val="009E0B"/>
              </a:solidFill>
              <a:effectLst/>
              <a:uFillTx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584644" y="2200564"/>
            <a:ext cx="937082" cy="3313131"/>
          </a:xfrm>
          <a:prstGeom prst="rect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b="1" dirty="0" smtClean="0">
                <a:solidFill>
                  <a:schemeClr val="bg1"/>
                </a:solidFill>
              </a:rPr>
              <a:t>AGENDA</a:t>
            </a:r>
            <a:endParaRPr kumimoji="0" lang="pt-BR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853547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422" y="143887"/>
            <a:ext cx="10756482" cy="558294"/>
          </a:xfrm>
        </p:spPr>
        <p:txBody>
          <a:bodyPr/>
          <a:lstStyle/>
          <a:p>
            <a:r>
              <a:rPr lang="en-US" dirty="0" smtClean="0">
                <a:solidFill>
                  <a:srgbClr val="009E0B"/>
                </a:solidFill>
              </a:rPr>
              <a:t>TWIST: VISÃO GERAL DO PERÍMETRO DA CLIENTCO</a:t>
            </a:r>
            <a:endParaRPr lang="en-US" dirty="0">
              <a:solidFill>
                <a:srgbClr val="009E0B"/>
              </a:solidFill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</a:t>
            </a:fld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60422" y="955343"/>
            <a:ext cx="11806990" cy="564142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231272"/>
              </p:ext>
            </p:extLst>
          </p:nvPr>
        </p:nvGraphicFramePr>
        <p:xfrm>
          <a:off x="293488" y="1478740"/>
          <a:ext cx="10623730" cy="2985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5782">
                  <a:extLst>
                    <a:ext uri="{9D8B030D-6E8A-4147-A177-3AD203B41FA5}">
                      <a16:colId xmlns:a16="http://schemas.microsoft.com/office/drawing/2014/main" val="3756508254"/>
                    </a:ext>
                  </a:extLst>
                </a:gridCol>
                <a:gridCol w="915588">
                  <a:extLst>
                    <a:ext uri="{9D8B030D-6E8A-4147-A177-3AD203B41FA5}">
                      <a16:colId xmlns:a16="http://schemas.microsoft.com/office/drawing/2014/main" val="3937290098"/>
                    </a:ext>
                  </a:extLst>
                </a:gridCol>
                <a:gridCol w="1140675">
                  <a:extLst>
                    <a:ext uri="{9D8B030D-6E8A-4147-A177-3AD203B41FA5}">
                      <a16:colId xmlns:a16="http://schemas.microsoft.com/office/drawing/2014/main" val="546488758"/>
                    </a:ext>
                  </a:extLst>
                </a:gridCol>
                <a:gridCol w="975817">
                  <a:extLst>
                    <a:ext uri="{9D8B030D-6E8A-4147-A177-3AD203B41FA5}">
                      <a16:colId xmlns:a16="http://schemas.microsoft.com/office/drawing/2014/main" val="2899384952"/>
                    </a:ext>
                  </a:extLst>
                </a:gridCol>
                <a:gridCol w="1051880">
                  <a:extLst>
                    <a:ext uri="{9D8B030D-6E8A-4147-A177-3AD203B41FA5}">
                      <a16:colId xmlns:a16="http://schemas.microsoft.com/office/drawing/2014/main" val="1766777876"/>
                    </a:ext>
                  </a:extLst>
                </a:gridCol>
                <a:gridCol w="1036048">
                  <a:extLst>
                    <a:ext uri="{9D8B030D-6E8A-4147-A177-3AD203B41FA5}">
                      <a16:colId xmlns:a16="http://schemas.microsoft.com/office/drawing/2014/main" val="1517881853"/>
                    </a:ext>
                  </a:extLst>
                </a:gridCol>
                <a:gridCol w="915588">
                  <a:extLst>
                    <a:ext uri="{9D8B030D-6E8A-4147-A177-3AD203B41FA5}">
                      <a16:colId xmlns:a16="http://schemas.microsoft.com/office/drawing/2014/main" val="1256759141"/>
                    </a:ext>
                  </a:extLst>
                </a:gridCol>
                <a:gridCol w="915588">
                  <a:extLst>
                    <a:ext uri="{9D8B030D-6E8A-4147-A177-3AD203B41FA5}">
                      <a16:colId xmlns:a16="http://schemas.microsoft.com/office/drawing/2014/main" val="566934628"/>
                    </a:ext>
                  </a:extLst>
                </a:gridCol>
                <a:gridCol w="915588">
                  <a:extLst>
                    <a:ext uri="{9D8B030D-6E8A-4147-A177-3AD203B41FA5}">
                      <a16:colId xmlns:a16="http://schemas.microsoft.com/office/drawing/2014/main" val="2588190380"/>
                    </a:ext>
                  </a:extLst>
                </a:gridCol>
                <a:gridCol w="915588">
                  <a:extLst>
                    <a:ext uri="{9D8B030D-6E8A-4147-A177-3AD203B41FA5}">
                      <a16:colId xmlns:a16="http://schemas.microsoft.com/office/drawing/2014/main" val="3252076621"/>
                    </a:ext>
                  </a:extLst>
                </a:gridCol>
                <a:gridCol w="915588">
                  <a:extLst>
                    <a:ext uri="{9D8B030D-6E8A-4147-A177-3AD203B41FA5}">
                      <a16:colId xmlns:a16="http://schemas.microsoft.com/office/drawing/2014/main" val="3024236933"/>
                    </a:ext>
                  </a:extLst>
                </a:gridCol>
              </a:tblGrid>
              <a:tr h="1018800"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bg1"/>
                        </a:solidFill>
                        <a:latin typeface="Simplon BP Regular" pitchFamily="2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Fibra</a:t>
                      </a:r>
                    </a:p>
                    <a:p>
                      <a:pPr algn="ctr"/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(+VOIP)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 err="1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SVAs</a:t>
                      </a:r>
                      <a:r>
                        <a:rPr lang="pt-BR" sz="1400" b="1" baseline="0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 /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Oi Expert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Embarcado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Oi Expert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Avulso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Oi Fibra</a:t>
                      </a:r>
                      <a:r>
                        <a:rPr lang="pt-BR" sz="1400" b="1" baseline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 X</a:t>
                      </a:r>
                      <a:endParaRPr lang="pt-BR" sz="1400" b="1" baseline="0" dirty="0">
                        <a:solidFill>
                          <a:schemeClr val="bg1"/>
                        </a:solidFill>
                        <a:latin typeface="Simplon BP Regular" pitchFamily="2" charset="0"/>
                      </a:endParaRPr>
                    </a:p>
                    <a:p>
                      <a:pPr algn="ctr"/>
                      <a:r>
                        <a:rPr lang="pt-BR" sz="1400" b="1" baseline="0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(Add-On)</a:t>
                      </a:r>
                      <a:endParaRPr lang="pt-BR" sz="1400" b="1" dirty="0">
                        <a:solidFill>
                          <a:schemeClr val="bg1"/>
                        </a:solidFill>
                        <a:latin typeface="Simplon BP Regular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Saude</a:t>
                      </a:r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 / Educ.</a:t>
                      </a:r>
                      <a:r>
                        <a:rPr lang="pt-BR" sz="1400" b="1" baseline="0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 / Energia</a:t>
                      </a:r>
                    </a:p>
                    <a:p>
                      <a:pPr algn="ctr"/>
                      <a:r>
                        <a:rPr lang="pt-BR" sz="1400" b="1" baseline="0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(Add-On)</a:t>
                      </a:r>
                      <a:endParaRPr lang="pt-BR" sz="1400" b="1" dirty="0">
                        <a:solidFill>
                          <a:schemeClr val="bg1"/>
                        </a:solidFill>
                        <a:latin typeface="Simplon BP Regular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Cobre</a:t>
                      </a:r>
                      <a:endParaRPr lang="pt-BR" sz="1400" b="1" dirty="0">
                        <a:solidFill>
                          <a:schemeClr val="bg1"/>
                        </a:solidFill>
                        <a:latin typeface="Simplon BP Regular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Oi Play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TV </a:t>
                      </a:r>
                      <a:endParaRPr lang="pt-BR" sz="1400" b="1" dirty="0">
                        <a:solidFill>
                          <a:schemeClr val="bg1"/>
                        </a:solidFill>
                        <a:latin typeface="Simplon BP Regular" pitchFamily="2" charset="0"/>
                      </a:endParaRPr>
                    </a:p>
                    <a:p>
                      <a:pPr algn="ctr"/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DTH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TV </a:t>
                      </a:r>
                      <a:endParaRPr lang="pt-BR" sz="1400" b="1" dirty="0">
                        <a:solidFill>
                          <a:schemeClr val="bg1"/>
                        </a:solidFill>
                        <a:latin typeface="Simplon BP Regular" pitchFamily="2" charset="0"/>
                      </a:endParaRPr>
                    </a:p>
                    <a:p>
                      <a:pPr algn="ctr"/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IPTV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Oi </a:t>
                      </a:r>
                      <a:r>
                        <a:rPr lang="pt-BR" sz="1400" b="1" dirty="0" err="1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Place</a:t>
                      </a:r>
                      <a:endParaRPr lang="pt-BR" sz="1400" b="1" dirty="0">
                        <a:solidFill>
                          <a:schemeClr val="bg1"/>
                        </a:solidFill>
                        <a:latin typeface="Simplon BP Regular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883871"/>
                  </a:ext>
                </a:extLst>
              </a:tr>
              <a:tr h="97282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Varejo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0B"/>
                    </a:solidFill>
                  </a:tcPr>
                </a:tc>
                <a:tc rowSpan="2" gridSpan="5">
                  <a:txBody>
                    <a:bodyPr/>
                    <a:lstStyle/>
                    <a:p>
                      <a:pPr algn="ctr"/>
                      <a:r>
                        <a:rPr lang="pt-BR" sz="1400" dirty="0" err="1">
                          <a:solidFill>
                            <a:srgbClr val="009E0B"/>
                          </a:solidFill>
                          <a:latin typeface="Simplon BP Regular" pitchFamily="2" charset="0"/>
                        </a:rPr>
                        <a:t>ClientCo</a:t>
                      </a:r>
                      <a:endParaRPr lang="pt-BR" sz="1400" dirty="0">
                        <a:solidFill>
                          <a:srgbClr val="009E0B"/>
                        </a:solidFill>
                        <a:latin typeface="Simplon BP Regular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9E0B"/>
                        </a:solidFill>
                        <a:effectLst/>
                        <a:uLnTx/>
                        <a:uFillTx/>
                        <a:latin typeface="Simplon BP Regular" pitchFamily="2" charset="0"/>
                        <a:ea typeface="+mn-ea"/>
                        <a:cs typeface="Helvetica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pt-BR" dirty="0"/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400" b="0" i="0" u="none" strike="noStrike" cap="none" spc="0" baseline="0" dirty="0">
                        <a:solidFill>
                          <a:srgbClr val="009E0B"/>
                        </a:solidFill>
                        <a:uFillTx/>
                        <a:latin typeface="Simplon BP Regular" pitchFamily="2" charset="0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9E0B"/>
                        </a:solidFill>
                        <a:effectLst/>
                        <a:uLnTx/>
                        <a:uFillTx/>
                        <a:latin typeface="Simplon BP Regular" pitchFamily="2" charset="0"/>
                        <a:ea typeface="+mn-ea"/>
                        <a:cs typeface="Helvetica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dirty="0" err="1" smtClean="0">
                          <a:solidFill>
                            <a:srgbClr val="009E0B"/>
                          </a:solidFill>
                          <a:latin typeface="Simplon BP Regular" pitchFamily="2" charset="0"/>
                        </a:rPr>
                        <a:t>Legacy</a:t>
                      </a:r>
                      <a:endParaRPr lang="pt-BR" sz="1400" dirty="0" smtClean="0">
                        <a:solidFill>
                          <a:srgbClr val="009E0B"/>
                        </a:solidFill>
                        <a:latin typeface="Simplon BP Regular" pitchFamily="2" charset="0"/>
                      </a:endParaRPr>
                    </a:p>
                    <a:p>
                      <a:pPr algn="ctr"/>
                      <a:r>
                        <a:rPr lang="pt-BR" sz="1400" dirty="0" err="1" smtClean="0">
                          <a:solidFill>
                            <a:srgbClr val="009E0B"/>
                          </a:solidFill>
                          <a:latin typeface="Simplon BP Regular" pitchFamily="2" charset="0"/>
                        </a:rPr>
                        <a:t>Co</a:t>
                      </a:r>
                      <a:endPara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9E0B"/>
                        </a:solidFill>
                        <a:effectLst/>
                        <a:uLnTx/>
                        <a:uFillTx/>
                        <a:latin typeface="Simplon BP Regular" pitchFamily="2" charset="0"/>
                        <a:cs typeface="+mn-cs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400" b="0" i="0" u="none" strike="noStrike" cap="none" spc="0" baseline="0" dirty="0" err="1">
                          <a:solidFill>
                            <a:srgbClr val="009E0B"/>
                          </a:solidFill>
                          <a:uFillTx/>
                          <a:latin typeface="Simplon BP Regular" pitchFamily="2" charset="0"/>
                          <a:ea typeface="+mn-ea"/>
                          <a:cs typeface="+mn-cs"/>
                          <a:sym typeface="Simplon BP Regular"/>
                        </a:rPr>
                        <a:t>Legacy</a:t>
                      </a:r>
                      <a:endParaRPr lang="pt-BR" sz="1400" b="0" i="0" u="none" strike="noStrike" cap="none" spc="0" baseline="0" dirty="0">
                        <a:solidFill>
                          <a:srgbClr val="009E0B"/>
                        </a:solidFill>
                        <a:uFillTx/>
                        <a:latin typeface="Simplon BP Regular" pitchFamily="2" charset="0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400" b="0" i="0" u="none" strike="noStrike" cap="none" spc="0" baseline="0" dirty="0" err="1">
                          <a:solidFill>
                            <a:srgbClr val="009E0B"/>
                          </a:solidFill>
                          <a:uFillTx/>
                          <a:latin typeface="Simplon BP Regular" pitchFamily="2" charset="0"/>
                          <a:ea typeface="+mn-ea"/>
                          <a:cs typeface="+mn-cs"/>
                          <a:sym typeface="Simplon BP Regular"/>
                        </a:rPr>
                        <a:t>Co</a:t>
                      </a:r>
                      <a:endParaRPr lang="pt-BR" sz="1400" b="0" i="0" u="none" strike="noStrike" cap="none" spc="0" baseline="0" dirty="0">
                        <a:solidFill>
                          <a:srgbClr val="009E0B"/>
                        </a:solidFill>
                        <a:uFillTx/>
                        <a:latin typeface="Simplon BP Regular" pitchFamily="2" charset="0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400" b="0" i="0" u="none" strike="noStrike" cap="none" spc="0" baseline="0" dirty="0">
                        <a:solidFill>
                          <a:srgbClr val="009E0B"/>
                        </a:solidFill>
                        <a:uFillTx/>
                        <a:latin typeface="Simplon BP Regular" pitchFamily="2" charset="0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400" b="0" i="0" u="none" strike="noStrike" cap="none" spc="0" baseline="0" dirty="0">
                        <a:solidFill>
                          <a:srgbClr val="009E0B"/>
                        </a:solidFill>
                        <a:uFillTx/>
                        <a:latin typeface="Simplon BP Regular" pitchFamily="2" charset="0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rgbClr val="009E0B"/>
                          </a:solidFill>
                          <a:latin typeface="Simplon BP Regular" pitchFamily="2" charset="0"/>
                        </a:rPr>
                        <a:t>N/A</a:t>
                      </a:r>
                      <a:endParaRPr lang="pt-BR" sz="1400" dirty="0">
                        <a:solidFill>
                          <a:srgbClr val="009E0B"/>
                        </a:solidFill>
                        <a:latin typeface="Simplon BP Regular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428466"/>
                  </a:ext>
                </a:extLst>
              </a:tr>
              <a:tr h="99349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>
                          <a:solidFill>
                            <a:schemeClr val="bg1"/>
                          </a:solidFill>
                          <a:latin typeface="Simplon BP Regular" pitchFamily="2" charset="0"/>
                        </a:rPr>
                        <a:t>Emp</a:t>
                      </a:r>
                      <a:endParaRPr lang="pt-BR" sz="1400" dirty="0">
                        <a:solidFill>
                          <a:schemeClr val="bg1"/>
                        </a:solidFill>
                        <a:latin typeface="Simplon BP Regular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0B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uLnTx/>
                        <a:uFillTx/>
                        <a:latin typeface="Simplon BP Regular" pitchFamily="2" charset="0"/>
                        <a:cs typeface="Helvetica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9E0B"/>
                        </a:solidFill>
                        <a:effectLst/>
                        <a:uLnTx/>
                        <a:uFillTx/>
                        <a:latin typeface="Simplon BP Regular" pitchFamily="2" charset="0"/>
                        <a:ea typeface="+mn-ea"/>
                        <a:cs typeface="Helvetica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b="0" i="0" u="none" strike="noStrike" cap="none" spc="0" baseline="0" dirty="0">
                        <a:solidFill>
                          <a:srgbClr val="009E0B"/>
                        </a:solidFill>
                        <a:uFillTx/>
                        <a:latin typeface="Simplon BP Regular" pitchFamily="2" charset="0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9E0B"/>
                        </a:solidFill>
                        <a:effectLst/>
                        <a:uLnTx/>
                        <a:uFillTx/>
                        <a:latin typeface="Simplon BP Regular" pitchFamily="2" charset="0"/>
                        <a:ea typeface="+mn-ea"/>
                        <a:cs typeface="Helvetica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400" b="0" i="0" u="none" strike="noStrike" cap="none" spc="0" baseline="0" dirty="0">
                        <a:solidFill>
                          <a:srgbClr val="009E0B"/>
                        </a:solidFill>
                        <a:uFillTx/>
                        <a:latin typeface="Simplon BP Regular" pitchFamily="2" charset="0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535353"/>
                        </a:solidFill>
                        <a:effectLst/>
                        <a:uLnTx/>
                        <a:uFillTx/>
                        <a:latin typeface="Simplon BP Regular" pitchFamily="2" charset="0"/>
                        <a:ea typeface="+mn-ea"/>
                        <a:cs typeface="Helvetica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0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6"/>
                        </a:solidFill>
                        <a:effectLst/>
                        <a:uLnTx/>
                        <a:uFillTx/>
                        <a:latin typeface="Simplon BP Regular" pitchFamily="2" charset="0"/>
                        <a:ea typeface="+mn-ea"/>
                        <a:cs typeface="Helvetica"/>
                        <a:sym typeface="Simplon BP Regular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rgbClr val="009E0B"/>
                          </a:solidFill>
                          <a:latin typeface="Simplon BP Regular" pitchFamily="2" charset="0"/>
                        </a:rPr>
                        <a:t>-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06235"/>
                  </a:ext>
                </a:extLst>
              </a:tr>
            </a:tbl>
          </a:graphicData>
        </a:graphic>
      </p:graphicFrame>
      <p:sp>
        <p:nvSpPr>
          <p:cNvPr id="6" name="Retângulo 5"/>
          <p:cNvSpPr/>
          <p:nvPr/>
        </p:nvSpPr>
        <p:spPr>
          <a:xfrm>
            <a:off x="293486" y="1024792"/>
            <a:ext cx="11539317" cy="360000"/>
          </a:xfrm>
          <a:prstGeom prst="rect">
            <a:avLst/>
          </a:prstGeom>
          <a:solidFill>
            <a:srgbClr val="4D4D4D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CLIENTE / RECEITA</a:t>
            </a:r>
            <a:endParaRPr kumimoji="0" lang="pt-BR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" name="CaixaDeTexto 6"/>
          <p:cNvSpPr txBox="1"/>
          <p:nvPr/>
        </p:nvSpPr>
        <p:spPr>
          <a:xfrm flipH="1">
            <a:off x="457356" y="4791647"/>
            <a:ext cx="11211575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dirty="0" err="1" smtClean="0">
                <a:solidFill>
                  <a:schemeClr val="tx2"/>
                </a:solidFill>
              </a:rPr>
              <a:t>Clientes</a:t>
            </a:r>
            <a:r>
              <a:rPr lang="en-US" sz="1600" dirty="0" smtClean="0">
                <a:solidFill>
                  <a:schemeClr val="tx2"/>
                </a:solidFill>
              </a:rPr>
              <a:t> do </a:t>
            </a:r>
            <a:r>
              <a:rPr lang="en-US" sz="1600" dirty="0" err="1" smtClean="0">
                <a:solidFill>
                  <a:schemeClr val="tx2"/>
                </a:solidFill>
              </a:rPr>
              <a:t>segmento</a:t>
            </a:r>
            <a:r>
              <a:rPr lang="en-US" sz="1600" dirty="0" smtClean="0">
                <a:solidFill>
                  <a:schemeClr val="tx2"/>
                </a:solidFill>
              </a:rPr>
              <a:t> </a:t>
            </a:r>
            <a:r>
              <a:rPr lang="en-US" sz="1600" dirty="0" smtClean="0">
                <a:solidFill>
                  <a:srgbClr val="009E0B"/>
                </a:solidFill>
              </a:rPr>
              <a:t>B2B (</a:t>
            </a:r>
            <a:r>
              <a:rPr lang="en-US" sz="1600" dirty="0" err="1" smtClean="0">
                <a:solidFill>
                  <a:srgbClr val="009E0B"/>
                </a:solidFill>
              </a:rPr>
              <a:t>Corporativo</a:t>
            </a:r>
            <a:r>
              <a:rPr lang="en-US" sz="1600" dirty="0" smtClean="0">
                <a:solidFill>
                  <a:srgbClr val="009E0B"/>
                </a:solidFill>
              </a:rPr>
              <a:t>) e </a:t>
            </a:r>
            <a:r>
              <a:rPr lang="en-US" sz="1600" dirty="0" err="1" smtClean="0">
                <a:solidFill>
                  <a:srgbClr val="009E0B"/>
                </a:solidFill>
              </a:rPr>
              <a:t>Atacado</a:t>
            </a:r>
            <a:r>
              <a:rPr lang="en-US" sz="1600" dirty="0" smtClean="0">
                <a:solidFill>
                  <a:srgbClr val="009E0B"/>
                </a:solidFill>
              </a:rPr>
              <a:t> </a:t>
            </a:r>
            <a:r>
              <a:rPr lang="en-US" sz="1600" dirty="0" err="1" smtClean="0">
                <a:solidFill>
                  <a:schemeClr val="tx2"/>
                </a:solidFill>
              </a:rPr>
              <a:t>não</a:t>
            </a:r>
            <a:r>
              <a:rPr lang="en-US" sz="1600" dirty="0" smtClean="0">
                <a:solidFill>
                  <a:schemeClr val="tx2"/>
                </a:solidFill>
              </a:rPr>
              <a:t> </a:t>
            </a:r>
            <a:r>
              <a:rPr lang="en-US" sz="1600" dirty="0" err="1" smtClean="0">
                <a:solidFill>
                  <a:schemeClr val="tx2"/>
                </a:solidFill>
              </a:rPr>
              <a:t>fazem</a:t>
            </a:r>
            <a:r>
              <a:rPr lang="en-US" sz="1600" dirty="0" smtClean="0">
                <a:solidFill>
                  <a:schemeClr val="tx2"/>
                </a:solidFill>
              </a:rPr>
              <a:t> parte do </a:t>
            </a:r>
            <a:r>
              <a:rPr lang="en-US" sz="1600" dirty="0" err="1" smtClean="0">
                <a:solidFill>
                  <a:schemeClr val="tx2"/>
                </a:solidFill>
              </a:rPr>
              <a:t>perímetro</a:t>
            </a:r>
            <a:r>
              <a:rPr lang="en-US" sz="1600" dirty="0" smtClean="0">
                <a:solidFill>
                  <a:schemeClr val="tx2"/>
                </a:solidFill>
              </a:rPr>
              <a:t> da </a:t>
            </a:r>
            <a:r>
              <a:rPr lang="en-US" sz="1600" dirty="0" err="1" smtClean="0">
                <a:solidFill>
                  <a:schemeClr val="tx2"/>
                </a:solidFill>
              </a:rPr>
              <a:t>transação</a:t>
            </a:r>
            <a:r>
              <a:rPr lang="en-US" sz="1600" dirty="0" smtClean="0">
                <a:solidFill>
                  <a:schemeClr val="tx2"/>
                </a:solidFill>
              </a:rPr>
              <a:t>;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 </a:t>
            </a:r>
            <a:r>
              <a:rPr kumimoji="0" lang="en-US" sz="1600" b="0" i="0" u="none" strike="noStrike" cap="none" spc="0" normalizeH="0" baseline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operação</a:t>
            </a:r>
            <a:r>
              <a: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600" b="0" i="0" u="none" strike="noStrike" cap="none" spc="0" normalizeH="0" baseline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não</a:t>
            </a:r>
            <a:r>
              <a: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600" b="0" i="0" u="none" strike="noStrike" cap="none" spc="0" normalizeH="0" baseline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inclui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6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clientes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da </a:t>
            </a:r>
            <a:r>
              <a:rPr kumimoji="0" lang="en-US" sz="16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tecnologia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600" b="0" i="0" u="none" strike="noStrike" cap="none" spc="0" normalizeH="0" dirty="0" err="1" smtClean="0">
                <a:ln>
                  <a:noFill/>
                </a:ln>
                <a:solidFill>
                  <a:srgbClr val="009E0B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cobre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(</a:t>
            </a:r>
            <a:r>
              <a:rPr kumimoji="0" lang="en-US" sz="16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Fixo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6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ou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Banda </a:t>
            </a:r>
            <a:r>
              <a:rPr kumimoji="0" lang="en-US" sz="16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Larga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), </a:t>
            </a:r>
            <a:r>
              <a:rPr kumimoji="0" lang="en-US" sz="16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bem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6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como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 </a:t>
            </a:r>
            <a:r>
              <a:rPr kumimoji="0" lang="en-US" sz="16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produto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rgbClr val="009E0B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TV 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 a </a:t>
            </a:r>
            <a:r>
              <a:rPr kumimoji="0" lang="en-US" sz="16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plataforma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rgbClr val="009E0B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Oi Place</a:t>
            </a:r>
            <a:r>
              <a: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;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140849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8137" y="131526"/>
            <a:ext cx="10756482" cy="558294"/>
          </a:xfrm>
        </p:spPr>
        <p:txBody>
          <a:bodyPr/>
          <a:lstStyle/>
          <a:p>
            <a:r>
              <a:rPr lang="en-US" dirty="0" smtClean="0">
                <a:solidFill>
                  <a:srgbClr val="009E0B"/>
                </a:solidFill>
              </a:rPr>
              <a:t>TWIST: PRINCIPAIS FRENTES DE TRABALHO DA CLIENTCO</a:t>
            </a:r>
            <a:endParaRPr lang="en-US" dirty="0">
              <a:solidFill>
                <a:srgbClr val="009E0B"/>
              </a:solidFill>
            </a:endParaRPr>
          </a:p>
        </p:txBody>
      </p:sp>
      <p:sp>
        <p:nvSpPr>
          <p:cNvPr id="76" name="Botão de ação: Avançar ou Próximo 75">
            <a:hlinkClick r:id="rId3" action="ppaction://hlinksldjump" highlightClick="1"/>
          </p:cNvPr>
          <p:cNvSpPr/>
          <p:nvPr/>
        </p:nvSpPr>
        <p:spPr>
          <a:xfrm>
            <a:off x="12806574" y="640164"/>
            <a:ext cx="255062" cy="162753"/>
          </a:xfrm>
          <a:prstGeom prst="actionButtonForwardNext">
            <a:avLst/>
          </a:prstGeom>
          <a:solidFill>
            <a:schemeClr val="bg1"/>
          </a:solidFill>
          <a:ln w="127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77" name="Google Shape;1517;p94" descr="Google Shape;1517;p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7674" y="2425020"/>
            <a:ext cx="777241" cy="77724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CaixaDeTexto 44"/>
          <p:cNvSpPr txBox="1"/>
          <p:nvPr/>
        </p:nvSpPr>
        <p:spPr>
          <a:xfrm>
            <a:off x="56988" y="6426769"/>
            <a:ext cx="5798098" cy="275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77">
              <a:defRPr/>
            </a:pPr>
            <a:endParaRPr lang="pt-BR" sz="800" dirty="0">
              <a:solidFill>
                <a:prstClr val="black"/>
              </a:solidFill>
            </a:endParaRPr>
          </a:p>
        </p:txBody>
      </p:sp>
      <p:sp>
        <p:nvSpPr>
          <p:cNvPr id="3" name="Elipse 2"/>
          <p:cNvSpPr/>
          <p:nvPr/>
        </p:nvSpPr>
        <p:spPr>
          <a:xfrm>
            <a:off x="4500563" y="2118696"/>
            <a:ext cx="2897973" cy="2880000"/>
          </a:xfrm>
          <a:prstGeom prst="ellips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Client</a:t>
            </a:r>
            <a:r>
              <a:rPr kumimoji="0" lang="en-US" sz="28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Co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" name="Rosca 3"/>
          <p:cNvSpPr/>
          <p:nvPr/>
        </p:nvSpPr>
        <p:spPr>
          <a:xfrm>
            <a:off x="3541943" y="1218208"/>
            <a:ext cx="4824000" cy="4824000"/>
          </a:xfrm>
          <a:prstGeom prst="donu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E52CE9D0-8DD1-41D0-A40E-07659363E2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29996" y="2263581"/>
            <a:ext cx="2412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 smtClean="0">
                <a:solidFill>
                  <a:srgbClr val="000000"/>
                </a:solidFill>
                <a:latin typeface="+mj-lt"/>
              </a:rPr>
              <a:t>Societário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8" name="Rectangle 28">
            <a:extLst>
              <a:ext uri="{FF2B5EF4-FFF2-40B4-BE49-F238E27FC236}">
                <a16:creationId xmlns:a16="http://schemas.microsoft.com/office/drawing/2014/main" id="{E52CE9D0-8DD1-41D0-A40E-07659363E2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71319" y="1481528"/>
            <a:ext cx="2124000" cy="324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>
                <a:solidFill>
                  <a:srgbClr val="000000"/>
                </a:solidFill>
                <a:latin typeface="+mj-lt"/>
              </a:rPr>
              <a:t>Regulatório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E52CE9D0-8DD1-41D0-A40E-07659363E2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29262" y="938286"/>
            <a:ext cx="2412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 smtClean="0">
                <a:solidFill>
                  <a:srgbClr val="000000"/>
                </a:solidFill>
              </a:rPr>
              <a:t>Sistemas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7" name="Rectangle 28">
            <a:extLst>
              <a:ext uri="{FF2B5EF4-FFF2-40B4-BE49-F238E27FC236}">
                <a16:creationId xmlns:a16="http://schemas.microsoft.com/office/drawing/2014/main" id="{E52CE9D0-8DD1-41D0-A40E-07659363E2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43549" y="5749481"/>
            <a:ext cx="2412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 smtClean="0">
                <a:solidFill>
                  <a:srgbClr val="000000"/>
                </a:solidFill>
              </a:rPr>
              <a:t>Operacional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2" name="Rectangle 25">
            <a:extLst>
              <a:ext uri="{FF2B5EF4-FFF2-40B4-BE49-F238E27FC236}">
                <a16:creationId xmlns:a16="http://schemas.microsoft.com/office/drawing/2014/main" id="{53850EC7-76CD-4BBC-9BF3-5FC42657AB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87333" y="3234595"/>
            <a:ext cx="2412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>
                <a:solidFill>
                  <a:srgbClr val="000000"/>
                </a:solidFill>
              </a:rPr>
              <a:t>Ativos</a:t>
            </a:r>
            <a:r>
              <a:rPr lang="en-US" sz="1600" dirty="0" smtClean="0">
                <a:solidFill>
                  <a:srgbClr val="000000"/>
                </a:solidFill>
              </a:rPr>
              <a:t>/ </a:t>
            </a:r>
            <a:r>
              <a:rPr lang="en-US" sz="1600" dirty="0" err="1" smtClean="0">
                <a:solidFill>
                  <a:srgbClr val="000000"/>
                </a:solidFill>
              </a:rPr>
              <a:t>Sistemas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id="{C222E130-F569-412C-B121-29F223BA5B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49161" y="2367320"/>
            <a:ext cx="2412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>
                <a:solidFill>
                  <a:srgbClr val="000000"/>
                </a:solidFill>
                <a:latin typeface="+mj-lt"/>
              </a:rPr>
              <a:t>Ativos</a:t>
            </a:r>
            <a:r>
              <a:rPr lang="en-US" sz="1600" dirty="0" smtClean="0">
                <a:solidFill>
                  <a:srgbClr val="000000"/>
                </a:solidFill>
                <a:latin typeface="+mj-lt"/>
              </a:rPr>
              <a:t>/ </a:t>
            </a:r>
            <a:r>
              <a:rPr lang="en-US" sz="1600" dirty="0" err="1" smtClean="0">
                <a:solidFill>
                  <a:srgbClr val="000000"/>
                </a:solidFill>
                <a:latin typeface="+mj-lt"/>
              </a:rPr>
              <a:t>Equipamentos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4" name="Rectangle 27">
            <a:extLst>
              <a:ext uri="{FF2B5EF4-FFF2-40B4-BE49-F238E27FC236}">
                <a16:creationId xmlns:a16="http://schemas.microsoft.com/office/drawing/2014/main" id="{43171842-6F11-4344-B33B-E7CA4456E61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67017" y="4142125"/>
            <a:ext cx="2412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 smtClean="0">
                <a:solidFill>
                  <a:srgbClr val="000000"/>
                </a:solidFill>
                <a:latin typeface="+mj-lt"/>
              </a:rPr>
              <a:t>Contratos</a:t>
            </a:r>
            <a:r>
              <a:rPr lang="en-US" sz="1600" dirty="0" smtClean="0">
                <a:solidFill>
                  <a:srgbClr val="000000"/>
                </a:solidFill>
                <a:latin typeface="+mj-lt"/>
              </a:rPr>
              <a:t>/ </a:t>
            </a:r>
            <a:r>
              <a:rPr lang="en-US" sz="1600" dirty="0" err="1" smtClean="0">
                <a:solidFill>
                  <a:srgbClr val="000000"/>
                </a:solidFill>
                <a:latin typeface="+mj-lt"/>
              </a:rPr>
              <a:t>Comunicação</a:t>
            </a:r>
            <a:endParaRPr lang="en-US" sz="1600" dirty="0" smtClean="0">
              <a:solidFill>
                <a:srgbClr val="000000"/>
              </a:solidFill>
              <a:latin typeface="+mj-lt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 smtClean="0">
                <a:solidFill>
                  <a:srgbClr val="000000"/>
                </a:solidFill>
              </a:rPr>
              <a:t>Fornecedores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5" name="Rectangle 28">
            <a:extLst>
              <a:ext uri="{FF2B5EF4-FFF2-40B4-BE49-F238E27FC236}">
                <a16:creationId xmlns:a16="http://schemas.microsoft.com/office/drawing/2014/main" id="{E52CE9D0-8DD1-41D0-A40E-07659363E2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92830" y="5066090"/>
            <a:ext cx="2412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>
                <a:solidFill>
                  <a:srgbClr val="000000"/>
                </a:solidFill>
                <a:latin typeface="+mj-lt"/>
              </a:rPr>
              <a:t>Pessoas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E52CE9D0-8DD1-41D0-A40E-07659363E2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97664" y="1547697"/>
            <a:ext cx="2412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 smtClean="0">
                <a:solidFill>
                  <a:srgbClr val="000000"/>
                </a:solidFill>
              </a:rPr>
              <a:t>Financeira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1" name="Rectangle 27">
            <a:extLst>
              <a:ext uri="{FF2B5EF4-FFF2-40B4-BE49-F238E27FC236}">
                <a16:creationId xmlns:a16="http://schemas.microsoft.com/office/drawing/2014/main" id="{43171842-6F11-4344-B33B-E7CA4456E61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61077" y="5149855"/>
            <a:ext cx="2412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 smtClean="0">
                <a:solidFill>
                  <a:srgbClr val="000000"/>
                </a:solidFill>
                <a:latin typeface="+mj-lt"/>
              </a:rPr>
              <a:t>Contratos</a:t>
            </a:r>
            <a:r>
              <a:rPr lang="en-US" sz="1600" dirty="0" smtClean="0">
                <a:solidFill>
                  <a:srgbClr val="000000"/>
                </a:solidFill>
                <a:latin typeface="+mj-lt"/>
              </a:rPr>
              <a:t>/ </a:t>
            </a:r>
            <a:r>
              <a:rPr lang="en-US" sz="1600" dirty="0" err="1" smtClean="0">
                <a:solidFill>
                  <a:srgbClr val="000000"/>
                </a:solidFill>
                <a:latin typeface="+mj-lt"/>
              </a:rPr>
              <a:t>Comunicação</a:t>
            </a:r>
            <a:endParaRPr lang="en-US" sz="1600" dirty="0" smtClean="0">
              <a:solidFill>
                <a:srgbClr val="000000"/>
              </a:solidFill>
              <a:latin typeface="+mj-lt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 smtClean="0">
                <a:solidFill>
                  <a:srgbClr val="000000"/>
                </a:solidFill>
              </a:rPr>
              <a:t>Clientes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E52CE9D0-8DD1-41D0-A40E-07659363E2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69191" y="4197471"/>
            <a:ext cx="2412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 smtClean="0">
                <a:solidFill>
                  <a:srgbClr val="000000"/>
                </a:solidFill>
              </a:rPr>
              <a:t>Operação</a:t>
            </a:r>
            <a:r>
              <a:rPr lang="en-US" sz="1600" dirty="0" smtClean="0">
                <a:solidFill>
                  <a:srgbClr val="000000"/>
                </a:solidFill>
              </a:rPr>
              <a:t> do TSA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E52CE9D0-8DD1-41D0-A40E-07659363E2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66995" y="3247289"/>
            <a:ext cx="1980000" cy="46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A28A"/>
              </a:buClr>
              <a:buFont typeface="Times" pitchFamily="18" charset="0"/>
              <a:buNone/>
            </a:pPr>
            <a:r>
              <a:rPr lang="en-US" sz="1600" dirty="0" err="1" smtClean="0">
                <a:solidFill>
                  <a:srgbClr val="000000"/>
                </a:solidFill>
              </a:rPr>
              <a:t>Migração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" name="Freeform 38">
            <a:extLst>
              <a:ext uri="{FF2B5EF4-FFF2-40B4-BE49-F238E27FC236}">
                <a16:creationId xmlns:a16="http://schemas.microsoft.com/office/drawing/2014/main" id="{E8CA04B4-B375-4171-AF01-80479F05E42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806320" y="5470566"/>
            <a:ext cx="307232" cy="396080"/>
          </a:xfrm>
          <a:custGeom>
            <a:avLst/>
            <a:gdLst>
              <a:gd name="T0" fmla="*/ 2147483647 w 3704"/>
              <a:gd name="T1" fmla="*/ 2147483647 h 4763"/>
              <a:gd name="T2" fmla="*/ 2147483647 w 3704"/>
              <a:gd name="T3" fmla="*/ 2147483647 h 4763"/>
              <a:gd name="T4" fmla="*/ 2147483647 w 3704"/>
              <a:gd name="T5" fmla="*/ 2147483647 h 4763"/>
              <a:gd name="T6" fmla="*/ 2147483647 w 3704"/>
              <a:gd name="T7" fmla="*/ 2147483647 h 4763"/>
              <a:gd name="T8" fmla="*/ 2147483647 w 3704"/>
              <a:gd name="T9" fmla="*/ 2147483647 h 4763"/>
              <a:gd name="T10" fmla="*/ 2147483647 w 3704"/>
              <a:gd name="T11" fmla="*/ 2147483647 h 4763"/>
              <a:gd name="T12" fmla="*/ 2147483647 w 3704"/>
              <a:gd name="T13" fmla="*/ 2147483647 h 4763"/>
              <a:gd name="T14" fmla="*/ 2147483647 w 3704"/>
              <a:gd name="T15" fmla="*/ 2147483647 h 4763"/>
              <a:gd name="T16" fmla="*/ 2147483647 w 3704"/>
              <a:gd name="T17" fmla="*/ 2147483647 h 4763"/>
              <a:gd name="T18" fmla="*/ 2147483647 w 3704"/>
              <a:gd name="T19" fmla="*/ 2147483647 h 4763"/>
              <a:gd name="T20" fmla="*/ 2147483647 w 3704"/>
              <a:gd name="T21" fmla="*/ 2147483647 h 4763"/>
              <a:gd name="T22" fmla="*/ 2147483647 w 3704"/>
              <a:gd name="T23" fmla="*/ 2147483647 h 4763"/>
              <a:gd name="T24" fmla="*/ 2147483647 w 3704"/>
              <a:gd name="T25" fmla="*/ 2147483647 h 4763"/>
              <a:gd name="T26" fmla="*/ 2147483647 w 3704"/>
              <a:gd name="T27" fmla="*/ 2147483647 h 4763"/>
              <a:gd name="T28" fmla="*/ 2147483647 w 3704"/>
              <a:gd name="T29" fmla="*/ 2147483647 h 4763"/>
              <a:gd name="T30" fmla="*/ 2147483647 w 3704"/>
              <a:gd name="T31" fmla="*/ 2147483647 h 4763"/>
              <a:gd name="T32" fmla="*/ 2147483647 w 3704"/>
              <a:gd name="T33" fmla="*/ 2147483647 h 4763"/>
              <a:gd name="T34" fmla="*/ 2147483647 w 3704"/>
              <a:gd name="T35" fmla="*/ 2147483647 h 4763"/>
              <a:gd name="T36" fmla="*/ 2147483647 w 3704"/>
              <a:gd name="T37" fmla="*/ 2147483647 h 4763"/>
              <a:gd name="T38" fmla="*/ 2147483647 w 3704"/>
              <a:gd name="T39" fmla="*/ 2147483647 h 4763"/>
              <a:gd name="T40" fmla="*/ 2147483647 w 3704"/>
              <a:gd name="T41" fmla="*/ 2147483647 h 4763"/>
              <a:gd name="T42" fmla="*/ 2147483647 w 3704"/>
              <a:gd name="T43" fmla="*/ 2147483647 h 4763"/>
              <a:gd name="T44" fmla="*/ 2147483647 w 3704"/>
              <a:gd name="T45" fmla="*/ 2147483647 h 4763"/>
              <a:gd name="T46" fmla="*/ 2147483647 w 3704"/>
              <a:gd name="T47" fmla="*/ 2147483647 h 4763"/>
              <a:gd name="T48" fmla="*/ 2147483647 w 3704"/>
              <a:gd name="T49" fmla="*/ 2147483647 h 4763"/>
              <a:gd name="T50" fmla="*/ 2147483647 w 3704"/>
              <a:gd name="T51" fmla="*/ 2147483647 h 4763"/>
              <a:gd name="T52" fmla="*/ 0 w 3704"/>
              <a:gd name="T53" fmla="*/ 2147483647 h 4763"/>
              <a:gd name="T54" fmla="*/ 0 w 3704"/>
              <a:gd name="T55" fmla="*/ 2147483647 h 4763"/>
              <a:gd name="T56" fmla="*/ 2147483647 w 3704"/>
              <a:gd name="T57" fmla="*/ 2147483647 h 4763"/>
              <a:gd name="T58" fmla="*/ 2147483647 w 3704"/>
              <a:gd name="T59" fmla="*/ 2147483647 h 4763"/>
              <a:gd name="T60" fmla="*/ 2147483647 w 3704"/>
              <a:gd name="T61" fmla="*/ 2147483647 h 4763"/>
              <a:gd name="T62" fmla="*/ 2147483647 w 3704"/>
              <a:gd name="T63" fmla="*/ 2147483647 h 4763"/>
              <a:gd name="T64" fmla="*/ 2147483647 w 3704"/>
              <a:gd name="T65" fmla="*/ 2147483647 h 4763"/>
              <a:gd name="T66" fmla="*/ 2147483647 w 3704"/>
              <a:gd name="T67" fmla="*/ 2147483647 h 4763"/>
              <a:gd name="T68" fmla="*/ 2147483647 w 3704"/>
              <a:gd name="T69" fmla="*/ 2147483647 h 4763"/>
              <a:gd name="T70" fmla="*/ 2147483647 w 3704"/>
              <a:gd name="T71" fmla="*/ 2147483647 h 4763"/>
              <a:gd name="T72" fmla="*/ 2147483647 w 3704"/>
              <a:gd name="T73" fmla="*/ 2147483647 h 4763"/>
              <a:gd name="T74" fmla="*/ 2147483647 w 3704"/>
              <a:gd name="T75" fmla="*/ 2147483647 h 4763"/>
              <a:gd name="T76" fmla="*/ 2147483647 w 3704"/>
              <a:gd name="T77" fmla="*/ 2147483647 h 4763"/>
              <a:gd name="T78" fmla="*/ 2147483647 w 3704"/>
              <a:gd name="T79" fmla="*/ 2147483647 h 4763"/>
              <a:gd name="T80" fmla="*/ 2147483647 w 3704"/>
              <a:gd name="T81" fmla="*/ 2147483647 h 4763"/>
              <a:gd name="T82" fmla="*/ 2147483647 w 3704"/>
              <a:gd name="T83" fmla="*/ 2147483647 h 4763"/>
              <a:gd name="T84" fmla="*/ 2147483647 w 3704"/>
              <a:gd name="T85" fmla="*/ 2147483647 h 4763"/>
              <a:gd name="T86" fmla="*/ 2147483647 w 3704"/>
              <a:gd name="T87" fmla="*/ 2147483647 h 4763"/>
              <a:gd name="T88" fmla="*/ 2147483647 w 3704"/>
              <a:gd name="T89" fmla="*/ 2147483647 h 4763"/>
              <a:gd name="T90" fmla="*/ 2147483647 w 3704"/>
              <a:gd name="T91" fmla="*/ 2147483647 h 4763"/>
              <a:gd name="T92" fmla="*/ 2147483647 w 3704"/>
              <a:gd name="T93" fmla="*/ 2147483647 h 4763"/>
              <a:gd name="T94" fmla="*/ 2147483647 w 3704"/>
              <a:gd name="T95" fmla="*/ 2147483647 h 4763"/>
              <a:gd name="T96" fmla="*/ 2147483647 w 3704"/>
              <a:gd name="T97" fmla="*/ 2147483647 h 4763"/>
              <a:gd name="T98" fmla="*/ 2147483647 w 3704"/>
              <a:gd name="T99" fmla="*/ 2147483647 h 4763"/>
              <a:gd name="T100" fmla="*/ 2147483647 w 3704"/>
              <a:gd name="T101" fmla="*/ 0 h 4763"/>
              <a:gd name="T102" fmla="*/ 2147483647 w 3704"/>
              <a:gd name="T103" fmla="*/ 0 h 4763"/>
              <a:gd name="T104" fmla="*/ 2147483647 w 3704"/>
              <a:gd name="T105" fmla="*/ 2147483647 h 4763"/>
              <a:gd name="T106" fmla="*/ 2147483647 w 3704"/>
              <a:gd name="T107" fmla="*/ 2147483647 h 4763"/>
              <a:gd name="T108" fmla="*/ 2147483647 w 3704"/>
              <a:gd name="T109" fmla="*/ 2147483647 h 4763"/>
              <a:gd name="T110" fmla="*/ 2147483647 w 3704"/>
              <a:gd name="T111" fmla="*/ 2147483647 h 4763"/>
              <a:gd name="T112" fmla="*/ 2147483647 w 3704"/>
              <a:gd name="T113" fmla="*/ 2147483647 h 4763"/>
              <a:gd name="T114" fmla="*/ 2147483647 w 3704"/>
              <a:gd name="T115" fmla="*/ 2147483647 h 4763"/>
              <a:gd name="T116" fmla="*/ 2147483647 w 3704"/>
              <a:gd name="T117" fmla="*/ 2147483647 h 4763"/>
              <a:gd name="T118" fmla="*/ 2147483647 w 3704"/>
              <a:gd name="T119" fmla="*/ 2147483647 h 4763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3704"/>
              <a:gd name="T181" fmla="*/ 0 h 4763"/>
              <a:gd name="T182" fmla="*/ 3704 w 3704"/>
              <a:gd name="T183" fmla="*/ 4763 h 4763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3704" h="4763">
                <a:moveTo>
                  <a:pt x="577" y="554"/>
                </a:moveTo>
                <a:lnTo>
                  <a:pt x="577" y="337"/>
                </a:lnTo>
                <a:lnTo>
                  <a:pt x="3327" y="337"/>
                </a:lnTo>
                <a:lnTo>
                  <a:pt x="3327" y="4213"/>
                </a:lnTo>
                <a:lnTo>
                  <a:pt x="3074" y="4213"/>
                </a:lnTo>
                <a:lnTo>
                  <a:pt x="3074" y="4115"/>
                </a:lnTo>
                <a:lnTo>
                  <a:pt x="3229" y="4115"/>
                </a:lnTo>
                <a:lnTo>
                  <a:pt x="3229" y="435"/>
                </a:lnTo>
                <a:lnTo>
                  <a:pt x="675" y="435"/>
                </a:lnTo>
                <a:lnTo>
                  <a:pt x="675" y="554"/>
                </a:lnTo>
                <a:lnTo>
                  <a:pt x="577" y="554"/>
                </a:lnTo>
                <a:close/>
                <a:moveTo>
                  <a:pt x="528" y="3793"/>
                </a:moveTo>
                <a:lnTo>
                  <a:pt x="2020" y="3793"/>
                </a:lnTo>
                <a:lnTo>
                  <a:pt x="2020" y="3890"/>
                </a:lnTo>
                <a:lnTo>
                  <a:pt x="528" y="3890"/>
                </a:lnTo>
                <a:lnTo>
                  <a:pt x="528" y="3793"/>
                </a:lnTo>
                <a:close/>
                <a:moveTo>
                  <a:pt x="2685" y="1426"/>
                </a:moveTo>
                <a:lnTo>
                  <a:pt x="2198" y="945"/>
                </a:lnTo>
                <a:lnTo>
                  <a:pt x="2198" y="1426"/>
                </a:lnTo>
                <a:lnTo>
                  <a:pt x="2685" y="1426"/>
                </a:lnTo>
                <a:close/>
                <a:moveTo>
                  <a:pt x="195" y="849"/>
                </a:moveTo>
                <a:lnTo>
                  <a:pt x="195" y="4568"/>
                </a:lnTo>
                <a:lnTo>
                  <a:pt x="2768" y="4568"/>
                </a:lnTo>
                <a:lnTo>
                  <a:pt x="2769" y="1718"/>
                </a:lnTo>
                <a:lnTo>
                  <a:pt x="2964" y="1718"/>
                </a:lnTo>
                <a:lnTo>
                  <a:pt x="2962" y="4763"/>
                </a:lnTo>
                <a:lnTo>
                  <a:pt x="0" y="4763"/>
                </a:lnTo>
                <a:lnTo>
                  <a:pt x="0" y="654"/>
                </a:lnTo>
                <a:lnTo>
                  <a:pt x="2190" y="654"/>
                </a:lnTo>
                <a:lnTo>
                  <a:pt x="2965" y="1428"/>
                </a:lnTo>
                <a:lnTo>
                  <a:pt x="2964" y="1621"/>
                </a:lnTo>
                <a:lnTo>
                  <a:pt x="2003" y="1621"/>
                </a:lnTo>
                <a:lnTo>
                  <a:pt x="2003" y="849"/>
                </a:lnTo>
                <a:lnTo>
                  <a:pt x="195" y="849"/>
                </a:lnTo>
                <a:close/>
                <a:moveTo>
                  <a:pt x="528" y="2209"/>
                </a:moveTo>
                <a:lnTo>
                  <a:pt x="2434" y="2209"/>
                </a:lnTo>
                <a:lnTo>
                  <a:pt x="2434" y="2306"/>
                </a:lnTo>
                <a:lnTo>
                  <a:pt x="528" y="2306"/>
                </a:lnTo>
                <a:lnTo>
                  <a:pt x="528" y="2209"/>
                </a:lnTo>
                <a:close/>
                <a:moveTo>
                  <a:pt x="528" y="2737"/>
                </a:moveTo>
                <a:lnTo>
                  <a:pt x="2434" y="2737"/>
                </a:lnTo>
                <a:lnTo>
                  <a:pt x="2434" y="2834"/>
                </a:lnTo>
                <a:lnTo>
                  <a:pt x="528" y="2834"/>
                </a:lnTo>
                <a:lnTo>
                  <a:pt x="528" y="2737"/>
                </a:lnTo>
                <a:close/>
                <a:moveTo>
                  <a:pt x="528" y="3265"/>
                </a:moveTo>
                <a:lnTo>
                  <a:pt x="2434" y="3265"/>
                </a:lnTo>
                <a:lnTo>
                  <a:pt x="2434" y="3363"/>
                </a:lnTo>
                <a:lnTo>
                  <a:pt x="528" y="3363"/>
                </a:lnTo>
                <a:lnTo>
                  <a:pt x="528" y="3265"/>
                </a:lnTo>
                <a:close/>
                <a:moveTo>
                  <a:pt x="964" y="218"/>
                </a:moveTo>
                <a:lnTo>
                  <a:pt x="964" y="0"/>
                </a:lnTo>
                <a:lnTo>
                  <a:pt x="3704" y="0"/>
                </a:lnTo>
                <a:lnTo>
                  <a:pt x="3704" y="3896"/>
                </a:lnTo>
                <a:lnTo>
                  <a:pt x="3452" y="3896"/>
                </a:lnTo>
                <a:lnTo>
                  <a:pt x="3452" y="3799"/>
                </a:lnTo>
                <a:lnTo>
                  <a:pt x="3607" y="3799"/>
                </a:lnTo>
                <a:lnTo>
                  <a:pt x="3607" y="97"/>
                </a:lnTo>
                <a:lnTo>
                  <a:pt x="1062" y="97"/>
                </a:lnTo>
                <a:lnTo>
                  <a:pt x="1062" y="218"/>
                </a:lnTo>
                <a:lnTo>
                  <a:pt x="964" y="218"/>
                </a:lnTo>
                <a:close/>
              </a:path>
            </a:pathLst>
          </a:custGeom>
          <a:solidFill>
            <a:srgbClr val="FF6D00"/>
          </a:solidFill>
          <a:ln w="9525">
            <a:solidFill>
              <a:srgbClr val="00D318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grpSp>
        <p:nvGrpSpPr>
          <p:cNvPr id="43" name="Gruppieren 3">
            <a:extLst>
              <a:ext uri="{FF2B5EF4-FFF2-40B4-BE49-F238E27FC236}">
                <a16:creationId xmlns:a16="http://schemas.microsoft.com/office/drawing/2014/main" id="{33FD9937-2C63-4004-A274-F164CC8A0636}"/>
              </a:ext>
            </a:extLst>
          </p:cNvPr>
          <p:cNvGrpSpPr>
            <a:grpSpLocks/>
          </p:cNvGrpSpPr>
          <p:nvPr/>
        </p:nvGrpSpPr>
        <p:grpSpPr bwMode="auto">
          <a:xfrm>
            <a:off x="6530426" y="793690"/>
            <a:ext cx="485147" cy="418693"/>
            <a:chOff x="7400925" y="6498546"/>
            <a:chExt cx="1895475" cy="1487488"/>
          </a:xfrm>
          <a:solidFill>
            <a:srgbClr val="00D318"/>
          </a:solidFill>
        </p:grpSpPr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F0BB7988-7E49-4FE5-893C-EB80E4459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0925" y="7038296"/>
              <a:ext cx="1073147" cy="947738"/>
            </a:xfrm>
            <a:custGeom>
              <a:avLst/>
              <a:gdLst>
                <a:gd name="T0" fmla="*/ 2147483647 w 2980"/>
                <a:gd name="T1" fmla="*/ 0 h 2634"/>
                <a:gd name="T2" fmla="*/ 2147483647 w 2980"/>
                <a:gd name="T3" fmla="*/ 0 h 2634"/>
                <a:gd name="T4" fmla="*/ 2147483647 w 2980"/>
                <a:gd name="T5" fmla="*/ 0 h 2634"/>
                <a:gd name="T6" fmla="*/ 0 w 2980"/>
                <a:gd name="T7" fmla="*/ 2147483647 h 2634"/>
                <a:gd name="T8" fmla="*/ 0 w 2980"/>
                <a:gd name="T9" fmla="*/ 2147483647 h 2634"/>
                <a:gd name="T10" fmla="*/ 2147483647 w 2980"/>
                <a:gd name="T11" fmla="*/ 2147483647 h 2634"/>
                <a:gd name="T12" fmla="*/ 2147483647 w 2980"/>
                <a:gd name="T13" fmla="*/ 2147483647 h 2634"/>
                <a:gd name="T14" fmla="*/ 2147483647 w 2980"/>
                <a:gd name="T15" fmla="*/ 2147483647 h 2634"/>
                <a:gd name="T16" fmla="*/ 2147483647 w 2980"/>
                <a:gd name="T17" fmla="*/ 2147483647 h 2634"/>
                <a:gd name="T18" fmla="*/ 2147483647 w 2980"/>
                <a:gd name="T19" fmla="*/ 2147483647 h 2634"/>
                <a:gd name="T20" fmla="*/ 2147483647 w 2980"/>
                <a:gd name="T21" fmla="*/ 2147483647 h 2634"/>
                <a:gd name="T22" fmla="*/ 2147483647 w 2980"/>
                <a:gd name="T23" fmla="*/ 2147483647 h 2634"/>
                <a:gd name="T24" fmla="*/ 2147483647 w 2980"/>
                <a:gd name="T25" fmla="*/ 2147483647 h 2634"/>
                <a:gd name="T26" fmla="*/ 2147483647 w 2980"/>
                <a:gd name="T27" fmla="*/ 2147483647 h 2634"/>
                <a:gd name="T28" fmla="*/ 2147483647 w 2980"/>
                <a:gd name="T29" fmla="*/ 2147483647 h 2634"/>
                <a:gd name="T30" fmla="*/ 2147483647 w 2980"/>
                <a:gd name="T31" fmla="*/ 2147483647 h 2634"/>
                <a:gd name="T32" fmla="*/ 2147483647 w 2980"/>
                <a:gd name="T33" fmla="*/ 2147483647 h 2634"/>
                <a:gd name="T34" fmla="*/ 2147483647 w 2980"/>
                <a:gd name="T35" fmla="*/ 2147483647 h 2634"/>
                <a:gd name="T36" fmla="*/ 2147483647 w 2980"/>
                <a:gd name="T37" fmla="*/ 2147483647 h 2634"/>
                <a:gd name="T38" fmla="*/ 2147483647 w 2980"/>
                <a:gd name="T39" fmla="*/ 0 h 2634"/>
                <a:gd name="T40" fmla="*/ 2147483647 w 2980"/>
                <a:gd name="T41" fmla="*/ 2147483647 h 2634"/>
                <a:gd name="T42" fmla="*/ 2147483647 w 2980"/>
                <a:gd name="T43" fmla="*/ 2147483647 h 2634"/>
                <a:gd name="T44" fmla="*/ 2147483647 w 2980"/>
                <a:gd name="T45" fmla="*/ 2147483647 h 2634"/>
                <a:gd name="T46" fmla="*/ 2147483647 w 2980"/>
                <a:gd name="T47" fmla="*/ 2147483647 h 2634"/>
                <a:gd name="T48" fmla="*/ 2147483647 w 2980"/>
                <a:gd name="T49" fmla="*/ 2147483647 h 2634"/>
                <a:gd name="T50" fmla="*/ 2147483647 w 2980"/>
                <a:gd name="T51" fmla="*/ 2147483647 h 2634"/>
                <a:gd name="T52" fmla="*/ 2147483647 w 2980"/>
                <a:gd name="T53" fmla="*/ 2147483647 h 2634"/>
                <a:gd name="T54" fmla="*/ 2147483647 w 2980"/>
                <a:gd name="T55" fmla="*/ 2147483647 h 2634"/>
                <a:gd name="T56" fmla="*/ 2147483647 w 2980"/>
                <a:gd name="T57" fmla="*/ 2147483647 h 2634"/>
                <a:gd name="T58" fmla="*/ 2147483647 w 2980"/>
                <a:gd name="T59" fmla="*/ 2147483647 h 2634"/>
                <a:gd name="T60" fmla="*/ 2147483647 w 2980"/>
                <a:gd name="T61" fmla="*/ 2147483647 h 2634"/>
                <a:gd name="T62" fmla="*/ 2147483647 w 2980"/>
                <a:gd name="T63" fmla="*/ 2147483647 h 263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980" h="2634">
                  <a:moveTo>
                    <a:pt x="2819" y="0"/>
                  </a:moveTo>
                  <a:lnTo>
                    <a:pt x="2819" y="0"/>
                  </a:lnTo>
                  <a:cubicBezTo>
                    <a:pt x="160" y="0"/>
                    <a:pt x="160" y="0"/>
                    <a:pt x="160" y="0"/>
                  </a:cubicBezTo>
                  <a:cubicBezTo>
                    <a:pt x="73" y="0"/>
                    <a:pt x="0" y="70"/>
                    <a:pt x="0" y="160"/>
                  </a:cubicBezTo>
                  <a:cubicBezTo>
                    <a:pt x="0" y="1871"/>
                    <a:pt x="0" y="1871"/>
                    <a:pt x="0" y="1871"/>
                  </a:cubicBezTo>
                  <a:cubicBezTo>
                    <a:pt x="0" y="1960"/>
                    <a:pt x="73" y="2031"/>
                    <a:pt x="160" y="2031"/>
                  </a:cubicBezTo>
                  <a:cubicBezTo>
                    <a:pt x="1153" y="2031"/>
                    <a:pt x="1153" y="2031"/>
                    <a:pt x="1153" y="2031"/>
                  </a:cubicBezTo>
                  <a:cubicBezTo>
                    <a:pt x="1153" y="2439"/>
                    <a:pt x="1153" y="2439"/>
                    <a:pt x="1153" y="2439"/>
                  </a:cubicBezTo>
                  <a:cubicBezTo>
                    <a:pt x="709" y="2439"/>
                    <a:pt x="709" y="2439"/>
                    <a:pt x="709" y="2439"/>
                  </a:cubicBezTo>
                  <a:cubicBezTo>
                    <a:pt x="623" y="2439"/>
                    <a:pt x="549" y="2509"/>
                    <a:pt x="549" y="2599"/>
                  </a:cubicBezTo>
                  <a:cubicBezTo>
                    <a:pt x="549" y="2633"/>
                    <a:pt x="549" y="2633"/>
                    <a:pt x="549" y="2633"/>
                  </a:cubicBezTo>
                  <a:cubicBezTo>
                    <a:pt x="2430" y="2633"/>
                    <a:pt x="2430" y="2633"/>
                    <a:pt x="2430" y="2633"/>
                  </a:cubicBezTo>
                  <a:cubicBezTo>
                    <a:pt x="2430" y="2599"/>
                    <a:pt x="2430" y="2599"/>
                    <a:pt x="2430" y="2599"/>
                  </a:cubicBezTo>
                  <a:cubicBezTo>
                    <a:pt x="2430" y="2509"/>
                    <a:pt x="2359" y="2439"/>
                    <a:pt x="2270" y="2439"/>
                  </a:cubicBezTo>
                  <a:cubicBezTo>
                    <a:pt x="1828" y="2439"/>
                    <a:pt x="1828" y="2439"/>
                    <a:pt x="1828" y="2439"/>
                  </a:cubicBezTo>
                  <a:cubicBezTo>
                    <a:pt x="1828" y="2031"/>
                    <a:pt x="1828" y="2031"/>
                    <a:pt x="1828" y="2031"/>
                  </a:cubicBezTo>
                  <a:cubicBezTo>
                    <a:pt x="2819" y="2031"/>
                    <a:pt x="2819" y="2031"/>
                    <a:pt x="2819" y="2031"/>
                  </a:cubicBezTo>
                  <a:cubicBezTo>
                    <a:pt x="2908" y="2031"/>
                    <a:pt x="2979" y="1960"/>
                    <a:pt x="2979" y="1871"/>
                  </a:cubicBezTo>
                  <a:cubicBezTo>
                    <a:pt x="2979" y="160"/>
                    <a:pt x="2979" y="160"/>
                    <a:pt x="2979" y="160"/>
                  </a:cubicBezTo>
                  <a:cubicBezTo>
                    <a:pt x="2979" y="70"/>
                    <a:pt x="2908" y="0"/>
                    <a:pt x="2819" y="0"/>
                  </a:cubicBezTo>
                  <a:close/>
                  <a:moveTo>
                    <a:pt x="1675" y="1921"/>
                  </a:moveTo>
                  <a:lnTo>
                    <a:pt x="1675" y="1921"/>
                  </a:lnTo>
                  <a:cubicBezTo>
                    <a:pt x="1304" y="1921"/>
                    <a:pt x="1304" y="1921"/>
                    <a:pt x="1304" y="1921"/>
                  </a:cubicBezTo>
                  <a:cubicBezTo>
                    <a:pt x="1304" y="1864"/>
                    <a:pt x="1304" y="1864"/>
                    <a:pt x="1304" y="1864"/>
                  </a:cubicBezTo>
                  <a:cubicBezTo>
                    <a:pt x="1675" y="1864"/>
                    <a:pt x="1675" y="1864"/>
                    <a:pt x="1675" y="1864"/>
                  </a:cubicBezTo>
                  <a:lnTo>
                    <a:pt x="1675" y="1921"/>
                  </a:lnTo>
                  <a:close/>
                  <a:moveTo>
                    <a:pt x="2798" y="1761"/>
                  </a:moveTo>
                  <a:lnTo>
                    <a:pt x="2798" y="1761"/>
                  </a:lnTo>
                  <a:cubicBezTo>
                    <a:pt x="183" y="1761"/>
                    <a:pt x="183" y="1761"/>
                    <a:pt x="183" y="1761"/>
                  </a:cubicBezTo>
                  <a:cubicBezTo>
                    <a:pt x="183" y="176"/>
                    <a:pt x="183" y="176"/>
                    <a:pt x="183" y="176"/>
                  </a:cubicBezTo>
                  <a:cubicBezTo>
                    <a:pt x="2798" y="176"/>
                    <a:pt x="2798" y="176"/>
                    <a:pt x="2798" y="176"/>
                  </a:cubicBezTo>
                  <a:lnTo>
                    <a:pt x="2798" y="17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91440" rIns="91440" bIns="91440" anchor="ctr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600" b="0" i="0" u="none" strike="noStrike" kern="0" cap="none" spc="0" normalizeH="0" baseline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Simplon BP Regular"/>
                <a:cs typeface="Arial" charset="0"/>
              </a:endParaRPr>
            </a:p>
          </p:txBody>
        </p:sp>
        <p:grpSp>
          <p:nvGrpSpPr>
            <p:cNvPr id="46" name="Gruppieren 1">
              <a:extLst>
                <a:ext uri="{FF2B5EF4-FFF2-40B4-BE49-F238E27FC236}">
                  <a16:creationId xmlns:a16="http://schemas.microsoft.com/office/drawing/2014/main" id="{E626B848-37EF-49E5-91DF-47F83B6ED0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563" y="6498546"/>
              <a:ext cx="731837" cy="1487488"/>
              <a:chOff x="8564563" y="6498546"/>
              <a:chExt cx="731837" cy="1487488"/>
            </a:xfrm>
            <a:grpFill/>
          </p:grpSpPr>
          <p:sp>
            <p:nvSpPr>
              <p:cNvPr id="47" name="Freeform 11">
                <a:extLst>
                  <a:ext uri="{FF2B5EF4-FFF2-40B4-BE49-F238E27FC236}">
                    <a16:creationId xmlns:a16="http://schemas.microsoft.com/office/drawing/2014/main" id="{954C5D79-5ECC-4A5C-9527-2722C3DDB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64563" y="6498546"/>
                <a:ext cx="731837" cy="1487488"/>
              </a:xfrm>
              <a:custGeom>
                <a:avLst/>
                <a:gdLst>
                  <a:gd name="T0" fmla="*/ 2147483647 w 2033"/>
                  <a:gd name="T1" fmla="*/ 0 h 4133"/>
                  <a:gd name="T2" fmla="*/ 2147483647 w 2033"/>
                  <a:gd name="T3" fmla="*/ 0 h 4133"/>
                  <a:gd name="T4" fmla="*/ 2147483647 w 2033"/>
                  <a:gd name="T5" fmla="*/ 0 h 4133"/>
                  <a:gd name="T6" fmla="*/ 0 w 2033"/>
                  <a:gd name="T7" fmla="*/ 2147483647 h 4133"/>
                  <a:gd name="T8" fmla="*/ 0 w 2033"/>
                  <a:gd name="T9" fmla="*/ 2147483647 h 4133"/>
                  <a:gd name="T10" fmla="*/ 2147483647 w 2033"/>
                  <a:gd name="T11" fmla="*/ 2147483647 h 4133"/>
                  <a:gd name="T12" fmla="*/ 2147483647 w 2033"/>
                  <a:gd name="T13" fmla="*/ 2147483647 h 4133"/>
                  <a:gd name="T14" fmla="*/ 2147483647 w 2033"/>
                  <a:gd name="T15" fmla="*/ 2147483647 h 4133"/>
                  <a:gd name="T16" fmla="*/ 2147483647 w 2033"/>
                  <a:gd name="T17" fmla="*/ 2147483647 h 4133"/>
                  <a:gd name="T18" fmla="*/ 2147483647 w 2033"/>
                  <a:gd name="T19" fmla="*/ 0 h 4133"/>
                  <a:gd name="T20" fmla="*/ 2147483647 w 2033"/>
                  <a:gd name="T21" fmla="*/ 2147483647 h 4133"/>
                  <a:gd name="T22" fmla="*/ 2147483647 w 2033"/>
                  <a:gd name="T23" fmla="*/ 2147483647 h 4133"/>
                  <a:gd name="T24" fmla="*/ 2147483647 w 2033"/>
                  <a:gd name="T25" fmla="*/ 2147483647 h 4133"/>
                  <a:gd name="T26" fmla="*/ 2147483647 w 2033"/>
                  <a:gd name="T27" fmla="*/ 2147483647 h 4133"/>
                  <a:gd name="T28" fmla="*/ 2147483647 w 2033"/>
                  <a:gd name="T29" fmla="*/ 2147483647 h 4133"/>
                  <a:gd name="T30" fmla="*/ 2147483647 w 2033"/>
                  <a:gd name="T31" fmla="*/ 2147483647 h 4133"/>
                  <a:gd name="T32" fmla="*/ 2147483647 w 2033"/>
                  <a:gd name="T33" fmla="*/ 2147483647 h 4133"/>
                  <a:gd name="T34" fmla="*/ 2147483647 w 2033"/>
                  <a:gd name="T35" fmla="*/ 2147483647 h 4133"/>
                  <a:gd name="T36" fmla="*/ 2147483647 w 2033"/>
                  <a:gd name="T37" fmla="*/ 2147483647 h 4133"/>
                  <a:gd name="T38" fmla="*/ 2147483647 w 2033"/>
                  <a:gd name="T39" fmla="*/ 2147483647 h 4133"/>
                  <a:gd name="T40" fmla="*/ 2147483647 w 2033"/>
                  <a:gd name="T41" fmla="*/ 2147483647 h 4133"/>
                  <a:gd name="T42" fmla="*/ 2147483647 w 2033"/>
                  <a:gd name="T43" fmla="*/ 2147483647 h 4133"/>
                  <a:gd name="T44" fmla="*/ 2147483647 w 2033"/>
                  <a:gd name="T45" fmla="*/ 2147483647 h 4133"/>
                  <a:gd name="T46" fmla="*/ 2147483647 w 2033"/>
                  <a:gd name="T47" fmla="*/ 2147483647 h 4133"/>
                  <a:gd name="T48" fmla="*/ 2147483647 w 2033"/>
                  <a:gd name="T49" fmla="*/ 2147483647 h 4133"/>
                  <a:gd name="T50" fmla="*/ 2147483647 w 2033"/>
                  <a:gd name="T51" fmla="*/ 2147483647 h 4133"/>
                  <a:gd name="T52" fmla="*/ 2147483647 w 2033"/>
                  <a:gd name="T53" fmla="*/ 2147483647 h 4133"/>
                  <a:gd name="T54" fmla="*/ 2147483647 w 2033"/>
                  <a:gd name="T55" fmla="*/ 2147483647 h 4133"/>
                  <a:gd name="T56" fmla="*/ 2147483647 w 2033"/>
                  <a:gd name="T57" fmla="*/ 2147483647 h 4133"/>
                  <a:gd name="T58" fmla="*/ 2147483647 w 2033"/>
                  <a:gd name="T59" fmla="*/ 2147483647 h 4133"/>
                  <a:gd name="T60" fmla="*/ 2147483647 w 2033"/>
                  <a:gd name="T61" fmla="*/ 2147483647 h 4133"/>
                  <a:gd name="T62" fmla="*/ 2147483647 w 2033"/>
                  <a:gd name="T63" fmla="*/ 2147483647 h 4133"/>
                  <a:gd name="T64" fmla="*/ 2147483647 w 2033"/>
                  <a:gd name="T65" fmla="*/ 2147483647 h 4133"/>
                  <a:gd name="T66" fmla="*/ 2147483647 w 2033"/>
                  <a:gd name="T67" fmla="*/ 2147483647 h 4133"/>
                  <a:gd name="T68" fmla="*/ 2147483647 w 2033"/>
                  <a:gd name="T69" fmla="*/ 2147483647 h 4133"/>
                  <a:gd name="T70" fmla="*/ 2147483647 w 2033"/>
                  <a:gd name="T71" fmla="*/ 2147483647 h 413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033" h="4133">
                    <a:moveTo>
                      <a:pt x="1872" y="0"/>
                    </a:moveTo>
                    <a:lnTo>
                      <a:pt x="1872" y="0"/>
                    </a:lnTo>
                    <a:cubicBezTo>
                      <a:pt x="160" y="0"/>
                      <a:pt x="160" y="0"/>
                      <a:pt x="160" y="0"/>
                    </a:cubicBezTo>
                    <a:cubicBezTo>
                      <a:pt x="71" y="0"/>
                      <a:pt x="0" y="71"/>
                      <a:pt x="0" y="160"/>
                    </a:cubicBezTo>
                    <a:cubicBezTo>
                      <a:pt x="0" y="3972"/>
                      <a:pt x="0" y="3972"/>
                      <a:pt x="0" y="3972"/>
                    </a:cubicBezTo>
                    <a:cubicBezTo>
                      <a:pt x="0" y="4061"/>
                      <a:pt x="71" y="4132"/>
                      <a:pt x="160" y="4132"/>
                    </a:cubicBezTo>
                    <a:cubicBezTo>
                      <a:pt x="1872" y="4132"/>
                      <a:pt x="1872" y="4132"/>
                      <a:pt x="1872" y="4132"/>
                    </a:cubicBezTo>
                    <a:cubicBezTo>
                      <a:pt x="1961" y="4132"/>
                      <a:pt x="2032" y="4061"/>
                      <a:pt x="2032" y="4082"/>
                    </a:cubicBezTo>
                    <a:cubicBezTo>
                      <a:pt x="2032" y="270"/>
                      <a:pt x="2032" y="270"/>
                      <a:pt x="2032" y="270"/>
                    </a:cubicBezTo>
                    <a:cubicBezTo>
                      <a:pt x="2032" y="71"/>
                      <a:pt x="1961" y="0"/>
                      <a:pt x="1872" y="0"/>
                    </a:cubicBezTo>
                    <a:close/>
                    <a:moveTo>
                      <a:pt x="1016" y="3622"/>
                    </a:moveTo>
                    <a:lnTo>
                      <a:pt x="1016" y="3622"/>
                    </a:lnTo>
                    <a:cubicBezTo>
                      <a:pt x="858" y="3622"/>
                      <a:pt x="732" y="3496"/>
                      <a:pt x="732" y="3340"/>
                    </a:cubicBezTo>
                    <a:cubicBezTo>
                      <a:pt x="732" y="3185"/>
                      <a:pt x="858" y="3057"/>
                      <a:pt x="1016" y="3057"/>
                    </a:cubicBezTo>
                    <a:cubicBezTo>
                      <a:pt x="1172" y="3057"/>
                      <a:pt x="1298" y="3185"/>
                      <a:pt x="1298" y="3340"/>
                    </a:cubicBezTo>
                    <a:cubicBezTo>
                      <a:pt x="1298" y="3496"/>
                      <a:pt x="1172" y="3622"/>
                      <a:pt x="1016" y="3622"/>
                    </a:cubicBezTo>
                    <a:close/>
                    <a:moveTo>
                      <a:pt x="1840" y="975"/>
                    </a:moveTo>
                    <a:lnTo>
                      <a:pt x="1840" y="975"/>
                    </a:lnTo>
                    <a:cubicBezTo>
                      <a:pt x="1840" y="1041"/>
                      <a:pt x="1785" y="1096"/>
                      <a:pt x="1718" y="1096"/>
                    </a:cubicBezTo>
                    <a:cubicBezTo>
                      <a:pt x="314" y="1096"/>
                      <a:pt x="314" y="1096"/>
                      <a:pt x="314" y="1096"/>
                    </a:cubicBezTo>
                    <a:cubicBezTo>
                      <a:pt x="245" y="1096"/>
                      <a:pt x="193" y="1041"/>
                      <a:pt x="193" y="975"/>
                    </a:cubicBezTo>
                    <a:cubicBezTo>
                      <a:pt x="193" y="945"/>
                      <a:pt x="193" y="945"/>
                      <a:pt x="193" y="945"/>
                    </a:cubicBezTo>
                    <a:cubicBezTo>
                      <a:pt x="193" y="876"/>
                      <a:pt x="245" y="821"/>
                      <a:pt x="314" y="821"/>
                    </a:cubicBezTo>
                    <a:cubicBezTo>
                      <a:pt x="1718" y="821"/>
                      <a:pt x="1718" y="821"/>
                      <a:pt x="1718" y="821"/>
                    </a:cubicBezTo>
                    <a:cubicBezTo>
                      <a:pt x="1785" y="821"/>
                      <a:pt x="1840" y="876"/>
                      <a:pt x="1840" y="945"/>
                    </a:cubicBezTo>
                    <a:lnTo>
                      <a:pt x="1840" y="975"/>
                    </a:lnTo>
                    <a:close/>
                    <a:moveTo>
                      <a:pt x="1840" y="510"/>
                    </a:moveTo>
                    <a:lnTo>
                      <a:pt x="1840" y="510"/>
                    </a:lnTo>
                    <a:cubicBezTo>
                      <a:pt x="1840" y="576"/>
                      <a:pt x="1785" y="631"/>
                      <a:pt x="1718" y="631"/>
                    </a:cubicBezTo>
                    <a:cubicBezTo>
                      <a:pt x="314" y="631"/>
                      <a:pt x="314" y="631"/>
                      <a:pt x="314" y="631"/>
                    </a:cubicBezTo>
                    <a:cubicBezTo>
                      <a:pt x="245" y="631"/>
                      <a:pt x="193" y="576"/>
                      <a:pt x="193" y="510"/>
                    </a:cubicBezTo>
                    <a:cubicBezTo>
                      <a:pt x="193" y="481"/>
                      <a:pt x="193" y="481"/>
                      <a:pt x="193" y="481"/>
                    </a:cubicBezTo>
                    <a:cubicBezTo>
                      <a:pt x="193" y="414"/>
                      <a:pt x="245" y="359"/>
                      <a:pt x="314" y="359"/>
                    </a:cubicBezTo>
                    <a:cubicBezTo>
                      <a:pt x="1718" y="359"/>
                      <a:pt x="1718" y="359"/>
                      <a:pt x="1718" y="359"/>
                    </a:cubicBezTo>
                    <a:cubicBezTo>
                      <a:pt x="1785" y="359"/>
                      <a:pt x="1840" y="414"/>
                      <a:pt x="1840" y="481"/>
                    </a:cubicBezTo>
                    <a:lnTo>
                      <a:pt x="1840" y="51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91440" rIns="91440" bIns="91440" anchor="ctr" anchorCtr="0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600" b="0" i="0" u="none" strike="noStrike" kern="0" cap="none" spc="0" normalizeH="0" baseline="0" dirty="0">
                  <a:ln>
                    <a:noFill/>
                  </a:ln>
                  <a:solidFill>
                    <a:srgbClr val="646464"/>
                  </a:solidFill>
                  <a:effectLst/>
                  <a:uLnTx/>
                  <a:uFillTx/>
                  <a:latin typeface="Simplon BP Regular"/>
                  <a:cs typeface="Arial" charset="0"/>
                </a:endParaRPr>
              </a:p>
            </p:txBody>
          </p:sp>
          <p:sp>
            <p:nvSpPr>
              <p:cNvPr id="48" name="Freeform 12">
                <a:extLst>
                  <a:ext uri="{FF2B5EF4-FFF2-40B4-BE49-F238E27FC236}">
                    <a16:creationId xmlns:a16="http://schemas.microsoft.com/office/drawing/2014/main" id="{B5EB250F-82EC-4880-A7BC-840D4F8A5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70950" y="6778625"/>
                <a:ext cx="120650" cy="120650"/>
              </a:xfrm>
              <a:custGeom>
                <a:avLst/>
                <a:gdLst>
                  <a:gd name="T0" fmla="*/ 2147483647 w 335"/>
                  <a:gd name="T1" fmla="*/ 2147483647 h 335"/>
                  <a:gd name="T2" fmla="*/ 2147483647 w 335"/>
                  <a:gd name="T3" fmla="*/ 2147483647 h 335"/>
                  <a:gd name="T4" fmla="*/ 2147483647 w 335"/>
                  <a:gd name="T5" fmla="*/ 2147483647 h 335"/>
                  <a:gd name="T6" fmla="*/ 0 w 335"/>
                  <a:gd name="T7" fmla="*/ 2147483647 h 335"/>
                  <a:gd name="T8" fmla="*/ 2147483647 w 335"/>
                  <a:gd name="T9" fmla="*/ 0 h 335"/>
                  <a:gd name="T10" fmla="*/ 2147483647 w 335"/>
                  <a:gd name="T11" fmla="*/ 2147483647 h 3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5" h="335">
                    <a:moveTo>
                      <a:pt x="334" y="167"/>
                    </a:moveTo>
                    <a:lnTo>
                      <a:pt x="334" y="167"/>
                    </a:lnTo>
                    <a:cubicBezTo>
                      <a:pt x="334" y="259"/>
                      <a:pt x="259" y="334"/>
                      <a:pt x="167" y="334"/>
                    </a:cubicBezTo>
                    <a:cubicBezTo>
                      <a:pt x="73" y="334"/>
                      <a:pt x="0" y="259"/>
                      <a:pt x="0" y="167"/>
                    </a:cubicBezTo>
                    <a:cubicBezTo>
                      <a:pt x="0" y="74"/>
                      <a:pt x="73" y="0"/>
                      <a:pt x="167" y="0"/>
                    </a:cubicBezTo>
                    <a:cubicBezTo>
                      <a:pt x="259" y="0"/>
                      <a:pt x="334" y="74"/>
                      <a:pt x="334" y="16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91440" rIns="91440" bIns="91440" anchor="ctr" anchorCtr="0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600" b="0" i="0" u="none" strike="noStrike" kern="0" cap="none" spc="0" normalizeH="0" baseline="0" dirty="0">
                  <a:ln>
                    <a:noFill/>
                  </a:ln>
                  <a:solidFill>
                    <a:srgbClr val="646464"/>
                  </a:solidFill>
                  <a:effectLst/>
                  <a:uLnTx/>
                  <a:uFillTx/>
                  <a:latin typeface="Simplon BP Regular"/>
                  <a:cs typeface="Arial" charset="0"/>
                </a:endParaRPr>
              </a:p>
            </p:txBody>
          </p:sp>
        </p:grpSp>
      </p:grpSp>
      <p:pic>
        <p:nvPicPr>
          <p:cNvPr id="69" name="Google Shape;1509;p94" descr="Google Shape;1509;p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829" y="6321971"/>
            <a:ext cx="541439" cy="54143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Google Shape;1518;p94" descr="Google Shape;1518;p9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3080" y="1337285"/>
            <a:ext cx="555093" cy="555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Google Shape;1510;p94" descr="Google Shape;1510;p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5533" y="4406325"/>
            <a:ext cx="511284" cy="511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761" y="1508657"/>
            <a:ext cx="480708" cy="480708"/>
          </a:xfrm>
          <a:prstGeom prst="rect">
            <a:avLst/>
          </a:prstGeom>
        </p:spPr>
      </p:pic>
      <p:sp>
        <p:nvSpPr>
          <p:cNvPr id="57" name="Pie 24">
            <a:extLst>
              <a:ext uri="{FF2B5EF4-FFF2-40B4-BE49-F238E27FC236}">
                <a16:creationId xmlns:a16="http://schemas.microsoft.com/office/drawing/2014/main" id="{D342AEF7-5F8E-4F56-943C-858A469D5565}"/>
              </a:ext>
            </a:extLst>
          </p:cNvPr>
          <p:cNvSpPr/>
          <p:nvPr/>
        </p:nvSpPr>
        <p:spPr>
          <a:xfrm>
            <a:off x="2579360" y="2313299"/>
            <a:ext cx="350460" cy="348520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rgbClr val="00D3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8" name="Group 62">
            <a:extLst>
              <a:ext uri="{FF2B5EF4-FFF2-40B4-BE49-F238E27FC236}">
                <a16:creationId xmlns:a16="http://schemas.microsoft.com/office/drawing/2014/main" id="{D30A1650-C89D-4AB0-83EA-BE2E0B8FD396}"/>
              </a:ext>
            </a:extLst>
          </p:cNvPr>
          <p:cNvGrpSpPr/>
          <p:nvPr/>
        </p:nvGrpSpPr>
        <p:grpSpPr>
          <a:xfrm>
            <a:off x="3312530" y="5219387"/>
            <a:ext cx="374230" cy="244249"/>
            <a:chOff x="693333" y="1564750"/>
            <a:chExt cx="520785" cy="358432"/>
          </a:xfrm>
          <a:solidFill>
            <a:srgbClr val="00D318"/>
          </a:solidFill>
        </p:grpSpPr>
        <p:sp>
          <p:nvSpPr>
            <p:cNvPr id="59" name="Freeform 207">
              <a:extLst>
                <a:ext uri="{FF2B5EF4-FFF2-40B4-BE49-F238E27FC236}">
                  <a16:creationId xmlns:a16="http://schemas.microsoft.com/office/drawing/2014/main" id="{EAA63D34-2396-47C9-9927-943E48C70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333" y="1614157"/>
              <a:ext cx="166275" cy="258039"/>
            </a:xfrm>
            <a:custGeom>
              <a:avLst/>
              <a:gdLst>
                <a:gd name="T0" fmla="*/ 750 w 1301"/>
                <a:gd name="T1" fmla="*/ 1530 h 2013"/>
                <a:gd name="T2" fmla="*/ 750 w 1301"/>
                <a:gd name="T3" fmla="*/ 1529 h 2013"/>
                <a:gd name="T4" fmla="*/ 1071 w 1301"/>
                <a:gd name="T5" fmla="*/ 1197 h 2013"/>
                <a:gd name="T6" fmla="*/ 1267 w 1301"/>
                <a:gd name="T7" fmla="*/ 1144 h 2013"/>
                <a:gd name="T8" fmla="*/ 1145 w 1301"/>
                <a:gd name="T9" fmla="*/ 1088 h 2013"/>
                <a:gd name="T10" fmla="*/ 1134 w 1301"/>
                <a:gd name="T11" fmla="*/ 1036 h 2013"/>
                <a:gd name="T12" fmla="*/ 1127 w 1301"/>
                <a:gd name="T13" fmla="*/ 943 h 2013"/>
                <a:gd name="T14" fmla="*/ 1192 w 1301"/>
                <a:gd name="T15" fmla="*/ 803 h 2013"/>
                <a:gd name="T16" fmla="*/ 1235 w 1301"/>
                <a:gd name="T17" fmla="*/ 679 h 2013"/>
                <a:gd name="T18" fmla="*/ 1247 w 1301"/>
                <a:gd name="T19" fmla="*/ 684 h 2013"/>
                <a:gd name="T20" fmla="*/ 1259 w 1301"/>
                <a:gd name="T21" fmla="*/ 685 h 2013"/>
                <a:gd name="T22" fmla="*/ 1287 w 1301"/>
                <a:gd name="T23" fmla="*/ 656 h 2013"/>
                <a:gd name="T24" fmla="*/ 1300 w 1301"/>
                <a:gd name="T25" fmla="*/ 493 h 2013"/>
                <a:gd name="T26" fmla="*/ 1276 w 1301"/>
                <a:gd name="T27" fmla="*/ 466 h 2013"/>
                <a:gd name="T28" fmla="*/ 1275 w 1301"/>
                <a:gd name="T29" fmla="*/ 466 h 2013"/>
                <a:gd name="T30" fmla="*/ 1255 w 1301"/>
                <a:gd name="T31" fmla="*/ 216 h 2013"/>
                <a:gd name="T32" fmla="*/ 991 w 1301"/>
                <a:gd name="T33" fmla="*/ 9 h 2013"/>
                <a:gd name="T34" fmla="*/ 906 w 1301"/>
                <a:gd name="T35" fmla="*/ 0 h 2013"/>
                <a:gd name="T36" fmla="*/ 906 w 1301"/>
                <a:gd name="T37" fmla="*/ 0 h 2013"/>
                <a:gd name="T38" fmla="*/ 905 w 1301"/>
                <a:gd name="T39" fmla="*/ 0 h 2013"/>
                <a:gd name="T40" fmla="*/ 821 w 1301"/>
                <a:gd name="T41" fmla="*/ 9 h 2013"/>
                <a:gd name="T42" fmla="*/ 557 w 1301"/>
                <a:gd name="T43" fmla="*/ 216 h 2013"/>
                <a:gd name="T44" fmla="*/ 537 w 1301"/>
                <a:gd name="T45" fmla="*/ 466 h 2013"/>
                <a:gd name="T46" fmla="*/ 536 w 1301"/>
                <a:gd name="T47" fmla="*/ 466 h 2013"/>
                <a:gd name="T48" fmla="*/ 512 w 1301"/>
                <a:gd name="T49" fmla="*/ 493 h 2013"/>
                <a:gd name="T50" fmla="*/ 525 w 1301"/>
                <a:gd name="T51" fmla="*/ 656 h 2013"/>
                <a:gd name="T52" fmla="*/ 553 w 1301"/>
                <a:gd name="T53" fmla="*/ 685 h 2013"/>
                <a:gd name="T54" fmla="*/ 565 w 1301"/>
                <a:gd name="T55" fmla="*/ 684 h 2013"/>
                <a:gd name="T56" fmla="*/ 577 w 1301"/>
                <a:gd name="T57" fmla="*/ 679 h 2013"/>
                <a:gd name="T58" fmla="*/ 619 w 1301"/>
                <a:gd name="T59" fmla="*/ 803 h 2013"/>
                <a:gd name="T60" fmla="*/ 685 w 1301"/>
                <a:gd name="T61" fmla="*/ 943 h 2013"/>
                <a:gd name="T62" fmla="*/ 677 w 1301"/>
                <a:gd name="T63" fmla="*/ 1036 h 2013"/>
                <a:gd name="T64" fmla="*/ 667 w 1301"/>
                <a:gd name="T65" fmla="*/ 1088 h 2013"/>
                <a:gd name="T66" fmla="*/ 233 w 1301"/>
                <a:gd name="T67" fmla="*/ 1218 h 2013"/>
                <a:gd name="T68" fmla="*/ 46 w 1301"/>
                <a:gd name="T69" fmla="*/ 1410 h 2013"/>
                <a:gd name="T70" fmla="*/ 0 w 1301"/>
                <a:gd name="T71" fmla="*/ 1765 h 2013"/>
                <a:gd name="T72" fmla="*/ 102 w 1301"/>
                <a:gd name="T73" fmla="*/ 1896 h 2013"/>
                <a:gd name="T74" fmla="*/ 684 w 1301"/>
                <a:gd name="T75" fmla="*/ 2013 h 2013"/>
                <a:gd name="T76" fmla="*/ 748 w 1301"/>
                <a:gd name="T77" fmla="*/ 1537 h 2013"/>
                <a:gd name="T78" fmla="*/ 750 w 1301"/>
                <a:gd name="T79" fmla="*/ 1530 h 20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301" h="2013">
                  <a:moveTo>
                    <a:pt x="750" y="1530"/>
                  </a:moveTo>
                  <a:cubicBezTo>
                    <a:pt x="750" y="1530"/>
                    <a:pt x="750" y="1529"/>
                    <a:pt x="750" y="1529"/>
                  </a:cubicBezTo>
                  <a:cubicBezTo>
                    <a:pt x="782" y="1379"/>
                    <a:pt x="890" y="1267"/>
                    <a:pt x="1071" y="1197"/>
                  </a:cubicBezTo>
                  <a:cubicBezTo>
                    <a:pt x="1133" y="1172"/>
                    <a:pt x="1200" y="1157"/>
                    <a:pt x="1267" y="1144"/>
                  </a:cubicBezTo>
                  <a:cubicBezTo>
                    <a:pt x="1224" y="1131"/>
                    <a:pt x="1182" y="1114"/>
                    <a:pt x="1145" y="1088"/>
                  </a:cubicBezTo>
                  <a:cubicBezTo>
                    <a:pt x="1139" y="1072"/>
                    <a:pt x="1136" y="1055"/>
                    <a:pt x="1134" y="1036"/>
                  </a:cubicBezTo>
                  <a:cubicBezTo>
                    <a:pt x="1132" y="1006"/>
                    <a:pt x="1129" y="974"/>
                    <a:pt x="1127" y="943"/>
                  </a:cubicBezTo>
                  <a:cubicBezTo>
                    <a:pt x="1148" y="905"/>
                    <a:pt x="1170" y="859"/>
                    <a:pt x="1192" y="803"/>
                  </a:cubicBezTo>
                  <a:cubicBezTo>
                    <a:pt x="1210" y="760"/>
                    <a:pt x="1224" y="719"/>
                    <a:pt x="1235" y="679"/>
                  </a:cubicBezTo>
                  <a:cubicBezTo>
                    <a:pt x="1239" y="682"/>
                    <a:pt x="1243" y="684"/>
                    <a:pt x="1247" y="684"/>
                  </a:cubicBezTo>
                  <a:cubicBezTo>
                    <a:pt x="1259" y="685"/>
                    <a:pt x="1259" y="685"/>
                    <a:pt x="1259" y="685"/>
                  </a:cubicBezTo>
                  <a:cubicBezTo>
                    <a:pt x="1273" y="686"/>
                    <a:pt x="1286" y="675"/>
                    <a:pt x="1287" y="656"/>
                  </a:cubicBezTo>
                  <a:cubicBezTo>
                    <a:pt x="1300" y="493"/>
                    <a:pt x="1300" y="493"/>
                    <a:pt x="1300" y="493"/>
                  </a:cubicBezTo>
                  <a:cubicBezTo>
                    <a:pt x="1301" y="481"/>
                    <a:pt x="1290" y="467"/>
                    <a:pt x="1276" y="466"/>
                  </a:cubicBezTo>
                  <a:cubicBezTo>
                    <a:pt x="1275" y="466"/>
                    <a:pt x="1275" y="466"/>
                    <a:pt x="1275" y="466"/>
                  </a:cubicBezTo>
                  <a:cubicBezTo>
                    <a:pt x="1288" y="295"/>
                    <a:pt x="1255" y="216"/>
                    <a:pt x="1255" y="216"/>
                  </a:cubicBezTo>
                  <a:cubicBezTo>
                    <a:pt x="1255" y="216"/>
                    <a:pt x="1193" y="50"/>
                    <a:pt x="991" y="9"/>
                  </a:cubicBezTo>
                  <a:cubicBezTo>
                    <a:pt x="960" y="3"/>
                    <a:pt x="931" y="1"/>
                    <a:pt x="906" y="0"/>
                  </a:cubicBezTo>
                  <a:cubicBezTo>
                    <a:pt x="906" y="0"/>
                    <a:pt x="906" y="0"/>
                    <a:pt x="906" y="0"/>
                  </a:cubicBezTo>
                  <a:cubicBezTo>
                    <a:pt x="906" y="0"/>
                    <a:pt x="906" y="0"/>
                    <a:pt x="905" y="0"/>
                  </a:cubicBezTo>
                  <a:cubicBezTo>
                    <a:pt x="880" y="1"/>
                    <a:pt x="852" y="3"/>
                    <a:pt x="821" y="9"/>
                  </a:cubicBezTo>
                  <a:cubicBezTo>
                    <a:pt x="619" y="50"/>
                    <a:pt x="557" y="216"/>
                    <a:pt x="557" y="216"/>
                  </a:cubicBezTo>
                  <a:cubicBezTo>
                    <a:pt x="557" y="216"/>
                    <a:pt x="524" y="295"/>
                    <a:pt x="537" y="466"/>
                  </a:cubicBezTo>
                  <a:cubicBezTo>
                    <a:pt x="536" y="466"/>
                    <a:pt x="536" y="466"/>
                    <a:pt x="536" y="466"/>
                  </a:cubicBezTo>
                  <a:cubicBezTo>
                    <a:pt x="522" y="467"/>
                    <a:pt x="511" y="481"/>
                    <a:pt x="512" y="493"/>
                  </a:cubicBezTo>
                  <a:cubicBezTo>
                    <a:pt x="525" y="656"/>
                    <a:pt x="525" y="656"/>
                    <a:pt x="525" y="656"/>
                  </a:cubicBezTo>
                  <a:cubicBezTo>
                    <a:pt x="526" y="675"/>
                    <a:pt x="539" y="686"/>
                    <a:pt x="553" y="685"/>
                  </a:cubicBezTo>
                  <a:cubicBezTo>
                    <a:pt x="565" y="684"/>
                    <a:pt x="565" y="684"/>
                    <a:pt x="565" y="684"/>
                  </a:cubicBezTo>
                  <a:cubicBezTo>
                    <a:pt x="569" y="684"/>
                    <a:pt x="573" y="682"/>
                    <a:pt x="577" y="679"/>
                  </a:cubicBezTo>
                  <a:cubicBezTo>
                    <a:pt x="588" y="719"/>
                    <a:pt x="602" y="760"/>
                    <a:pt x="619" y="803"/>
                  </a:cubicBezTo>
                  <a:cubicBezTo>
                    <a:pt x="642" y="859"/>
                    <a:pt x="664" y="905"/>
                    <a:pt x="685" y="943"/>
                  </a:cubicBezTo>
                  <a:cubicBezTo>
                    <a:pt x="683" y="974"/>
                    <a:pt x="680" y="1006"/>
                    <a:pt x="677" y="1036"/>
                  </a:cubicBezTo>
                  <a:cubicBezTo>
                    <a:pt x="676" y="1055"/>
                    <a:pt x="672" y="1072"/>
                    <a:pt x="667" y="1088"/>
                  </a:cubicBezTo>
                  <a:cubicBezTo>
                    <a:pt x="538" y="1176"/>
                    <a:pt x="363" y="1167"/>
                    <a:pt x="233" y="1218"/>
                  </a:cubicBezTo>
                  <a:cubicBezTo>
                    <a:pt x="55" y="1288"/>
                    <a:pt x="51" y="1395"/>
                    <a:pt x="46" y="1410"/>
                  </a:cubicBezTo>
                  <a:cubicBezTo>
                    <a:pt x="32" y="1450"/>
                    <a:pt x="6" y="1508"/>
                    <a:pt x="0" y="1765"/>
                  </a:cubicBezTo>
                  <a:cubicBezTo>
                    <a:pt x="0" y="1800"/>
                    <a:pt x="0" y="1851"/>
                    <a:pt x="102" y="1896"/>
                  </a:cubicBezTo>
                  <a:cubicBezTo>
                    <a:pt x="270" y="1961"/>
                    <a:pt x="473" y="1993"/>
                    <a:pt x="684" y="2013"/>
                  </a:cubicBezTo>
                  <a:cubicBezTo>
                    <a:pt x="693" y="1692"/>
                    <a:pt x="727" y="1595"/>
                    <a:pt x="748" y="1537"/>
                  </a:cubicBezTo>
                  <a:cubicBezTo>
                    <a:pt x="749" y="1534"/>
                    <a:pt x="749" y="1532"/>
                    <a:pt x="750" y="15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600" b="0" i="0" u="none" strike="noStrike" kern="0" cap="none" spc="0" normalizeH="0" baseline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Simplon BP Regular"/>
              </a:endParaRPr>
            </a:p>
          </p:txBody>
        </p:sp>
        <p:sp>
          <p:nvSpPr>
            <p:cNvPr id="60" name="Freeform 208">
              <a:extLst>
                <a:ext uri="{FF2B5EF4-FFF2-40B4-BE49-F238E27FC236}">
                  <a16:creationId xmlns:a16="http://schemas.microsoft.com/office/drawing/2014/main" id="{24AE6AFD-2C97-4776-87B5-58B3EA97A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843" y="1614157"/>
              <a:ext cx="166275" cy="258039"/>
            </a:xfrm>
            <a:custGeom>
              <a:avLst/>
              <a:gdLst>
                <a:gd name="T0" fmla="*/ 1300 w 1301"/>
                <a:gd name="T1" fmla="*/ 1765 h 2013"/>
                <a:gd name="T2" fmla="*/ 1255 w 1301"/>
                <a:gd name="T3" fmla="*/ 1410 h 2013"/>
                <a:gd name="T4" fmla="*/ 1068 w 1301"/>
                <a:gd name="T5" fmla="*/ 1218 h 2013"/>
                <a:gd name="T6" fmla="*/ 634 w 1301"/>
                <a:gd name="T7" fmla="*/ 1088 h 2013"/>
                <a:gd name="T8" fmla="*/ 623 w 1301"/>
                <a:gd name="T9" fmla="*/ 1036 h 2013"/>
                <a:gd name="T10" fmla="*/ 616 w 1301"/>
                <a:gd name="T11" fmla="*/ 943 h 2013"/>
                <a:gd name="T12" fmla="*/ 681 w 1301"/>
                <a:gd name="T13" fmla="*/ 803 h 2013"/>
                <a:gd name="T14" fmla="*/ 724 w 1301"/>
                <a:gd name="T15" fmla="*/ 679 h 2013"/>
                <a:gd name="T16" fmla="*/ 736 w 1301"/>
                <a:gd name="T17" fmla="*/ 684 h 2013"/>
                <a:gd name="T18" fmla="*/ 748 w 1301"/>
                <a:gd name="T19" fmla="*/ 685 h 2013"/>
                <a:gd name="T20" fmla="*/ 776 w 1301"/>
                <a:gd name="T21" fmla="*/ 656 h 2013"/>
                <a:gd name="T22" fmla="*/ 789 w 1301"/>
                <a:gd name="T23" fmla="*/ 493 h 2013"/>
                <a:gd name="T24" fmla="*/ 765 w 1301"/>
                <a:gd name="T25" fmla="*/ 466 h 2013"/>
                <a:gd name="T26" fmla="*/ 764 w 1301"/>
                <a:gd name="T27" fmla="*/ 466 h 2013"/>
                <a:gd name="T28" fmla="*/ 744 w 1301"/>
                <a:gd name="T29" fmla="*/ 216 h 2013"/>
                <a:gd name="T30" fmla="*/ 480 w 1301"/>
                <a:gd name="T31" fmla="*/ 9 h 2013"/>
                <a:gd name="T32" fmla="*/ 395 w 1301"/>
                <a:gd name="T33" fmla="*/ 0 h 2013"/>
                <a:gd name="T34" fmla="*/ 395 w 1301"/>
                <a:gd name="T35" fmla="*/ 0 h 2013"/>
                <a:gd name="T36" fmla="*/ 394 w 1301"/>
                <a:gd name="T37" fmla="*/ 0 h 2013"/>
                <a:gd name="T38" fmla="*/ 310 w 1301"/>
                <a:gd name="T39" fmla="*/ 9 h 2013"/>
                <a:gd name="T40" fmla="*/ 46 w 1301"/>
                <a:gd name="T41" fmla="*/ 216 h 2013"/>
                <a:gd name="T42" fmla="*/ 26 w 1301"/>
                <a:gd name="T43" fmla="*/ 466 h 2013"/>
                <a:gd name="T44" fmla="*/ 25 w 1301"/>
                <a:gd name="T45" fmla="*/ 466 h 2013"/>
                <a:gd name="T46" fmla="*/ 1 w 1301"/>
                <a:gd name="T47" fmla="*/ 493 h 2013"/>
                <a:gd name="T48" fmla="*/ 14 w 1301"/>
                <a:gd name="T49" fmla="*/ 656 h 2013"/>
                <a:gd name="T50" fmla="*/ 42 w 1301"/>
                <a:gd name="T51" fmla="*/ 685 h 2013"/>
                <a:gd name="T52" fmla="*/ 54 w 1301"/>
                <a:gd name="T53" fmla="*/ 684 h 2013"/>
                <a:gd name="T54" fmla="*/ 66 w 1301"/>
                <a:gd name="T55" fmla="*/ 679 h 2013"/>
                <a:gd name="T56" fmla="*/ 108 w 1301"/>
                <a:gd name="T57" fmla="*/ 803 h 2013"/>
                <a:gd name="T58" fmla="*/ 174 w 1301"/>
                <a:gd name="T59" fmla="*/ 943 h 2013"/>
                <a:gd name="T60" fmla="*/ 166 w 1301"/>
                <a:gd name="T61" fmla="*/ 1036 h 2013"/>
                <a:gd name="T62" fmla="*/ 156 w 1301"/>
                <a:gd name="T63" fmla="*/ 1088 h 2013"/>
                <a:gd name="T64" fmla="*/ 34 w 1301"/>
                <a:gd name="T65" fmla="*/ 1144 h 2013"/>
                <a:gd name="T66" fmla="*/ 230 w 1301"/>
                <a:gd name="T67" fmla="*/ 1197 h 2013"/>
                <a:gd name="T68" fmla="*/ 550 w 1301"/>
                <a:gd name="T69" fmla="*/ 1528 h 2013"/>
                <a:gd name="T70" fmla="*/ 551 w 1301"/>
                <a:gd name="T71" fmla="*/ 1530 h 2013"/>
                <a:gd name="T72" fmla="*/ 553 w 1301"/>
                <a:gd name="T73" fmla="*/ 1537 h 2013"/>
                <a:gd name="T74" fmla="*/ 617 w 1301"/>
                <a:gd name="T75" fmla="*/ 2013 h 2013"/>
                <a:gd name="T76" fmla="*/ 1198 w 1301"/>
                <a:gd name="T77" fmla="*/ 1896 h 2013"/>
                <a:gd name="T78" fmla="*/ 1300 w 1301"/>
                <a:gd name="T79" fmla="*/ 1765 h 20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301" h="2013">
                  <a:moveTo>
                    <a:pt x="1300" y="1765"/>
                  </a:moveTo>
                  <a:cubicBezTo>
                    <a:pt x="1294" y="1508"/>
                    <a:pt x="1269" y="1450"/>
                    <a:pt x="1255" y="1410"/>
                  </a:cubicBezTo>
                  <a:cubicBezTo>
                    <a:pt x="1250" y="1395"/>
                    <a:pt x="1245" y="1288"/>
                    <a:pt x="1068" y="1218"/>
                  </a:cubicBezTo>
                  <a:cubicBezTo>
                    <a:pt x="938" y="1167"/>
                    <a:pt x="763" y="1176"/>
                    <a:pt x="634" y="1088"/>
                  </a:cubicBezTo>
                  <a:cubicBezTo>
                    <a:pt x="628" y="1072"/>
                    <a:pt x="625" y="1055"/>
                    <a:pt x="623" y="1036"/>
                  </a:cubicBezTo>
                  <a:cubicBezTo>
                    <a:pt x="621" y="1006"/>
                    <a:pt x="618" y="974"/>
                    <a:pt x="616" y="943"/>
                  </a:cubicBezTo>
                  <a:cubicBezTo>
                    <a:pt x="637" y="905"/>
                    <a:pt x="659" y="859"/>
                    <a:pt x="681" y="803"/>
                  </a:cubicBezTo>
                  <a:cubicBezTo>
                    <a:pt x="699" y="760"/>
                    <a:pt x="713" y="719"/>
                    <a:pt x="724" y="679"/>
                  </a:cubicBezTo>
                  <a:cubicBezTo>
                    <a:pt x="728" y="682"/>
                    <a:pt x="732" y="684"/>
                    <a:pt x="736" y="684"/>
                  </a:cubicBezTo>
                  <a:cubicBezTo>
                    <a:pt x="748" y="685"/>
                    <a:pt x="748" y="685"/>
                    <a:pt x="748" y="685"/>
                  </a:cubicBezTo>
                  <a:cubicBezTo>
                    <a:pt x="762" y="686"/>
                    <a:pt x="775" y="675"/>
                    <a:pt x="776" y="656"/>
                  </a:cubicBezTo>
                  <a:cubicBezTo>
                    <a:pt x="789" y="493"/>
                    <a:pt x="789" y="493"/>
                    <a:pt x="789" y="493"/>
                  </a:cubicBezTo>
                  <a:cubicBezTo>
                    <a:pt x="790" y="481"/>
                    <a:pt x="779" y="467"/>
                    <a:pt x="765" y="466"/>
                  </a:cubicBezTo>
                  <a:cubicBezTo>
                    <a:pt x="764" y="466"/>
                    <a:pt x="764" y="466"/>
                    <a:pt x="764" y="466"/>
                  </a:cubicBezTo>
                  <a:cubicBezTo>
                    <a:pt x="777" y="295"/>
                    <a:pt x="744" y="216"/>
                    <a:pt x="744" y="216"/>
                  </a:cubicBezTo>
                  <a:cubicBezTo>
                    <a:pt x="744" y="216"/>
                    <a:pt x="682" y="50"/>
                    <a:pt x="480" y="9"/>
                  </a:cubicBezTo>
                  <a:cubicBezTo>
                    <a:pt x="449" y="3"/>
                    <a:pt x="420" y="1"/>
                    <a:pt x="395" y="0"/>
                  </a:cubicBezTo>
                  <a:cubicBezTo>
                    <a:pt x="395" y="0"/>
                    <a:pt x="395" y="0"/>
                    <a:pt x="395" y="0"/>
                  </a:cubicBezTo>
                  <a:cubicBezTo>
                    <a:pt x="395" y="0"/>
                    <a:pt x="394" y="0"/>
                    <a:pt x="394" y="0"/>
                  </a:cubicBezTo>
                  <a:cubicBezTo>
                    <a:pt x="369" y="1"/>
                    <a:pt x="341" y="3"/>
                    <a:pt x="310" y="9"/>
                  </a:cubicBezTo>
                  <a:cubicBezTo>
                    <a:pt x="108" y="50"/>
                    <a:pt x="46" y="216"/>
                    <a:pt x="46" y="216"/>
                  </a:cubicBezTo>
                  <a:cubicBezTo>
                    <a:pt x="46" y="216"/>
                    <a:pt x="13" y="295"/>
                    <a:pt x="26" y="466"/>
                  </a:cubicBezTo>
                  <a:cubicBezTo>
                    <a:pt x="25" y="466"/>
                    <a:pt x="25" y="466"/>
                    <a:pt x="25" y="466"/>
                  </a:cubicBezTo>
                  <a:cubicBezTo>
                    <a:pt x="10" y="467"/>
                    <a:pt x="0" y="481"/>
                    <a:pt x="1" y="493"/>
                  </a:cubicBezTo>
                  <a:cubicBezTo>
                    <a:pt x="14" y="656"/>
                    <a:pt x="14" y="656"/>
                    <a:pt x="14" y="656"/>
                  </a:cubicBezTo>
                  <a:cubicBezTo>
                    <a:pt x="15" y="675"/>
                    <a:pt x="28" y="686"/>
                    <a:pt x="42" y="685"/>
                  </a:cubicBezTo>
                  <a:cubicBezTo>
                    <a:pt x="54" y="684"/>
                    <a:pt x="54" y="684"/>
                    <a:pt x="54" y="684"/>
                  </a:cubicBezTo>
                  <a:cubicBezTo>
                    <a:pt x="58" y="684"/>
                    <a:pt x="62" y="682"/>
                    <a:pt x="66" y="679"/>
                  </a:cubicBezTo>
                  <a:cubicBezTo>
                    <a:pt x="77" y="719"/>
                    <a:pt x="91" y="760"/>
                    <a:pt x="108" y="803"/>
                  </a:cubicBezTo>
                  <a:cubicBezTo>
                    <a:pt x="131" y="859"/>
                    <a:pt x="153" y="905"/>
                    <a:pt x="174" y="943"/>
                  </a:cubicBezTo>
                  <a:cubicBezTo>
                    <a:pt x="172" y="974"/>
                    <a:pt x="169" y="1006"/>
                    <a:pt x="166" y="1036"/>
                  </a:cubicBezTo>
                  <a:cubicBezTo>
                    <a:pt x="165" y="1055"/>
                    <a:pt x="161" y="1072"/>
                    <a:pt x="156" y="1088"/>
                  </a:cubicBezTo>
                  <a:cubicBezTo>
                    <a:pt x="119" y="1114"/>
                    <a:pt x="77" y="1131"/>
                    <a:pt x="34" y="1144"/>
                  </a:cubicBezTo>
                  <a:cubicBezTo>
                    <a:pt x="101" y="1157"/>
                    <a:pt x="168" y="1172"/>
                    <a:pt x="230" y="1197"/>
                  </a:cubicBezTo>
                  <a:cubicBezTo>
                    <a:pt x="411" y="1267"/>
                    <a:pt x="519" y="1379"/>
                    <a:pt x="550" y="1528"/>
                  </a:cubicBezTo>
                  <a:cubicBezTo>
                    <a:pt x="551" y="1529"/>
                    <a:pt x="551" y="1530"/>
                    <a:pt x="551" y="1530"/>
                  </a:cubicBezTo>
                  <a:cubicBezTo>
                    <a:pt x="552" y="1532"/>
                    <a:pt x="552" y="1534"/>
                    <a:pt x="553" y="1537"/>
                  </a:cubicBezTo>
                  <a:cubicBezTo>
                    <a:pt x="573" y="1595"/>
                    <a:pt x="607" y="1692"/>
                    <a:pt x="617" y="2013"/>
                  </a:cubicBezTo>
                  <a:cubicBezTo>
                    <a:pt x="828" y="1993"/>
                    <a:pt x="1031" y="1961"/>
                    <a:pt x="1198" y="1896"/>
                  </a:cubicBezTo>
                  <a:cubicBezTo>
                    <a:pt x="1300" y="1851"/>
                    <a:pt x="1301" y="1800"/>
                    <a:pt x="1300" y="17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600" b="0" i="0" u="none" strike="noStrike" kern="0" cap="none" spc="0" normalizeH="0" baseline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Simplon BP Regular"/>
              </a:endParaRPr>
            </a:p>
          </p:txBody>
        </p:sp>
        <p:sp>
          <p:nvSpPr>
            <p:cNvPr id="61" name="Freeform 209">
              <a:extLst>
                <a:ext uri="{FF2B5EF4-FFF2-40B4-BE49-F238E27FC236}">
                  <a16:creationId xmlns:a16="http://schemas.microsoft.com/office/drawing/2014/main" id="{5546AF4B-1A8C-49E4-9D70-A8F487A02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725" y="1564750"/>
              <a:ext cx="320000" cy="358432"/>
            </a:xfrm>
            <a:custGeom>
              <a:avLst/>
              <a:gdLst>
                <a:gd name="T0" fmla="*/ 2501 w 2502"/>
                <a:gd name="T1" fmla="*/ 2437 h 2801"/>
                <a:gd name="T2" fmla="*/ 2438 w 2502"/>
                <a:gd name="T3" fmla="*/ 1947 h 2801"/>
                <a:gd name="T4" fmla="*/ 2180 w 2502"/>
                <a:gd name="T5" fmla="*/ 1682 h 2801"/>
                <a:gd name="T6" fmla="*/ 1580 w 2502"/>
                <a:gd name="T7" fmla="*/ 1502 h 2801"/>
                <a:gd name="T8" fmla="*/ 1566 w 2502"/>
                <a:gd name="T9" fmla="*/ 1431 h 2801"/>
                <a:gd name="T10" fmla="*/ 1556 w 2502"/>
                <a:gd name="T11" fmla="*/ 1302 h 2801"/>
                <a:gd name="T12" fmla="*/ 1646 w 2502"/>
                <a:gd name="T13" fmla="*/ 1108 h 2801"/>
                <a:gd name="T14" fmla="*/ 1705 w 2502"/>
                <a:gd name="T15" fmla="*/ 938 h 2801"/>
                <a:gd name="T16" fmla="*/ 1722 w 2502"/>
                <a:gd name="T17" fmla="*/ 944 h 2801"/>
                <a:gd name="T18" fmla="*/ 1738 w 2502"/>
                <a:gd name="T19" fmla="*/ 946 h 2801"/>
                <a:gd name="T20" fmla="*/ 1741 w 2502"/>
                <a:gd name="T21" fmla="*/ 946 h 2801"/>
                <a:gd name="T22" fmla="*/ 1777 w 2502"/>
                <a:gd name="T23" fmla="*/ 906 h 2801"/>
                <a:gd name="T24" fmla="*/ 1795 w 2502"/>
                <a:gd name="T25" fmla="*/ 680 h 2801"/>
                <a:gd name="T26" fmla="*/ 1762 w 2502"/>
                <a:gd name="T27" fmla="*/ 643 h 2801"/>
                <a:gd name="T28" fmla="*/ 1760 w 2502"/>
                <a:gd name="T29" fmla="*/ 643 h 2801"/>
                <a:gd name="T30" fmla="*/ 1733 w 2502"/>
                <a:gd name="T31" fmla="*/ 299 h 2801"/>
                <a:gd name="T32" fmla="*/ 1368 w 2502"/>
                <a:gd name="T33" fmla="*/ 13 h 2801"/>
                <a:gd name="T34" fmla="*/ 1252 w 2502"/>
                <a:gd name="T35" fmla="*/ 0 h 2801"/>
                <a:gd name="T36" fmla="*/ 1251 w 2502"/>
                <a:gd name="T37" fmla="*/ 0 h 2801"/>
                <a:gd name="T38" fmla="*/ 1250 w 2502"/>
                <a:gd name="T39" fmla="*/ 0 h 2801"/>
                <a:gd name="T40" fmla="*/ 1133 w 2502"/>
                <a:gd name="T41" fmla="*/ 13 h 2801"/>
                <a:gd name="T42" fmla="*/ 769 w 2502"/>
                <a:gd name="T43" fmla="*/ 299 h 2801"/>
                <a:gd name="T44" fmla="*/ 742 w 2502"/>
                <a:gd name="T45" fmla="*/ 643 h 2801"/>
                <a:gd name="T46" fmla="*/ 740 w 2502"/>
                <a:gd name="T47" fmla="*/ 643 h 2801"/>
                <a:gd name="T48" fmla="*/ 707 w 2502"/>
                <a:gd name="T49" fmla="*/ 680 h 2801"/>
                <a:gd name="T50" fmla="*/ 725 w 2502"/>
                <a:gd name="T51" fmla="*/ 906 h 2801"/>
                <a:gd name="T52" fmla="*/ 761 w 2502"/>
                <a:gd name="T53" fmla="*/ 946 h 2801"/>
                <a:gd name="T54" fmla="*/ 764 w 2502"/>
                <a:gd name="T55" fmla="*/ 946 h 2801"/>
                <a:gd name="T56" fmla="*/ 780 w 2502"/>
                <a:gd name="T57" fmla="*/ 944 h 2801"/>
                <a:gd name="T58" fmla="*/ 797 w 2502"/>
                <a:gd name="T59" fmla="*/ 938 h 2801"/>
                <a:gd name="T60" fmla="*/ 855 w 2502"/>
                <a:gd name="T61" fmla="*/ 1108 h 2801"/>
                <a:gd name="T62" fmla="*/ 946 w 2502"/>
                <a:gd name="T63" fmla="*/ 1302 h 2801"/>
                <a:gd name="T64" fmla="*/ 936 w 2502"/>
                <a:gd name="T65" fmla="*/ 1431 h 2801"/>
                <a:gd name="T66" fmla="*/ 922 w 2502"/>
                <a:gd name="T67" fmla="*/ 1502 h 2801"/>
                <a:gd name="T68" fmla="*/ 322 w 2502"/>
                <a:gd name="T69" fmla="*/ 1682 h 2801"/>
                <a:gd name="T70" fmla="*/ 64 w 2502"/>
                <a:gd name="T71" fmla="*/ 1947 h 2801"/>
                <a:gd name="T72" fmla="*/ 1 w 2502"/>
                <a:gd name="T73" fmla="*/ 2437 h 2801"/>
                <a:gd name="T74" fmla="*/ 142 w 2502"/>
                <a:gd name="T75" fmla="*/ 2617 h 2801"/>
                <a:gd name="T76" fmla="*/ 1233 w 2502"/>
                <a:gd name="T77" fmla="*/ 2801 h 2801"/>
                <a:gd name="T78" fmla="*/ 1244 w 2502"/>
                <a:gd name="T79" fmla="*/ 2801 h 2801"/>
                <a:gd name="T80" fmla="*/ 1251 w 2502"/>
                <a:gd name="T81" fmla="*/ 2801 h 2801"/>
                <a:gd name="T82" fmla="*/ 1257 w 2502"/>
                <a:gd name="T83" fmla="*/ 2801 h 2801"/>
                <a:gd name="T84" fmla="*/ 1269 w 2502"/>
                <a:gd name="T85" fmla="*/ 2801 h 2801"/>
                <a:gd name="T86" fmla="*/ 2360 w 2502"/>
                <a:gd name="T87" fmla="*/ 2617 h 2801"/>
                <a:gd name="T88" fmla="*/ 2501 w 2502"/>
                <a:gd name="T89" fmla="*/ 2437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2" h="2801">
                  <a:moveTo>
                    <a:pt x="2501" y="2437"/>
                  </a:moveTo>
                  <a:cubicBezTo>
                    <a:pt x="2492" y="2081"/>
                    <a:pt x="2457" y="2002"/>
                    <a:pt x="2438" y="1947"/>
                  </a:cubicBezTo>
                  <a:cubicBezTo>
                    <a:pt x="2430" y="1925"/>
                    <a:pt x="2425" y="1777"/>
                    <a:pt x="2180" y="1682"/>
                  </a:cubicBezTo>
                  <a:cubicBezTo>
                    <a:pt x="2001" y="1611"/>
                    <a:pt x="1759" y="1623"/>
                    <a:pt x="1580" y="1502"/>
                  </a:cubicBezTo>
                  <a:cubicBezTo>
                    <a:pt x="1573" y="1479"/>
                    <a:pt x="1568" y="1456"/>
                    <a:pt x="1566" y="1431"/>
                  </a:cubicBezTo>
                  <a:cubicBezTo>
                    <a:pt x="1562" y="1388"/>
                    <a:pt x="1559" y="1345"/>
                    <a:pt x="1556" y="1302"/>
                  </a:cubicBezTo>
                  <a:cubicBezTo>
                    <a:pt x="1585" y="1250"/>
                    <a:pt x="1615" y="1186"/>
                    <a:pt x="1646" y="1108"/>
                  </a:cubicBezTo>
                  <a:cubicBezTo>
                    <a:pt x="1670" y="1049"/>
                    <a:pt x="1690" y="992"/>
                    <a:pt x="1705" y="938"/>
                  </a:cubicBezTo>
                  <a:cubicBezTo>
                    <a:pt x="1710" y="941"/>
                    <a:pt x="1716" y="944"/>
                    <a:pt x="1722" y="944"/>
                  </a:cubicBezTo>
                  <a:cubicBezTo>
                    <a:pt x="1738" y="946"/>
                    <a:pt x="1738" y="946"/>
                    <a:pt x="1738" y="946"/>
                  </a:cubicBezTo>
                  <a:cubicBezTo>
                    <a:pt x="1739" y="946"/>
                    <a:pt x="1740" y="946"/>
                    <a:pt x="1741" y="946"/>
                  </a:cubicBezTo>
                  <a:cubicBezTo>
                    <a:pt x="1759" y="946"/>
                    <a:pt x="1775" y="930"/>
                    <a:pt x="1777" y="906"/>
                  </a:cubicBezTo>
                  <a:cubicBezTo>
                    <a:pt x="1795" y="680"/>
                    <a:pt x="1795" y="680"/>
                    <a:pt x="1795" y="680"/>
                  </a:cubicBezTo>
                  <a:cubicBezTo>
                    <a:pt x="1796" y="664"/>
                    <a:pt x="1781" y="645"/>
                    <a:pt x="1762" y="643"/>
                  </a:cubicBezTo>
                  <a:cubicBezTo>
                    <a:pt x="1760" y="643"/>
                    <a:pt x="1760" y="643"/>
                    <a:pt x="1760" y="643"/>
                  </a:cubicBezTo>
                  <a:cubicBezTo>
                    <a:pt x="1778" y="408"/>
                    <a:pt x="1733" y="299"/>
                    <a:pt x="1733" y="299"/>
                  </a:cubicBezTo>
                  <a:cubicBezTo>
                    <a:pt x="1733" y="299"/>
                    <a:pt x="1647" y="70"/>
                    <a:pt x="1368" y="13"/>
                  </a:cubicBezTo>
                  <a:cubicBezTo>
                    <a:pt x="1325" y="4"/>
                    <a:pt x="1286" y="1"/>
                    <a:pt x="1252" y="0"/>
                  </a:cubicBezTo>
                  <a:cubicBezTo>
                    <a:pt x="1251" y="0"/>
                    <a:pt x="1251" y="0"/>
                    <a:pt x="1251" y="0"/>
                  </a:cubicBezTo>
                  <a:cubicBezTo>
                    <a:pt x="1251" y="0"/>
                    <a:pt x="1250" y="0"/>
                    <a:pt x="1250" y="0"/>
                  </a:cubicBezTo>
                  <a:cubicBezTo>
                    <a:pt x="1216" y="1"/>
                    <a:pt x="1177" y="4"/>
                    <a:pt x="1133" y="13"/>
                  </a:cubicBezTo>
                  <a:cubicBezTo>
                    <a:pt x="855" y="70"/>
                    <a:pt x="769" y="299"/>
                    <a:pt x="769" y="299"/>
                  </a:cubicBezTo>
                  <a:cubicBezTo>
                    <a:pt x="769" y="299"/>
                    <a:pt x="724" y="408"/>
                    <a:pt x="742" y="643"/>
                  </a:cubicBezTo>
                  <a:cubicBezTo>
                    <a:pt x="740" y="643"/>
                    <a:pt x="740" y="643"/>
                    <a:pt x="740" y="643"/>
                  </a:cubicBezTo>
                  <a:cubicBezTo>
                    <a:pt x="720" y="645"/>
                    <a:pt x="706" y="664"/>
                    <a:pt x="707" y="680"/>
                  </a:cubicBezTo>
                  <a:cubicBezTo>
                    <a:pt x="725" y="906"/>
                    <a:pt x="725" y="906"/>
                    <a:pt x="725" y="906"/>
                  </a:cubicBezTo>
                  <a:cubicBezTo>
                    <a:pt x="727" y="930"/>
                    <a:pt x="742" y="946"/>
                    <a:pt x="761" y="946"/>
                  </a:cubicBezTo>
                  <a:cubicBezTo>
                    <a:pt x="762" y="946"/>
                    <a:pt x="763" y="946"/>
                    <a:pt x="764" y="946"/>
                  </a:cubicBezTo>
                  <a:cubicBezTo>
                    <a:pt x="780" y="944"/>
                    <a:pt x="780" y="944"/>
                    <a:pt x="780" y="944"/>
                  </a:cubicBezTo>
                  <a:cubicBezTo>
                    <a:pt x="786" y="944"/>
                    <a:pt x="792" y="941"/>
                    <a:pt x="797" y="938"/>
                  </a:cubicBezTo>
                  <a:cubicBezTo>
                    <a:pt x="812" y="992"/>
                    <a:pt x="832" y="1049"/>
                    <a:pt x="855" y="1108"/>
                  </a:cubicBezTo>
                  <a:cubicBezTo>
                    <a:pt x="887" y="1186"/>
                    <a:pt x="917" y="1250"/>
                    <a:pt x="946" y="1302"/>
                  </a:cubicBezTo>
                  <a:cubicBezTo>
                    <a:pt x="943" y="1345"/>
                    <a:pt x="939" y="1388"/>
                    <a:pt x="936" y="1431"/>
                  </a:cubicBezTo>
                  <a:cubicBezTo>
                    <a:pt x="933" y="1456"/>
                    <a:pt x="929" y="1479"/>
                    <a:pt x="922" y="1502"/>
                  </a:cubicBezTo>
                  <a:cubicBezTo>
                    <a:pt x="743" y="1623"/>
                    <a:pt x="501" y="1611"/>
                    <a:pt x="322" y="1682"/>
                  </a:cubicBezTo>
                  <a:cubicBezTo>
                    <a:pt x="77" y="1777"/>
                    <a:pt x="71" y="1925"/>
                    <a:pt x="64" y="1947"/>
                  </a:cubicBezTo>
                  <a:cubicBezTo>
                    <a:pt x="45" y="2002"/>
                    <a:pt x="9" y="2081"/>
                    <a:pt x="1" y="2437"/>
                  </a:cubicBezTo>
                  <a:cubicBezTo>
                    <a:pt x="0" y="2484"/>
                    <a:pt x="1" y="2555"/>
                    <a:pt x="142" y="2617"/>
                  </a:cubicBezTo>
                  <a:cubicBezTo>
                    <a:pt x="448" y="2737"/>
                    <a:pt x="843" y="2775"/>
                    <a:pt x="1233" y="2801"/>
                  </a:cubicBezTo>
                  <a:cubicBezTo>
                    <a:pt x="1234" y="2801"/>
                    <a:pt x="1239" y="2801"/>
                    <a:pt x="1244" y="2801"/>
                  </a:cubicBezTo>
                  <a:cubicBezTo>
                    <a:pt x="1247" y="2801"/>
                    <a:pt x="1249" y="2801"/>
                    <a:pt x="1251" y="2801"/>
                  </a:cubicBezTo>
                  <a:cubicBezTo>
                    <a:pt x="1253" y="2801"/>
                    <a:pt x="1255" y="2801"/>
                    <a:pt x="1257" y="2801"/>
                  </a:cubicBezTo>
                  <a:cubicBezTo>
                    <a:pt x="1263" y="2801"/>
                    <a:pt x="1268" y="2801"/>
                    <a:pt x="1269" y="2801"/>
                  </a:cubicBezTo>
                  <a:cubicBezTo>
                    <a:pt x="1659" y="2775"/>
                    <a:pt x="2054" y="2737"/>
                    <a:pt x="2360" y="2617"/>
                  </a:cubicBezTo>
                  <a:cubicBezTo>
                    <a:pt x="2501" y="2555"/>
                    <a:pt x="2502" y="2484"/>
                    <a:pt x="2501" y="24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600" b="0" i="0" u="none" strike="noStrike" kern="0" cap="none" spc="0" normalizeH="0" baseline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Simplon BP Regular"/>
              </a:endParaRPr>
            </a:p>
          </p:txBody>
        </p:sp>
      </p:grpSp>
      <p:pic>
        <p:nvPicPr>
          <p:cNvPr id="81" name="Google Shape;1534;p94" descr="Google Shape;1534;p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1283" y="4146146"/>
            <a:ext cx="520359" cy="52035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Google Shape;1505;p94" descr="Google Shape;1505;p9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9227" y="3162985"/>
            <a:ext cx="580815" cy="580815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Freeform 11">
            <a:extLst>
              <a:ext uri="{FF2B5EF4-FFF2-40B4-BE49-F238E27FC236}">
                <a16:creationId xmlns:a16="http://schemas.microsoft.com/office/drawing/2014/main" id="{954C5D79-5ECC-4A5C-9527-2722C3DDB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5395" y="3306857"/>
            <a:ext cx="187313" cy="418693"/>
          </a:xfrm>
          <a:custGeom>
            <a:avLst/>
            <a:gdLst>
              <a:gd name="T0" fmla="*/ 2147483647 w 2033"/>
              <a:gd name="T1" fmla="*/ 0 h 4133"/>
              <a:gd name="T2" fmla="*/ 2147483647 w 2033"/>
              <a:gd name="T3" fmla="*/ 0 h 4133"/>
              <a:gd name="T4" fmla="*/ 2147483647 w 2033"/>
              <a:gd name="T5" fmla="*/ 0 h 4133"/>
              <a:gd name="T6" fmla="*/ 0 w 2033"/>
              <a:gd name="T7" fmla="*/ 2147483647 h 4133"/>
              <a:gd name="T8" fmla="*/ 0 w 2033"/>
              <a:gd name="T9" fmla="*/ 2147483647 h 4133"/>
              <a:gd name="T10" fmla="*/ 2147483647 w 2033"/>
              <a:gd name="T11" fmla="*/ 2147483647 h 4133"/>
              <a:gd name="T12" fmla="*/ 2147483647 w 2033"/>
              <a:gd name="T13" fmla="*/ 2147483647 h 4133"/>
              <a:gd name="T14" fmla="*/ 2147483647 w 2033"/>
              <a:gd name="T15" fmla="*/ 2147483647 h 4133"/>
              <a:gd name="T16" fmla="*/ 2147483647 w 2033"/>
              <a:gd name="T17" fmla="*/ 2147483647 h 4133"/>
              <a:gd name="T18" fmla="*/ 2147483647 w 2033"/>
              <a:gd name="T19" fmla="*/ 0 h 4133"/>
              <a:gd name="T20" fmla="*/ 2147483647 w 2033"/>
              <a:gd name="T21" fmla="*/ 2147483647 h 4133"/>
              <a:gd name="T22" fmla="*/ 2147483647 w 2033"/>
              <a:gd name="T23" fmla="*/ 2147483647 h 4133"/>
              <a:gd name="T24" fmla="*/ 2147483647 w 2033"/>
              <a:gd name="T25" fmla="*/ 2147483647 h 4133"/>
              <a:gd name="T26" fmla="*/ 2147483647 w 2033"/>
              <a:gd name="T27" fmla="*/ 2147483647 h 4133"/>
              <a:gd name="T28" fmla="*/ 2147483647 w 2033"/>
              <a:gd name="T29" fmla="*/ 2147483647 h 4133"/>
              <a:gd name="T30" fmla="*/ 2147483647 w 2033"/>
              <a:gd name="T31" fmla="*/ 2147483647 h 4133"/>
              <a:gd name="T32" fmla="*/ 2147483647 w 2033"/>
              <a:gd name="T33" fmla="*/ 2147483647 h 4133"/>
              <a:gd name="T34" fmla="*/ 2147483647 w 2033"/>
              <a:gd name="T35" fmla="*/ 2147483647 h 4133"/>
              <a:gd name="T36" fmla="*/ 2147483647 w 2033"/>
              <a:gd name="T37" fmla="*/ 2147483647 h 4133"/>
              <a:gd name="T38" fmla="*/ 2147483647 w 2033"/>
              <a:gd name="T39" fmla="*/ 2147483647 h 4133"/>
              <a:gd name="T40" fmla="*/ 2147483647 w 2033"/>
              <a:gd name="T41" fmla="*/ 2147483647 h 4133"/>
              <a:gd name="T42" fmla="*/ 2147483647 w 2033"/>
              <a:gd name="T43" fmla="*/ 2147483647 h 4133"/>
              <a:gd name="T44" fmla="*/ 2147483647 w 2033"/>
              <a:gd name="T45" fmla="*/ 2147483647 h 4133"/>
              <a:gd name="T46" fmla="*/ 2147483647 w 2033"/>
              <a:gd name="T47" fmla="*/ 2147483647 h 4133"/>
              <a:gd name="T48" fmla="*/ 2147483647 w 2033"/>
              <a:gd name="T49" fmla="*/ 2147483647 h 4133"/>
              <a:gd name="T50" fmla="*/ 2147483647 w 2033"/>
              <a:gd name="T51" fmla="*/ 2147483647 h 4133"/>
              <a:gd name="T52" fmla="*/ 2147483647 w 2033"/>
              <a:gd name="T53" fmla="*/ 2147483647 h 4133"/>
              <a:gd name="T54" fmla="*/ 2147483647 w 2033"/>
              <a:gd name="T55" fmla="*/ 2147483647 h 4133"/>
              <a:gd name="T56" fmla="*/ 2147483647 w 2033"/>
              <a:gd name="T57" fmla="*/ 2147483647 h 4133"/>
              <a:gd name="T58" fmla="*/ 2147483647 w 2033"/>
              <a:gd name="T59" fmla="*/ 2147483647 h 4133"/>
              <a:gd name="T60" fmla="*/ 2147483647 w 2033"/>
              <a:gd name="T61" fmla="*/ 2147483647 h 4133"/>
              <a:gd name="T62" fmla="*/ 2147483647 w 2033"/>
              <a:gd name="T63" fmla="*/ 2147483647 h 4133"/>
              <a:gd name="T64" fmla="*/ 2147483647 w 2033"/>
              <a:gd name="T65" fmla="*/ 2147483647 h 4133"/>
              <a:gd name="T66" fmla="*/ 2147483647 w 2033"/>
              <a:gd name="T67" fmla="*/ 2147483647 h 4133"/>
              <a:gd name="T68" fmla="*/ 2147483647 w 2033"/>
              <a:gd name="T69" fmla="*/ 2147483647 h 4133"/>
              <a:gd name="T70" fmla="*/ 2147483647 w 2033"/>
              <a:gd name="T71" fmla="*/ 2147483647 h 413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033" h="4133">
                <a:moveTo>
                  <a:pt x="1872" y="0"/>
                </a:moveTo>
                <a:lnTo>
                  <a:pt x="1872" y="0"/>
                </a:lnTo>
                <a:cubicBezTo>
                  <a:pt x="160" y="0"/>
                  <a:pt x="160" y="0"/>
                  <a:pt x="160" y="0"/>
                </a:cubicBezTo>
                <a:cubicBezTo>
                  <a:pt x="71" y="0"/>
                  <a:pt x="0" y="71"/>
                  <a:pt x="0" y="160"/>
                </a:cubicBezTo>
                <a:cubicBezTo>
                  <a:pt x="0" y="3972"/>
                  <a:pt x="0" y="3972"/>
                  <a:pt x="0" y="3972"/>
                </a:cubicBezTo>
                <a:cubicBezTo>
                  <a:pt x="0" y="4061"/>
                  <a:pt x="71" y="4132"/>
                  <a:pt x="160" y="4132"/>
                </a:cubicBezTo>
                <a:cubicBezTo>
                  <a:pt x="1872" y="4132"/>
                  <a:pt x="1872" y="4132"/>
                  <a:pt x="1872" y="4132"/>
                </a:cubicBezTo>
                <a:cubicBezTo>
                  <a:pt x="1961" y="4132"/>
                  <a:pt x="2032" y="4061"/>
                  <a:pt x="2032" y="4082"/>
                </a:cubicBezTo>
                <a:cubicBezTo>
                  <a:pt x="2032" y="270"/>
                  <a:pt x="2032" y="270"/>
                  <a:pt x="2032" y="270"/>
                </a:cubicBezTo>
                <a:cubicBezTo>
                  <a:pt x="2032" y="71"/>
                  <a:pt x="1961" y="0"/>
                  <a:pt x="1872" y="0"/>
                </a:cubicBezTo>
                <a:close/>
                <a:moveTo>
                  <a:pt x="1016" y="3622"/>
                </a:moveTo>
                <a:lnTo>
                  <a:pt x="1016" y="3622"/>
                </a:lnTo>
                <a:cubicBezTo>
                  <a:pt x="858" y="3622"/>
                  <a:pt x="732" y="3496"/>
                  <a:pt x="732" y="3340"/>
                </a:cubicBezTo>
                <a:cubicBezTo>
                  <a:pt x="732" y="3185"/>
                  <a:pt x="858" y="3057"/>
                  <a:pt x="1016" y="3057"/>
                </a:cubicBezTo>
                <a:cubicBezTo>
                  <a:pt x="1172" y="3057"/>
                  <a:pt x="1298" y="3185"/>
                  <a:pt x="1298" y="3340"/>
                </a:cubicBezTo>
                <a:cubicBezTo>
                  <a:pt x="1298" y="3496"/>
                  <a:pt x="1172" y="3622"/>
                  <a:pt x="1016" y="3622"/>
                </a:cubicBezTo>
                <a:close/>
                <a:moveTo>
                  <a:pt x="1840" y="975"/>
                </a:moveTo>
                <a:lnTo>
                  <a:pt x="1840" y="975"/>
                </a:lnTo>
                <a:cubicBezTo>
                  <a:pt x="1840" y="1041"/>
                  <a:pt x="1785" y="1096"/>
                  <a:pt x="1718" y="1096"/>
                </a:cubicBezTo>
                <a:cubicBezTo>
                  <a:pt x="314" y="1096"/>
                  <a:pt x="314" y="1096"/>
                  <a:pt x="314" y="1096"/>
                </a:cubicBezTo>
                <a:cubicBezTo>
                  <a:pt x="245" y="1096"/>
                  <a:pt x="193" y="1041"/>
                  <a:pt x="193" y="975"/>
                </a:cubicBezTo>
                <a:cubicBezTo>
                  <a:pt x="193" y="945"/>
                  <a:pt x="193" y="945"/>
                  <a:pt x="193" y="945"/>
                </a:cubicBezTo>
                <a:cubicBezTo>
                  <a:pt x="193" y="876"/>
                  <a:pt x="245" y="821"/>
                  <a:pt x="314" y="821"/>
                </a:cubicBezTo>
                <a:cubicBezTo>
                  <a:pt x="1718" y="821"/>
                  <a:pt x="1718" y="821"/>
                  <a:pt x="1718" y="821"/>
                </a:cubicBezTo>
                <a:cubicBezTo>
                  <a:pt x="1785" y="821"/>
                  <a:pt x="1840" y="876"/>
                  <a:pt x="1840" y="945"/>
                </a:cubicBezTo>
                <a:lnTo>
                  <a:pt x="1840" y="975"/>
                </a:lnTo>
                <a:close/>
                <a:moveTo>
                  <a:pt x="1840" y="510"/>
                </a:moveTo>
                <a:lnTo>
                  <a:pt x="1840" y="510"/>
                </a:lnTo>
                <a:cubicBezTo>
                  <a:pt x="1840" y="576"/>
                  <a:pt x="1785" y="631"/>
                  <a:pt x="1718" y="631"/>
                </a:cubicBezTo>
                <a:cubicBezTo>
                  <a:pt x="314" y="631"/>
                  <a:pt x="314" y="631"/>
                  <a:pt x="314" y="631"/>
                </a:cubicBezTo>
                <a:cubicBezTo>
                  <a:pt x="245" y="631"/>
                  <a:pt x="193" y="576"/>
                  <a:pt x="193" y="510"/>
                </a:cubicBezTo>
                <a:cubicBezTo>
                  <a:pt x="193" y="481"/>
                  <a:pt x="193" y="481"/>
                  <a:pt x="193" y="481"/>
                </a:cubicBezTo>
                <a:cubicBezTo>
                  <a:pt x="193" y="414"/>
                  <a:pt x="245" y="359"/>
                  <a:pt x="314" y="359"/>
                </a:cubicBezTo>
                <a:cubicBezTo>
                  <a:pt x="1718" y="359"/>
                  <a:pt x="1718" y="359"/>
                  <a:pt x="1718" y="359"/>
                </a:cubicBezTo>
                <a:cubicBezTo>
                  <a:pt x="1785" y="359"/>
                  <a:pt x="1840" y="414"/>
                  <a:pt x="1840" y="481"/>
                </a:cubicBezTo>
                <a:lnTo>
                  <a:pt x="1840" y="510"/>
                </a:lnTo>
                <a:close/>
              </a:path>
            </a:pathLst>
          </a:custGeom>
          <a:solidFill>
            <a:srgbClr val="00D3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91440" rIns="91440" bIns="9144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0" i="0" u="none" strike="noStrike" kern="0" cap="none" spc="0" normalizeH="0" baseline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Simplon BP Regular"/>
              <a:cs typeface="Arial" charset="0"/>
            </a:endParaRPr>
          </a:p>
        </p:txBody>
      </p:sp>
      <p:pic>
        <p:nvPicPr>
          <p:cNvPr id="79" name="Google Shape;1524;p94" descr="Google Shape;1524;p9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8527" y="2346921"/>
            <a:ext cx="491114" cy="491114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Espaço Reservado para Número de Slide 2"/>
          <p:cNvSpPr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53293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8137" y="131526"/>
            <a:ext cx="10756482" cy="558294"/>
          </a:xfrm>
        </p:spPr>
        <p:txBody>
          <a:bodyPr/>
          <a:lstStyle/>
          <a:p>
            <a:r>
              <a:rPr lang="en-US" dirty="0" smtClean="0">
                <a:solidFill>
                  <a:srgbClr val="009E0B"/>
                </a:solidFill>
              </a:rPr>
              <a:t>TWIST: PRINCIPAIS FRENTES DE TRABALHO DA CLIENTCO</a:t>
            </a:r>
            <a:endParaRPr lang="en-US" dirty="0">
              <a:solidFill>
                <a:srgbClr val="009E0B"/>
              </a:solidFill>
            </a:endParaRPr>
          </a:p>
        </p:txBody>
      </p:sp>
      <p:pic>
        <p:nvPicPr>
          <p:cNvPr id="77" name="Google Shape;1517;p94" descr="Google Shape;1517;p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7674" y="2425020"/>
            <a:ext cx="777241" cy="77724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" name="Agrupar 12"/>
          <p:cNvGrpSpPr/>
          <p:nvPr/>
        </p:nvGrpSpPr>
        <p:grpSpPr>
          <a:xfrm>
            <a:off x="7622574" y="411443"/>
            <a:ext cx="1856336" cy="864000"/>
            <a:chOff x="7622574" y="411443"/>
            <a:chExt cx="1856336" cy="864000"/>
          </a:xfrm>
        </p:grpSpPr>
        <p:sp>
          <p:nvSpPr>
            <p:cNvPr id="88" name="Texto Explicativo Retangular com Cantos Arredondados 87"/>
            <p:cNvSpPr/>
            <p:nvPr/>
          </p:nvSpPr>
          <p:spPr>
            <a:xfrm>
              <a:off x="7622574" y="411443"/>
              <a:ext cx="1856336" cy="864000"/>
            </a:xfrm>
            <a:prstGeom prst="wedgeRoundRectCallout">
              <a:avLst>
                <a:gd name="adj1" fmla="val -31967"/>
                <a:gd name="adj2" fmla="val 77125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86" name="CaixaDeTexto 85"/>
            <p:cNvSpPr txBox="1"/>
            <p:nvPr/>
          </p:nvSpPr>
          <p:spPr>
            <a:xfrm>
              <a:off x="7802087" y="550289"/>
              <a:ext cx="1676251" cy="5816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err="1" smtClean="0">
                  <a:solidFill>
                    <a:schemeClr val="tx2"/>
                  </a:solidFill>
                </a:rPr>
                <a:t>Carve</a:t>
              </a:r>
              <a:r>
                <a:rPr lang="pt-BR" sz="1050" dirty="0" smtClean="0">
                  <a:solidFill>
                    <a:schemeClr val="tx2"/>
                  </a:solidFill>
                </a:rPr>
                <a:t> Out </a:t>
              </a:r>
              <a:r>
                <a:rPr lang="pt-BR" sz="1050" dirty="0" err="1" smtClean="0">
                  <a:solidFill>
                    <a:schemeClr val="tx2"/>
                  </a:solidFill>
                </a:rPr>
                <a:t>Report</a:t>
              </a:r>
              <a:endParaRPr lang="pt-BR" sz="1050" dirty="0" smtClean="0">
                <a:solidFill>
                  <a:schemeClr val="tx2"/>
                </a:solidFill>
              </a:endParaRPr>
            </a:p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Atuação junto a Bancos</a:t>
              </a:r>
            </a:p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Seguros</a:t>
              </a:r>
              <a:endParaRPr lang="pt-BR" sz="10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" name="Agrupar 9"/>
          <p:cNvGrpSpPr/>
          <p:nvPr/>
        </p:nvGrpSpPr>
        <p:grpSpPr>
          <a:xfrm>
            <a:off x="266863" y="1792363"/>
            <a:ext cx="1728000" cy="1021277"/>
            <a:chOff x="266863" y="1792363"/>
            <a:chExt cx="1728000" cy="1021277"/>
          </a:xfrm>
        </p:grpSpPr>
        <p:sp>
          <p:nvSpPr>
            <p:cNvPr id="7" name="Texto Explicativo Retangular com Cantos Arredondados 6"/>
            <p:cNvSpPr/>
            <p:nvPr/>
          </p:nvSpPr>
          <p:spPr>
            <a:xfrm>
              <a:off x="266863" y="1792363"/>
              <a:ext cx="1728000" cy="1021277"/>
            </a:xfrm>
            <a:prstGeom prst="wedgeRoundRectCallout">
              <a:avLst>
                <a:gd name="adj1" fmla="val 71363"/>
                <a:gd name="adj2" fmla="val -6050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83" name="CaixaDeTexto 82"/>
            <p:cNvSpPr txBox="1"/>
            <p:nvPr/>
          </p:nvSpPr>
          <p:spPr>
            <a:xfrm>
              <a:off x="304731" y="1951687"/>
              <a:ext cx="1676251" cy="7109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>
                  <a:solidFill>
                    <a:schemeClr val="tx2"/>
                  </a:solidFill>
                </a:rPr>
                <a:t>Novo(s) CNPJ(s) para a UPI  e </a:t>
              </a:r>
              <a:r>
                <a:rPr lang="pt-BR" sz="1050" dirty="0" smtClean="0">
                  <a:solidFill>
                    <a:schemeClr val="tx2"/>
                  </a:solidFill>
                </a:rPr>
                <a:t>abertura de filiais;</a:t>
              </a:r>
            </a:p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Regulamentação dos novos </a:t>
              </a:r>
              <a:r>
                <a:rPr lang="pt-BR" sz="1050" dirty="0" err="1" smtClean="0">
                  <a:solidFill>
                    <a:schemeClr val="tx2"/>
                  </a:solidFill>
                </a:rPr>
                <a:t>CNPJs</a:t>
              </a:r>
              <a:endParaRPr lang="pt-BR" sz="10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130923" y="5540193"/>
            <a:ext cx="2592601" cy="1343949"/>
            <a:chOff x="1130923" y="5540193"/>
            <a:chExt cx="2592601" cy="1343949"/>
          </a:xfrm>
        </p:grpSpPr>
        <p:sp>
          <p:nvSpPr>
            <p:cNvPr id="87" name="Texto Explicativo Retangular com Cantos Arredondados 86"/>
            <p:cNvSpPr/>
            <p:nvPr/>
          </p:nvSpPr>
          <p:spPr>
            <a:xfrm>
              <a:off x="1148582" y="5617855"/>
              <a:ext cx="2448000" cy="1080000"/>
            </a:xfrm>
            <a:prstGeom prst="wedgeRoundRectCallout">
              <a:avLst>
                <a:gd name="adj1" fmla="val 62713"/>
                <a:gd name="adj2" fmla="val -45906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84" name="Rectangle 21">
              <a:extLst>
                <a:ext uri="{FF2B5EF4-FFF2-40B4-BE49-F238E27FC236}">
                  <a16:creationId xmlns:a16="http://schemas.microsoft.com/office/drawing/2014/main" id="{D265ADC1-ED46-4798-9C4C-65A214ABF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23" y="5540193"/>
              <a:ext cx="2592601" cy="134394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90000" tIns="90000" rIns="90000" bIns="90000" anchor="t"/>
            <a:lstStyle/>
            <a:p>
              <a:pPr marL="273050" indent="-273050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err="1">
                  <a:solidFill>
                    <a:schemeClr val="accent6"/>
                  </a:solidFill>
                </a:rPr>
                <a:t>Headcount</a:t>
              </a:r>
              <a:r>
                <a:rPr lang="pt-BR" sz="1050" dirty="0">
                  <a:solidFill>
                    <a:schemeClr val="accent6"/>
                  </a:solidFill>
                </a:rPr>
                <a:t> para uma empresa de serviço de Fibra (Marketing, Logística, Suprimentos, Financeiro, Contabilidade, Jurídico, RH)</a:t>
              </a:r>
            </a:p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</a:pPr>
              <a:r>
                <a:rPr lang="pt-BR" sz="1050" dirty="0">
                  <a:solidFill>
                    <a:srgbClr val="009E0B"/>
                  </a:solidFill>
                </a:rPr>
                <a:t>TSA </a:t>
              </a:r>
              <a:r>
                <a:rPr lang="pt-BR" sz="1050" dirty="0" smtClean="0">
                  <a:solidFill>
                    <a:srgbClr val="009E0B"/>
                  </a:solidFill>
                </a:rPr>
                <a:t>2 </a:t>
              </a:r>
              <a:r>
                <a:rPr lang="pt-BR" sz="1050" dirty="0" smtClean="0">
                  <a:solidFill>
                    <a:schemeClr val="accent6"/>
                  </a:solidFill>
                </a:rPr>
                <a:t>de </a:t>
              </a:r>
              <a:r>
                <a:rPr lang="pt-BR" sz="1050" dirty="0">
                  <a:solidFill>
                    <a:srgbClr val="009E0B"/>
                  </a:solidFill>
                </a:rPr>
                <a:t>serviços de suporte </a:t>
              </a:r>
              <a:r>
                <a:rPr lang="pt-BR" sz="1050" dirty="0">
                  <a:solidFill>
                    <a:schemeClr val="accent6"/>
                  </a:solidFill>
                </a:rPr>
                <a:t>até a segregação ou contratação das pessoas</a:t>
              </a:r>
            </a:p>
          </p:txBody>
        </p:sp>
      </p:grpSp>
      <p:grpSp>
        <p:nvGrpSpPr>
          <p:cNvPr id="14" name="Agrupar 13"/>
          <p:cNvGrpSpPr/>
          <p:nvPr/>
        </p:nvGrpSpPr>
        <p:grpSpPr>
          <a:xfrm>
            <a:off x="9803273" y="883757"/>
            <a:ext cx="2417384" cy="1264867"/>
            <a:chOff x="9803273" y="549105"/>
            <a:chExt cx="2417384" cy="1599519"/>
          </a:xfrm>
        </p:grpSpPr>
        <p:sp>
          <p:nvSpPr>
            <p:cNvPr id="89" name="Texto Explicativo Retangular com Cantos Arredondados 88"/>
            <p:cNvSpPr/>
            <p:nvPr/>
          </p:nvSpPr>
          <p:spPr>
            <a:xfrm>
              <a:off x="9803273" y="564624"/>
              <a:ext cx="2232000" cy="1584000"/>
            </a:xfrm>
            <a:prstGeom prst="wedgeRoundRectCallout">
              <a:avLst>
                <a:gd name="adj1" fmla="val -27884"/>
                <a:gd name="adj2" fmla="val 72014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85" name="Rectangle 24">
              <a:extLst>
                <a:ext uri="{FF2B5EF4-FFF2-40B4-BE49-F238E27FC236}">
                  <a16:creationId xmlns:a16="http://schemas.microsoft.com/office/drawing/2014/main" id="{24692875-0381-4E34-A8B4-CE21A01BB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0389" y="549105"/>
              <a:ext cx="2370268" cy="1487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0000" tIns="90000" rIns="90000" bIns="90000"/>
            <a:lstStyle/>
            <a:p>
              <a:pPr marL="273050" indent="-273050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>
                  <a:solidFill>
                    <a:schemeClr val="accent6"/>
                  </a:solidFill>
                </a:rPr>
                <a:t>Ativos relacionados: </a:t>
              </a:r>
              <a:r>
                <a:rPr lang="pt-BR" sz="1050" dirty="0" smtClean="0">
                  <a:solidFill>
                    <a:srgbClr val="009E0B"/>
                  </a:solidFill>
                </a:rPr>
                <a:t>ONT, </a:t>
              </a:r>
              <a:r>
                <a:rPr lang="pt-BR" sz="1050" dirty="0" smtClean="0">
                  <a:solidFill>
                    <a:schemeClr val="accent6"/>
                  </a:solidFill>
                </a:rPr>
                <a:t>Plataformas </a:t>
              </a:r>
              <a:r>
                <a:rPr lang="pt-BR" sz="1050" dirty="0">
                  <a:solidFill>
                    <a:schemeClr val="accent6"/>
                  </a:solidFill>
                </a:rPr>
                <a:t>de gerenciamento de </a:t>
              </a:r>
              <a:r>
                <a:rPr lang="pt-BR" sz="1050" dirty="0" smtClean="0">
                  <a:solidFill>
                    <a:schemeClr val="accent6"/>
                  </a:solidFill>
                </a:rPr>
                <a:t>WiFi</a:t>
              </a:r>
              <a:r>
                <a:rPr lang="pt-BR" sz="1050" dirty="0" smtClean="0">
                  <a:solidFill>
                    <a:srgbClr val="009E0B"/>
                  </a:solidFill>
                </a:rPr>
                <a:t>, E-SOC , </a:t>
              </a:r>
              <a:r>
                <a:rPr lang="pt-BR" sz="1050" dirty="0" err="1" smtClean="0">
                  <a:solidFill>
                    <a:srgbClr val="009E0B"/>
                  </a:solidFill>
                </a:rPr>
                <a:t>Mesh</a:t>
              </a:r>
              <a:r>
                <a:rPr lang="pt-BR" sz="1050" dirty="0" smtClean="0">
                  <a:solidFill>
                    <a:srgbClr val="009E0B"/>
                  </a:solidFill>
                </a:rPr>
                <a:t>/FTTR, </a:t>
              </a:r>
              <a:r>
                <a:rPr lang="pt-BR" sz="1050" dirty="0" err="1" smtClean="0">
                  <a:solidFill>
                    <a:srgbClr val="009E0B"/>
                  </a:solidFill>
                </a:rPr>
                <a:t>Dataminer</a:t>
              </a:r>
              <a:r>
                <a:rPr lang="pt-BR" sz="1050" dirty="0" smtClean="0">
                  <a:solidFill>
                    <a:srgbClr val="009E0B"/>
                  </a:solidFill>
                </a:rPr>
                <a:t> </a:t>
              </a:r>
              <a:r>
                <a:rPr lang="pt-BR" sz="1050" dirty="0">
                  <a:solidFill>
                    <a:srgbClr val="009E0B"/>
                  </a:solidFill>
                </a:rPr>
                <a:t>OSS</a:t>
              </a:r>
            </a:p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</a:pPr>
              <a:r>
                <a:rPr lang="pt-BR" sz="1050" dirty="0">
                  <a:solidFill>
                    <a:srgbClr val="009E0B"/>
                  </a:solidFill>
                </a:rPr>
                <a:t>TSA </a:t>
              </a:r>
              <a:r>
                <a:rPr lang="pt-BR" sz="1050" dirty="0" smtClean="0">
                  <a:solidFill>
                    <a:srgbClr val="009E0B"/>
                  </a:solidFill>
                </a:rPr>
                <a:t>1 </a:t>
              </a:r>
              <a:r>
                <a:rPr lang="pt-BR" sz="1050" dirty="0" smtClean="0">
                  <a:solidFill>
                    <a:schemeClr val="accent6"/>
                  </a:solidFill>
                </a:rPr>
                <a:t>para</a:t>
              </a:r>
              <a:r>
                <a:rPr lang="pt-BR" sz="1050" dirty="0" smtClean="0">
                  <a:solidFill>
                    <a:srgbClr val="009E0B"/>
                  </a:solidFill>
                </a:rPr>
                <a:t> </a:t>
              </a:r>
              <a:r>
                <a:rPr lang="pt-BR" sz="1050" dirty="0">
                  <a:solidFill>
                    <a:srgbClr val="009E0B"/>
                  </a:solidFill>
                </a:rPr>
                <a:t>fornecimentos do VOIP </a:t>
              </a:r>
              <a:r>
                <a:rPr lang="pt-BR" sz="1050" dirty="0">
                  <a:solidFill>
                    <a:schemeClr val="accent6"/>
                  </a:solidFill>
                </a:rPr>
                <a:t>(elementos de rede compartilhados com a telefonia fixa / B2B</a:t>
              </a:r>
              <a:r>
                <a:rPr lang="pt-BR" sz="1050" dirty="0" smtClean="0">
                  <a:solidFill>
                    <a:schemeClr val="accent6"/>
                  </a:solidFill>
                </a:rPr>
                <a:t>)</a:t>
              </a:r>
              <a:endParaRPr lang="pt-BR" sz="1100" dirty="0">
                <a:solidFill>
                  <a:srgbClr val="009E0B"/>
                </a:solidFill>
              </a:endParaRPr>
            </a:p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</a:pPr>
              <a:endParaRPr lang="pt-BR" sz="11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Agrupar 10"/>
          <p:cNvGrpSpPr/>
          <p:nvPr/>
        </p:nvGrpSpPr>
        <p:grpSpPr>
          <a:xfrm>
            <a:off x="524161" y="854450"/>
            <a:ext cx="2378917" cy="648000"/>
            <a:chOff x="524161" y="854450"/>
            <a:chExt cx="2378917" cy="648000"/>
          </a:xfrm>
        </p:grpSpPr>
        <p:sp>
          <p:nvSpPr>
            <p:cNvPr id="92" name="Texto Explicativo Retangular com Cantos Arredondados 91"/>
            <p:cNvSpPr/>
            <p:nvPr/>
          </p:nvSpPr>
          <p:spPr>
            <a:xfrm>
              <a:off x="524161" y="854450"/>
              <a:ext cx="2028287" cy="648000"/>
            </a:xfrm>
            <a:prstGeom prst="wedgeRoundRectCallout">
              <a:avLst>
                <a:gd name="adj1" fmla="val 56205"/>
                <a:gd name="adj2" fmla="val 46057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590795" y="883757"/>
              <a:ext cx="2312283" cy="5816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Obter outorgas de STFC e SCM;</a:t>
              </a:r>
            </a:p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Desvincular ativos da RBR;</a:t>
              </a:r>
            </a:p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Aprovação CADE e Anatel</a:t>
              </a:r>
              <a:endParaRPr lang="pt-BR" sz="10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Agrupar 8"/>
          <p:cNvGrpSpPr/>
          <p:nvPr/>
        </p:nvGrpSpPr>
        <p:grpSpPr>
          <a:xfrm>
            <a:off x="90936" y="3295137"/>
            <a:ext cx="1656000" cy="648000"/>
            <a:chOff x="56988" y="3640286"/>
            <a:chExt cx="1656000" cy="648000"/>
          </a:xfrm>
        </p:grpSpPr>
        <p:sp>
          <p:nvSpPr>
            <p:cNvPr id="95" name="Texto Explicativo Retangular com Cantos Arredondados 94"/>
            <p:cNvSpPr/>
            <p:nvPr/>
          </p:nvSpPr>
          <p:spPr>
            <a:xfrm>
              <a:off x="56988" y="3640286"/>
              <a:ext cx="1656000" cy="648000"/>
            </a:xfrm>
            <a:prstGeom prst="wedgeRoundRectCallout">
              <a:avLst>
                <a:gd name="adj1" fmla="val 76019"/>
                <a:gd name="adj2" fmla="val 17393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113650" y="3695669"/>
              <a:ext cx="1588785" cy="517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Migração de Clientes p/ sistemas do comprador e/ou sistemas </a:t>
              </a:r>
              <a:endParaRPr lang="pt-BR" sz="10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219484" y="4778219"/>
            <a:ext cx="2028287" cy="648000"/>
            <a:chOff x="219484" y="4778219"/>
            <a:chExt cx="2028287" cy="648000"/>
          </a:xfrm>
        </p:grpSpPr>
        <p:sp>
          <p:nvSpPr>
            <p:cNvPr id="94" name="Texto Explicativo Retangular com Cantos Arredondados 93"/>
            <p:cNvSpPr/>
            <p:nvPr/>
          </p:nvSpPr>
          <p:spPr>
            <a:xfrm>
              <a:off x="219484" y="4778219"/>
              <a:ext cx="2028287" cy="648000"/>
            </a:xfrm>
            <a:prstGeom prst="wedgeRoundRectCallout">
              <a:avLst>
                <a:gd name="adj1" fmla="val 72407"/>
                <a:gd name="adj2" fmla="val -46547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97" name="CaixaDeTexto 96"/>
            <p:cNvSpPr txBox="1"/>
            <p:nvPr/>
          </p:nvSpPr>
          <p:spPr>
            <a:xfrm>
              <a:off x="328923" y="4837157"/>
              <a:ext cx="1756198" cy="517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Operar o TSA e processos até o término da migração e fim do TSA;</a:t>
              </a:r>
              <a:endParaRPr lang="pt-BR" sz="10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Agrupar 16"/>
          <p:cNvGrpSpPr/>
          <p:nvPr/>
        </p:nvGrpSpPr>
        <p:grpSpPr>
          <a:xfrm>
            <a:off x="8641251" y="6358728"/>
            <a:ext cx="2028287" cy="396000"/>
            <a:chOff x="8641251" y="6358728"/>
            <a:chExt cx="2028287" cy="396000"/>
          </a:xfrm>
        </p:grpSpPr>
        <p:sp>
          <p:nvSpPr>
            <p:cNvPr id="100" name="Texto Explicativo Retangular com Cantos Arredondados 99"/>
            <p:cNvSpPr/>
            <p:nvPr/>
          </p:nvSpPr>
          <p:spPr>
            <a:xfrm>
              <a:off x="8641251" y="6358728"/>
              <a:ext cx="2028287" cy="396000"/>
            </a:xfrm>
            <a:prstGeom prst="wedgeRoundRectCallout">
              <a:avLst>
                <a:gd name="adj1" fmla="val -29733"/>
                <a:gd name="adj2" fmla="val -138149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101" name="CaixaDeTexto 100"/>
            <p:cNvSpPr txBox="1"/>
            <p:nvPr/>
          </p:nvSpPr>
          <p:spPr>
            <a:xfrm>
              <a:off x="8733979" y="6376154"/>
              <a:ext cx="1918848" cy="3554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Ajustar contratos e regulamentos de clientes;</a:t>
              </a:r>
              <a:endParaRPr lang="pt-BR" sz="10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56988" y="793690"/>
            <a:ext cx="10212653" cy="6069720"/>
            <a:chOff x="56988" y="793690"/>
            <a:chExt cx="10212653" cy="6069720"/>
          </a:xfrm>
        </p:grpSpPr>
        <p:grpSp>
          <p:nvGrpSpPr>
            <p:cNvPr id="6" name="Agrupar 5"/>
            <p:cNvGrpSpPr/>
            <p:nvPr/>
          </p:nvGrpSpPr>
          <p:grpSpPr>
            <a:xfrm>
              <a:off x="56988" y="793690"/>
              <a:ext cx="10212653" cy="6069720"/>
              <a:chOff x="56988" y="765114"/>
              <a:chExt cx="10212653" cy="6069720"/>
            </a:xfrm>
          </p:grpSpPr>
          <p:sp>
            <p:nvSpPr>
              <p:cNvPr id="45" name="CaixaDeTexto 44"/>
              <p:cNvSpPr txBox="1"/>
              <p:nvPr/>
            </p:nvSpPr>
            <p:spPr>
              <a:xfrm>
                <a:off x="56988" y="6398193"/>
                <a:ext cx="5798098" cy="275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defTabSz="914377">
                  <a:defRPr/>
                </a:pPr>
                <a:endParaRPr lang="pt-BR" sz="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" name="Elipse 2"/>
              <p:cNvSpPr/>
              <p:nvPr/>
            </p:nvSpPr>
            <p:spPr>
              <a:xfrm>
                <a:off x="4500563" y="2090120"/>
                <a:ext cx="2897973" cy="2880000"/>
              </a:xfrm>
              <a:prstGeom prst="ellipse">
                <a:avLst/>
              </a:prstGeom>
              <a:solidFill>
                <a:srgbClr val="00D318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800" b="0" i="0" u="none" strike="noStrike" cap="none" spc="0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Simplon BP Regular"/>
                  </a:rPr>
                  <a:t>Client</a:t>
                </a:r>
                <a:r>
                  <a:rPr kumimoji="0" lang="en-US" sz="2800" b="0" i="0" u="none" strike="noStrike" cap="none" spc="0" normalizeH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Simplon BP Regular"/>
                  </a:rPr>
                  <a:t> Co</a:t>
                </a:r>
                <a:endParaRPr kumimoji="0" lang="en-US" sz="2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sp>
            <p:nvSpPr>
              <p:cNvPr id="4" name="Rosca 3"/>
              <p:cNvSpPr/>
              <p:nvPr/>
            </p:nvSpPr>
            <p:spPr>
              <a:xfrm>
                <a:off x="3541943" y="1189632"/>
                <a:ext cx="4824000" cy="4824000"/>
              </a:xfrm>
              <a:prstGeom prst="donut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  <p:sp>
            <p:nvSpPr>
              <p:cNvPr id="32" name="Rectangle 28">
                <a:extLst>
                  <a:ext uri="{FF2B5EF4-FFF2-40B4-BE49-F238E27FC236}">
                    <a16:creationId xmlns:a16="http://schemas.microsoft.com/office/drawing/2014/main" id="{E52CE9D0-8DD1-41D0-A40E-07659363E2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329996" y="2235005"/>
                <a:ext cx="2412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 smtClean="0">
                    <a:solidFill>
                      <a:srgbClr val="000000"/>
                    </a:solidFill>
                    <a:latin typeface="+mj-lt"/>
                  </a:rPr>
                  <a:t>Societário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68" name="Rectangle 28">
                <a:extLst>
                  <a:ext uri="{FF2B5EF4-FFF2-40B4-BE49-F238E27FC236}">
                    <a16:creationId xmlns:a16="http://schemas.microsoft.com/office/drawing/2014/main" id="{E52CE9D0-8DD1-41D0-A40E-07659363E2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071319" y="1452952"/>
                <a:ext cx="2124000" cy="324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>
                    <a:solidFill>
                      <a:srgbClr val="000000"/>
                    </a:solidFill>
                    <a:latin typeface="+mj-lt"/>
                  </a:rPr>
                  <a:t>Regulatório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36" name="Rectangle 28">
                <a:extLst>
                  <a:ext uri="{FF2B5EF4-FFF2-40B4-BE49-F238E27FC236}">
                    <a16:creationId xmlns:a16="http://schemas.microsoft.com/office/drawing/2014/main" id="{E52CE9D0-8DD1-41D0-A40E-07659363E2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4729262" y="909710"/>
                <a:ext cx="2412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 smtClean="0">
                    <a:solidFill>
                      <a:srgbClr val="000000"/>
                    </a:solidFill>
                  </a:rPr>
                  <a:t>Sistemas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37" name="Rectangle 28">
                <a:extLst>
                  <a:ext uri="{FF2B5EF4-FFF2-40B4-BE49-F238E27FC236}">
                    <a16:creationId xmlns:a16="http://schemas.microsoft.com/office/drawing/2014/main" id="{E52CE9D0-8DD1-41D0-A40E-07659363E2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4743549" y="5720905"/>
                <a:ext cx="2412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 smtClean="0">
                    <a:solidFill>
                      <a:srgbClr val="000000"/>
                    </a:solidFill>
                  </a:rPr>
                  <a:t>Operacional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2" name="Rectangle 25">
                <a:extLst>
                  <a:ext uri="{FF2B5EF4-FFF2-40B4-BE49-F238E27FC236}">
                    <a16:creationId xmlns:a16="http://schemas.microsoft.com/office/drawing/2014/main" id="{53850EC7-76CD-4BBC-9BF3-5FC42657AB5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587333" y="3206019"/>
                <a:ext cx="2412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>
                    <a:solidFill>
                      <a:srgbClr val="000000"/>
                    </a:solidFill>
                  </a:rPr>
                  <a:t>Ativos</a:t>
                </a:r>
                <a:r>
                  <a:rPr lang="en-US" sz="1600" dirty="0" smtClean="0">
                    <a:solidFill>
                      <a:srgbClr val="000000"/>
                    </a:solidFill>
                  </a:rPr>
                  <a:t>/ </a:t>
                </a:r>
                <a:r>
                  <a:rPr lang="en-US" sz="1600" dirty="0" err="1" smtClean="0">
                    <a:solidFill>
                      <a:srgbClr val="000000"/>
                    </a:solidFill>
                  </a:rPr>
                  <a:t>Sistemas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3" name="Rectangle 26">
                <a:extLst>
                  <a:ext uri="{FF2B5EF4-FFF2-40B4-BE49-F238E27FC236}">
                    <a16:creationId xmlns:a16="http://schemas.microsoft.com/office/drawing/2014/main" id="{C222E130-F569-412C-B121-29F223BA5B3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449161" y="2338744"/>
                <a:ext cx="2412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>
                    <a:solidFill>
                      <a:srgbClr val="000000"/>
                    </a:solidFill>
                    <a:latin typeface="+mj-lt"/>
                  </a:rPr>
                  <a:t>Ativos</a:t>
                </a:r>
                <a:r>
                  <a:rPr lang="en-US" sz="1600" dirty="0" smtClean="0">
                    <a:solidFill>
                      <a:srgbClr val="000000"/>
                    </a:solidFill>
                    <a:latin typeface="+mj-lt"/>
                  </a:rPr>
                  <a:t>/ </a:t>
                </a:r>
                <a:r>
                  <a:rPr lang="en-US" sz="1600" dirty="0" err="1" smtClean="0">
                    <a:solidFill>
                      <a:srgbClr val="000000"/>
                    </a:solidFill>
                    <a:latin typeface="+mj-lt"/>
                  </a:rPr>
                  <a:t>Equipamentos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" name="Rectangle 27">
                <a:extLst>
                  <a:ext uri="{FF2B5EF4-FFF2-40B4-BE49-F238E27FC236}">
                    <a16:creationId xmlns:a16="http://schemas.microsoft.com/office/drawing/2014/main" id="{43171842-6F11-4344-B33B-E7CA4456E61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467017" y="4113549"/>
                <a:ext cx="2412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 smtClean="0">
                    <a:solidFill>
                      <a:srgbClr val="000000"/>
                    </a:solidFill>
                    <a:latin typeface="+mj-lt"/>
                  </a:rPr>
                  <a:t>Contratos</a:t>
                </a:r>
                <a:r>
                  <a:rPr lang="en-US" sz="1600" dirty="0" smtClean="0">
                    <a:solidFill>
                      <a:srgbClr val="000000"/>
                    </a:solidFill>
                    <a:latin typeface="+mj-lt"/>
                  </a:rPr>
                  <a:t>/ </a:t>
                </a:r>
                <a:r>
                  <a:rPr lang="en-US" sz="1600" dirty="0" err="1" smtClean="0">
                    <a:solidFill>
                      <a:srgbClr val="000000"/>
                    </a:solidFill>
                    <a:latin typeface="+mj-lt"/>
                  </a:rPr>
                  <a:t>Comunicação</a:t>
                </a:r>
                <a:endParaRPr lang="en-US" sz="1600" dirty="0" smtClean="0">
                  <a:solidFill>
                    <a:srgbClr val="000000"/>
                  </a:solidFill>
                  <a:latin typeface="+mj-lt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 smtClean="0">
                    <a:solidFill>
                      <a:srgbClr val="000000"/>
                    </a:solidFill>
                  </a:rPr>
                  <a:t>Fornecedores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5" name="Rectangle 28">
                <a:extLst>
                  <a:ext uri="{FF2B5EF4-FFF2-40B4-BE49-F238E27FC236}">
                    <a16:creationId xmlns:a16="http://schemas.microsoft.com/office/drawing/2014/main" id="{E52CE9D0-8DD1-41D0-A40E-07659363E2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992830" y="5037514"/>
                <a:ext cx="2412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>
                    <a:solidFill>
                      <a:srgbClr val="000000"/>
                    </a:solidFill>
                    <a:latin typeface="+mj-lt"/>
                  </a:rPr>
                  <a:t>Pessoas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38" name="Rectangle 28">
                <a:extLst>
                  <a:ext uri="{FF2B5EF4-FFF2-40B4-BE49-F238E27FC236}">
                    <a16:creationId xmlns:a16="http://schemas.microsoft.com/office/drawing/2014/main" id="{E52CE9D0-8DD1-41D0-A40E-07659363E2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297664" y="1519121"/>
                <a:ext cx="2412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 smtClean="0">
                    <a:solidFill>
                      <a:srgbClr val="000000"/>
                    </a:solidFill>
                  </a:rPr>
                  <a:t>Financeira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41" name="Rectangle 27">
                <a:extLst>
                  <a:ext uri="{FF2B5EF4-FFF2-40B4-BE49-F238E27FC236}">
                    <a16:creationId xmlns:a16="http://schemas.microsoft.com/office/drawing/2014/main" id="{43171842-6F11-4344-B33B-E7CA4456E61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761077" y="5121279"/>
                <a:ext cx="2412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 smtClean="0">
                    <a:solidFill>
                      <a:srgbClr val="000000"/>
                    </a:solidFill>
                    <a:latin typeface="+mj-lt"/>
                  </a:rPr>
                  <a:t>Contratos</a:t>
                </a:r>
                <a:r>
                  <a:rPr lang="en-US" sz="1600" dirty="0" smtClean="0">
                    <a:solidFill>
                      <a:srgbClr val="000000"/>
                    </a:solidFill>
                    <a:latin typeface="+mj-lt"/>
                  </a:rPr>
                  <a:t>/ </a:t>
                </a:r>
                <a:r>
                  <a:rPr lang="en-US" sz="1600" dirty="0" err="1" smtClean="0">
                    <a:solidFill>
                      <a:srgbClr val="000000"/>
                    </a:solidFill>
                    <a:latin typeface="+mj-lt"/>
                  </a:rPr>
                  <a:t>Comunicação</a:t>
                </a:r>
                <a:endParaRPr lang="en-US" sz="1600" dirty="0" smtClean="0">
                  <a:solidFill>
                    <a:srgbClr val="000000"/>
                  </a:solidFill>
                  <a:latin typeface="+mj-lt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 smtClean="0">
                    <a:solidFill>
                      <a:srgbClr val="000000"/>
                    </a:solidFill>
                  </a:rPr>
                  <a:t>Clientes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39" name="Rectangle 28">
                <a:extLst>
                  <a:ext uri="{FF2B5EF4-FFF2-40B4-BE49-F238E27FC236}">
                    <a16:creationId xmlns:a16="http://schemas.microsoft.com/office/drawing/2014/main" id="{E52CE9D0-8DD1-41D0-A40E-07659363E2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69191" y="4168895"/>
                <a:ext cx="2412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 smtClean="0">
                    <a:solidFill>
                      <a:srgbClr val="000000"/>
                    </a:solidFill>
                  </a:rPr>
                  <a:t>Operação</a:t>
                </a:r>
                <a:r>
                  <a:rPr lang="en-US" sz="1600" dirty="0" smtClean="0">
                    <a:solidFill>
                      <a:srgbClr val="000000"/>
                    </a:solidFill>
                  </a:rPr>
                  <a:t> do TSA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40" name="Rectangle 28">
                <a:extLst>
                  <a:ext uri="{FF2B5EF4-FFF2-40B4-BE49-F238E27FC236}">
                    <a16:creationId xmlns:a16="http://schemas.microsoft.com/office/drawing/2014/main" id="{E52CE9D0-8DD1-41D0-A40E-07659363E2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466995" y="3218713"/>
                <a:ext cx="1980000" cy="46800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lIns="90000" tIns="90000" rIns="90000" bIns="9000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A28A"/>
                  </a:buClr>
                  <a:buFont typeface="Times" pitchFamily="18" charset="0"/>
                  <a:buNone/>
                </a:pPr>
                <a:r>
                  <a:rPr lang="en-US" sz="1600" dirty="0" err="1" smtClean="0">
                    <a:solidFill>
                      <a:srgbClr val="000000"/>
                    </a:solidFill>
                  </a:rPr>
                  <a:t>Migração</a:t>
                </a:r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42" name="Freeform 38">
                <a:extLst>
                  <a:ext uri="{FF2B5EF4-FFF2-40B4-BE49-F238E27FC236}">
                    <a16:creationId xmlns:a16="http://schemas.microsoft.com/office/drawing/2014/main" id="{E8CA04B4-B375-4171-AF01-80479F05E42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806320" y="5441990"/>
                <a:ext cx="307232" cy="396080"/>
              </a:xfrm>
              <a:custGeom>
                <a:avLst/>
                <a:gdLst>
                  <a:gd name="T0" fmla="*/ 2147483647 w 3704"/>
                  <a:gd name="T1" fmla="*/ 2147483647 h 4763"/>
                  <a:gd name="T2" fmla="*/ 2147483647 w 3704"/>
                  <a:gd name="T3" fmla="*/ 2147483647 h 4763"/>
                  <a:gd name="T4" fmla="*/ 2147483647 w 3704"/>
                  <a:gd name="T5" fmla="*/ 2147483647 h 4763"/>
                  <a:gd name="T6" fmla="*/ 2147483647 w 3704"/>
                  <a:gd name="T7" fmla="*/ 2147483647 h 4763"/>
                  <a:gd name="T8" fmla="*/ 2147483647 w 3704"/>
                  <a:gd name="T9" fmla="*/ 2147483647 h 4763"/>
                  <a:gd name="T10" fmla="*/ 2147483647 w 3704"/>
                  <a:gd name="T11" fmla="*/ 2147483647 h 4763"/>
                  <a:gd name="T12" fmla="*/ 2147483647 w 3704"/>
                  <a:gd name="T13" fmla="*/ 2147483647 h 4763"/>
                  <a:gd name="T14" fmla="*/ 2147483647 w 3704"/>
                  <a:gd name="T15" fmla="*/ 2147483647 h 4763"/>
                  <a:gd name="T16" fmla="*/ 2147483647 w 3704"/>
                  <a:gd name="T17" fmla="*/ 2147483647 h 4763"/>
                  <a:gd name="T18" fmla="*/ 2147483647 w 3704"/>
                  <a:gd name="T19" fmla="*/ 2147483647 h 4763"/>
                  <a:gd name="T20" fmla="*/ 2147483647 w 3704"/>
                  <a:gd name="T21" fmla="*/ 2147483647 h 4763"/>
                  <a:gd name="T22" fmla="*/ 2147483647 w 3704"/>
                  <a:gd name="T23" fmla="*/ 2147483647 h 4763"/>
                  <a:gd name="T24" fmla="*/ 2147483647 w 3704"/>
                  <a:gd name="T25" fmla="*/ 2147483647 h 4763"/>
                  <a:gd name="T26" fmla="*/ 2147483647 w 3704"/>
                  <a:gd name="T27" fmla="*/ 2147483647 h 4763"/>
                  <a:gd name="T28" fmla="*/ 2147483647 w 3704"/>
                  <a:gd name="T29" fmla="*/ 2147483647 h 4763"/>
                  <a:gd name="T30" fmla="*/ 2147483647 w 3704"/>
                  <a:gd name="T31" fmla="*/ 2147483647 h 4763"/>
                  <a:gd name="T32" fmla="*/ 2147483647 w 3704"/>
                  <a:gd name="T33" fmla="*/ 2147483647 h 4763"/>
                  <a:gd name="T34" fmla="*/ 2147483647 w 3704"/>
                  <a:gd name="T35" fmla="*/ 2147483647 h 4763"/>
                  <a:gd name="T36" fmla="*/ 2147483647 w 3704"/>
                  <a:gd name="T37" fmla="*/ 2147483647 h 4763"/>
                  <a:gd name="T38" fmla="*/ 2147483647 w 3704"/>
                  <a:gd name="T39" fmla="*/ 2147483647 h 4763"/>
                  <a:gd name="T40" fmla="*/ 2147483647 w 3704"/>
                  <a:gd name="T41" fmla="*/ 2147483647 h 4763"/>
                  <a:gd name="T42" fmla="*/ 2147483647 w 3704"/>
                  <a:gd name="T43" fmla="*/ 2147483647 h 4763"/>
                  <a:gd name="T44" fmla="*/ 2147483647 w 3704"/>
                  <a:gd name="T45" fmla="*/ 2147483647 h 4763"/>
                  <a:gd name="T46" fmla="*/ 2147483647 w 3704"/>
                  <a:gd name="T47" fmla="*/ 2147483647 h 4763"/>
                  <a:gd name="T48" fmla="*/ 2147483647 w 3704"/>
                  <a:gd name="T49" fmla="*/ 2147483647 h 4763"/>
                  <a:gd name="T50" fmla="*/ 2147483647 w 3704"/>
                  <a:gd name="T51" fmla="*/ 2147483647 h 4763"/>
                  <a:gd name="T52" fmla="*/ 0 w 3704"/>
                  <a:gd name="T53" fmla="*/ 2147483647 h 4763"/>
                  <a:gd name="T54" fmla="*/ 0 w 3704"/>
                  <a:gd name="T55" fmla="*/ 2147483647 h 4763"/>
                  <a:gd name="T56" fmla="*/ 2147483647 w 3704"/>
                  <a:gd name="T57" fmla="*/ 2147483647 h 4763"/>
                  <a:gd name="T58" fmla="*/ 2147483647 w 3704"/>
                  <a:gd name="T59" fmla="*/ 2147483647 h 4763"/>
                  <a:gd name="T60" fmla="*/ 2147483647 w 3704"/>
                  <a:gd name="T61" fmla="*/ 2147483647 h 4763"/>
                  <a:gd name="T62" fmla="*/ 2147483647 w 3704"/>
                  <a:gd name="T63" fmla="*/ 2147483647 h 4763"/>
                  <a:gd name="T64" fmla="*/ 2147483647 w 3704"/>
                  <a:gd name="T65" fmla="*/ 2147483647 h 4763"/>
                  <a:gd name="T66" fmla="*/ 2147483647 w 3704"/>
                  <a:gd name="T67" fmla="*/ 2147483647 h 4763"/>
                  <a:gd name="T68" fmla="*/ 2147483647 w 3704"/>
                  <a:gd name="T69" fmla="*/ 2147483647 h 4763"/>
                  <a:gd name="T70" fmla="*/ 2147483647 w 3704"/>
                  <a:gd name="T71" fmla="*/ 2147483647 h 4763"/>
                  <a:gd name="T72" fmla="*/ 2147483647 w 3704"/>
                  <a:gd name="T73" fmla="*/ 2147483647 h 4763"/>
                  <a:gd name="T74" fmla="*/ 2147483647 w 3704"/>
                  <a:gd name="T75" fmla="*/ 2147483647 h 4763"/>
                  <a:gd name="T76" fmla="*/ 2147483647 w 3704"/>
                  <a:gd name="T77" fmla="*/ 2147483647 h 4763"/>
                  <a:gd name="T78" fmla="*/ 2147483647 w 3704"/>
                  <a:gd name="T79" fmla="*/ 2147483647 h 4763"/>
                  <a:gd name="T80" fmla="*/ 2147483647 w 3704"/>
                  <a:gd name="T81" fmla="*/ 2147483647 h 4763"/>
                  <a:gd name="T82" fmla="*/ 2147483647 w 3704"/>
                  <a:gd name="T83" fmla="*/ 2147483647 h 4763"/>
                  <a:gd name="T84" fmla="*/ 2147483647 w 3704"/>
                  <a:gd name="T85" fmla="*/ 2147483647 h 4763"/>
                  <a:gd name="T86" fmla="*/ 2147483647 w 3704"/>
                  <a:gd name="T87" fmla="*/ 2147483647 h 4763"/>
                  <a:gd name="T88" fmla="*/ 2147483647 w 3704"/>
                  <a:gd name="T89" fmla="*/ 2147483647 h 4763"/>
                  <a:gd name="T90" fmla="*/ 2147483647 w 3704"/>
                  <a:gd name="T91" fmla="*/ 2147483647 h 4763"/>
                  <a:gd name="T92" fmla="*/ 2147483647 w 3704"/>
                  <a:gd name="T93" fmla="*/ 2147483647 h 4763"/>
                  <a:gd name="T94" fmla="*/ 2147483647 w 3704"/>
                  <a:gd name="T95" fmla="*/ 2147483647 h 4763"/>
                  <a:gd name="T96" fmla="*/ 2147483647 w 3704"/>
                  <a:gd name="T97" fmla="*/ 2147483647 h 4763"/>
                  <a:gd name="T98" fmla="*/ 2147483647 w 3704"/>
                  <a:gd name="T99" fmla="*/ 2147483647 h 4763"/>
                  <a:gd name="T100" fmla="*/ 2147483647 w 3704"/>
                  <a:gd name="T101" fmla="*/ 0 h 4763"/>
                  <a:gd name="T102" fmla="*/ 2147483647 w 3704"/>
                  <a:gd name="T103" fmla="*/ 0 h 4763"/>
                  <a:gd name="T104" fmla="*/ 2147483647 w 3704"/>
                  <a:gd name="T105" fmla="*/ 2147483647 h 4763"/>
                  <a:gd name="T106" fmla="*/ 2147483647 w 3704"/>
                  <a:gd name="T107" fmla="*/ 2147483647 h 4763"/>
                  <a:gd name="T108" fmla="*/ 2147483647 w 3704"/>
                  <a:gd name="T109" fmla="*/ 2147483647 h 4763"/>
                  <a:gd name="T110" fmla="*/ 2147483647 w 3704"/>
                  <a:gd name="T111" fmla="*/ 2147483647 h 4763"/>
                  <a:gd name="T112" fmla="*/ 2147483647 w 3704"/>
                  <a:gd name="T113" fmla="*/ 2147483647 h 4763"/>
                  <a:gd name="T114" fmla="*/ 2147483647 w 3704"/>
                  <a:gd name="T115" fmla="*/ 2147483647 h 4763"/>
                  <a:gd name="T116" fmla="*/ 2147483647 w 3704"/>
                  <a:gd name="T117" fmla="*/ 2147483647 h 4763"/>
                  <a:gd name="T118" fmla="*/ 2147483647 w 3704"/>
                  <a:gd name="T119" fmla="*/ 2147483647 h 4763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3704"/>
                  <a:gd name="T181" fmla="*/ 0 h 4763"/>
                  <a:gd name="T182" fmla="*/ 3704 w 3704"/>
                  <a:gd name="T183" fmla="*/ 4763 h 4763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3704" h="4763">
                    <a:moveTo>
                      <a:pt x="577" y="554"/>
                    </a:moveTo>
                    <a:lnTo>
                      <a:pt x="577" y="337"/>
                    </a:lnTo>
                    <a:lnTo>
                      <a:pt x="3327" y="337"/>
                    </a:lnTo>
                    <a:lnTo>
                      <a:pt x="3327" y="4213"/>
                    </a:lnTo>
                    <a:lnTo>
                      <a:pt x="3074" y="4213"/>
                    </a:lnTo>
                    <a:lnTo>
                      <a:pt x="3074" y="4115"/>
                    </a:lnTo>
                    <a:lnTo>
                      <a:pt x="3229" y="4115"/>
                    </a:lnTo>
                    <a:lnTo>
                      <a:pt x="3229" y="435"/>
                    </a:lnTo>
                    <a:lnTo>
                      <a:pt x="675" y="435"/>
                    </a:lnTo>
                    <a:lnTo>
                      <a:pt x="675" y="554"/>
                    </a:lnTo>
                    <a:lnTo>
                      <a:pt x="577" y="554"/>
                    </a:lnTo>
                    <a:close/>
                    <a:moveTo>
                      <a:pt x="528" y="3793"/>
                    </a:moveTo>
                    <a:lnTo>
                      <a:pt x="2020" y="3793"/>
                    </a:lnTo>
                    <a:lnTo>
                      <a:pt x="2020" y="3890"/>
                    </a:lnTo>
                    <a:lnTo>
                      <a:pt x="528" y="3890"/>
                    </a:lnTo>
                    <a:lnTo>
                      <a:pt x="528" y="3793"/>
                    </a:lnTo>
                    <a:close/>
                    <a:moveTo>
                      <a:pt x="2685" y="1426"/>
                    </a:moveTo>
                    <a:lnTo>
                      <a:pt x="2198" y="945"/>
                    </a:lnTo>
                    <a:lnTo>
                      <a:pt x="2198" y="1426"/>
                    </a:lnTo>
                    <a:lnTo>
                      <a:pt x="2685" y="1426"/>
                    </a:lnTo>
                    <a:close/>
                    <a:moveTo>
                      <a:pt x="195" y="849"/>
                    </a:moveTo>
                    <a:lnTo>
                      <a:pt x="195" y="4568"/>
                    </a:lnTo>
                    <a:lnTo>
                      <a:pt x="2768" y="4568"/>
                    </a:lnTo>
                    <a:lnTo>
                      <a:pt x="2769" y="1718"/>
                    </a:lnTo>
                    <a:lnTo>
                      <a:pt x="2964" y="1718"/>
                    </a:lnTo>
                    <a:lnTo>
                      <a:pt x="2962" y="4763"/>
                    </a:lnTo>
                    <a:lnTo>
                      <a:pt x="0" y="4763"/>
                    </a:lnTo>
                    <a:lnTo>
                      <a:pt x="0" y="654"/>
                    </a:lnTo>
                    <a:lnTo>
                      <a:pt x="2190" y="654"/>
                    </a:lnTo>
                    <a:lnTo>
                      <a:pt x="2965" y="1428"/>
                    </a:lnTo>
                    <a:lnTo>
                      <a:pt x="2964" y="1621"/>
                    </a:lnTo>
                    <a:lnTo>
                      <a:pt x="2003" y="1621"/>
                    </a:lnTo>
                    <a:lnTo>
                      <a:pt x="2003" y="849"/>
                    </a:lnTo>
                    <a:lnTo>
                      <a:pt x="195" y="849"/>
                    </a:lnTo>
                    <a:close/>
                    <a:moveTo>
                      <a:pt x="528" y="2209"/>
                    </a:moveTo>
                    <a:lnTo>
                      <a:pt x="2434" y="2209"/>
                    </a:lnTo>
                    <a:lnTo>
                      <a:pt x="2434" y="2306"/>
                    </a:lnTo>
                    <a:lnTo>
                      <a:pt x="528" y="2306"/>
                    </a:lnTo>
                    <a:lnTo>
                      <a:pt x="528" y="2209"/>
                    </a:lnTo>
                    <a:close/>
                    <a:moveTo>
                      <a:pt x="528" y="2737"/>
                    </a:moveTo>
                    <a:lnTo>
                      <a:pt x="2434" y="2737"/>
                    </a:lnTo>
                    <a:lnTo>
                      <a:pt x="2434" y="2834"/>
                    </a:lnTo>
                    <a:lnTo>
                      <a:pt x="528" y="2834"/>
                    </a:lnTo>
                    <a:lnTo>
                      <a:pt x="528" y="2737"/>
                    </a:lnTo>
                    <a:close/>
                    <a:moveTo>
                      <a:pt x="528" y="3265"/>
                    </a:moveTo>
                    <a:lnTo>
                      <a:pt x="2434" y="3265"/>
                    </a:lnTo>
                    <a:lnTo>
                      <a:pt x="2434" y="3363"/>
                    </a:lnTo>
                    <a:lnTo>
                      <a:pt x="528" y="3363"/>
                    </a:lnTo>
                    <a:lnTo>
                      <a:pt x="528" y="3265"/>
                    </a:lnTo>
                    <a:close/>
                    <a:moveTo>
                      <a:pt x="964" y="218"/>
                    </a:moveTo>
                    <a:lnTo>
                      <a:pt x="964" y="0"/>
                    </a:lnTo>
                    <a:lnTo>
                      <a:pt x="3704" y="0"/>
                    </a:lnTo>
                    <a:lnTo>
                      <a:pt x="3704" y="3896"/>
                    </a:lnTo>
                    <a:lnTo>
                      <a:pt x="3452" y="3896"/>
                    </a:lnTo>
                    <a:lnTo>
                      <a:pt x="3452" y="3799"/>
                    </a:lnTo>
                    <a:lnTo>
                      <a:pt x="3607" y="3799"/>
                    </a:lnTo>
                    <a:lnTo>
                      <a:pt x="3607" y="97"/>
                    </a:lnTo>
                    <a:lnTo>
                      <a:pt x="1062" y="97"/>
                    </a:lnTo>
                    <a:lnTo>
                      <a:pt x="1062" y="218"/>
                    </a:lnTo>
                    <a:lnTo>
                      <a:pt x="964" y="218"/>
                    </a:lnTo>
                    <a:close/>
                  </a:path>
                </a:pathLst>
              </a:custGeom>
              <a:solidFill>
                <a:srgbClr val="FF6D00"/>
              </a:solidFill>
              <a:ln w="9525">
                <a:solidFill>
                  <a:srgbClr val="00D318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43" name="Gruppieren 3">
                <a:extLst>
                  <a:ext uri="{FF2B5EF4-FFF2-40B4-BE49-F238E27FC236}">
                    <a16:creationId xmlns:a16="http://schemas.microsoft.com/office/drawing/2014/main" id="{33FD9937-2C63-4004-A274-F164CC8A06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30426" y="765114"/>
                <a:ext cx="485147" cy="418693"/>
                <a:chOff x="7400925" y="6498546"/>
                <a:chExt cx="1895475" cy="1487488"/>
              </a:xfrm>
              <a:solidFill>
                <a:srgbClr val="00D318"/>
              </a:solidFill>
            </p:grpSpPr>
            <p:sp>
              <p:nvSpPr>
                <p:cNvPr id="44" name="Freeform 10">
                  <a:extLst>
                    <a:ext uri="{FF2B5EF4-FFF2-40B4-BE49-F238E27FC236}">
                      <a16:creationId xmlns:a16="http://schemas.microsoft.com/office/drawing/2014/main" id="{F0BB7988-7E49-4FE5-893C-EB80E44595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0925" y="7038296"/>
                  <a:ext cx="1073147" cy="947738"/>
                </a:xfrm>
                <a:custGeom>
                  <a:avLst/>
                  <a:gdLst>
                    <a:gd name="T0" fmla="*/ 2147483647 w 2980"/>
                    <a:gd name="T1" fmla="*/ 0 h 2634"/>
                    <a:gd name="T2" fmla="*/ 2147483647 w 2980"/>
                    <a:gd name="T3" fmla="*/ 0 h 2634"/>
                    <a:gd name="T4" fmla="*/ 2147483647 w 2980"/>
                    <a:gd name="T5" fmla="*/ 0 h 2634"/>
                    <a:gd name="T6" fmla="*/ 0 w 2980"/>
                    <a:gd name="T7" fmla="*/ 2147483647 h 2634"/>
                    <a:gd name="T8" fmla="*/ 0 w 2980"/>
                    <a:gd name="T9" fmla="*/ 2147483647 h 2634"/>
                    <a:gd name="T10" fmla="*/ 2147483647 w 2980"/>
                    <a:gd name="T11" fmla="*/ 2147483647 h 2634"/>
                    <a:gd name="T12" fmla="*/ 2147483647 w 2980"/>
                    <a:gd name="T13" fmla="*/ 2147483647 h 2634"/>
                    <a:gd name="T14" fmla="*/ 2147483647 w 2980"/>
                    <a:gd name="T15" fmla="*/ 2147483647 h 2634"/>
                    <a:gd name="T16" fmla="*/ 2147483647 w 2980"/>
                    <a:gd name="T17" fmla="*/ 2147483647 h 2634"/>
                    <a:gd name="T18" fmla="*/ 2147483647 w 2980"/>
                    <a:gd name="T19" fmla="*/ 2147483647 h 2634"/>
                    <a:gd name="T20" fmla="*/ 2147483647 w 2980"/>
                    <a:gd name="T21" fmla="*/ 2147483647 h 2634"/>
                    <a:gd name="T22" fmla="*/ 2147483647 w 2980"/>
                    <a:gd name="T23" fmla="*/ 2147483647 h 2634"/>
                    <a:gd name="T24" fmla="*/ 2147483647 w 2980"/>
                    <a:gd name="T25" fmla="*/ 2147483647 h 2634"/>
                    <a:gd name="T26" fmla="*/ 2147483647 w 2980"/>
                    <a:gd name="T27" fmla="*/ 2147483647 h 2634"/>
                    <a:gd name="T28" fmla="*/ 2147483647 w 2980"/>
                    <a:gd name="T29" fmla="*/ 2147483647 h 2634"/>
                    <a:gd name="T30" fmla="*/ 2147483647 w 2980"/>
                    <a:gd name="T31" fmla="*/ 2147483647 h 2634"/>
                    <a:gd name="T32" fmla="*/ 2147483647 w 2980"/>
                    <a:gd name="T33" fmla="*/ 2147483647 h 2634"/>
                    <a:gd name="T34" fmla="*/ 2147483647 w 2980"/>
                    <a:gd name="T35" fmla="*/ 2147483647 h 2634"/>
                    <a:gd name="T36" fmla="*/ 2147483647 w 2980"/>
                    <a:gd name="T37" fmla="*/ 2147483647 h 2634"/>
                    <a:gd name="T38" fmla="*/ 2147483647 w 2980"/>
                    <a:gd name="T39" fmla="*/ 0 h 2634"/>
                    <a:gd name="T40" fmla="*/ 2147483647 w 2980"/>
                    <a:gd name="T41" fmla="*/ 2147483647 h 2634"/>
                    <a:gd name="T42" fmla="*/ 2147483647 w 2980"/>
                    <a:gd name="T43" fmla="*/ 2147483647 h 2634"/>
                    <a:gd name="T44" fmla="*/ 2147483647 w 2980"/>
                    <a:gd name="T45" fmla="*/ 2147483647 h 2634"/>
                    <a:gd name="T46" fmla="*/ 2147483647 w 2980"/>
                    <a:gd name="T47" fmla="*/ 2147483647 h 2634"/>
                    <a:gd name="T48" fmla="*/ 2147483647 w 2980"/>
                    <a:gd name="T49" fmla="*/ 2147483647 h 2634"/>
                    <a:gd name="T50" fmla="*/ 2147483647 w 2980"/>
                    <a:gd name="T51" fmla="*/ 2147483647 h 2634"/>
                    <a:gd name="T52" fmla="*/ 2147483647 w 2980"/>
                    <a:gd name="T53" fmla="*/ 2147483647 h 2634"/>
                    <a:gd name="T54" fmla="*/ 2147483647 w 2980"/>
                    <a:gd name="T55" fmla="*/ 2147483647 h 2634"/>
                    <a:gd name="T56" fmla="*/ 2147483647 w 2980"/>
                    <a:gd name="T57" fmla="*/ 2147483647 h 2634"/>
                    <a:gd name="T58" fmla="*/ 2147483647 w 2980"/>
                    <a:gd name="T59" fmla="*/ 2147483647 h 2634"/>
                    <a:gd name="T60" fmla="*/ 2147483647 w 2980"/>
                    <a:gd name="T61" fmla="*/ 2147483647 h 2634"/>
                    <a:gd name="T62" fmla="*/ 2147483647 w 2980"/>
                    <a:gd name="T63" fmla="*/ 2147483647 h 2634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2980" h="2634">
                      <a:moveTo>
                        <a:pt x="2819" y="0"/>
                      </a:moveTo>
                      <a:lnTo>
                        <a:pt x="2819" y="0"/>
                      </a:lnTo>
                      <a:cubicBezTo>
                        <a:pt x="160" y="0"/>
                        <a:pt x="160" y="0"/>
                        <a:pt x="160" y="0"/>
                      </a:cubicBezTo>
                      <a:cubicBezTo>
                        <a:pt x="73" y="0"/>
                        <a:pt x="0" y="70"/>
                        <a:pt x="0" y="160"/>
                      </a:cubicBezTo>
                      <a:cubicBezTo>
                        <a:pt x="0" y="1871"/>
                        <a:pt x="0" y="1871"/>
                        <a:pt x="0" y="1871"/>
                      </a:cubicBezTo>
                      <a:cubicBezTo>
                        <a:pt x="0" y="1960"/>
                        <a:pt x="73" y="2031"/>
                        <a:pt x="160" y="2031"/>
                      </a:cubicBezTo>
                      <a:cubicBezTo>
                        <a:pt x="1153" y="2031"/>
                        <a:pt x="1153" y="2031"/>
                        <a:pt x="1153" y="2031"/>
                      </a:cubicBezTo>
                      <a:cubicBezTo>
                        <a:pt x="1153" y="2439"/>
                        <a:pt x="1153" y="2439"/>
                        <a:pt x="1153" y="2439"/>
                      </a:cubicBezTo>
                      <a:cubicBezTo>
                        <a:pt x="709" y="2439"/>
                        <a:pt x="709" y="2439"/>
                        <a:pt x="709" y="2439"/>
                      </a:cubicBezTo>
                      <a:cubicBezTo>
                        <a:pt x="623" y="2439"/>
                        <a:pt x="549" y="2509"/>
                        <a:pt x="549" y="2599"/>
                      </a:cubicBezTo>
                      <a:cubicBezTo>
                        <a:pt x="549" y="2633"/>
                        <a:pt x="549" y="2633"/>
                        <a:pt x="549" y="2633"/>
                      </a:cubicBezTo>
                      <a:cubicBezTo>
                        <a:pt x="2430" y="2633"/>
                        <a:pt x="2430" y="2633"/>
                        <a:pt x="2430" y="2633"/>
                      </a:cubicBezTo>
                      <a:cubicBezTo>
                        <a:pt x="2430" y="2599"/>
                        <a:pt x="2430" y="2599"/>
                        <a:pt x="2430" y="2599"/>
                      </a:cubicBezTo>
                      <a:cubicBezTo>
                        <a:pt x="2430" y="2509"/>
                        <a:pt x="2359" y="2439"/>
                        <a:pt x="2270" y="2439"/>
                      </a:cubicBezTo>
                      <a:cubicBezTo>
                        <a:pt x="1828" y="2439"/>
                        <a:pt x="1828" y="2439"/>
                        <a:pt x="1828" y="2439"/>
                      </a:cubicBezTo>
                      <a:cubicBezTo>
                        <a:pt x="1828" y="2031"/>
                        <a:pt x="1828" y="2031"/>
                        <a:pt x="1828" y="2031"/>
                      </a:cubicBezTo>
                      <a:cubicBezTo>
                        <a:pt x="2819" y="2031"/>
                        <a:pt x="2819" y="2031"/>
                        <a:pt x="2819" y="2031"/>
                      </a:cubicBezTo>
                      <a:cubicBezTo>
                        <a:pt x="2908" y="2031"/>
                        <a:pt x="2979" y="1960"/>
                        <a:pt x="2979" y="1871"/>
                      </a:cubicBezTo>
                      <a:cubicBezTo>
                        <a:pt x="2979" y="160"/>
                        <a:pt x="2979" y="160"/>
                        <a:pt x="2979" y="160"/>
                      </a:cubicBezTo>
                      <a:cubicBezTo>
                        <a:pt x="2979" y="70"/>
                        <a:pt x="2908" y="0"/>
                        <a:pt x="2819" y="0"/>
                      </a:cubicBezTo>
                      <a:close/>
                      <a:moveTo>
                        <a:pt x="1675" y="1921"/>
                      </a:moveTo>
                      <a:lnTo>
                        <a:pt x="1675" y="1921"/>
                      </a:lnTo>
                      <a:cubicBezTo>
                        <a:pt x="1304" y="1921"/>
                        <a:pt x="1304" y="1921"/>
                        <a:pt x="1304" y="1921"/>
                      </a:cubicBezTo>
                      <a:cubicBezTo>
                        <a:pt x="1304" y="1864"/>
                        <a:pt x="1304" y="1864"/>
                        <a:pt x="1304" y="1864"/>
                      </a:cubicBezTo>
                      <a:cubicBezTo>
                        <a:pt x="1675" y="1864"/>
                        <a:pt x="1675" y="1864"/>
                        <a:pt x="1675" y="1864"/>
                      </a:cubicBezTo>
                      <a:lnTo>
                        <a:pt x="1675" y="1921"/>
                      </a:lnTo>
                      <a:close/>
                      <a:moveTo>
                        <a:pt x="2798" y="1761"/>
                      </a:moveTo>
                      <a:lnTo>
                        <a:pt x="2798" y="1761"/>
                      </a:lnTo>
                      <a:cubicBezTo>
                        <a:pt x="183" y="1761"/>
                        <a:pt x="183" y="1761"/>
                        <a:pt x="183" y="1761"/>
                      </a:cubicBezTo>
                      <a:cubicBezTo>
                        <a:pt x="183" y="176"/>
                        <a:pt x="183" y="176"/>
                        <a:pt x="183" y="176"/>
                      </a:cubicBezTo>
                      <a:cubicBezTo>
                        <a:pt x="2798" y="176"/>
                        <a:pt x="2798" y="176"/>
                        <a:pt x="2798" y="176"/>
                      </a:cubicBezTo>
                      <a:lnTo>
                        <a:pt x="2798" y="176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91440" rIns="91440" bIns="91440" anchor="ctr" anchorCtr="0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600" b="0" i="0" u="none" strike="noStrike" kern="0" cap="none" spc="0" normalizeH="0" baseline="0" dirty="0">
                    <a:ln>
                      <a:noFill/>
                    </a:ln>
                    <a:solidFill>
                      <a:srgbClr val="646464"/>
                    </a:solidFill>
                    <a:effectLst/>
                    <a:uLnTx/>
                    <a:uFillTx/>
                    <a:latin typeface="Simplon BP Regular"/>
                    <a:cs typeface="Arial" charset="0"/>
                  </a:endParaRPr>
                </a:p>
              </p:txBody>
            </p:sp>
            <p:grpSp>
              <p:nvGrpSpPr>
                <p:cNvPr id="46" name="Gruppieren 1">
                  <a:extLst>
                    <a:ext uri="{FF2B5EF4-FFF2-40B4-BE49-F238E27FC236}">
                      <a16:creationId xmlns:a16="http://schemas.microsoft.com/office/drawing/2014/main" id="{E626B848-37EF-49E5-91DF-47F83B6ED0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564563" y="6498546"/>
                  <a:ext cx="731837" cy="1487488"/>
                  <a:chOff x="8564563" y="6498546"/>
                  <a:chExt cx="731837" cy="1487488"/>
                </a:xfrm>
                <a:grpFill/>
              </p:grpSpPr>
              <p:sp>
                <p:nvSpPr>
                  <p:cNvPr id="47" name="Freeform 11">
                    <a:extLst>
                      <a:ext uri="{FF2B5EF4-FFF2-40B4-BE49-F238E27FC236}">
                        <a16:creationId xmlns:a16="http://schemas.microsoft.com/office/drawing/2014/main" id="{954C5D79-5ECC-4A5C-9527-2722C3DDB2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64563" y="6498546"/>
                    <a:ext cx="731837" cy="1487488"/>
                  </a:xfrm>
                  <a:custGeom>
                    <a:avLst/>
                    <a:gdLst>
                      <a:gd name="T0" fmla="*/ 2147483647 w 2033"/>
                      <a:gd name="T1" fmla="*/ 0 h 4133"/>
                      <a:gd name="T2" fmla="*/ 2147483647 w 2033"/>
                      <a:gd name="T3" fmla="*/ 0 h 4133"/>
                      <a:gd name="T4" fmla="*/ 2147483647 w 2033"/>
                      <a:gd name="T5" fmla="*/ 0 h 4133"/>
                      <a:gd name="T6" fmla="*/ 0 w 2033"/>
                      <a:gd name="T7" fmla="*/ 2147483647 h 4133"/>
                      <a:gd name="T8" fmla="*/ 0 w 2033"/>
                      <a:gd name="T9" fmla="*/ 2147483647 h 4133"/>
                      <a:gd name="T10" fmla="*/ 2147483647 w 2033"/>
                      <a:gd name="T11" fmla="*/ 2147483647 h 4133"/>
                      <a:gd name="T12" fmla="*/ 2147483647 w 2033"/>
                      <a:gd name="T13" fmla="*/ 2147483647 h 4133"/>
                      <a:gd name="T14" fmla="*/ 2147483647 w 2033"/>
                      <a:gd name="T15" fmla="*/ 2147483647 h 4133"/>
                      <a:gd name="T16" fmla="*/ 2147483647 w 2033"/>
                      <a:gd name="T17" fmla="*/ 2147483647 h 4133"/>
                      <a:gd name="T18" fmla="*/ 2147483647 w 2033"/>
                      <a:gd name="T19" fmla="*/ 0 h 4133"/>
                      <a:gd name="T20" fmla="*/ 2147483647 w 2033"/>
                      <a:gd name="T21" fmla="*/ 2147483647 h 4133"/>
                      <a:gd name="T22" fmla="*/ 2147483647 w 2033"/>
                      <a:gd name="T23" fmla="*/ 2147483647 h 4133"/>
                      <a:gd name="T24" fmla="*/ 2147483647 w 2033"/>
                      <a:gd name="T25" fmla="*/ 2147483647 h 4133"/>
                      <a:gd name="T26" fmla="*/ 2147483647 w 2033"/>
                      <a:gd name="T27" fmla="*/ 2147483647 h 4133"/>
                      <a:gd name="T28" fmla="*/ 2147483647 w 2033"/>
                      <a:gd name="T29" fmla="*/ 2147483647 h 4133"/>
                      <a:gd name="T30" fmla="*/ 2147483647 w 2033"/>
                      <a:gd name="T31" fmla="*/ 2147483647 h 4133"/>
                      <a:gd name="T32" fmla="*/ 2147483647 w 2033"/>
                      <a:gd name="T33" fmla="*/ 2147483647 h 4133"/>
                      <a:gd name="T34" fmla="*/ 2147483647 w 2033"/>
                      <a:gd name="T35" fmla="*/ 2147483647 h 4133"/>
                      <a:gd name="T36" fmla="*/ 2147483647 w 2033"/>
                      <a:gd name="T37" fmla="*/ 2147483647 h 4133"/>
                      <a:gd name="T38" fmla="*/ 2147483647 w 2033"/>
                      <a:gd name="T39" fmla="*/ 2147483647 h 4133"/>
                      <a:gd name="T40" fmla="*/ 2147483647 w 2033"/>
                      <a:gd name="T41" fmla="*/ 2147483647 h 4133"/>
                      <a:gd name="T42" fmla="*/ 2147483647 w 2033"/>
                      <a:gd name="T43" fmla="*/ 2147483647 h 4133"/>
                      <a:gd name="T44" fmla="*/ 2147483647 w 2033"/>
                      <a:gd name="T45" fmla="*/ 2147483647 h 4133"/>
                      <a:gd name="T46" fmla="*/ 2147483647 w 2033"/>
                      <a:gd name="T47" fmla="*/ 2147483647 h 4133"/>
                      <a:gd name="T48" fmla="*/ 2147483647 w 2033"/>
                      <a:gd name="T49" fmla="*/ 2147483647 h 4133"/>
                      <a:gd name="T50" fmla="*/ 2147483647 w 2033"/>
                      <a:gd name="T51" fmla="*/ 2147483647 h 4133"/>
                      <a:gd name="T52" fmla="*/ 2147483647 w 2033"/>
                      <a:gd name="T53" fmla="*/ 2147483647 h 4133"/>
                      <a:gd name="T54" fmla="*/ 2147483647 w 2033"/>
                      <a:gd name="T55" fmla="*/ 2147483647 h 4133"/>
                      <a:gd name="T56" fmla="*/ 2147483647 w 2033"/>
                      <a:gd name="T57" fmla="*/ 2147483647 h 4133"/>
                      <a:gd name="T58" fmla="*/ 2147483647 w 2033"/>
                      <a:gd name="T59" fmla="*/ 2147483647 h 4133"/>
                      <a:gd name="T60" fmla="*/ 2147483647 w 2033"/>
                      <a:gd name="T61" fmla="*/ 2147483647 h 4133"/>
                      <a:gd name="T62" fmla="*/ 2147483647 w 2033"/>
                      <a:gd name="T63" fmla="*/ 2147483647 h 4133"/>
                      <a:gd name="T64" fmla="*/ 2147483647 w 2033"/>
                      <a:gd name="T65" fmla="*/ 2147483647 h 4133"/>
                      <a:gd name="T66" fmla="*/ 2147483647 w 2033"/>
                      <a:gd name="T67" fmla="*/ 2147483647 h 4133"/>
                      <a:gd name="T68" fmla="*/ 2147483647 w 2033"/>
                      <a:gd name="T69" fmla="*/ 2147483647 h 4133"/>
                      <a:gd name="T70" fmla="*/ 2147483647 w 2033"/>
                      <a:gd name="T71" fmla="*/ 2147483647 h 4133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2033" h="4133">
                        <a:moveTo>
                          <a:pt x="1872" y="0"/>
                        </a:moveTo>
                        <a:lnTo>
                          <a:pt x="1872" y="0"/>
                        </a:lnTo>
                        <a:cubicBezTo>
                          <a:pt x="160" y="0"/>
                          <a:pt x="160" y="0"/>
                          <a:pt x="160" y="0"/>
                        </a:cubicBezTo>
                        <a:cubicBezTo>
                          <a:pt x="71" y="0"/>
                          <a:pt x="0" y="71"/>
                          <a:pt x="0" y="160"/>
                        </a:cubicBezTo>
                        <a:cubicBezTo>
                          <a:pt x="0" y="3972"/>
                          <a:pt x="0" y="3972"/>
                          <a:pt x="0" y="3972"/>
                        </a:cubicBezTo>
                        <a:cubicBezTo>
                          <a:pt x="0" y="4061"/>
                          <a:pt x="71" y="4132"/>
                          <a:pt x="160" y="4132"/>
                        </a:cubicBezTo>
                        <a:cubicBezTo>
                          <a:pt x="1872" y="4132"/>
                          <a:pt x="1872" y="4132"/>
                          <a:pt x="1872" y="4132"/>
                        </a:cubicBezTo>
                        <a:cubicBezTo>
                          <a:pt x="1961" y="4132"/>
                          <a:pt x="2032" y="4061"/>
                          <a:pt x="2032" y="4082"/>
                        </a:cubicBezTo>
                        <a:cubicBezTo>
                          <a:pt x="2032" y="270"/>
                          <a:pt x="2032" y="270"/>
                          <a:pt x="2032" y="270"/>
                        </a:cubicBezTo>
                        <a:cubicBezTo>
                          <a:pt x="2032" y="71"/>
                          <a:pt x="1961" y="0"/>
                          <a:pt x="1872" y="0"/>
                        </a:cubicBezTo>
                        <a:close/>
                        <a:moveTo>
                          <a:pt x="1016" y="3622"/>
                        </a:moveTo>
                        <a:lnTo>
                          <a:pt x="1016" y="3622"/>
                        </a:lnTo>
                        <a:cubicBezTo>
                          <a:pt x="858" y="3622"/>
                          <a:pt x="732" y="3496"/>
                          <a:pt x="732" y="3340"/>
                        </a:cubicBezTo>
                        <a:cubicBezTo>
                          <a:pt x="732" y="3185"/>
                          <a:pt x="858" y="3057"/>
                          <a:pt x="1016" y="3057"/>
                        </a:cubicBezTo>
                        <a:cubicBezTo>
                          <a:pt x="1172" y="3057"/>
                          <a:pt x="1298" y="3185"/>
                          <a:pt x="1298" y="3340"/>
                        </a:cubicBezTo>
                        <a:cubicBezTo>
                          <a:pt x="1298" y="3496"/>
                          <a:pt x="1172" y="3622"/>
                          <a:pt x="1016" y="3622"/>
                        </a:cubicBezTo>
                        <a:close/>
                        <a:moveTo>
                          <a:pt x="1840" y="975"/>
                        </a:moveTo>
                        <a:lnTo>
                          <a:pt x="1840" y="975"/>
                        </a:lnTo>
                        <a:cubicBezTo>
                          <a:pt x="1840" y="1041"/>
                          <a:pt x="1785" y="1096"/>
                          <a:pt x="1718" y="1096"/>
                        </a:cubicBezTo>
                        <a:cubicBezTo>
                          <a:pt x="314" y="1096"/>
                          <a:pt x="314" y="1096"/>
                          <a:pt x="314" y="1096"/>
                        </a:cubicBezTo>
                        <a:cubicBezTo>
                          <a:pt x="245" y="1096"/>
                          <a:pt x="193" y="1041"/>
                          <a:pt x="193" y="975"/>
                        </a:cubicBezTo>
                        <a:cubicBezTo>
                          <a:pt x="193" y="945"/>
                          <a:pt x="193" y="945"/>
                          <a:pt x="193" y="945"/>
                        </a:cubicBezTo>
                        <a:cubicBezTo>
                          <a:pt x="193" y="876"/>
                          <a:pt x="245" y="821"/>
                          <a:pt x="314" y="821"/>
                        </a:cubicBezTo>
                        <a:cubicBezTo>
                          <a:pt x="1718" y="821"/>
                          <a:pt x="1718" y="821"/>
                          <a:pt x="1718" y="821"/>
                        </a:cubicBezTo>
                        <a:cubicBezTo>
                          <a:pt x="1785" y="821"/>
                          <a:pt x="1840" y="876"/>
                          <a:pt x="1840" y="945"/>
                        </a:cubicBezTo>
                        <a:lnTo>
                          <a:pt x="1840" y="975"/>
                        </a:lnTo>
                        <a:close/>
                        <a:moveTo>
                          <a:pt x="1840" y="510"/>
                        </a:moveTo>
                        <a:lnTo>
                          <a:pt x="1840" y="510"/>
                        </a:lnTo>
                        <a:cubicBezTo>
                          <a:pt x="1840" y="576"/>
                          <a:pt x="1785" y="631"/>
                          <a:pt x="1718" y="631"/>
                        </a:cubicBezTo>
                        <a:cubicBezTo>
                          <a:pt x="314" y="631"/>
                          <a:pt x="314" y="631"/>
                          <a:pt x="314" y="631"/>
                        </a:cubicBezTo>
                        <a:cubicBezTo>
                          <a:pt x="245" y="631"/>
                          <a:pt x="193" y="576"/>
                          <a:pt x="193" y="510"/>
                        </a:cubicBezTo>
                        <a:cubicBezTo>
                          <a:pt x="193" y="481"/>
                          <a:pt x="193" y="481"/>
                          <a:pt x="193" y="481"/>
                        </a:cubicBezTo>
                        <a:cubicBezTo>
                          <a:pt x="193" y="414"/>
                          <a:pt x="245" y="359"/>
                          <a:pt x="314" y="359"/>
                        </a:cubicBezTo>
                        <a:cubicBezTo>
                          <a:pt x="1718" y="359"/>
                          <a:pt x="1718" y="359"/>
                          <a:pt x="1718" y="359"/>
                        </a:cubicBezTo>
                        <a:cubicBezTo>
                          <a:pt x="1785" y="359"/>
                          <a:pt x="1840" y="414"/>
                          <a:pt x="1840" y="481"/>
                        </a:cubicBezTo>
                        <a:lnTo>
                          <a:pt x="1840" y="51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rgbClr val="808080"/>
                        </a:solidFill>
                        <a:bevel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91440" rIns="91440" bIns="91440" anchor="ctr" anchorCtr="0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600" b="0" i="0" u="none" strike="noStrike" kern="0" cap="none" spc="0" normalizeH="0" baseline="0" dirty="0">
                      <a:ln>
                        <a:noFill/>
                      </a:ln>
                      <a:solidFill>
                        <a:srgbClr val="646464"/>
                      </a:solidFill>
                      <a:effectLst/>
                      <a:uLnTx/>
                      <a:uFillTx/>
                      <a:latin typeface="Simplon BP Regular"/>
                      <a:cs typeface="Arial" charset="0"/>
                    </a:endParaRPr>
                  </a:p>
                </p:txBody>
              </p:sp>
              <p:sp>
                <p:nvSpPr>
                  <p:cNvPr id="48" name="Freeform 12">
                    <a:extLst>
                      <a:ext uri="{FF2B5EF4-FFF2-40B4-BE49-F238E27FC236}">
                        <a16:creationId xmlns:a16="http://schemas.microsoft.com/office/drawing/2014/main" id="{B5EB250F-82EC-4880-A7BC-840D4F8A5D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70950" y="6778625"/>
                    <a:ext cx="120650" cy="120650"/>
                  </a:xfrm>
                  <a:custGeom>
                    <a:avLst/>
                    <a:gdLst>
                      <a:gd name="T0" fmla="*/ 2147483647 w 335"/>
                      <a:gd name="T1" fmla="*/ 2147483647 h 335"/>
                      <a:gd name="T2" fmla="*/ 2147483647 w 335"/>
                      <a:gd name="T3" fmla="*/ 2147483647 h 335"/>
                      <a:gd name="T4" fmla="*/ 2147483647 w 335"/>
                      <a:gd name="T5" fmla="*/ 2147483647 h 335"/>
                      <a:gd name="T6" fmla="*/ 0 w 335"/>
                      <a:gd name="T7" fmla="*/ 2147483647 h 335"/>
                      <a:gd name="T8" fmla="*/ 2147483647 w 335"/>
                      <a:gd name="T9" fmla="*/ 0 h 335"/>
                      <a:gd name="T10" fmla="*/ 2147483647 w 335"/>
                      <a:gd name="T11" fmla="*/ 2147483647 h 33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35" h="335">
                        <a:moveTo>
                          <a:pt x="334" y="167"/>
                        </a:moveTo>
                        <a:lnTo>
                          <a:pt x="334" y="167"/>
                        </a:lnTo>
                        <a:cubicBezTo>
                          <a:pt x="334" y="259"/>
                          <a:pt x="259" y="334"/>
                          <a:pt x="167" y="334"/>
                        </a:cubicBezTo>
                        <a:cubicBezTo>
                          <a:pt x="73" y="334"/>
                          <a:pt x="0" y="259"/>
                          <a:pt x="0" y="167"/>
                        </a:cubicBezTo>
                        <a:cubicBezTo>
                          <a:pt x="0" y="74"/>
                          <a:pt x="73" y="0"/>
                          <a:pt x="167" y="0"/>
                        </a:cubicBezTo>
                        <a:cubicBezTo>
                          <a:pt x="259" y="0"/>
                          <a:pt x="334" y="74"/>
                          <a:pt x="334" y="167"/>
                        </a:cubicBezTo>
                      </a:path>
                    </a:pathLst>
                  </a:custGeom>
                  <a:grpFill/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>
                        <a:solidFill>
                          <a:srgbClr val="808080"/>
                        </a:solidFill>
                        <a:bevel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91440" rIns="91440" bIns="91440" anchor="ctr" anchorCtr="0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600" b="0" i="0" u="none" strike="noStrike" kern="0" cap="none" spc="0" normalizeH="0" baseline="0" dirty="0">
                      <a:ln>
                        <a:noFill/>
                      </a:ln>
                      <a:solidFill>
                        <a:srgbClr val="646464"/>
                      </a:solidFill>
                      <a:effectLst/>
                      <a:uLnTx/>
                      <a:uFillTx/>
                      <a:latin typeface="Simplon BP Regular"/>
                      <a:cs typeface="Arial" charset="0"/>
                    </a:endParaRPr>
                  </a:p>
                </p:txBody>
              </p:sp>
            </p:grpSp>
          </p:grpSp>
          <p:pic>
            <p:nvPicPr>
              <p:cNvPr id="69" name="Google Shape;1509;p94" descr="Google Shape;1509;p9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8829" y="6293395"/>
                <a:ext cx="541439" cy="541439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78" name="Google Shape;1518;p94" descr="Google Shape;1518;p9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03080" y="1308709"/>
                <a:ext cx="555093" cy="555092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75" name="Google Shape;1510;p94" descr="Google Shape;1510;p9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85533" y="4377749"/>
                <a:ext cx="511284" cy="511284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5" name="Imagem 4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68761" y="1480081"/>
                <a:ext cx="480708" cy="480708"/>
              </a:xfrm>
              <a:prstGeom prst="rect">
                <a:avLst/>
              </a:prstGeom>
            </p:spPr>
          </p:pic>
          <p:sp>
            <p:nvSpPr>
              <p:cNvPr id="57" name="Pie 24">
                <a:extLst>
                  <a:ext uri="{FF2B5EF4-FFF2-40B4-BE49-F238E27FC236}">
                    <a16:creationId xmlns:a16="http://schemas.microsoft.com/office/drawing/2014/main" id="{D342AEF7-5F8E-4F56-943C-858A469D5565}"/>
                  </a:ext>
                </a:extLst>
              </p:cNvPr>
              <p:cNvSpPr/>
              <p:nvPr/>
            </p:nvSpPr>
            <p:spPr>
              <a:xfrm>
                <a:off x="2579360" y="2284723"/>
                <a:ext cx="350460" cy="348520"/>
              </a:xfrm>
              <a:custGeom>
                <a:avLst/>
                <a:gdLst/>
                <a:ahLst/>
                <a:cxnLst/>
                <a:rect l="l" t="t" r="r" b="b"/>
                <a:pathLst>
                  <a:path w="3228711" h="3210836">
                    <a:moveTo>
                      <a:pt x="351626" y="695968"/>
                    </a:moveTo>
                    <a:lnTo>
                      <a:pt x="1548007" y="1678300"/>
                    </a:lnTo>
                    <a:lnTo>
                      <a:pt x="236194" y="2500159"/>
                    </a:lnTo>
                    <a:cubicBezTo>
                      <a:pt x="-116985" y="1936431"/>
                      <a:pt x="-70514" y="1210092"/>
                      <a:pt x="351626" y="695968"/>
                    </a:cubicBezTo>
                    <a:close/>
                    <a:moveTo>
                      <a:pt x="1957429" y="262366"/>
                    </a:moveTo>
                    <a:cubicBezTo>
                      <a:pt x="2634256" y="359480"/>
                      <a:pt x="3156733" y="907132"/>
                      <a:pt x="3221913" y="1587776"/>
                    </a:cubicBezTo>
                    <a:cubicBezTo>
                      <a:pt x="3287093" y="2268421"/>
                      <a:pt x="2878048" y="2905277"/>
                      <a:pt x="2231953" y="3129078"/>
                    </a:cubicBezTo>
                    <a:cubicBezTo>
                      <a:pt x="1585858" y="3352879"/>
                      <a:pt x="870522" y="3105497"/>
                      <a:pt x="500715" y="2530372"/>
                    </a:cubicBezTo>
                    <a:lnTo>
                      <a:pt x="1746987" y="1729019"/>
                    </a:lnTo>
                    <a:close/>
                    <a:moveTo>
                      <a:pt x="1604447" y="200"/>
                    </a:moveTo>
                    <a:cubicBezTo>
                      <a:pt x="1665125" y="-778"/>
                      <a:pt x="1726175" y="1809"/>
                      <a:pt x="1787307" y="8072"/>
                    </a:cubicBezTo>
                    <a:lnTo>
                      <a:pt x="1629532" y="1548011"/>
                    </a:lnTo>
                    <a:lnTo>
                      <a:pt x="483856" y="506987"/>
                    </a:lnTo>
                    <a:cubicBezTo>
                      <a:pt x="773141" y="188622"/>
                      <a:pt x="1179697" y="7051"/>
                      <a:pt x="1604447" y="200"/>
                    </a:cubicBezTo>
                    <a:close/>
                  </a:path>
                </a:pathLst>
              </a:custGeom>
              <a:solidFill>
                <a:srgbClr val="00D3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81" name="Google Shape;1534;p94" descr="Google Shape;1534;p9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01283" y="4117570"/>
                <a:ext cx="520359" cy="520359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82" name="Google Shape;1505;p94" descr="Google Shape;1505;p9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49227" y="3134409"/>
                <a:ext cx="580815" cy="580815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65" name="Freeform 11">
                <a:extLst>
                  <a:ext uri="{FF2B5EF4-FFF2-40B4-BE49-F238E27FC236}">
                    <a16:creationId xmlns:a16="http://schemas.microsoft.com/office/drawing/2014/main" id="{954C5D79-5ECC-4A5C-9527-2722C3DDB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5395" y="3278281"/>
                <a:ext cx="187313" cy="418693"/>
              </a:xfrm>
              <a:custGeom>
                <a:avLst/>
                <a:gdLst>
                  <a:gd name="T0" fmla="*/ 2147483647 w 2033"/>
                  <a:gd name="T1" fmla="*/ 0 h 4133"/>
                  <a:gd name="T2" fmla="*/ 2147483647 w 2033"/>
                  <a:gd name="T3" fmla="*/ 0 h 4133"/>
                  <a:gd name="T4" fmla="*/ 2147483647 w 2033"/>
                  <a:gd name="T5" fmla="*/ 0 h 4133"/>
                  <a:gd name="T6" fmla="*/ 0 w 2033"/>
                  <a:gd name="T7" fmla="*/ 2147483647 h 4133"/>
                  <a:gd name="T8" fmla="*/ 0 w 2033"/>
                  <a:gd name="T9" fmla="*/ 2147483647 h 4133"/>
                  <a:gd name="T10" fmla="*/ 2147483647 w 2033"/>
                  <a:gd name="T11" fmla="*/ 2147483647 h 4133"/>
                  <a:gd name="T12" fmla="*/ 2147483647 w 2033"/>
                  <a:gd name="T13" fmla="*/ 2147483647 h 4133"/>
                  <a:gd name="T14" fmla="*/ 2147483647 w 2033"/>
                  <a:gd name="T15" fmla="*/ 2147483647 h 4133"/>
                  <a:gd name="T16" fmla="*/ 2147483647 w 2033"/>
                  <a:gd name="T17" fmla="*/ 2147483647 h 4133"/>
                  <a:gd name="T18" fmla="*/ 2147483647 w 2033"/>
                  <a:gd name="T19" fmla="*/ 0 h 4133"/>
                  <a:gd name="T20" fmla="*/ 2147483647 w 2033"/>
                  <a:gd name="T21" fmla="*/ 2147483647 h 4133"/>
                  <a:gd name="T22" fmla="*/ 2147483647 w 2033"/>
                  <a:gd name="T23" fmla="*/ 2147483647 h 4133"/>
                  <a:gd name="T24" fmla="*/ 2147483647 w 2033"/>
                  <a:gd name="T25" fmla="*/ 2147483647 h 4133"/>
                  <a:gd name="T26" fmla="*/ 2147483647 w 2033"/>
                  <a:gd name="T27" fmla="*/ 2147483647 h 4133"/>
                  <a:gd name="T28" fmla="*/ 2147483647 w 2033"/>
                  <a:gd name="T29" fmla="*/ 2147483647 h 4133"/>
                  <a:gd name="T30" fmla="*/ 2147483647 w 2033"/>
                  <a:gd name="T31" fmla="*/ 2147483647 h 4133"/>
                  <a:gd name="T32" fmla="*/ 2147483647 w 2033"/>
                  <a:gd name="T33" fmla="*/ 2147483647 h 4133"/>
                  <a:gd name="T34" fmla="*/ 2147483647 w 2033"/>
                  <a:gd name="T35" fmla="*/ 2147483647 h 4133"/>
                  <a:gd name="T36" fmla="*/ 2147483647 w 2033"/>
                  <a:gd name="T37" fmla="*/ 2147483647 h 4133"/>
                  <a:gd name="T38" fmla="*/ 2147483647 w 2033"/>
                  <a:gd name="T39" fmla="*/ 2147483647 h 4133"/>
                  <a:gd name="T40" fmla="*/ 2147483647 w 2033"/>
                  <a:gd name="T41" fmla="*/ 2147483647 h 4133"/>
                  <a:gd name="T42" fmla="*/ 2147483647 w 2033"/>
                  <a:gd name="T43" fmla="*/ 2147483647 h 4133"/>
                  <a:gd name="T44" fmla="*/ 2147483647 w 2033"/>
                  <a:gd name="T45" fmla="*/ 2147483647 h 4133"/>
                  <a:gd name="T46" fmla="*/ 2147483647 w 2033"/>
                  <a:gd name="T47" fmla="*/ 2147483647 h 4133"/>
                  <a:gd name="T48" fmla="*/ 2147483647 w 2033"/>
                  <a:gd name="T49" fmla="*/ 2147483647 h 4133"/>
                  <a:gd name="T50" fmla="*/ 2147483647 w 2033"/>
                  <a:gd name="T51" fmla="*/ 2147483647 h 4133"/>
                  <a:gd name="T52" fmla="*/ 2147483647 w 2033"/>
                  <a:gd name="T53" fmla="*/ 2147483647 h 4133"/>
                  <a:gd name="T54" fmla="*/ 2147483647 w 2033"/>
                  <a:gd name="T55" fmla="*/ 2147483647 h 4133"/>
                  <a:gd name="T56" fmla="*/ 2147483647 w 2033"/>
                  <a:gd name="T57" fmla="*/ 2147483647 h 4133"/>
                  <a:gd name="T58" fmla="*/ 2147483647 w 2033"/>
                  <a:gd name="T59" fmla="*/ 2147483647 h 4133"/>
                  <a:gd name="T60" fmla="*/ 2147483647 w 2033"/>
                  <a:gd name="T61" fmla="*/ 2147483647 h 4133"/>
                  <a:gd name="T62" fmla="*/ 2147483647 w 2033"/>
                  <a:gd name="T63" fmla="*/ 2147483647 h 4133"/>
                  <a:gd name="T64" fmla="*/ 2147483647 w 2033"/>
                  <a:gd name="T65" fmla="*/ 2147483647 h 4133"/>
                  <a:gd name="T66" fmla="*/ 2147483647 w 2033"/>
                  <a:gd name="T67" fmla="*/ 2147483647 h 4133"/>
                  <a:gd name="T68" fmla="*/ 2147483647 w 2033"/>
                  <a:gd name="T69" fmla="*/ 2147483647 h 4133"/>
                  <a:gd name="T70" fmla="*/ 2147483647 w 2033"/>
                  <a:gd name="T71" fmla="*/ 2147483647 h 413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033" h="4133">
                    <a:moveTo>
                      <a:pt x="1872" y="0"/>
                    </a:moveTo>
                    <a:lnTo>
                      <a:pt x="1872" y="0"/>
                    </a:lnTo>
                    <a:cubicBezTo>
                      <a:pt x="160" y="0"/>
                      <a:pt x="160" y="0"/>
                      <a:pt x="160" y="0"/>
                    </a:cubicBezTo>
                    <a:cubicBezTo>
                      <a:pt x="71" y="0"/>
                      <a:pt x="0" y="71"/>
                      <a:pt x="0" y="160"/>
                    </a:cubicBezTo>
                    <a:cubicBezTo>
                      <a:pt x="0" y="3972"/>
                      <a:pt x="0" y="3972"/>
                      <a:pt x="0" y="3972"/>
                    </a:cubicBezTo>
                    <a:cubicBezTo>
                      <a:pt x="0" y="4061"/>
                      <a:pt x="71" y="4132"/>
                      <a:pt x="160" y="4132"/>
                    </a:cubicBezTo>
                    <a:cubicBezTo>
                      <a:pt x="1872" y="4132"/>
                      <a:pt x="1872" y="4132"/>
                      <a:pt x="1872" y="4132"/>
                    </a:cubicBezTo>
                    <a:cubicBezTo>
                      <a:pt x="1961" y="4132"/>
                      <a:pt x="2032" y="4061"/>
                      <a:pt x="2032" y="4082"/>
                    </a:cubicBezTo>
                    <a:cubicBezTo>
                      <a:pt x="2032" y="270"/>
                      <a:pt x="2032" y="270"/>
                      <a:pt x="2032" y="270"/>
                    </a:cubicBezTo>
                    <a:cubicBezTo>
                      <a:pt x="2032" y="71"/>
                      <a:pt x="1961" y="0"/>
                      <a:pt x="1872" y="0"/>
                    </a:cubicBezTo>
                    <a:close/>
                    <a:moveTo>
                      <a:pt x="1016" y="3622"/>
                    </a:moveTo>
                    <a:lnTo>
                      <a:pt x="1016" y="3622"/>
                    </a:lnTo>
                    <a:cubicBezTo>
                      <a:pt x="858" y="3622"/>
                      <a:pt x="732" y="3496"/>
                      <a:pt x="732" y="3340"/>
                    </a:cubicBezTo>
                    <a:cubicBezTo>
                      <a:pt x="732" y="3185"/>
                      <a:pt x="858" y="3057"/>
                      <a:pt x="1016" y="3057"/>
                    </a:cubicBezTo>
                    <a:cubicBezTo>
                      <a:pt x="1172" y="3057"/>
                      <a:pt x="1298" y="3185"/>
                      <a:pt x="1298" y="3340"/>
                    </a:cubicBezTo>
                    <a:cubicBezTo>
                      <a:pt x="1298" y="3496"/>
                      <a:pt x="1172" y="3622"/>
                      <a:pt x="1016" y="3622"/>
                    </a:cubicBezTo>
                    <a:close/>
                    <a:moveTo>
                      <a:pt x="1840" y="975"/>
                    </a:moveTo>
                    <a:lnTo>
                      <a:pt x="1840" y="975"/>
                    </a:lnTo>
                    <a:cubicBezTo>
                      <a:pt x="1840" y="1041"/>
                      <a:pt x="1785" y="1096"/>
                      <a:pt x="1718" y="1096"/>
                    </a:cubicBezTo>
                    <a:cubicBezTo>
                      <a:pt x="314" y="1096"/>
                      <a:pt x="314" y="1096"/>
                      <a:pt x="314" y="1096"/>
                    </a:cubicBezTo>
                    <a:cubicBezTo>
                      <a:pt x="245" y="1096"/>
                      <a:pt x="193" y="1041"/>
                      <a:pt x="193" y="975"/>
                    </a:cubicBezTo>
                    <a:cubicBezTo>
                      <a:pt x="193" y="945"/>
                      <a:pt x="193" y="945"/>
                      <a:pt x="193" y="945"/>
                    </a:cubicBezTo>
                    <a:cubicBezTo>
                      <a:pt x="193" y="876"/>
                      <a:pt x="245" y="821"/>
                      <a:pt x="314" y="821"/>
                    </a:cubicBezTo>
                    <a:cubicBezTo>
                      <a:pt x="1718" y="821"/>
                      <a:pt x="1718" y="821"/>
                      <a:pt x="1718" y="821"/>
                    </a:cubicBezTo>
                    <a:cubicBezTo>
                      <a:pt x="1785" y="821"/>
                      <a:pt x="1840" y="876"/>
                      <a:pt x="1840" y="945"/>
                    </a:cubicBezTo>
                    <a:lnTo>
                      <a:pt x="1840" y="975"/>
                    </a:lnTo>
                    <a:close/>
                    <a:moveTo>
                      <a:pt x="1840" y="510"/>
                    </a:moveTo>
                    <a:lnTo>
                      <a:pt x="1840" y="510"/>
                    </a:lnTo>
                    <a:cubicBezTo>
                      <a:pt x="1840" y="576"/>
                      <a:pt x="1785" y="631"/>
                      <a:pt x="1718" y="631"/>
                    </a:cubicBezTo>
                    <a:cubicBezTo>
                      <a:pt x="314" y="631"/>
                      <a:pt x="314" y="631"/>
                      <a:pt x="314" y="631"/>
                    </a:cubicBezTo>
                    <a:cubicBezTo>
                      <a:pt x="245" y="631"/>
                      <a:pt x="193" y="576"/>
                      <a:pt x="193" y="510"/>
                    </a:cubicBezTo>
                    <a:cubicBezTo>
                      <a:pt x="193" y="481"/>
                      <a:pt x="193" y="481"/>
                      <a:pt x="193" y="481"/>
                    </a:cubicBezTo>
                    <a:cubicBezTo>
                      <a:pt x="193" y="414"/>
                      <a:pt x="245" y="359"/>
                      <a:pt x="314" y="359"/>
                    </a:cubicBezTo>
                    <a:cubicBezTo>
                      <a:pt x="1718" y="359"/>
                      <a:pt x="1718" y="359"/>
                      <a:pt x="1718" y="359"/>
                    </a:cubicBezTo>
                    <a:cubicBezTo>
                      <a:pt x="1785" y="359"/>
                      <a:pt x="1840" y="414"/>
                      <a:pt x="1840" y="481"/>
                    </a:cubicBezTo>
                    <a:lnTo>
                      <a:pt x="1840" y="510"/>
                    </a:lnTo>
                    <a:close/>
                  </a:path>
                </a:pathLst>
              </a:custGeom>
              <a:solidFill>
                <a:srgbClr val="00D31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91440" rIns="91440" bIns="91440" anchor="ctr" anchorCtr="0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600" b="0" i="0" u="none" strike="noStrike" kern="0" cap="none" spc="0" normalizeH="0" baseline="0" dirty="0">
                  <a:ln>
                    <a:noFill/>
                  </a:ln>
                  <a:solidFill>
                    <a:srgbClr val="646464"/>
                  </a:solidFill>
                  <a:effectLst/>
                  <a:uLnTx/>
                  <a:uFillTx/>
                  <a:latin typeface="Simplon BP Regular"/>
                  <a:cs typeface="Arial" charset="0"/>
                </a:endParaRPr>
              </a:p>
            </p:txBody>
          </p:sp>
          <p:pic>
            <p:nvPicPr>
              <p:cNvPr id="79" name="Google Shape;1524;p94" descr="Google Shape;1524;p9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78527" y="2318345"/>
                <a:ext cx="491114" cy="491114"/>
              </a:xfrm>
              <a:prstGeom prst="rect">
                <a:avLst/>
              </a:prstGeom>
              <a:ln w="12700">
                <a:miter lim="400000"/>
              </a:ln>
            </p:spPr>
          </p:pic>
        </p:grpSp>
        <p:grpSp>
          <p:nvGrpSpPr>
            <p:cNvPr id="76" name="Group 62">
              <a:extLst>
                <a:ext uri="{FF2B5EF4-FFF2-40B4-BE49-F238E27FC236}">
                  <a16:creationId xmlns:a16="http://schemas.microsoft.com/office/drawing/2014/main" id="{D30A1650-C89D-4AB0-83EA-BE2E0B8FD396}"/>
                </a:ext>
              </a:extLst>
            </p:cNvPr>
            <p:cNvGrpSpPr/>
            <p:nvPr/>
          </p:nvGrpSpPr>
          <p:grpSpPr>
            <a:xfrm>
              <a:off x="3312530" y="5219387"/>
              <a:ext cx="374230" cy="244249"/>
              <a:chOff x="693333" y="1564750"/>
              <a:chExt cx="520785" cy="358432"/>
            </a:xfrm>
            <a:solidFill>
              <a:srgbClr val="00D318"/>
            </a:solidFill>
          </p:grpSpPr>
          <p:sp>
            <p:nvSpPr>
              <p:cNvPr id="80" name="Freeform 207">
                <a:extLst>
                  <a:ext uri="{FF2B5EF4-FFF2-40B4-BE49-F238E27FC236}">
                    <a16:creationId xmlns:a16="http://schemas.microsoft.com/office/drawing/2014/main" id="{EAA63D34-2396-47C9-9927-943E48C706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333" y="1614157"/>
                <a:ext cx="166275" cy="258039"/>
              </a:xfrm>
              <a:custGeom>
                <a:avLst/>
                <a:gdLst>
                  <a:gd name="T0" fmla="*/ 750 w 1301"/>
                  <a:gd name="T1" fmla="*/ 1530 h 2013"/>
                  <a:gd name="T2" fmla="*/ 750 w 1301"/>
                  <a:gd name="T3" fmla="*/ 1529 h 2013"/>
                  <a:gd name="T4" fmla="*/ 1071 w 1301"/>
                  <a:gd name="T5" fmla="*/ 1197 h 2013"/>
                  <a:gd name="T6" fmla="*/ 1267 w 1301"/>
                  <a:gd name="T7" fmla="*/ 1144 h 2013"/>
                  <a:gd name="T8" fmla="*/ 1145 w 1301"/>
                  <a:gd name="T9" fmla="*/ 1088 h 2013"/>
                  <a:gd name="T10" fmla="*/ 1134 w 1301"/>
                  <a:gd name="T11" fmla="*/ 1036 h 2013"/>
                  <a:gd name="T12" fmla="*/ 1127 w 1301"/>
                  <a:gd name="T13" fmla="*/ 943 h 2013"/>
                  <a:gd name="T14" fmla="*/ 1192 w 1301"/>
                  <a:gd name="T15" fmla="*/ 803 h 2013"/>
                  <a:gd name="T16" fmla="*/ 1235 w 1301"/>
                  <a:gd name="T17" fmla="*/ 679 h 2013"/>
                  <a:gd name="T18" fmla="*/ 1247 w 1301"/>
                  <a:gd name="T19" fmla="*/ 684 h 2013"/>
                  <a:gd name="T20" fmla="*/ 1259 w 1301"/>
                  <a:gd name="T21" fmla="*/ 685 h 2013"/>
                  <a:gd name="T22" fmla="*/ 1287 w 1301"/>
                  <a:gd name="T23" fmla="*/ 656 h 2013"/>
                  <a:gd name="T24" fmla="*/ 1300 w 1301"/>
                  <a:gd name="T25" fmla="*/ 493 h 2013"/>
                  <a:gd name="T26" fmla="*/ 1276 w 1301"/>
                  <a:gd name="T27" fmla="*/ 466 h 2013"/>
                  <a:gd name="T28" fmla="*/ 1275 w 1301"/>
                  <a:gd name="T29" fmla="*/ 466 h 2013"/>
                  <a:gd name="T30" fmla="*/ 1255 w 1301"/>
                  <a:gd name="T31" fmla="*/ 216 h 2013"/>
                  <a:gd name="T32" fmla="*/ 991 w 1301"/>
                  <a:gd name="T33" fmla="*/ 9 h 2013"/>
                  <a:gd name="T34" fmla="*/ 906 w 1301"/>
                  <a:gd name="T35" fmla="*/ 0 h 2013"/>
                  <a:gd name="T36" fmla="*/ 906 w 1301"/>
                  <a:gd name="T37" fmla="*/ 0 h 2013"/>
                  <a:gd name="T38" fmla="*/ 905 w 1301"/>
                  <a:gd name="T39" fmla="*/ 0 h 2013"/>
                  <a:gd name="T40" fmla="*/ 821 w 1301"/>
                  <a:gd name="T41" fmla="*/ 9 h 2013"/>
                  <a:gd name="T42" fmla="*/ 557 w 1301"/>
                  <a:gd name="T43" fmla="*/ 216 h 2013"/>
                  <a:gd name="T44" fmla="*/ 537 w 1301"/>
                  <a:gd name="T45" fmla="*/ 466 h 2013"/>
                  <a:gd name="T46" fmla="*/ 536 w 1301"/>
                  <a:gd name="T47" fmla="*/ 466 h 2013"/>
                  <a:gd name="T48" fmla="*/ 512 w 1301"/>
                  <a:gd name="T49" fmla="*/ 493 h 2013"/>
                  <a:gd name="T50" fmla="*/ 525 w 1301"/>
                  <a:gd name="T51" fmla="*/ 656 h 2013"/>
                  <a:gd name="T52" fmla="*/ 553 w 1301"/>
                  <a:gd name="T53" fmla="*/ 685 h 2013"/>
                  <a:gd name="T54" fmla="*/ 565 w 1301"/>
                  <a:gd name="T55" fmla="*/ 684 h 2013"/>
                  <a:gd name="T56" fmla="*/ 577 w 1301"/>
                  <a:gd name="T57" fmla="*/ 679 h 2013"/>
                  <a:gd name="T58" fmla="*/ 619 w 1301"/>
                  <a:gd name="T59" fmla="*/ 803 h 2013"/>
                  <a:gd name="T60" fmla="*/ 685 w 1301"/>
                  <a:gd name="T61" fmla="*/ 943 h 2013"/>
                  <a:gd name="T62" fmla="*/ 677 w 1301"/>
                  <a:gd name="T63" fmla="*/ 1036 h 2013"/>
                  <a:gd name="T64" fmla="*/ 667 w 1301"/>
                  <a:gd name="T65" fmla="*/ 1088 h 2013"/>
                  <a:gd name="T66" fmla="*/ 233 w 1301"/>
                  <a:gd name="T67" fmla="*/ 1218 h 2013"/>
                  <a:gd name="T68" fmla="*/ 46 w 1301"/>
                  <a:gd name="T69" fmla="*/ 1410 h 2013"/>
                  <a:gd name="T70" fmla="*/ 0 w 1301"/>
                  <a:gd name="T71" fmla="*/ 1765 h 2013"/>
                  <a:gd name="T72" fmla="*/ 102 w 1301"/>
                  <a:gd name="T73" fmla="*/ 1896 h 2013"/>
                  <a:gd name="T74" fmla="*/ 684 w 1301"/>
                  <a:gd name="T75" fmla="*/ 2013 h 2013"/>
                  <a:gd name="T76" fmla="*/ 748 w 1301"/>
                  <a:gd name="T77" fmla="*/ 1537 h 2013"/>
                  <a:gd name="T78" fmla="*/ 750 w 1301"/>
                  <a:gd name="T79" fmla="*/ 1530 h 20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301" h="2013">
                    <a:moveTo>
                      <a:pt x="750" y="1530"/>
                    </a:moveTo>
                    <a:cubicBezTo>
                      <a:pt x="750" y="1530"/>
                      <a:pt x="750" y="1529"/>
                      <a:pt x="750" y="1529"/>
                    </a:cubicBezTo>
                    <a:cubicBezTo>
                      <a:pt x="782" y="1379"/>
                      <a:pt x="890" y="1267"/>
                      <a:pt x="1071" y="1197"/>
                    </a:cubicBezTo>
                    <a:cubicBezTo>
                      <a:pt x="1133" y="1172"/>
                      <a:pt x="1200" y="1157"/>
                      <a:pt x="1267" y="1144"/>
                    </a:cubicBezTo>
                    <a:cubicBezTo>
                      <a:pt x="1224" y="1131"/>
                      <a:pt x="1182" y="1114"/>
                      <a:pt x="1145" y="1088"/>
                    </a:cubicBezTo>
                    <a:cubicBezTo>
                      <a:pt x="1139" y="1072"/>
                      <a:pt x="1136" y="1055"/>
                      <a:pt x="1134" y="1036"/>
                    </a:cubicBezTo>
                    <a:cubicBezTo>
                      <a:pt x="1132" y="1006"/>
                      <a:pt x="1129" y="974"/>
                      <a:pt x="1127" y="943"/>
                    </a:cubicBezTo>
                    <a:cubicBezTo>
                      <a:pt x="1148" y="905"/>
                      <a:pt x="1170" y="859"/>
                      <a:pt x="1192" y="803"/>
                    </a:cubicBezTo>
                    <a:cubicBezTo>
                      <a:pt x="1210" y="760"/>
                      <a:pt x="1224" y="719"/>
                      <a:pt x="1235" y="679"/>
                    </a:cubicBezTo>
                    <a:cubicBezTo>
                      <a:pt x="1239" y="682"/>
                      <a:pt x="1243" y="684"/>
                      <a:pt x="1247" y="684"/>
                    </a:cubicBezTo>
                    <a:cubicBezTo>
                      <a:pt x="1259" y="685"/>
                      <a:pt x="1259" y="685"/>
                      <a:pt x="1259" y="685"/>
                    </a:cubicBezTo>
                    <a:cubicBezTo>
                      <a:pt x="1273" y="686"/>
                      <a:pt x="1286" y="675"/>
                      <a:pt x="1287" y="656"/>
                    </a:cubicBezTo>
                    <a:cubicBezTo>
                      <a:pt x="1300" y="493"/>
                      <a:pt x="1300" y="493"/>
                      <a:pt x="1300" y="493"/>
                    </a:cubicBezTo>
                    <a:cubicBezTo>
                      <a:pt x="1301" y="481"/>
                      <a:pt x="1290" y="467"/>
                      <a:pt x="1276" y="466"/>
                    </a:cubicBezTo>
                    <a:cubicBezTo>
                      <a:pt x="1275" y="466"/>
                      <a:pt x="1275" y="466"/>
                      <a:pt x="1275" y="466"/>
                    </a:cubicBezTo>
                    <a:cubicBezTo>
                      <a:pt x="1288" y="295"/>
                      <a:pt x="1255" y="216"/>
                      <a:pt x="1255" y="216"/>
                    </a:cubicBezTo>
                    <a:cubicBezTo>
                      <a:pt x="1255" y="216"/>
                      <a:pt x="1193" y="50"/>
                      <a:pt x="991" y="9"/>
                    </a:cubicBezTo>
                    <a:cubicBezTo>
                      <a:pt x="960" y="3"/>
                      <a:pt x="931" y="1"/>
                      <a:pt x="906" y="0"/>
                    </a:cubicBezTo>
                    <a:cubicBezTo>
                      <a:pt x="906" y="0"/>
                      <a:pt x="906" y="0"/>
                      <a:pt x="906" y="0"/>
                    </a:cubicBezTo>
                    <a:cubicBezTo>
                      <a:pt x="906" y="0"/>
                      <a:pt x="906" y="0"/>
                      <a:pt x="905" y="0"/>
                    </a:cubicBezTo>
                    <a:cubicBezTo>
                      <a:pt x="880" y="1"/>
                      <a:pt x="852" y="3"/>
                      <a:pt x="821" y="9"/>
                    </a:cubicBezTo>
                    <a:cubicBezTo>
                      <a:pt x="619" y="50"/>
                      <a:pt x="557" y="216"/>
                      <a:pt x="557" y="216"/>
                    </a:cubicBezTo>
                    <a:cubicBezTo>
                      <a:pt x="557" y="216"/>
                      <a:pt x="524" y="295"/>
                      <a:pt x="537" y="466"/>
                    </a:cubicBezTo>
                    <a:cubicBezTo>
                      <a:pt x="536" y="466"/>
                      <a:pt x="536" y="466"/>
                      <a:pt x="536" y="466"/>
                    </a:cubicBezTo>
                    <a:cubicBezTo>
                      <a:pt x="522" y="467"/>
                      <a:pt x="511" y="481"/>
                      <a:pt x="512" y="493"/>
                    </a:cubicBezTo>
                    <a:cubicBezTo>
                      <a:pt x="525" y="656"/>
                      <a:pt x="525" y="656"/>
                      <a:pt x="525" y="656"/>
                    </a:cubicBezTo>
                    <a:cubicBezTo>
                      <a:pt x="526" y="675"/>
                      <a:pt x="539" y="686"/>
                      <a:pt x="553" y="685"/>
                    </a:cubicBezTo>
                    <a:cubicBezTo>
                      <a:pt x="565" y="684"/>
                      <a:pt x="565" y="684"/>
                      <a:pt x="565" y="684"/>
                    </a:cubicBezTo>
                    <a:cubicBezTo>
                      <a:pt x="569" y="684"/>
                      <a:pt x="573" y="682"/>
                      <a:pt x="577" y="679"/>
                    </a:cubicBezTo>
                    <a:cubicBezTo>
                      <a:pt x="588" y="719"/>
                      <a:pt x="602" y="760"/>
                      <a:pt x="619" y="803"/>
                    </a:cubicBezTo>
                    <a:cubicBezTo>
                      <a:pt x="642" y="859"/>
                      <a:pt x="664" y="905"/>
                      <a:pt x="685" y="943"/>
                    </a:cubicBezTo>
                    <a:cubicBezTo>
                      <a:pt x="683" y="974"/>
                      <a:pt x="680" y="1006"/>
                      <a:pt x="677" y="1036"/>
                    </a:cubicBezTo>
                    <a:cubicBezTo>
                      <a:pt x="676" y="1055"/>
                      <a:pt x="672" y="1072"/>
                      <a:pt x="667" y="1088"/>
                    </a:cubicBezTo>
                    <a:cubicBezTo>
                      <a:pt x="538" y="1176"/>
                      <a:pt x="363" y="1167"/>
                      <a:pt x="233" y="1218"/>
                    </a:cubicBezTo>
                    <a:cubicBezTo>
                      <a:pt x="55" y="1288"/>
                      <a:pt x="51" y="1395"/>
                      <a:pt x="46" y="1410"/>
                    </a:cubicBezTo>
                    <a:cubicBezTo>
                      <a:pt x="32" y="1450"/>
                      <a:pt x="6" y="1508"/>
                      <a:pt x="0" y="1765"/>
                    </a:cubicBezTo>
                    <a:cubicBezTo>
                      <a:pt x="0" y="1800"/>
                      <a:pt x="0" y="1851"/>
                      <a:pt x="102" y="1896"/>
                    </a:cubicBezTo>
                    <a:cubicBezTo>
                      <a:pt x="270" y="1961"/>
                      <a:pt x="473" y="1993"/>
                      <a:pt x="684" y="2013"/>
                    </a:cubicBezTo>
                    <a:cubicBezTo>
                      <a:pt x="693" y="1692"/>
                      <a:pt x="727" y="1595"/>
                      <a:pt x="748" y="1537"/>
                    </a:cubicBezTo>
                    <a:cubicBezTo>
                      <a:pt x="749" y="1534"/>
                      <a:pt x="749" y="1532"/>
                      <a:pt x="750" y="15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91440" rIns="91440" bIns="9144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600" b="0" i="0" u="none" strike="noStrike" kern="0" cap="none" spc="0" normalizeH="0" baseline="0" dirty="0">
                  <a:ln>
                    <a:noFill/>
                  </a:ln>
                  <a:solidFill>
                    <a:srgbClr val="646464"/>
                  </a:solidFill>
                  <a:effectLst/>
                  <a:uLnTx/>
                  <a:uFillTx/>
                  <a:latin typeface="Simplon BP Regular"/>
                </a:endParaRPr>
              </a:p>
            </p:txBody>
          </p:sp>
          <p:sp>
            <p:nvSpPr>
              <p:cNvPr id="105" name="Freeform 208">
                <a:extLst>
                  <a:ext uri="{FF2B5EF4-FFF2-40B4-BE49-F238E27FC236}">
                    <a16:creationId xmlns:a16="http://schemas.microsoft.com/office/drawing/2014/main" id="{24AE6AFD-2C97-4776-87B5-58B3EA97A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7843" y="1614157"/>
                <a:ext cx="166275" cy="258039"/>
              </a:xfrm>
              <a:custGeom>
                <a:avLst/>
                <a:gdLst>
                  <a:gd name="T0" fmla="*/ 1300 w 1301"/>
                  <a:gd name="T1" fmla="*/ 1765 h 2013"/>
                  <a:gd name="T2" fmla="*/ 1255 w 1301"/>
                  <a:gd name="T3" fmla="*/ 1410 h 2013"/>
                  <a:gd name="T4" fmla="*/ 1068 w 1301"/>
                  <a:gd name="T5" fmla="*/ 1218 h 2013"/>
                  <a:gd name="T6" fmla="*/ 634 w 1301"/>
                  <a:gd name="T7" fmla="*/ 1088 h 2013"/>
                  <a:gd name="T8" fmla="*/ 623 w 1301"/>
                  <a:gd name="T9" fmla="*/ 1036 h 2013"/>
                  <a:gd name="T10" fmla="*/ 616 w 1301"/>
                  <a:gd name="T11" fmla="*/ 943 h 2013"/>
                  <a:gd name="T12" fmla="*/ 681 w 1301"/>
                  <a:gd name="T13" fmla="*/ 803 h 2013"/>
                  <a:gd name="T14" fmla="*/ 724 w 1301"/>
                  <a:gd name="T15" fmla="*/ 679 h 2013"/>
                  <a:gd name="T16" fmla="*/ 736 w 1301"/>
                  <a:gd name="T17" fmla="*/ 684 h 2013"/>
                  <a:gd name="T18" fmla="*/ 748 w 1301"/>
                  <a:gd name="T19" fmla="*/ 685 h 2013"/>
                  <a:gd name="T20" fmla="*/ 776 w 1301"/>
                  <a:gd name="T21" fmla="*/ 656 h 2013"/>
                  <a:gd name="T22" fmla="*/ 789 w 1301"/>
                  <a:gd name="T23" fmla="*/ 493 h 2013"/>
                  <a:gd name="T24" fmla="*/ 765 w 1301"/>
                  <a:gd name="T25" fmla="*/ 466 h 2013"/>
                  <a:gd name="T26" fmla="*/ 764 w 1301"/>
                  <a:gd name="T27" fmla="*/ 466 h 2013"/>
                  <a:gd name="T28" fmla="*/ 744 w 1301"/>
                  <a:gd name="T29" fmla="*/ 216 h 2013"/>
                  <a:gd name="T30" fmla="*/ 480 w 1301"/>
                  <a:gd name="T31" fmla="*/ 9 h 2013"/>
                  <a:gd name="T32" fmla="*/ 395 w 1301"/>
                  <a:gd name="T33" fmla="*/ 0 h 2013"/>
                  <a:gd name="T34" fmla="*/ 395 w 1301"/>
                  <a:gd name="T35" fmla="*/ 0 h 2013"/>
                  <a:gd name="T36" fmla="*/ 394 w 1301"/>
                  <a:gd name="T37" fmla="*/ 0 h 2013"/>
                  <a:gd name="T38" fmla="*/ 310 w 1301"/>
                  <a:gd name="T39" fmla="*/ 9 h 2013"/>
                  <a:gd name="T40" fmla="*/ 46 w 1301"/>
                  <a:gd name="T41" fmla="*/ 216 h 2013"/>
                  <a:gd name="T42" fmla="*/ 26 w 1301"/>
                  <a:gd name="T43" fmla="*/ 466 h 2013"/>
                  <a:gd name="T44" fmla="*/ 25 w 1301"/>
                  <a:gd name="T45" fmla="*/ 466 h 2013"/>
                  <a:gd name="T46" fmla="*/ 1 w 1301"/>
                  <a:gd name="T47" fmla="*/ 493 h 2013"/>
                  <a:gd name="T48" fmla="*/ 14 w 1301"/>
                  <a:gd name="T49" fmla="*/ 656 h 2013"/>
                  <a:gd name="T50" fmla="*/ 42 w 1301"/>
                  <a:gd name="T51" fmla="*/ 685 h 2013"/>
                  <a:gd name="T52" fmla="*/ 54 w 1301"/>
                  <a:gd name="T53" fmla="*/ 684 h 2013"/>
                  <a:gd name="T54" fmla="*/ 66 w 1301"/>
                  <a:gd name="T55" fmla="*/ 679 h 2013"/>
                  <a:gd name="T56" fmla="*/ 108 w 1301"/>
                  <a:gd name="T57" fmla="*/ 803 h 2013"/>
                  <a:gd name="T58" fmla="*/ 174 w 1301"/>
                  <a:gd name="T59" fmla="*/ 943 h 2013"/>
                  <a:gd name="T60" fmla="*/ 166 w 1301"/>
                  <a:gd name="T61" fmla="*/ 1036 h 2013"/>
                  <a:gd name="T62" fmla="*/ 156 w 1301"/>
                  <a:gd name="T63" fmla="*/ 1088 h 2013"/>
                  <a:gd name="T64" fmla="*/ 34 w 1301"/>
                  <a:gd name="T65" fmla="*/ 1144 h 2013"/>
                  <a:gd name="T66" fmla="*/ 230 w 1301"/>
                  <a:gd name="T67" fmla="*/ 1197 h 2013"/>
                  <a:gd name="T68" fmla="*/ 550 w 1301"/>
                  <a:gd name="T69" fmla="*/ 1528 h 2013"/>
                  <a:gd name="T70" fmla="*/ 551 w 1301"/>
                  <a:gd name="T71" fmla="*/ 1530 h 2013"/>
                  <a:gd name="T72" fmla="*/ 553 w 1301"/>
                  <a:gd name="T73" fmla="*/ 1537 h 2013"/>
                  <a:gd name="T74" fmla="*/ 617 w 1301"/>
                  <a:gd name="T75" fmla="*/ 2013 h 2013"/>
                  <a:gd name="T76" fmla="*/ 1198 w 1301"/>
                  <a:gd name="T77" fmla="*/ 1896 h 2013"/>
                  <a:gd name="T78" fmla="*/ 1300 w 1301"/>
                  <a:gd name="T79" fmla="*/ 1765 h 20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301" h="2013">
                    <a:moveTo>
                      <a:pt x="1300" y="1765"/>
                    </a:moveTo>
                    <a:cubicBezTo>
                      <a:pt x="1294" y="1508"/>
                      <a:pt x="1269" y="1450"/>
                      <a:pt x="1255" y="1410"/>
                    </a:cubicBezTo>
                    <a:cubicBezTo>
                      <a:pt x="1250" y="1395"/>
                      <a:pt x="1245" y="1288"/>
                      <a:pt x="1068" y="1218"/>
                    </a:cubicBezTo>
                    <a:cubicBezTo>
                      <a:pt x="938" y="1167"/>
                      <a:pt x="763" y="1176"/>
                      <a:pt x="634" y="1088"/>
                    </a:cubicBezTo>
                    <a:cubicBezTo>
                      <a:pt x="628" y="1072"/>
                      <a:pt x="625" y="1055"/>
                      <a:pt x="623" y="1036"/>
                    </a:cubicBezTo>
                    <a:cubicBezTo>
                      <a:pt x="621" y="1006"/>
                      <a:pt x="618" y="974"/>
                      <a:pt x="616" y="943"/>
                    </a:cubicBezTo>
                    <a:cubicBezTo>
                      <a:pt x="637" y="905"/>
                      <a:pt x="659" y="859"/>
                      <a:pt x="681" y="803"/>
                    </a:cubicBezTo>
                    <a:cubicBezTo>
                      <a:pt x="699" y="760"/>
                      <a:pt x="713" y="719"/>
                      <a:pt x="724" y="679"/>
                    </a:cubicBezTo>
                    <a:cubicBezTo>
                      <a:pt x="728" y="682"/>
                      <a:pt x="732" y="684"/>
                      <a:pt x="736" y="684"/>
                    </a:cubicBezTo>
                    <a:cubicBezTo>
                      <a:pt x="748" y="685"/>
                      <a:pt x="748" y="685"/>
                      <a:pt x="748" y="685"/>
                    </a:cubicBezTo>
                    <a:cubicBezTo>
                      <a:pt x="762" y="686"/>
                      <a:pt x="775" y="675"/>
                      <a:pt x="776" y="656"/>
                    </a:cubicBezTo>
                    <a:cubicBezTo>
                      <a:pt x="789" y="493"/>
                      <a:pt x="789" y="493"/>
                      <a:pt x="789" y="493"/>
                    </a:cubicBezTo>
                    <a:cubicBezTo>
                      <a:pt x="790" y="481"/>
                      <a:pt x="779" y="467"/>
                      <a:pt x="765" y="466"/>
                    </a:cubicBezTo>
                    <a:cubicBezTo>
                      <a:pt x="764" y="466"/>
                      <a:pt x="764" y="466"/>
                      <a:pt x="764" y="466"/>
                    </a:cubicBezTo>
                    <a:cubicBezTo>
                      <a:pt x="777" y="295"/>
                      <a:pt x="744" y="216"/>
                      <a:pt x="744" y="216"/>
                    </a:cubicBezTo>
                    <a:cubicBezTo>
                      <a:pt x="744" y="216"/>
                      <a:pt x="682" y="50"/>
                      <a:pt x="480" y="9"/>
                    </a:cubicBezTo>
                    <a:cubicBezTo>
                      <a:pt x="449" y="3"/>
                      <a:pt x="420" y="1"/>
                      <a:pt x="395" y="0"/>
                    </a:cubicBezTo>
                    <a:cubicBezTo>
                      <a:pt x="395" y="0"/>
                      <a:pt x="395" y="0"/>
                      <a:pt x="395" y="0"/>
                    </a:cubicBezTo>
                    <a:cubicBezTo>
                      <a:pt x="395" y="0"/>
                      <a:pt x="394" y="0"/>
                      <a:pt x="394" y="0"/>
                    </a:cubicBezTo>
                    <a:cubicBezTo>
                      <a:pt x="369" y="1"/>
                      <a:pt x="341" y="3"/>
                      <a:pt x="310" y="9"/>
                    </a:cubicBezTo>
                    <a:cubicBezTo>
                      <a:pt x="108" y="50"/>
                      <a:pt x="46" y="216"/>
                      <a:pt x="46" y="216"/>
                    </a:cubicBezTo>
                    <a:cubicBezTo>
                      <a:pt x="46" y="216"/>
                      <a:pt x="13" y="295"/>
                      <a:pt x="26" y="466"/>
                    </a:cubicBezTo>
                    <a:cubicBezTo>
                      <a:pt x="25" y="466"/>
                      <a:pt x="25" y="466"/>
                      <a:pt x="25" y="466"/>
                    </a:cubicBezTo>
                    <a:cubicBezTo>
                      <a:pt x="10" y="467"/>
                      <a:pt x="0" y="481"/>
                      <a:pt x="1" y="493"/>
                    </a:cubicBezTo>
                    <a:cubicBezTo>
                      <a:pt x="14" y="656"/>
                      <a:pt x="14" y="656"/>
                      <a:pt x="14" y="656"/>
                    </a:cubicBezTo>
                    <a:cubicBezTo>
                      <a:pt x="15" y="675"/>
                      <a:pt x="28" y="686"/>
                      <a:pt x="42" y="685"/>
                    </a:cubicBezTo>
                    <a:cubicBezTo>
                      <a:pt x="54" y="684"/>
                      <a:pt x="54" y="684"/>
                      <a:pt x="54" y="684"/>
                    </a:cubicBezTo>
                    <a:cubicBezTo>
                      <a:pt x="58" y="684"/>
                      <a:pt x="62" y="682"/>
                      <a:pt x="66" y="679"/>
                    </a:cubicBezTo>
                    <a:cubicBezTo>
                      <a:pt x="77" y="719"/>
                      <a:pt x="91" y="760"/>
                      <a:pt x="108" y="803"/>
                    </a:cubicBezTo>
                    <a:cubicBezTo>
                      <a:pt x="131" y="859"/>
                      <a:pt x="153" y="905"/>
                      <a:pt x="174" y="943"/>
                    </a:cubicBezTo>
                    <a:cubicBezTo>
                      <a:pt x="172" y="974"/>
                      <a:pt x="169" y="1006"/>
                      <a:pt x="166" y="1036"/>
                    </a:cubicBezTo>
                    <a:cubicBezTo>
                      <a:pt x="165" y="1055"/>
                      <a:pt x="161" y="1072"/>
                      <a:pt x="156" y="1088"/>
                    </a:cubicBezTo>
                    <a:cubicBezTo>
                      <a:pt x="119" y="1114"/>
                      <a:pt x="77" y="1131"/>
                      <a:pt x="34" y="1144"/>
                    </a:cubicBezTo>
                    <a:cubicBezTo>
                      <a:pt x="101" y="1157"/>
                      <a:pt x="168" y="1172"/>
                      <a:pt x="230" y="1197"/>
                    </a:cubicBezTo>
                    <a:cubicBezTo>
                      <a:pt x="411" y="1267"/>
                      <a:pt x="519" y="1379"/>
                      <a:pt x="550" y="1528"/>
                    </a:cubicBezTo>
                    <a:cubicBezTo>
                      <a:pt x="551" y="1529"/>
                      <a:pt x="551" y="1530"/>
                      <a:pt x="551" y="1530"/>
                    </a:cubicBezTo>
                    <a:cubicBezTo>
                      <a:pt x="552" y="1532"/>
                      <a:pt x="552" y="1534"/>
                      <a:pt x="553" y="1537"/>
                    </a:cubicBezTo>
                    <a:cubicBezTo>
                      <a:pt x="573" y="1595"/>
                      <a:pt x="607" y="1692"/>
                      <a:pt x="617" y="2013"/>
                    </a:cubicBezTo>
                    <a:cubicBezTo>
                      <a:pt x="828" y="1993"/>
                      <a:pt x="1031" y="1961"/>
                      <a:pt x="1198" y="1896"/>
                    </a:cubicBezTo>
                    <a:cubicBezTo>
                      <a:pt x="1300" y="1851"/>
                      <a:pt x="1301" y="1800"/>
                      <a:pt x="1300" y="17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91440" rIns="91440" bIns="9144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600" b="0" i="0" u="none" strike="noStrike" kern="0" cap="none" spc="0" normalizeH="0" baseline="0" dirty="0">
                  <a:ln>
                    <a:noFill/>
                  </a:ln>
                  <a:solidFill>
                    <a:srgbClr val="646464"/>
                  </a:solidFill>
                  <a:effectLst/>
                  <a:uLnTx/>
                  <a:uFillTx/>
                  <a:latin typeface="Simplon BP Regular"/>
                </a:endParaRPr>
              </a:p>
            </p:txBody>
          </p:sp>
          <p:sp>
            <p:nvSpPr>
              <p:cNvPr id="106" name="Freeform 209">
                <a:extLst>
                  <a:ext uri="{FF2B5EF4-FFF2-40B4-BE49-F238E27FC236}">
                    <a16:creationId xmlns:a16="http://schemas.microsoft.com/office/drawing/2014/main" id="{5546AF4B-1A8C-49E4-9D70-A8F487A02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725" y="1564750"/>
                <a:ext cx="320000" cy="358432"/>
              </a:xfrm>
              <a:custGeom>
                <a:avLst/>
                <a:gdLst>
                  <a:gd name="T0" fmla="*/ 2501 w 2502"/>
                  <a:gd name="T1" fmla="*/ 2437 h 2801"/>
                  <a:gd name="T2" fmla="*/ 2438 w 2502"/>
                  <a:gd name="T3" fmla="*/ 1947 h 2801"/>
                  <a:gd name="T4" fmla="*/ 2180 w 2502"/>
                  <a:gd name="T5" fmla="*/ 1682 h 2801"/>
                  <a:gd name="T6" fmla="*/ 1580 w 2502"/>
                  <a:gd name="T7" fmla="*/ 1502 h 2801"/>
                  <a:gd name="T8" fmla="*/ 1566 w 2502"/>
                  <a:gd name="T9" fmla="*/ 1431 h 2801"/>
                  <a:gd name="T10" fmla="*/ 1556 w 2502"/>
                  <a:gd name="T11" fmla="*/ 1302 h 2801"/>
                  <a:gd name="T12" fmla="*/ 1646 w 2502"/>
                  <a:gd name="T13" fmla="*/ 1108 h 2801"/>
                  <a:gd name="T14" fmla="*/ 1705 w 2502"/>
                  <a:gd name="T15" fmla="*/ 938 h 2801"/>
                  <a:gd name="T16" fmla="*/ 1722 w 2502"/>
                  <a:gd name="T17" fmla="*/ 944 h 2801"/>
                  <a:gd name="T18" fmla="*/ 1738 w 2502"/>
                  <a:gd name="T19" fmla="*/ 946 h 2801"/>
                  <a:gd name="T20" fmla="*/ 1741 w 2502"/>
                  <a:gd name="T21" fmla="*/ 946 h 2801"/>
                  <a:gd name="T22" fmla="*/ 1777 w 2502"/>
                  <a:gd name="T23" fmla="*/ 906 h 2801"/>
                  <a:gd name="T24" fmla="*/ 1795 w 2502"/>
                  <a:gd name="T25" fmla="*/ 680 h 2801"/>
                  <a:gd name="T26" fmla="*/ 1762 w 2502"/>
                  <a:gd name="T27" fmla="*/ 643 h 2801"/>
                  <a:gd name="T28" fmla="*/ 1760 w 2502"/>
                  <a:gd name="T29" fmla="*/ 643 h 2801"/>
                  <a:gd name="T30" fmla="*/ 1733 w 2502"/>
                  <a:gd name="T31" fmla="*/ 299 h 2801"/>
                  <a:gd name="T32" fmla="*/ 1368 w 2502"/>
                  <a:gd name="T33" fmla="*/ 13 h 2801"/>
                  <a:gd name="T34" fmla="*/ 1252 w 2502"/>
                  <a:gd name="T35" fmla="*/ 0 h 2801"/>
                  <a:gd name="T36" fmla="*/ 1251 w 2502"/>
                  <a:gd name="T37" fmla="*/ 0 h 2801"/>
                  <a:gd name="T38" fmla="*/ 1250 w 2502"/>
                  <a:gd name="T39" fmla="*/ 0 h 2801"/>
                  <a:gd name="T40" fmla="*/ 1133 w 2502"/>
                  <a:gd name="T41" fmla="*/ 13 h 2801"/>
                  <a:gd name="T42" fmla="*/ 769 w 2502"/>
                  <a:gd name="T43" fmla="*/ 299 h 2801"/>
                  <a:gd name="T44" fmla="*/ 742 w 2502"/>
                  <a:gd name="T45" fmla="*/ 643 h 2801"/>
                  <a:gd name="T46" fmla="*/ 740 w 2502"/>
                  <a:gd name="T47" fmla="*/ 643 h 2801"/>
                  <a:gd name="T48" fmla="*/ 707 w 2502"/>
                  <a:gd name="T49" fmla="*/ 680 h 2801"/>
                  <a:gd name="T50" fmla="*/ 725 w 2502"/>
                  <a:gd name="T51" fmla="*/ 906 h 2801"/>
                  <a:gd name="T52" fmla="*/ 761 w 2502"/>
                  <a:gd name="T53" fmla="*/ 946 h 2801"/>
                  <a:gd name="T54" fmla="*/ 764 w 2502"/>
                  <a:gd name="T55" fmla="*/ 946 h 2801"/>
                  <a:gd name="T56" fmla="*/ 780 w 2502"/>
                  <a:gd name="T57" fmla="*/ 944 h 2801"/>
                  <a:gd name="T58" fmla="*/ 797 w 2502"/>
                  <a:gd name="T59" fmla="*/ 938 h 2801"/>
                  <a:gd name="T60" fmla="*/ 855 w 2502"/>
                  <a:gd name="T61" fmla="*/ 1108 h 2801"/>
                  <a:gd name="T62" fmla="*/ 946 w 2502"/>
                  <a:gd name="T63" fmla="*/ 1302 h 2801"/>
                  <a:gd name="T64" fmla="*/ 936 w 2502"/>
                  <a:gd name="T65" fmla="*/ 1431 h 2801"/>
                  <a:gd name="T66" fmla="*/ 922 w 2502"/>
                  <a:gd name="T67" fmla="*/ 1502 h 2801"/>
                  <a:gd name="T68" fmla="*/ 322 w 2502"/>
                  <a:gd name="T69" fmla="*/ 1682 h 2801"/>
                  <a:gd name="T70" fmla="*/ 64 w 2502"/>
                  <a:gd name="T71" fmla="*/ 1947 h 2801"/>
                  <a:gd name="T72" fmla="*/ 1 w 2502"/>
                  <a:gd name="T73" fmla="*/ 2437 h 2801"/>
                  <a:gd name="T74" fmla="*/ 142 w 2502"/>
                  <a:gd name="T75" fmla="*/ 2617 h 2801"/>
                  <a:gd name="T76" fmla="*/ 1233 w 2502"/>
                  <a:gd name="T77" fmla="*/ 2801 h 2801"/>
                  <a:gd name="T78" fmla="*/ 1244 w 2502"/>
                  <a:gd name="T79" fmla="*/ 2801 h 2801"/>
                  <a:gd name="T80" fmla="*/ 1251 w 2502"/>
                  <a:gd name="T81" fmla="*/ 2801 h 2801"/>
                  <a:gd name="T82" fmla="*/ 1257 w 2502"/>
                  <a:gd name="T83" fmla="*/ 2801 h 2801"/>
                  <a:gd name="T84" fmla="*/ 1269 w 2502"/>
                  <a:gd name="T85" fmla="*/ 2801 h 2801"/>
                  <a:gd name="T86" fmla="*/ 2360 w 2502"/>
                  <a:gd name="T87" fmla="*/ 2617 h 2801"/>
                  <a:gd name="T88" fmla="*/ 2501 w 2502"/>
                  <a:gd name="T89" fmla="*/ 2437 h 28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502" h="2801">
                    <a:moveTo>
                      <a:pt x="2501" y="2437"/>
                    </a:moveTo>
                    <a:cubicBezTo>
                      <a:pt x="2492" y="2081"/>
                      <a:pt x="2457" y="2002"/>
                      <a:pt x="2438" y="1947"/>
                    </a:cubicBezTo>
                    <a:cubicBezTo>
                      <a:pt x="2430" y="1925"/>
                      <a:pt x="2425" y="1777"/>
                      <a:pt x="2180" y="1682"/>
                    </a:cubicBezTo>
                    <a:cubicBezTo>
                      <a:pt x="2001" y="1611"/>
                      <a:pt x="1759" y="1623"/>
                      <a:pt x="1580" y="1502"/>
                    </a:cubicBezTo>
                    <a:cubicBezTo>
                      <a:pt x="1573" y="1479"/>
                      <a:pt x="1568" y="1456"/>
                      <a:pt x="1566" y="1431"/>
                    </a:cubicBezTo>
                    <a:cubicBezTo>
                      <a:pt x="1562" y="1388"/>
                      <a:pt x="1559" y="1345"/>
                      <a:pt x="1556" y="1302"/>
                    </a:cubicBezTo>
                    <a:cubicBezTo>
                      <a:pt x="1585" y="1250"/>
                      <a:pt x="1615" y="1186"/>
                      <a:pt x="1646" y="1108"/>
                    </a:cubicBezTo>
                    <a:cubicBezTo>
                      <a:pt x="1670" y="1049"/>
                      <a:pt x="1690" y="992"/>
                      <a:pt x="1705" y="938"/>
                    </a:cubicBezTo>
                    <a:cubicBezTo>
                      <a:pt x="1710" y="941"/>
                      <a:pt x="1716" y="944"/>
                      <a:pt x="1722" y="944"/>
                    </a:cubicBezTo>
                    <a:cubicBezTo>
                      <a:pt x="1738" y="946"/>
                      <a:pt x="1738" y="946"/>
                      <a:pt x="1738" y="946"/>
                    </a:cubicBezTo>
                    <a:cubicBezTo>
                      <a:pt x="1739" y="946"/>
                      <a:pt x="1740" y="946"/>
                      <a:pt x="1741" y="946"/>
                    </a:cubicBezTo>
                    <a:cubicBezTo>
                      <a:pt x="1759" y="946"/>
                      <a:pt x="1775" y="930"/>
                      <a:pt x="1777" y="906"/>
                    </a:cubicBezTo>
                    <a:cubicBezTo>
                      <a:pt x="1795" y="680"/>
                      <a:pt x="1795" y="680"/>
                      <a:pt x="1795" y="680"/>
                    </a:cubicBezTo>
                    <a:cubicBezTo>
                      <a:pt x="1796" y="664"/>
                      <a:pt x="1781" y="645"/>
                      <a:pt x="1762" y="643"/>
                    </a:cubicBezTo>
                    <a:cubicBezTo>
                      <a:pt x="1760" y="643"/>
                      <a:pt x="1760" y="643"/>
                      <a:pt x="1760" y="643"/>
                    </a:cubicBezTo>
                    <a:cubicBezTo>
                      <a:pt x="1778" y="408"/>
                      <a:pt x="1733" y="299"/>
                      <a:pt x="1733" y="299"/>
                    </a:cubicBezTo>
                    <a:cubicBezTo>
                      <a:pt x="1733" y="299"/>
                      <a:pt x="1647" y="70"/>
                      <a:pt x="1368" y="13"/>
                    </a:cubicBezTo>
                    <a:cubicBezTo>
                      <a:pt x="1325" y="4"/>
                      <a:pt x="1286" y="1"/>
                      <a:pt x="1252" y="0"/>
                    </a:cubicBezTo>
                    <a:cubicBezTo>
                      <a:pt x="1251" y="0"/>
                      <a:pt x="1251" y="0"/>
                      <a:pt x="1251" y="0"/>
                    </a:cubicBezTo>
                    <a:cubicBezTo>
                      <a:pt x="1251" y="0"/>
                      <a:pt x="1250" y="0"/>
                      <a:pt x="1250" y="0"/>
                    </a:cubicBezTo>
                    <a:cubicBezTo>
                      <a:pt x="1216" y="1"/>
                      <a:pt x="1177" y="4"/>
                      <a:pt x="1133" y="13"/>
                    </a:cubicBezTo>
                    <a:cubicBezTo>
                      <a:pt x="855" y="70"/>
                      <a:pt x="769" y="299"/>
                      <a:pt x="769" y="299"/>
                    </a:cubicBezTo>
                    <a:cubicBezTo>
                      <a:pt x="769" y="299"/>
                      <a:pt x="724" y="408"/>
                      <a:pt x="742" y="643"/>
                    </a:cubicBezTo>
                    <a:cubicBezTo>
                      <a:pt x="740" y="643"/>
                      <a:pt x="740" y="643"/>
                      <a:pt x="740" y="643"/>
                    </a:cubicBezTo>
                    <a:cubicBezTo>
                      <a:pt x="720" y="645"/>
                      <a:pt x="706" y="664"/>
                      <a:pt x="707" y="680"/>
                    </a:cubicBezTo>
                    <a:cubicBezTo>
                      <a:pt x="725" y="906"/>
                      <a:pt x="725" y="906"/>
                      <a:pt x="725" y="906"/>
                    </a:cubicBezTo>
                    <a:cubicBezTo>
                      <a:pt x="727" y="930"/>
                      <a:pt x="742" y="946"/>
                      <a:pt x="761" y="946"/>
                    </a:cubicBezTo>
                    <a:cubicBezTo>
                      <a:pt x="762" y="946"/>
                      <a:pt x="763" y="946"/>
                      <a:pt x="764" y="946"/>
                    </a:cubicBezTo>
                    <a:cubicBezTo>
                      <a:pt x="780" y="944"/>
                      <a:pt x="780" y="944"/>
                      <a:pt x="780" y="944"/>
                    </a:cubicBezTo>
                    <a:cubicBezTo>
                      <a:pt x="786" y="944"/>
                      <a:pt x="792" y="941"/>
                      <a:pt x="797" y="938"/>
                    </a:cubicBezTo>
                    <a:cubicBezTo>
                      <a:pt x="812" y="992"/>
                      <a:pt x="832" y="1049"/>
                      <a:pt x="855" y="1108"/>
                    </a:cubicBezTo>
                    <a:cubicBezTo>
                      <a:pt x="887" y="1186"/>
                      <a:pt x="917" y="1250"/>
                      <a:pt x="946" y="1302"/>
                    </a:cubicBezTo>
                    <a:cubicBezTo>
                      <a:pt x="943" y="1345"/>
                      <a:pt x="939" y="1388"/>
                      <a:pt x="936" y="1431"/>
                    </a:cubicBezTo>
                    <a:cubicBezTo>
                      <a:pt x="933" y="1456"/>
                      <a:pt x="929" y="1479"/>
                      <a:pt x="922" y="1502"/>
                    </a:cubicBezTo>
                    <a:cubicBezTo>
                      <a:pt x="743" y="1623"/>
                      <a:pt x="501" y="1611"/>
                      <a:pt x="322" y="1682"/>
                    </a:cubicBezTo>
                    <a:cubicBezTo>
                      <a:pt x="77" y="1777"/>
                      <a:pt x="71" y="1925"/>
                      <a:pt x="64" y="1947"/>
                    </a:cubicBezTo>
                    <a:cubicBezTo>
                      <a:pt x="45" y="2002"/>
                      <a:pt x="9" y="2081"/>
                      <a:pt x="1" y="2437"/>
                    </a:cubicBezTo>
                    <a:cubicBezTo>
                      <a:pt x="0" y="2484"/>
                      <a:pt x="1" y="2555"/>
                      <a:pt x="142" y="2617"/>
                    </a:cubicBezTo>
                    <a:cubicBezTo>
                      <a:pt x="448" y="2737"/>
                      <a:pt x="843" y="2775"/>
                      <a:pt x="1233" y="2801"/>
                    </a:cubicBezTo>
                    <a:cubicBezTo>
                      <a:pt x="1234" y="2801"/>
                      <a:pt x="1239" y="2801"/>
                      <a:pt x="1244" y="2801"/>
                    </a:cubicBezTo>
                    <a:cubicBezTo>
                      <a:pt x="1247" y="2801"/>
                      <a:pt x="1249" y="2801"/>
                      <a:pt x="1251" y="2801"/>
                    </a:cubicBezTo>
                    <a:cubicBezTo>
                      <a:pt x="1253" y="2801"/>
                      <a:pt x="1255" y="2801"/>
                      <a:pt x="1257" y="2801"/>
                    </a:cubicBezTo>
                    <a:cubicBezTo>
                      <a:pt x="1263" y="2801"/>
                      <a:pt x="1268" y="2801"/>
                      <a:pt x="1269" y="2801"/>
                    </a:cubicBezTo>
                    <a:cubicBezTo>
                      <a:pt x="1659" y="2775"/>
                      <a:pt x="2054" y="2737"/>
                      <a:pt x="2360" y="2617"/>
                    </a:cubicBezTo>
                    <a:cubicBezTo>
                      <a:pt x="2501" y="2555"/>
                      <a:pt x="2502" y="2484"/>
                      <a:pt x="2501" y="24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91440" rIns="91440" bIns="9144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600" b="0" i="0" u="none" strike="noStrike" kern="0" cap="none" spc="0" normalizeH="0" baseline="0" dirty="0">
                  <a:ln>
                    <a:noFill/>
                  </a:ln>
                  <a:solidFill>
                    <a:srgbClr val="646464"/>
                  </a:solidFill>
                  <a:effectLst/>
                  <a:uLnTx/>
                  <a:uFillTx/>
                  <a:latin typeface="Simplon BP Regular"/>
                </a:endParaRPr>
              </a:p>
            </p:txBody>
          </p:sp>
        </p:grpSp>
      </p:grpSp>
      <p:sp>
        <p:nvSpPr>
          <p:cNvPr id="107" name="Espaço Reservado para Número de Slide 2"/>
          <p:cNvSpPr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6</a:t>
            </a:fld>
            <a:endParaRPr lang="pt-BR" dirty="0"/>
          </a:p>
        </p:txBody>
      </p:sp>
      <p:sp>
        <p:nvSpPr>
          <p:cNvPr id="22" name="Botão de ação: Avançar ou Próximo 21">
            <a:hlinkClick r:id="rId11" action="ppaction://hlinksldjump" highlightClick="1"/>
          </p:cNvPr>
          <p:cNvSpPr/>
          <p:nvPr/>
        </p:nvSpPr>
        <p:spPr>
          <a:xfrm>
            <a:off x="11682225" y="2367320"/>
            <a:ext cx="348098" cy="215826"/>
          </a:xfrm>
          <a:prstGeom prst="actionButtonForwardNext">
            <a:avLst/>
          </a:prstGeom>
          <a:solidFill>
            <a:srgbClr val="F5F5F5"/>
          </a:solidFill>
          <a:ln w="25400" cap="flat">
            <a:solidFill>
              <a:srgbClr val="F5F5F5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8" name="Botão de ação: Avançar ou Próximo 107">
            <a:hlinkClick r:id="rId12" action="ppaction://hlinksldjump" highlightClick="1"/>
          </p:cNvPr>
          <p:cNvSpPr/>
          <p:nvPr/>
        </p:nvSpPr>
        <p:spPr>
          <a:xfrm>
            <a:off x="11691140" y="6268241"/>
            <a:ext cx="348098" cy="215826"/>
          </a:xfrm>
          <a:prstGeom prst="actionButtonForwardNext">
            <a:avLst/>
          </a:prstGeom>
          <a:solidFill>
            <a:srgbClr val="F5F5F5"/>
          </a:solidFill>
          <a:ln w="25400" cap="flat">
            <a:solidFill>
              <a:srgbClr val="F5F5F5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8" name="Agrupar 17"/>
          <p:cNvGrpSpPr/>
          <p:nvPr/>
        </p:nvGrpSpPr>
        <p:grpSpPr>
          <a:xfrm>
            <a:off x="6380298" y="6141312"/>
            <a:ext cx="2028287" cy="648000"/>
            <a:chOff x="6380298" y="6141312"/>
            <a:chExt cx="2028287" cy="648000"/>
          </a:xfrm>
        </p:grpSpPr>
        <p:sp>
          <p:nvSpPr>
            <p:cNvPr id="98" name="Texto Explicativo Retangular com Cantos Arredondados 97"/>
            <p:cNvSpPr/>
            <p:nvPr/>
          </p:nvSpPr>
          <p:spPr>
            <a:xfrm>
              <a:off x="6380298" y="6141312"/>
              <a:ext cx="2028287" cy="648000"/>
            </a:xfrm>
            <a:prstGeom prst="wedgeRoundRectCallout">
              <a:avLst>
                <a:gd name="adj1" fmla="val -57910"/>
                <a:gd name="adj2" fmla="val -39932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99" name="CaixaDeTexto 98"/>
            <p:cNvSpPr txBox="1"/>
            <p:nvPr/>
          </p:nvSpPr>
          <p:spPr>
            <a:xfrm>
              <a:off x="6489737" y="6200250"/>
              <a:ext cx="1918848" cy="517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Rever processos de atendimento ao cliente (URA, ATD, Suporte, Jurídico, </a:t>
              </a:r>
              <a:r>
                <a:rPr lang="pt-BR" sz="1050" dirty="0" err="1" smtClean="0">
                  <a:solidFill>
                    <a:schemeClr val="tx2"/>
                  </a:solidFill>
                </a:rPr>
                <a:t>etc</a:t>
              </a:r>
              <a:r>
                <a:rPr lang="pt-BR" sz="1050" dirty="0" smtClean="0">
                  <a:solidFill>
                    <a:schemeClr val="tx2"/>
                  </a:solidFill>
                </a:rPr>
                <a:t>)</a:t>
              </a:r>
              <a:endParaRPr lang="pt-BR" sz="10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2" name="Agrupar 11"/>
          <p:cNvGrpSpPr/>
          <p:nvPr/>
        </p:nvGrpSpPr>
        <p:grpSpPr>
          <a:xfrm>
            <a:off x="2967228" y="459543"/>
            <a:ext cx="2376000" cy="648000"/>
            <a:chOff x="2967228" y="459543"/>
            <a:chExt cx="2376000" cy="648000"/>
          </a:xfrm>
        </p:grpSpPr>
        <p:sp>
          <p:nvSpPr>
            <p:cNvPr id="90" name="Texto Explicativo Retangular com Cantos Arredondados 89"/>
            <p:cNvSpPr/>
            <p:nvPr/>
          </p:nvSpPr>
          <p:spPr>
            <a:xfrm>
              <a:off x="2967228" y="459543"/>
              <a:ext cx="2376000" cy="648000"/>
            </a:xfrm>
            <a:prstGeom prst="wedgeRoundRectCallout">
              <a:avLst>
                <a:gd name="adj1" fmla="val 51996"/>
                <a:gd name="adj2" fmla="val 65901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3024384" y="488850"/>
              <a:ext cx="2312283" cy="5816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Criação das </a:t>
              </a:r>
              <a:r>
                <a:rPr lang="pt-BR" sz="1050" dirty="0" err="1" smtClean="0">
                  <a:solidFill>
                    <a:schemeClr val="tx2"/>
                  </a:solidFill>
                </a:rPr>
                <a:t>UPIs</a:t>
              </a:r>
              <a:r>
                <a:rPr lang="pt-BR" sz="1050" dirty="0" smtClean="0">
                  <a:solidFill>
                    <a:schemeClr val="tx2"/>
                  </a:solidFill>
                </a:rPr>
                <a:t>;</a:t>
              </a:r>
            </a:p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Segregação dos Clientes/ sistemas;</a:t>
              </a:r>
            </a:p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err="1" smtClean="0">
                  <a:solidFill>
                    <a:schemeClr val="tx2"/>
                  </a:solidFill>
                </a:rPr>
                <a:t>Drop</a:t>
              </a:r>
              <a:r>
                <a:rPr lang="pt-BR" sz="1050" dirty="0" smtClean="0">
                  <a:solidFill>
                    <a:schemeClr val="tx2"/>
                  </a:solidFill>
                </a:rPr>
                <a:t> de Ativos;</a:t>
              </a:r>
              <a:endParaRPr lang="pt-BR" sz="10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6" name="Agrupar 15"/>
          <p:cNvGrpSpPr/>
          <p:nvPr/>
        </p:nvGrpSpPr>
        <p:grpSpPr>
          <a:xfrm>
            <a:off x="9796817" y="4458409"/>
            <a:ext cx="2421635" cy="1772793"/>
            <a:chOff x="9796817" y="4458409"/>
            <a:chExt cx="2421635" cy="1772793"/>
          </a:xfrm>
        </p:grpSpPr>
        <p:sp>
          <p:nvSpPr>
            <p:cNvPr id="103" name="Texto Explicativo Retangular com Cantos Arredondados 102"/>
            <p:cNvSpPr/>
            <p:nvPr/>
          </p:nvSpPr>
          <p:spPr>
            <a:xfrm>
              <a:off x="9796817" y="4472908"/>
              <a:ext cx="2342782" cy="1692000"/>
            </a:xfrm>
            <a:prstGeom prst="wedgeRoundRectCallout">
              <a:avLst>
                <a:gd name="adj1" fmla="val -48939"/>
                <a:gd name="adj2" fmla="val -60564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8" name="Retângulo 7"/>
            <p:cNvSpPr/>
            <p:nvPr/>
          </p:nvSpPr>
          <p:spPr>
            <a:xfrm>
              <a:off x="9809329" y="4458409"/>
              <a:ext cx="2409123" cy="17727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5738" lvl="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err="1">
                  <a:solidFill>
                    <a:srgbClr val="009E0B"/>
                  </a:solidFill>
                </a:rPr>
                <a:t>Vtal</a:t>
              </a:r>
              <a:r>
                <a:rPr lang="pt-BR" sz="1050" dirty="0">
                  <a:solidFill>
                    <a:srgbClr val="009E0B"/>
                  </a:solidFill>
                </a:rPr>
                <a:t>: </a:t>
              </a:r>
              <a:r>
                <a:rPr lang="pt-BR" sz="1050" dirty="0">
                  <a:solidFill>
                    <a:schemeClr val="tx2"/>
                  </a:solidFill>
                </a:rPr>
                <a:t>Contrato Cessão Capacidade FTTH</a:t>
              </a:r>
            </a:p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>
                  <a:solidFill>
                    <a:srgbClr val="009E0B"/>
                  </a:solidFill>
                </a:rPr>
                <a:t>Fornecedores</a:t>
              </a:r>
              <a:r>
                <a:rPr lang="pt-BR" sz="1050" dirty="0">
                  <a:solidFill>
                    <a:schemeClr val="tx2"/>
                  </a:solidFill>
                </a:rPr>
                <a:t>: Contratos Aquisição ONT / Licenciamento e Manutenção Sistemas Nova Fibra /  Atendimento (</a:t>
              </a:r>
              <a:r>
                <a:rPr lang="pt-BR" sz="1050" dirty="0" err="1">
                  <a:solidFill>
                    <a:schemeClr val="tx2"/>
                  </a:solidFill>
                </a:rPr>
                <a:t>EPSs</a:t>
              </a:r>
              <a:r>
                <a:rPr lang="pt-BR" sz="1050" dirty="0">
                  <a:solidFill>
                    <a:schemeClr val="tx2"/>
                  </a:solidFill>
                </a:rPr>
                <a:t>), </a:t>
              </a:r>
              <a:r>
                <a:rPr lang="pt-BR" sz="1050" dirty="0" err="1">
                  <a:solidFill>
                    <a:schemeClr val="tx2"/>
                  </a:solidFill>
                </a:rPr>
                <a:t>etc</a:t>
              </a:r>
              <a:endParaRPr lang="pt-BR" sz="1050" dirty="0">
                <a:solidFill>
                  <a:schemeClr val="tx2"/>
                </a:solidFill>
              </a:endParaRPr>
            </a:p>
            <a:p>
              <a:pPr marL="185738" indent="-185738"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>
                  <a:solidFill>
                    <a:srgbClr val="009E0B"/>
                  </a:solidFill>
                </a:rPr>
                <a:t>Novos Contratos </a:t>
              </a:r>
              <a:r>
                <a:rPr lang="pt-BR" sz="1050" dirty="0" err="1">
                  <a:solidFill>
                    <a:srgbClr val="009E0B"/>
                  </a:solidFill>
                </a:rPr>
                <a:t>Intercompany</a:t>
              </a:r>
              <a:r>
                <a:rPr lang="pt-BR" sz="1050" dirty="0">
                  <a:solidFill>
                    <a:schemeClr val="tx2"/>
                  </a:solidFill>
                </a:rPr>
                <a:t>:</a:t>
              </a:r>
              <a:r>
                <a:rPr lang="pt-BR" sz="1050" dirty="0">
                  <a:solidFill>
                    <a:srgbClr val="009E0B"/>
                  </a:solidFill>
                </a:rPr>
                <a:t> TSA 1 </a:t>
              </a:r>
              <a:r>
                <a:rPr lang="pt-BR" sz="1050" dirty="0">
                  <a:solidFill>
                    <a:schemeClr val="tx2"/>
                  </a:solidFill>
                </a:rPr>
                <a:t>para fornecimento do VOIP, </a:t>
              </a:r>
              <a:r>
                <a:rPr lang="pt-BR" sz="1050" dirty="0">
                  <a:solidFill>
                    <a:srgbClr val="009E0B"/>
                  </a:solidFill>
                </a:rPr>
                <a:t>TSA 2 </a:t>
              </a:r>
              <a:r>
                <a:rPr lang="pt-BR" sz="1050" dirty="0">
                  <a:solidFill>
                    <a:schemeClr val="tx2"/>
                  </a:solidFill>
                </a:rPr>
                <a:t>Sistemas, </a:t>
              </a:r>
              <a:r>
                <a:rPr lang="pt-BR" sz="1050" dirty="0">
                  <a:solidFill>
                    <a:srgbClr val="009E0B"/>
                  </a:solidFill>
                </a:rPr>
                <a:t>TSA 3 </a:t>
              </a:r>
              <a:r>
                <a:rPr lang="pt-BR" sz="1050" dirty="0">
                  <a:solidFill>
                    <a:schemeClr val="tx2"/>
                  </a:solidFill>
                </a:rPr>
                <a:t>Pessoas / Aluguel Imóveis / </a:t>
              </a:r>
              <a:r>
                <a:rPr lang="pt-BR" sz="1050" dirty="0" err="1">
                  <a:solidFill>
                    <a:schemeClr val="tx2"/>
                  </a:solidFill>
                </a:rPr>
                <a:t>Colocation</a:t>
              </a:r>
              <a:r>
                <a:rPr lang="pt-BR" sz="1050" dirty="0">
                  <a:solidFill>
                    <a:schemeClr val="tx2"/>
                  </a:solidFill>
                </a:rPr>
                <a:t> </a:t>
              </a:r>
              <a:r>
                <a:rPr lang="pt-BR" sz="1050" dirty="0" err="1">
                  <a:solidFill>
                    <a:schemeClr val="tx2"/>
                  </a:solidFill>
                </a:rPr>
                <a:t>Equip</a:t>
              </a:r>
              <a:r>
                <a:rPr lang="pt-BR" sz="1050" dirty="0">
                  <a:solidFill>
                    <a:schemeClr val="tx2"/>
                  </a:solidFill>
                </a:rPr>
                <a:t>.</a:t>
              </a:r>
              <a:endParaRPr lang="en-US" sz="1050" dirty="0"/>
            </a:p>
          </p:txBody>
        </p:sp>
      </p:grpSp>
      <p:grpSp>
        <p:nvGrpSpPr>
          <p:cNvPr id="15" name="Agrupar 14"/>
          <p:cNvGrpSpPr/>
          <p:nvPr/>
        </p:nvGrpSpPr>
        <p:grpSpPr>
          <a:xfrm>
            <a:off x="10234595" y="2803021"/>
            <a:ext cx="1967474" cy="1449102"/>
            <a:chOff x="10234595" y="2803021"/>
            <a:chExt cx="1967474" cy="1449102"/>
          </a:xfrm>
        </p:grpSpPr>
        <p:sp>
          <p:nvSpPr>
            <p:cNvPr id="102" name="Texto Explicativo Retangular com Cantos Arredondados 101"/>
            <p:cNvSpPr/>
            <p:nvPr/>
          </p:nvSpPr>
          <p:spPr>
            <a:xfrm>
              <a:off x="10234595" y="2803021"/>
              <a:ext cx="1908000" cy="1296000"/>
            </a:xfrm>
            <a:prstGeom prst="wedgeRoundRectCallout">
              <a:avLst>
                <a:gd name="adj1" fmla="val -63229"/>
                <a:gd name="adj2" fmla="val 9075"/>
                <a:gd name="adj3" fmla="val 16667"/>
              </a:avLst>
            </a:prstGeom>
            <a:solidFill>
              <a:schemeClr val="bg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104" name="Rectangle 24">
              <a:extLst>
                <a:ext uri="{FF2B5EF4-FFF2-40B4-BE49-F238E27FC236}">
                  <a16:creationId xmlns:a16="http://schemas.microsoft.com/office/drawing/2014/main" id="{1D3BCAF9-0723-4884-9BF0-964384B95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4595" y="2875366"/>
              <a:ext cx="1967474" cy="137675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90000" tIns="90000" rIns="90000" bIns="90000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  <a:buFont typeface="Arial" charset="0"/>
                <a:buChar char="►"/>
              </a:pPr>
              <a:r>
                <a:rPr lang="pt-BR" sz="1050" dirty="0" smtClean="0">
                  <a:solidFill>
                    <a:schemeClr val="tx2"/>
                  </a:solidFill>
                </a:rPr>
                <a:t>Apenas </a:t>
              </a:r>
              <a:r>
                <a:rPr lang="pt-BR" sz="1050" dirty="0">
                  <a:solidFill>
                    <a:srgbClr val="009E0B"/>
                  </a:solidFill>
                </a:rPr>
                <a:t>sistemas exclusivos Nova Fibra (# 12 sistemas) + sistemas a serem segregados</a:t>
              </a:r>
            </a:p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009E0B"/>
                </a:buClr>
                <a:buSzPct val="100000"/>
              </a:pPr>
              <a:r>
                <a:rPr lang="pt-BR" sz="1050" dirty="0" smtClean="0">
                  <a:solidFill>
                    <a:srgbClr val="009E0B"/>
                  </a:solidFill>
                </a:rPr>
                <a:t>TSA </a:t>
              </a:r>
              <a:r>
                <a:rPr lang="pt-BR" sz="1050" dirty="0">
                  <a:solidFill>
                    <a:srgbClr val="009E0B"/>
                  </a:solidFill>
                </a:rPr>
                <a:t>2 </a:t>
              </a:r>
              <a:r>
                <a:rPr lang="pt-BR" sz="1050" dirty="0">
                  <a:solidFill>
                    <a:schemeClr val="tx2"/>
                  </a:solidFill>
                </a:rPr>
                <a:t>para uso dos sistemas de fibra legado e NF compartilhados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9178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/>
          <p:cNvSpPr txBox="1"/>
          <p:nvPr/>
        </p:nvSpPr>
        <p:spPr>
          <a:xfrm>
            <a:off x="2046934" y="636721"/>
            <a:ext cx="9171242" cy="617966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ítulo 25"/>
          <p:cNvSpPr>
            <a:spLocks noGrp="1"/>
          </p:cNvSpPr>
          <p:nvPr>
            <p:ph type="title"/>
          </p:nvPr>
        </p:nvSpPr>
        <p:spPr>
          <a:xfrm>
            <a:off x="245945" y="134154"/>
            <a:ext cx="10756482" cy="558294"/>
          </a:xfrm>
        </p:spPr>
        <p:txBody>
          <a:bodyPr/>
          <a:lstStyle/>
          <a:p>
            <a:r>
              <a:rPr lang="pt-BR" dirty="0" smtClean="0">
                <a:solidFill>
                  <a:srgbClr val="009E0B"/>
                </a:solidFill>
              </a:rPr>
              <a:t>TWIST: IMPLANTAÇÃO UPI </a:t>
            </a:r>
            <a:r>
              <a:rPr lang="pt-BR" dirty="0">
                <a:solidFill>
                  <a:srgbClr val="009E0B"/>
                </a:solidFill>
              </a:rPr>
              <a:t>CLIENTCO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314185" y="1677957"/>
            <a:ext cx="10970342" cy="684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REGULATÓRIO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14185" y="3163129"/>
            <a:ext cx="10970342" cy="684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ATIVOS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314182" y="6133476"/>
            <a:ext cx="10970342" cy="684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SISTEMAS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14182" y="3905715"/>
            <a:ext cx="10970345" cy="684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400" dirty="0"/>
              <a:t>CONTRATOS/ </a:t>
            </a:r>
          </a:p>
          <a:p>
            <a:r>
              <a:rPr lang="pt-BR" sz="1400" dirty="0"/>
              <a:t>COMUNICAÇÃO</a:t>
            </a:r>
          </a:p>
          <a:p>
            <a:r>
              <a:rPr lang="pt-BR" sz="1100" dirty="0"/>
              <a:t>(FORNECEDORES)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314183" y="5390887"/>
            <a:ext cx="10970344" cy="684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OPERACIONAL</a:t>
            </a:r>
            <a:endParaRPr lang="pt-BR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2164341" y="674525"/>
            <a:ext cx="466889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Escopo das Frentes </a:t>
            </a:r>
            <a:r>
              <a:rPr lang="pt-BR" b="1" dirty="0" err="1">
                <a:solidFill>
                  <a:srgbClr val="009E0B"/>
                </a:solidFill>
              </a:rPr>
              <a:t>ClientCO</a:t>
            </a:r>
            <a:r>
              <a:rPr lang="pt-BR" b="1" dirty="0">
                <a:solidFill>
                  <a:srgbClr val="009E0B"/>
                </a:solidFill>
              </a:rPr>
              <a:t>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14182" y="935371"/>
            <a:ext cx="10970345" cy="684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SOCIETÁRIO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060864" y="952330"/>
            <a:ext cx="8669050" cy="6670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marL="171450" indent="-171450" fontAlgn="auto" hangingPunct="0">
              <a:buFont typeface="Wingdings" panose="05000000000000000000" pitchFamily="2" charset="2"/>
              <a:buChar char="§"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Aprovar aquisição de 1 CNPJ, Criação da UPI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ClientCo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com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drop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de clientes e Ativos nos fóruns da Cia (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ReDir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, CA, CF, AGE)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Regulamentar CNPJ: criação das filiais, obter Inscr. Estadual e Municipal;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Elaboração do laudo contábil e materiais de apoio;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060863" y="1696076"/>
            <a:ext cx="8197562" cy="6821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Adquirir outorga de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SCM, STFC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para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ClientCo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 </a:t>
            </a:r>
          </a:p>
          <a:p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Desvinculação de ativos da RBR;</a:t>
            </a:r>
          </a:p>
          <a:p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Anuência CADE e Anatel para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a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  <a:latin typeface="+mj-lt"/>
              </a:rPr>
              <a:t>drop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de ativos e clientes fibra (Varejo e Empresarial) para a UPI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ClientCo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;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046933" y="3166488"/>
            <a:ext cx="8682980" cy="68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Migração dos ativos sem crédito CIAP (SAP Oi p/ SAP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  <a:latin typeface="+mj-lt"/>
              </a:rPr>
              <a:t>ClientCo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)  - 1ª Onda</a:t>
            </a:r>
          </a:p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Conciliação de Físico e Contábil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;</a:t>
            </a:r>
          </a:p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Migração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demais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ativos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-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ª Onda</a:t>
            </a:r>
            <a:endParaRPr lang="pt-BR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2046933" y="5414532"/>
            <a:ext cx="8682979" cy="6725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 sz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100" dirty="0">
                <a:solidFill>
                  <a:schemeClr val="tx2"/>
                </a:solidFill>
                <a:latin typeface="+mj-lt"/>
              </a:rPr>
              <a:t>Migrar operações exclusivas Fibra</a:t>
            </a:r>
          </a:p>
          <a:p>
            <a:r>
              <a:rPr lang="pt-BR" sz="1100" dirty="0">
                <a:solidFill>
                  <a:schemeClr val="tx2"/>
                </a:solidFill>
                <a:latin typeface="+mj-lt"/>
              </a:rPr>
              <a:t>Avaliar adequações dos processos operacionais para atendimento ao cliente – URA, 103 31, Suporte, Instalação/Manutenção, Retenção e Cancelamento, Vendas;</a:t>
            </a:r>
          </a:p>
          <a:p>
            <a:r>
              <a:rPr lang="pt-BR" sz="1100" dirty="0">
                <a:solidFill>
                  <a:schemeClr val="tx2"/>
                </a:solidFill>
                <a:latin typeface="+mj-lt"/>
              </a:rPr>
              <a:t>Controle de Processos e SOX, Relatórios Anatel;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2046934" y="6129583"/>
            <a:ext cx="8682979" cy="6878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 sz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>
                <a:solidFill>
                  <a:schemeClr val="tx2"/>
                </a:solidFill>
                <a:latin typeface="+mj-lt"/>
              </a:rPr>
              <a:t>Preparação sistêmica para DROP ativos / receita / clientes </a:t>
            </a:r>
          </a:p>
          <a:p>
            <a:r>
              <a:rPr lang="pt-BR" dirty="0">
                <a:solidFill>
                  <a:schemeClr val="tx2"/>
                </a:solidFill>
                <a:latin typeface="+mj-lt"/>
              </a:rPr>
              <a:t>Viabilizar faturamento da Fibra UPI </a:t>
            </a:r>
            <a:r>
              <a:rPr lang="pt-BR" dirty="0" err="1">
                <a:solidFill>
                  <a:schemeClr val="tx2"/>
                </a:solidFill>
                <a:latin typeface="+mj-lt"/>
              </a:rPr>
              <a:t>ClientCo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 como </a:t>
            </a:r>
            <a:r>
              <a:rPr lang="pt-BR" dirty="0" err="1">
                <a:solidFill>
                  <a:schemeClr val="tx2"/>
                </a:solidFill>
                <a:latin typeface="+mj-lt"/>
              </a:rPr>
              <a:t>Cofaturamento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 na fatura da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Oi;</a:t>
            </a:r>
            <a:endParaRPr lang="pt-BR" dirty="0">
              <a:solidFill>
                <a:schemeClr val="tx2"/>
              </a:solidFill>
              <a:latin typeface="+mj-lt"/>
            </a:endParaRPr>
          </a:p>
          <a:p>
            <a:r>
              <a:rPr lang="pt-BR" dirty="0">
                <a:solidFill>
                  <a:schemeClr val="tx2"/>
                </a:solidFill>
                <a:latin typeface="+mj-lt"/>
              </a:rPr>
              <a:t>Avaliar impactos nos relatórios operacionais, fiscal e </a:t>
            </a:r>
            <a:r>
              <a:rPr lang="pt-BR" dirty="0" err="1">
                <a:solidFill>
                  <a:schemeClr val="tx2"/>
                </a:solidFill>
                <a:latin typeface="+mj-lt"/>
              </a:rPr>
              <a:t>anatel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; 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14180" y="2420543"/>
            <a:ext cx="10970344" cy="684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FINANCEIRO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2046934" y="2427403"/>
            <a:ext cx="8576732" cy="673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marL="171450" indent="-171450" fontAlgn="auto" hangingPunct="0">
              <a:buFont typeface="Wingdings" panose="05000000000000000000" pitchFamily="2" charset="2"/>
              <a:buChar char="§"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Criação de fluxo financeiro do CNPJ: abertura de contas, seguros, aplicações;</a:t>
            </a:r>
          </a:p>
          <a:p>
            <a:pPr marL="171450" indent="-171450" fontAlgn="auto" hangingPunct="0">
              <a:buFont typeface="Wingdings" panose="05000000000000000000" pitchFamily="2" charset="2"/>
              <a:buChar char="§"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Criação de plano de contas e fluxo contábil;</a:t>
            </a:r>
          </a:p>
          <a:p>
            <a:pPr marL="171450" indent="-171450" fontAlgn="auto" hangingPunct="0">
              <a:buFont typeface="Wingdings" panose="05000000000000000000" pitchFamily="2" charset="2"/>
              <a:buChar char="§"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Alinhamento do Contábil com o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Carve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Out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Report</a:t>
            </a:r>
            <a:endParaRPr lang="pt-BR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314185" y="4648301"/>
            <a:ext cx="10970345" cy="684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400" dirty="0"/>
              <a:t>CONTRATOS/ </a:t>
            </a:r>
          </a:p>
          <a:p>
            <a:r>
              <a:rPr lang="pt-BR" sz="1400" dirty="0"/>
              <a:t>COMUNICAÇÃO</a:t>
            </a:r>
          </a:p>
          <a:p>
            <a:r>
              <a:rPr lang="pt-BR" sz="1100" dirty="0"/>
              <a:t>(CLIENTES)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046933" y="3920235"/>
            <a:ext cx="8805332" cy="669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 sz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>
                <a:solidFill>
                  <a:schemeClr val="tx2"/>
                </a:solidFill>
                <a:latin typeface="+mj-lt"/>
              </a:rPr>
              <a:t>Migração/Segregação do contrato com a </a:t>
            </a:r>
            <a:r>
              <a:rPr lang="pt-BR" dirty="0" err="1">
                <a:solidFill>
                  <a:schemeClr val="tx2"/>
                </a:solidFill>
                <a:latin typeface="+mj-lt"/>
              </a:rPr>
              <a:t>Vtal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 (Capacidade FTTH) e dos contratos exclusivos de fibra;</a:t>
            </a:r>
          </a:p>
          <a:p>
            <a:r>
              <a:rPr lang="pt-BR" dirty="0">
                <a:solidFill>
                  <a:schemeClr val="tx2"/>
                </a:solidFill>
                <a:latin typeface="+mj-lt"/>
              </a:rPr>
              <a:t>Criar regulamento de rateio de despesas administrativas, Jurídico, utilização de sistemas de equipamentos compartilhados;</a:t>
            </a:r>
          </a:p>
          <a:p>
            <a:r>
              <a:rPr lang="pt-BR" sz="1100" dirty="0">
                <a:solidFill>
                  <a:schemeClr val="tx2"/>
                </a:solidFill>
                <a:latin typeface="+mj-lt"/>
              </a:rPr>
              <a:t>Criar contrato </a:t>
            </a:r>
            <a:r>
              <a:rPr lang="pt-BR" sz="1100" dirty="0" err="1">
                <a:solidFill>
                  <a:schemeClr val="tx2"/>
                </a:solidFill>
                <a:latin typeface="+mj-lt"/>
              </a:rPr>
              <a:t>intercompany</a:t>
            </a:r>
            <a:r>
              <a:rPr lang="pt-BR" sz="1100" dirty="0">
                <a:solidFill>
                  <a:schemeClr val="tx2"/>
                </a:solidFill>
                <a:latin typeface="+mj-lt"/>
              </a:rPr>
              <a:t> entre </a:t>
            </a:r>
            <a:r>
              <a:rPr lang="pt-BR" sz="1100" dirty="0" err="1">
                <a:solidFill>
                  <a:schemeClr val="tx2"/>
                </a:solidFill>
                <a:latin typeface="+mj-lt"/>
              </a:rPr>
              <a:t>ClientCo</a:t>
            </a:r>
            <a:r>
              <a:rPr lang="pt-BR" sz="1100" dirty="0">
                <a:solidFill>
                  <a:schemeClr val="tx2"/>
                </a:solidFill>
                <a:latin typeface="+mj-lt"/>
              </a:rPr>
              <a:t> e Oi S/A (faturamento, cobrança, arrecadação, atendimento, </a:t>
            </a:r>
            <a:r>
              <a:rPr lang="pt-BR" sz="1100" dirty="0" err="1">
                <a:solidFill>
                  <a:schemeClr val="tx2"/>
                </a:solidFill>
                <a:latin typeface="+mj-lt"/>
              </a:rPr>
              <a:t>etc</a:t>
            </a:r>
            <a:r>
              <a:rPr lang="pt-BR" sz="1100" dirty="0">
                <a:solidFill>
                  <a:schemeClr val="tx2"/>
                </a:solidFill>
                <a:latin typeface="+mj-lt"/>
              </a:rPr>
              <a:t>)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2060583" y="4657764"/>
            <a:ext cx="8791682" cy="677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 sz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>
                <a:solidFill>
                  <a:schemeClr val="tx2"/>
                </a:solidFill>
                <a:latin typeface="+mj-lt"/>
              </a:rPr>
              <a:t>Alterar regulamentos e contratos de clientes nos canais de venda, site e </a:t>
            </a:r>
            <a:r>
              <a:rPr lang="pt-BR" dirty="0" err="1">
                <a:solidFill>
                  <a:schemeClr val="tx2"/>
                </a:solidFill>
                <a:latin typeface="+mj-lt"/>
              </a:rPr>
              <a:t>APPs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 (Varejo e Empresarial);</a:t>
            </a:r>
          </a:p>
          <a:p>
            <a:r>
              <a:rPr lang="pt-BR" dirty="0">
                <a:solidFill>
                  <a:schemeClr val="tx2"/>
                </a:solidFill>
                <a:latin typeface="+mj-lt"/>
              </a:rPr>
              <a:t>Comunicação informando sobre prestação do serviço de Fibra pela UPI </a:t>
            </a:r>
            <a:r>
              <a:rPr lang="pt-BR" dirty="0" err="1">
                <a:solidFill>
                  <a:schemeClr val="tx2"/>
                </a:solidFill>
                <a:latin typeface="+mj-lt"/>
              </a:rPr>
              <a:t>ClientCo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 (faturamento da Fibra via </a:t>
            </a:r>
            <a:r>
              <a:rPr lang="pt-BR" dirty="0" err="1">
                <a:solidFill>
                  <a:schemeClr val="tx2"/>
                </a:solidFill>
                <a:latin typeface="+mj-lt"/>
              </a:rPr>
              <a:t>cobilling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 na fatura Oi)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14180" y="674524"/>
            <a:ext cx="229838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Frentes de Trabalho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2"/>
          </p:nvPr>
        </p:nvSpPr>
        <p:spPr>
          <a:xfrm>
            <a:off x="11819155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33501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/>
          <p:cNvSpPr txBox="1"/>
          <p:nvPr/>
        </p:nvSpPr>
        <p:spPr>
          <a:xfrm>
            <a:off x="1904056" y="636720"/>
            <a:ext cx="1515389" cy="5976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314185" y="1748634"/>
            <a:ext cx="10897872" cy="540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REGULATÓRIO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314185" y="2948447"/>
            <a:ext cx="10897872" cy="540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ATIVOS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314182" y="5419518"/>
            <a:ext cx="10897872" cy="540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SISTEMAS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14182" y="3562323"/>
            <a:ext cx="10897875" cy="540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/>
              <a:t>CONTRATOS/ </a:t>
            </a:r>
          </a:p>
          <a:p>
            <a:r>
              <a:rPr lang="pt-BR" dirty="0"/>
              <a:t>COMUNICAÇÃO</a:t>
            </a:r>
          </a:p>
          <a:p>
            <a:r>
              <a:rPr lang="pt-BR" sz="1050" dirty="0"/>
              <a:t>(FORNECEDORES)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314183" y="4805001"/>
            <a:ext cx="10897874" cy="540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OPERAÇÃO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14180" y="2348222"/>
            <a:ext cx="10897874" cy="540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FINANCEIRO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14185" y="4190487"/>
            <a:ext cx="10897875" cy="540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/>
              <a:t>CONTRATOS/ </a:t>
            </a:r>
          </a:p>
          <a:p>
            <a:r>
              <a:rPr lang="pt-BR" dirty="0"/>
              <a:t>COMUNICAÇÃO</a:t>
            </a:r>
          </a:p>
          <a:p>
            <a:r>
              <a:rPr lang="pt-BR" sz="1050" dirty="0"/>
              <a:t>(CLIENTES)</a:t>
            </a:r>
          </a:p>
        </p:txBody>
      </p:sp>
      <p:sp>
        <p:nvSpPr>
          <p:cNvPr id="123" name="Retângulo Arredondado 122"/>
          <p:cNvSpPr/>
          <p:nvPr/>
        </p:nvSpPr>
        <p:spPr>
          <a:xfrm>
            <a:off x="5038305" y="1831463"/>
            <a:ext cx="4032000" cy="148039"/>
          </a:xfrm>
          <a:prstGeom prst="roundRect">
            <a:avLst/>
          </a:prstGeom>
          <a:solidFill>
            <a:srgbClr val="F5F5F5"/>
          </a:solidFill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4" name="Retângulo Arredondado 123"/>
          <p:cNvSpPr/>
          <p:nvPr/>
        </p:nvSpPr>
        <p:spPr>
          <a:xfrm>
            <a:off x="5067873" y="2406946"/>
            <a:ext cx="6156000" cy="148039"/>
          </a:xfrm>
          <a:prstGeom prst="roundRect">
            <a:avLst/>
          </a:prstGeom>
          <a:solidFill>
            <a:srgbClr val="F5F5F5"/>
          </a:solidFill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5" name="Retângulo Arredondado 124"/>
          <p:cNvSpPr/>
          <p:nvPr/>
        </p:nvSpPr>
        <p:spPr>
          <a:xfrm>
            <a:off x="3555247" y="3037015"/>
            <a:ext cx="7668000" cy="148039"/>
          </a:xfrm>
          <a:prstGeom prst="roundRect">
            <a:avLst/>
          </a:prstGeom>
          <a:solidFill>
            <a:srgbClr val="F5F5F5"/>
          </a:solidFill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6" name="Retângulo Arredondado 125"/>
          <p:cNvSpPr/>
          <p:nvPr/>
        </p:nvSpPr>
        <p:spPr>
          <a:xfrm>
            <a:off x="3571167" y="3653439"/>
            <a:ext cx="7632000" cy="148039"/>
          </a:xfrm>
          <a:prstGeom prst="roundRect">
            <a:avLst/>
          </a:prstGeom>
          <a:solidFill>
            <a:srgbClr val="F5F5F5"/>
          </a:solidFill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7" name="Retângulo Arredondado 126"/>
          <p:cNvSpPr/>
          <p:nvPr/>
        </p:nvSpPr>
        <p:spPr>
          <a:xfrm>
            <a:off x="4924567" y="4297162"/>
            <a:ext cx="6300000" cy="148039"/>
          </a:xfrm>
          <a:prstGeom prst="roundRect">
            <a:avLst/>
          </a:prstGeom>
          <a:solidFill>
            <a:srgbClr val="F5F5F5"/>
          </a:solidFill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8" name="Retângulo Arredondado 127"/>
          <p:cNvSpPr/>
          <p:nvPr/>
        </p:nvSpPr>
        <p:spPr>
          <a:xfrm>
            <a:off x="4929009" y="4858982"/>
            <a:ext cx="6300000" cy="148039"/>
          </a:xfrm>
          <a:prstGeom prst="roundRect">
            <a:avLst/>
          </a:prstGeom>
          <a:solidFill>
            <a:srgbClr val="F5F5F5"/>
          </a:solidFill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9" name="Retângulo Arredondado 128"/>
          <p:cNvSpPr/>
          <p:nvPr/>
        </p:nvSpPr>
        <p:spPr>
          <a:xfrm>
            <a:off x="4326817" y="5557239"/>
            <a:ext cx="6876000" cy="148039"/>
          </a:xfrm>
          <a:prstGeom prst="roundRect">
            <a:avLst/>
          </a:prstGeom>
          <a:solidFill>
            <a:srgbClr val="F5F5F5"/>
          </a:solidFill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14182" y="1149687"/>
            <a:ext cx="10897875" cy="540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SOCIETÁRIO</a:t>
            </a:r>
          </a:p>
        </p:txBody>
      </p:sp>
      <p:sp>
        <p:nvSpPr>
          <p:cNvPr id="8" name="Retângulo Arredondado 7"/>
          <p:cNvSpPr/>
          <p:nvPr/>
        </p:nvSpPr>
        <p:spPr>
          <a:xfrm>
            <a:off x="4312693" y="1215037"/>
            <a:ext cx="6912000" cy="148039"/>
          </a:xfrm>
          <a:prstGeom prst="roundRect">
            <a:avLst/>
          </a:prstGeom>
          <a:solidFill>
            <a:srgbClr val="F5F5F5"/>
          </a:solidFill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6" name="Título 25"/>
          <p:cNvSpPr>
            <a:spLocks noGrp="1"/>
          </p:cNvSpPr>
          <p:nvPr>
            <p:ph type="title"/>
          </p:nvPr>
        </p:nvSpPr>
        <p:spPr>
          <a:xfrm>
            <a:off x="245945" y="134154"/>
            <a:ext cx="10756482" cy="558294"/>
          </a:xfrm>
        </p:spPr>
        <p:txBody>
          <a:bodyPr/>
          <a:lstStyle/>
          <a:p>
            <a:r>
              <a:rPr lang="pt-BR" dirty="0" smtClean="0">
                <a:solidFill>
                  <a:srgbClr val="009E0B"/>
                </a:solidFill>
              </a:rPr>
              <a:t>TWIST: PRINCIPAIS MILESTONES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962759" y="674524"/>
            <a:ext cx="135373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pt-BR" b="1" dirty="0">
                <a:solidFill>
                  <a:srgbClr val="009E0B"/>
                </a:solidFill>
              </a:rPr>
              <a:t>Líder </a:t>
            </a:r>
            <a:r>
              <a:rPr lang="pt-BR" b="1" dirty="0" smtClean="0">
                <a:solidFill>
                  <a:srgbClr val="009E0B"/>
                </a:solidFill>
              </a:rPr>
              <a:t>N2/ N3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76407" y="2499042"/>
            <a:ext cx="125477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 smtClean="0">
                <a:solidFill>
                  <a:schemeClr val="bg2">
                    <a:lumMod val="50000"/>
                  </a:schemeClr>
                </a:solidFill>
              </a:rPr>
              <a:t>André Paradizi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1976407" y="3102281"/>
            <a:ext cx="13366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Francisco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Haick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1976407" y="1210676"/>
            <a:ext cx="1450655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Daniella Ventura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Fernando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Raposo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1976407" y="1923099"/>
            <a:ext cx="1295720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Viviane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Perdigão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1976407" y="4256007"/>
            <a:ext cx="1353734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Francisco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Tecles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Luiz Felipe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Meira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1948648" y="4951588"/>
            <a:ext cx="1658110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Jomerson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Almeida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1976407" y="3731931"/>
            <a:ext cx="13366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dirty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Luiz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Fillipe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 </a:t>
            </a:r>
            <a:r>
              <a:rPr lang="pt-BR" dirty="0" smtClean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Vieira</a:t>
            </a:r>
            <a:endParaRPr lang="pt-BR" dirty="0">
              <a:solidFill>
                <a:schemeClr val="tx2">
                  <a:lumMod val="75000"/>
                </a:schemeClr>
              </a:solidFill>
              <a:ea typeface="Calibri" panose="020F0502020204030204" pitchFamily="34" charset="0"/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988402" y="5572437"/>
            <a:ext cx="1271730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Bruno Diehl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10384891" y="369664"/>
            <a:ext cx="82716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Milestones</a:t>
            </a:r>
            <a:endParaRPr kumimoji="0" lang="en-US" sz="1400" b="1" i="0" u="none" strike="noStrike" cap="none" spc="0" normalizeH="0" baseline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314180" y="692448"/>
            <a:ext cx="1666751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Frentes de Trabalho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2"/>
          </p:nvPr>
        </p:nvSpPr>
        <p:spPr>
          <a:xfrm>
            <a:off x="11819155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8</a:t>
            </a:fld>
            <a:endParaRPr lang="pt-BR" dirty="0"/>
          </a:p>
        </p:txBody>
      </p:sp>
      <p:graphicFrame>
        <p:nvGraphicFramePr>
          <p:cNvPr id="36" name="Tabela 2">
            <a:extLst>
              <a:ext uri="{FF2B5EF4-FFF2-40B4-BE49-F238E27FC236}">
                <a16:creationId xmlns:a16="http://schemas.microsoft.com/office/drawing/2014/main" id="{722984D9-B1D7-3135-695E-2E73B4AF9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226543"/>
              </p:ext>
            </p:extLst>
          </p:nvPr>
        </p:nvGraphicFramePr>
        <p:xfrm>
          <a:off x="3488262" y="616157"/>
          <a:ext cx="7723809" cy="519428"/>
        </p:xfrm>
        <a:graphic>
          <a:graphicData uri="http://schemas.openxmlformats.org/drawingml/2006/table">
            <a:tbl>
              <a:tblPr firstRow="1" bandRow="1"/>
              <a:tblGrid>
                <a:gridCol w="475029">
                  <a:extLst>
                    <a:ext uri="{9D8B030D-6E8A-4147-A177-3AD203B41FA5}">
                      <a16:colId xmlns:a16="http://schemas.microsoft.com/office/drawing/2014/main" val="1779203288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2885599140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1495312148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933077993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3769883836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3504243577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1164908015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1552700458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2385827793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2367031473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618788218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745800267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4037044935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2694518659"/>
                    </a:ext>
                  </a:extLst>
                </a:gridCol>
                <a:gridCol w="517770">
                  <a:extLst>
                    <a:ext uri="{9D8B030D-6E8A-4147-A177-3AD203B41FA5}">
                      <a16:colId xmlns:a16="http://schemas.microsoft.com/office/drawing/2014/main" val="4074399190"/>
                    </a:ext>
                  </a:extLst>
                </a:gridCol>
              </a:tblGrid>
              <a:tr h="252000">
                <a:tc gridSpan="1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2024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 smtClean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2025</a:t>
                      </a: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8222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JAN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FEV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MAR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ABR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MAI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JUN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JUL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AGO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SET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 smtClean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OUT</a:t>
                      </a: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 smtClean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NOV</a:t>
                      </a: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 smtClean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DEZ</a:t>
                      </a: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 smtClean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JAN</a:t>
                      </a: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 smtClean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FEV</a:t>
                      </a: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900" kern="1200" dirty="0" smtClean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MAR</a:t>
                      </a:r>
                      <a:endParaRPr lang="pt-BR" sz="9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918384"/>
                  </a:ext>
                </a:extLst>
              </a:tr>
            </a:tbl>
          </a:graphicData>
        </a:graphic>
      </p:graphicFrame>
      <p:sp>
        <p:nvSpPr>
          <p:cNvPr id="37" name="Retângulo 36"/>
          <p:cNvSpPr/>
          <p:nvPr/>
        </p:nvSpPr>
        <p:spPr>
          <a:xfrm>
            <a:off x="6915343" y="1357105"/>
            <a:ext cx="12745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Adequar CNPJ  ao </a:t>
            </a:r>
            <a:b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escopo do projeto</a:t>
            </a:r>
          </a:p>
        </p:txBody>
      </p:sp>
      <p:sp>
        <p:nvSpPr>
          <p:cNvPr id="38" name="Retângulo 37"/>
          <p:cNvSpPr/>
          <p:nvPr/>
        </p:nvSpPr>
        <p:spPr>
          <a:xfrm>
            <a:off x="7675918" y="1362068"/>
            <a:ext cx="20526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Aprovar </a:t>
            </a:r>
            <a:r>
              <a:rPr kumimoji="0" lang="pt-BR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Drop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de Ativos e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Clientes CDG/REDIR/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sym typeface="Simplon BP Regular"/>
              </a:rPr>
              <a:t>CA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/CF/AGE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4557579" y="1360774"/>
            <a:ext cx="815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Aquisição</a:t>
            </a:r>
            <a:r>
              <a:rPr kumimoji="0" lang="pt-BR" sz="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de CNPJ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" name="Triângulo isósceles 3"/>
          <p:cNvSpPr/>
          <p:nvPr/>
        </p:nvSpPr>
        <p:spPr>
          <a:xfrm>
            <a:off x="4885886" y="1215037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3686415" y="1349428"/>
            <a:ext cx="10016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Aprovar</a:t>
            </a:r>
            <a:r>
              <a:rPr kumimoji="0" lang="pt-BR" sz="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Aquisição</a:t>
            </a:r>
            <a:r>
              <a:rPr kumimoji="0" lang="pt-BR" sz="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de CNPJ CA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1" name="Triângulo isósceles 40"/>
          <p:cNvSpPr/>
          <p:nvPr/>
        </p:nvSpPr>
        <p:spPr>
          <a:xfrm>
            <a:off x="4274033" y="1215037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2" name="Triângulo isósceles 41"/>
          <p:cNvSpPr/>
          <p:nvPr/>
        </p:nvSpPr>
        <p:spPr>
          <a:xfrm>
            <a:off x="7487119" y="1215037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0" name="Triângulo isósceles 49"/>
          <p:cNvSpPr/>
          <p:nvPr/>
        </p:nvSpPr>
        <p:spPr>
          <a:xfrm>
            <a:off x="8472030" y="1215037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5" name="Retângulo 54"/>
          <p:cNvSpPr/>
          <p:nvPr/>
        </p:nvSpPr>
        <p:spPr>
          <a:xfrm>
            <a:off x="6508200" y="1983436"/>
            <a:ext cx="1536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Entrada de Pedido de Outorga </a:t>
            </a: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na </a:t>
            </a: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Anatel 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6" name="Triângulo isósceles 55"/>
          <p:cNvSpPr/>
          <p:nvPr/>
        </p:nvSpPr>
        <p:spPr>
          <a:xfrm>
            <a:off x="7126389" y="1815315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7" name="Retângulo 56"/>
          <p:cNvSpPr/>
          <p:nvPr/>
        </p:nvSpPr>
        <p:spPr>
          <a:xfrm>
            <a:off x="8339583" y="1983436"/>
            <a:ext cx="16721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Obter </a:t>
            </a: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Outorgas, Aprovação CADE e Anatel, Desvincular ativos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8" name="Triângulo isósceles 57"/>
          <p:cNvSpPr/>
          <p:nvPr/>
        </p:nvSpPr>
        <p:spPr>
          <a:xfrm>
            <a:off x="8957773" y="1848920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9" name="Retângulo 58"/>
          <p:cNvSpPr/>
          <p:nvPr/>
        </p:nvSpPr>
        <p:spPr>
          <a:xfrm>
            <a:off x="5876472" y="2565392"/>
            <a:ext cx="1536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Abertura de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Contas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60" name="Triângulo isósceles 59"/>
          <p:cNvSpPr/>
          <p:nvPr/>
        </p:nvSpPr>
        <p:spPr>
          <a:xfrm>
            <a:off x="6519579" y="2419910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3" name="Retângulo 62"/>
          <p:cNvSpPr/>
          <p:nvPr/>
        </p:nvSpPr>
        <p:spPr>
          <a:xfrm>
            <a:off x="6881536" y="2565278"/>
            <a:ext cx="1536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Criação de Plano de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Contas e fluxo contábil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64" name="Triângulo isósceles 63"/>
          <p:cNvSpPr/>
          <p:nvPr/>
        </p:nvSpPr>
        <p:spPr>
          <a:xfrm>
            <a:off x="7435616" y="2419910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8870243" y="3161874"/>
            <a:ext cx="719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Drop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de ativos</a:t>
            </a:r>
          </a:p>
        </p:txBody>
      </p:sp>
      <p:sp>
        <p:nvSpPr>
          <p:cNvPr id="70" name="Retângulo 69"/>
          <p:cNvSpPr/>
          <p:nvPr/>
        </p:nvSpPr>
        <p:spPr>
          <a:xfrm>
            <a:off x="5659813" y="3161874"/>
            <a:ext cx="9575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Revisar perímetro </a:t>
            </a:r>
            <a:b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dos ativos</a:t>
            </a:r>
          </a:p>
        </p:txBody>
      </p:sp>
      <p:sp>
        <p:nvSpPr>
          <p:cNvPr id="74" name="Triângulo isósceles 73"/>
          <p:cNvSpPr/>
          <p:nvPr/>
        </p:nvSpPr>
        <p:spPr>
          <a:xfrm>
            <a:off x="5995816" y="3036742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6456637" y="3161874"/>
            <a:ext cx="11856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Realizar Ajustes Contábeis</a:t>
            </a:r>
            <a:r>
              <a:rPr kumimoji="0" lang="pt-BR" sz="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necessários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76" name="Triângulo isósceles 75"/>
          <p:cNvSpPr/>
          <p:nvPr/>
        </p:nvSpPr>
        <p:spPr>
          <a:xfrm>
            <a:off x="6981755" y="3036742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7" name="Retângulo 76"/>
          <p:cNvSpPr/>
          <p:nvPr/>
        </p:nvSpPr>
        <p:spPr>
          <a:xfrm>
            <a:off x="7802273" y="3161874"/>
            <a:ext cx="6540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Laudo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Contábil</a:t>
            </a:r>
          </a:p>
        </p:txBody>
      </p:sp>
      <p:sp>
        <p:nvSpPr>
          <p:cNvPr id="78" name="Triângulo isósceles 77"/>
          <p:cNvSpPr/>
          <p:nvPr/>
        </p:nvSpPr>
        <p:spPr>
          <a:xfrm>
            <a:off x="8011423" y="3036742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9" name="Triângulo isósceles 78"/>
          <p:cNvSpPr/>
          <p:nvPr/>
        </p:nvSpPr>
        <p:spPr>
          <a:xfrm>
            <a:off x="9120779" y="3036742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0" name="Retângulo 79"/>
          <p:cNvSpPr/>
          <p:nvPr/>
        </p:nvSpPr>
        <p:spPr>
          <a:xfrm>
            <a:off x="4186973" y="3805026"/>
            <a:ext cx="9575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Defini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r Perímetro dos contratos</a:t>
            </a:r>
          </a:p>
        </p:txBody>
      </p:sp>
      <p:sp>
        <p:nvSpPr>
          <p:cNvPr id="81" name="Triângulo isósceles 80"/>
          <p:cNvSpPr/>
          <p:nvPr/>
        </p:nvSpPr>
        <p:spPr>
          <a:xfrm>
            <a:off x="4864176" y="3662471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2" name="Retângulo 81"/>
          <p:cNvSpPr/>
          <p:nvPr/>
        </p:nvSpPr>
        <p:spPr>
          <a:xfrm>
            <a:off x="5116494" y="3805026"/>
            <a:ext cx="9575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Comunicar Fornecedores</a:t>
            </a:r>
          </a:p>
        </p:txBody>
      </p:sp>
      <p:sp>
        <p:nvSpPr>
          <p:cNvPr id="83" name="Triângulo isósceles 82"/>
          <p:cNvSpPr/>
          <p:nvPr/>
        </p:nvSpPr>
        <p:spPr>
          <a:xfrm>
            <a:off x="5493441" y="3662471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8464502" y="3805026"/>
            <a:ext cx="7245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Aditar Contratos</a:t>
            </a:r>
          </a:p>
        </p:txBody>
      </p:sp>
      <p:sp>
        <p:nvSpPr>
          <p:cNvPr id="85" name="Triângulo isósceles 84"/>
          <p:cNvSpPr/>
          <p:nvPr/>
        </p:nvSpPr>
        <p:spPr>
          <a:xfrm>
            <a:off x="8866271" y="3662471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6" name="Retângulo 85"/>
          <p:cNvSpPr/>
          <p:nvPr/>
        </p:nvSpPr>
        <p:spPr>
          <a:xfrm>
            <a:off x="8938479" y="3805026"/>
            <a:ext cx="719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Drop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de Contratos</a:t>
            </a:r>
          </a:p>
        </p:txBody>
      </p:sp>
      <p:sp>
        <p:nvSpPr>
          <p:cNvPr id="87" name="Triângulo isósceles 86"/>
          <p:cNvSpPr/>
          <p:nvPr/>
        </p:nvSpPr>
        <p:spPr>
          <a:xfrm>
            <a:off x="9189015" y="3662471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8" name="Retângulo 87"/>
          <p:cNvSpPr/>
          <p:nvPr/>
        </p:nvSpPr>
        <p:spPr>
          <a:xfrm>
            <a:off x="7425814" y="3805026"/>
            <a:ext cx="957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Criação dos </a:t>
            </a:r>
            <a:r>
              <a:rPr lang="pt-BR" sz="800" dirty="0" err="1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ctts</a:t>
            </a: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 </a:t>
            </a:r>
            <a:r>
              <a:rPr lang="pt-BR" sz="800" dirty="0" err="1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Intercompanny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89" name="Triângulo isósceles 88"/>
          <p:cNvSpPr/>
          <p:nvPr/>
        </p:nvSpPr>
        <p:spPr>
          <a:xfrm>
            <a:off x="7787464" y="3662471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2" name="Retângulo 91"/>
          <p:cNvSpPr/>
          <p:nvPr/>
        </p:nvSpPr>
        <p:spPr>
          <a:xfrm>
            <a:off x="7860795" y="4435102"/>
            <a:ext cx="9575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Comunicar </a:t>
            </a: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Clientes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93" name="Triângulo isósceles 92"/>
          <p:cNvSpPr/>
          <p:nvPr/>
        </p:nvSpPr>
        <p:spPr>
          <a:xfrm>
            <a:off x="8237742" y="4295351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4" name="Retângulo 93"/>
          <p:cNvSpPr/>
          <p:nvPr/>
        </p:nvSpPr>
        <p:spPr>
          <a:xfrm>
            <a:off x="6864406" y="4435102"/>
            <a:ext cx="12150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Ajustar regulamentos/ Contratos</a:t>
            </a:r>
          </a:p>
        </p:txBody>
      </p:sp>
      <p:sp>
        <p:nvSpPr>
          <p:cNvPr id="95" name="Triângulo isósceles 94"/>
          <p:cNvSpPr/>
          <p:nvPr/>
        </p:nvSpPr>
        <p:spPr>
          <a:xfrm>
            <a:off x="7558353" y="4295351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6" name="Retângulo 95"/>
          <p:cNvSpPr/>
          <p:nvPr/>
        </p:nvSpPr>
        <p:spPr>
          <a:xfrm>
            <a:off x="8965775" y="4435102"/>
            <a:ext cx="719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Drop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de Clientes</a:t>
            </a:r>
          </a:p>
        </p:txBody>
      </p:sp>
      <p:sp>
        <p:nvSpPr>
          <p:cNvPr id="97" name="Triângulo isósceles 96"/>
          <p:cNvSpPr/>
          <p:nvPr/>
        </p:nvSpPr>
        <p:spPr>
          <a:xfrm>
            <a:off x="9216311" y="4295351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8" name="Retângulo 97"/>
          <p:cNvSpPr/>
          <p:nvPr/>
        </p:nvSpPr>
        <p:spPr>
          <a:xfrm>
            <a:off x="5417821" y="4435102"/>
            <a:ext cx="14646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Aprovar NOVOS Contratos</a:t>
            </a:r>
            <a:r>
              <a:rPr kumimoji="0" lang="pt-BR" sz="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e Regulamentos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99" name="Triângulo isósceles 98"/>
          <p:cNvSpPr/>
          <p:nvPr/>
        </p:nvSpPr>
        <p:spPr>
          <a:xfrm>
            <a:off x="6083760" y="4295351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0" name="Retângulo 99"/>
          <p:cNvSpPr/>
          <p:nvPr/>
        </p:nvSpPr>
        <p:spPr>
          <a:xfrm>
            <a:off x="9320511" y="4991943"/>
            <a:ext cx="1194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Comunicar Alteração de processos</a:t>
            </a:r>
          </a:p>
        </p:txBody>
      </p:sp>
      <p:sp>
        <p:nvSpPr>
          <p:cNvPr id="101" name="Triângulo isósceles 100"/>
          <p:cNvSpPr/>
          <p:nvPr/>
        </p:nvSpPr>
        <p:spPr>
          <a:xfrm>
            <a:off x="9371777" y="4857196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2" name="Retângulo 101"/>
          <p:cNvSpPr/>
          <p:nvPr/>
        </p:nvSpPr>
        <p:spPr>
          <a:xfrm>
            <a:off x="7845319" y="4991168"/>
            <a:ext cx="14916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Treinamento </a:t>
            </a:r>
          </a:p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dos </a:t>
            </a: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Canais/ Operação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4" name="Triângulo isósceles 103"/>
          <p:cNvSpPr/>
          <p:nvPr/>
        </p:nvSpPr>
        <p:spPr>
          <a:xfrm>
            <a:off x="9099961" y="4857196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5" name="Retângulo 104"/>
          <p:cNvSpPr/>
          <p:nvPr/>
        </p:nvSpPr>
        <p:spPr>
          <a:xfrm>
            <a:off x="6532917" y="5032588"/>
            <a:ext cx="9283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Material de Treinamento</a:t>
            </a:r>
          </a:p>
        </p:txBody>
      </p:sp>
      <p:sp>
        <p:nvSpPr>
          <p:cNvPr id="106" name="Triângulo isósceles 105"/>
          <p:cNvSpPr/>
          <p:nvPr/>
        </p:nvSpPr>
        <p:spPr>
          <a:xfrm>
            <a:off x="6990264" y="4870238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7" name="Retângulo 106"/>
          <p:cNvSpPr/>
          <p:nvPr/>
        </p:nvSpPr>
        <p:spPr>
          <a:xfrm>
            <a:off x="5808767" y="5032588"/>
            <a:ext cx="9283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Revisar Processos</a:t>
            </a:r>
          </a:p>
        </p:txBody>
      </p:sp>
      <p:sp>
        <p:nvSpPr>
          <p:cNvPr id="108" name="Triângulo isósceles 107"/>
          <p:cNvSpPr/>
          <p:nvPr/>
        </p:nvSpPr>
        <p:spPr>
          <a:xfrm>
            <a:off x="6266114" y="4870238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9" name="Retângulo 108"/>
          <p:cNvSpPr/>
          <p:nvPr/>
        </p:nvSpPr>
        <p:spPr>
          <a:xfrm>
            <a:off x="5549626" y="5686198"/>
            <a:ext cx="9984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Escrita de </a:t>
            </a:r>
            <a:r>
              <a:rPr kumimoji="0" lang="pt-BR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Feature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e Refinamento</a:t>
            </a:r>
          </a:p>
        </p:txBody>
      </p:sp>
      <p:sp>
        <p:nvSpPr>
          <p:cNvPr id="110" name="Triângulo isósceles 109"/>
          <p:cNvSpPr/>
          <p:nvPr/>
        </p:nvSpPr>
        <p:spPr>
          <a:xfrm>
            <a:off x="6006974" y="5564233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1" name="Retângulo 110"/>
          <p:cNvSpPr/>
          <p:nvPr/>
        </p:nvSpPr>
        <p:spPr>
          <a:xfrm>
            <a:off x="7818383" y="5782012"/>
            <a:ext cx="99848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Desenvolvimento</a:t>
            </a:r>
          </a:p>
        </p:txBody>
      </p:sp>
      <p:sp>
        <p:nvSpPr>
          <p:cNvPr id="112" name="Triângulo isósceles 111"/>
          <p:cNvSpPr/>
          <p:nvPr/>
        </p:nvSpPr>
        <p:spPr>
          <a:xfrm>
            <a:off x="8275731" y="5564233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3" name="Retângulo 112"/>
          <p:cNvSpPr/>
          <p:nvPr/>
        </p:nvSpPr>
        <p:spPr>
          <a:xfrm>
            <a:off x="8393066" y="5782012"/>
            <a:ext cx="99848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Testes</a:t>
            </a:r>
          </a:p>
        </p:txBody>
      </p:sp>
      <p:sp>
        <p:nvSpPr>
          <p:cNvPr id="114" name="Triângulo isósceles 113"/>
          <p:cNvSpPr/>
          <p:nvPr/>
        </p:nvSpPr>
        <p:spPr>
          <a:xfrm>
            <a:off x="8850414" y="5564233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5" name="Retângulo 114"/>
          <p:cNvSpPr/>
          <p:nvPr/>
        </p:nvSpPr>
        <p:spPr>
          <a:xfrm>
            <a:off x="8547820" y="5382009"/>
            <a:ext cx="99848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Implantação</a:t>
            </a:r>
          </a:p>
        </p:txBody>
      </p:sp>
      <p:sp>
        <p:nvSpPr>
          <p:cNvPr id="116" name="Triângulo isósceles 115"/>
          <p:cNvSpPr/>
          <p:nvPr/>
        </p:nvSpPr>
        <p:spPr>
          <a:xfrm>
            <a:off x="9034651" y="5564233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7" name="Triângulo isósceles 116"/>
          <p:cNvSpPr/>
          <p:nvPr/>
        </p:nvSpPr>
        <p:spPr>
          <a:xfrm>
            <a:off x="9322257" y="5564233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8" name="Retângulo 117"/>
          <p:cNvSpPr/>
          <p:nvPr/>
        </p:nvSpPr>
        <p:spPr>
          <a:xfrm>
            <a:off x="9279240" y="5382009"/>
            <a:ext cx="99848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1º Faturamento</a:t>
            </a:r>
          </a:p>
        </p:txBody>
      </p:sp>
      <p:sp>
        <p:nvSpPr>
          <p:cNvPr id="119" name="Retângulo 118"/>
          <p:cNvSpPr/>
          <p:nvPr/>
        </p:nvSpPr>
        <p:spPr>
          <a:xfrm>
            <a:off x="9067072" y="5687280"/>
            <a:ext cx="3773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GO</a:t>
            </a:r>
            <a:r>
              <a:rPr kumimoji="0" lang="pt-BR" sz="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Live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0" name="Triângulo isósceles 119"/>
          <p:cNvSpPr/>
          <p:nvPr/>
        </p:nvSpPr>
        <p:spPr>
          <a:xfrm>
            <a:off x="9187051" y="5564233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1" name="Triângulo isósceles 130"/>
          <p:cNvSpPr/>
          <p:nvPr/>
        </p:nvSpPr>
        <p:spPr>
          <a:xfrm>
            <a:off x="4469284" y="6660863"/>
            <a:ext cx="163773" cy="136450"/>
          </a:xfrm>
          <a:prstGeom prst="triangle">
            <a:avLst/>
          </a:prstGeom>
          <a:solidFill>
            <a:srgbClr val="C00000"/>
          </a:solidFill>
          <a:ln w="25400" cap="flat">
            <a:solidFill>
              <a:srgbClr val="C0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2" name="TextBox 197">
            <a:extLst>
              <a:ext uri="{FF2B5EF4-FFF2-40B4-BE49-F238E27FC236}">
                <a16:creationId xmlns:a16="http://schemas.microsoft.com/office/drawing/2014/main" id="{B1C13B27-89CB-E9F5-DB92-5D5C41AD1512}"/>
              </a:ext>
            </a:extLst>
          </p:cNvPr>
          <p:cNvSpPr txBox="1"/>
          <p:nvPr/>
        </p:nvSpPr>
        <p:spPr>
          <a:xfrm>
            <a:off x="4258789" y="6838347"/>
            <a:ext cx="569740" cy="531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Simplon BP Regular"/>
                <a:sym typeface="Simplon BP Regular"/>
              </a:rPr>
              <a:t>Hoje</a:t>
            </a:r>
            <a:endParaRPr lang="pt-BR" sz="700" dirty="0">
              <a:solidFill>
                <a:srgbClr val="4D4D4D"/>
              </a:solidFill>
              <a:latin typeface="Simplon BP Regular"/>
            </a:endParaRPr>
          </a:p>
        </p:txBody>
      </p:sp>
      <p:sp>
        <p:nvSpPr>
          <p:cNvPr id="103" name="Retângulo 102"/>
          <p:cNvSpPr/>
          <p:nvPr/>
        </p:nvSpPr>
        <p:spPr>
          <a:xfrm>
            <a:off x="10709732" y="1367850"/>
            <a:ext cx="57720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noProof="0" dirty="0" err="1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Closing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1" name="Triângulo isósceles 120"/>
          <p:cNvSpPr/>
          <p:nvPr/>
        </p:nvSpPr>
        <p:spPr>
          <a:xfrm>
            <a:off x="11013487" y="1216858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2" name="Retângulo 121"/>
          <p:cNvSpPr/>
          <p:nvPr/>
        </p:nvSpPr>
        <p:spPr>
          <a:xfrm>
            <a:off x="10278950" y="1328877"/>
            <a:ext cx="5772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Atender </a:t>
            </a:r>
            <a:r>
              <a:rPr lang="pt-BR" sz="800" dirty="0" err="1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CPs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33" name="Triângulo isósceles 132"/>
          <p:cNvSpPr/>
          <p:nvPr/>
        </p:nvSpPr>
        <p:spPr>
          <a:xfrm>
            <a:off x="10504282" y="1219061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4" name="Retângulo 133"/>
          <p:cNvSpPr/>
          <p:nvPr/>
        </p:nvSpPr>
        <p:spPr>
          <a:xfrm>
            <a:off x="4835449" y="1998285"/>
            <a:ext cx="153662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Entrada </a:t>
            </a: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 CADE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35" name="Triângulo isósceles 134"/>
          <p:cNvSpPr/>
          <p:nvPr/>
        </p:nvSpPr>
        <p:spPr>
          <a:xfrm>
            <a:off x="5480934" y="1830164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6" name="Retângulo 135"/>
          <p:cNvSpPr/>
          <p:nvPr/>
        </p:nvSpPr>
        <p:spPr>
          <a:xfrm>
            <a:off x="10030524" y="2553966"/>
            <a:ext cx="12013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Apresentar </a:t>
            </a:r>
            <a:r>
              <a:rPr lang="pt-BR" sz="800" dirty="0" err="1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CPs</a:t>
            </a: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 financeiras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37" name="Triângulo isósceles 136"/>
          <p:cNvSpPr/>
          <p:nvPr/>
        </p:nvSpPr>
        <p:spPr>
          <a:xfrm>
            <a:off x="10530012" y="2408599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8" name="Retângulo 137"/>
          <p:cNvSpPr/>
          <p:nvPr/>
        </p:nvSpPr>
        <p:spPr>
          <a:xfrm>
            <a:off x="10043525" y="3169436"/>
            <a:ext cx="12013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Apresentar </a:t>
            </a:r>
            <a:r>
              <a:rPr lang="pt-BR" sz="800" dirty="0" err="1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CPs</a:t>
            </a: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Ativos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39" name="Triângulo isósceles 138"/>
          <p:cNvSpPr/>
          <p:nvPr/>
        </p:nvSpPr>
        <p:spPr>
          <a:xfrm>
            <a:off x="10543013" y="3024069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0" name="Retângulo 139"/>
          <p:cNvSpPr/>
          <p:nvPr/>
        </p:nvSpPr>
        <p:spPr>
          <a:xfrm>
            <a:off x="10320419" y="3792342"/>
            <a:ext cx="719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Ctt</a:t>
            </a:r>
            <a:r>
              <a:rPr kumimoji="0" lang="pt-BR" sz="8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TSA Comprador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41" name="Triângulo isósceles 140"/>
          <p:cNvSpPr/>
          <p:nvPr/>
        </p:nvSpPr>
        <p:spPr>
          <a:xfrm>
            <a:off x="10570955" y="3663435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2" name="Retângulo 141"/>
          <p:cNvSpPr/>
          <p:nvPr/>
        </p:nvSpPr>
        <p:spPr>
          <a:xfrm>
            <a:off x="10086593" y="4455157"/>
            <a:ext cx="12013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Apresentar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err="1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CPs</a:t>
            </a: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 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43" name="Triângulo isósceles 142"/>
          <p:cNvSpPr/>
          <p:nvPr/>
        </p:nvSpPr>
        <p:spPr>
          <a:xfrm>
            <a:off x="10586081" y="4309790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4" name="Retângulo 143"/>
          <p:cNvSpPr/>
          <p:nvPr/>
        </p:nvSpPr>
        <p:spPr>
          <a:xfrm>
            <a:off x="10118772" y="5004164"/>
            <a:ext cx="12013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Apresentar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err="1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CPs</a:t>
            </a: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 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45" name="Triângulo isósceles 144"/>
          <p:cNvSpPr/>
          <p:nvPr/>
        </p:nvSpPr>
        <p:spPr>
          <a:xfrm>
            <a:off x="10618260" y="4858797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6" name="Retângulo 145"/>
          <p:cNvSpPr/>
          <p:nvPr/>
        </p:nvSpPr>
        <p:spPr>
          <a:xfrm>
            <a:off x="10445816" y="5675335"/>
            <a:ext cx="9984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Segregação Sistêmica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47" name="Triângulo isósceles 146"/>
          <p:cNvSpPr/>
          <p:nvPr/>
        </p:nvSpPr>
        <p:spPr>
          <a:xfrm>
            <a:off x="10980517" y="5555617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8" name="CaixaDeTexto 147"/>
          <p:cNvSpPr txBox="1"/>
          <p:nvPr/>
        </p:nvSpPr>
        <p:spPr>
          <a:xfrm>
            <a:off x="316456" y="6049594"/>
            <a:ext cx="10897872" cy="540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MIGRAÇÃO</a:t>
            </a:r>
          </a:p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TSA</a:t>
            </a:r>
            <a:endParaRPr lang="pt-BR" sz="1200" b="1" dirty="0" smtClean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9" name="Retângulo Arredondado 148"/>
          <p:cNvSpPr/>
          <p:nvPr/>
        </p:nvSpPr>
        <p:spPr>
          <a:xfrm>
            <a:off x="5912231" y="6187315"/>
            <a:ext cx="5292000" cy="148039"/>
          </a:xfrm>
          <a:prstGeom prst="roundRect">
            <a:avLst/>
          </a:prstGeom>
          <a:solidFill>
            <a:srgbClr val="F5F5F5"/>
          </a:solidFill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0" name="CaixaDeTexto 149"/>
          <p:cNvSpPr txBox="1"/>
          <p:nvPr/>
        </p:nvSpPr>
        <p:spPr>
          <a:xfrm>
            <a:off x="1990676" y="6202513"/>
            <a:ext cx="1271730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Elly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Resende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152" name="Retângulo 151"/>
          <p:cNvSpPr/>
          <p:nvPr/>
        </p:nvSpPr>
        <p:spPr>
          <a:xfrm>
            <a:off x="7228002" y="6318710"/>
            <a:ext cx="9984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Definir escopo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800" dirty="0" smtClean="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da migração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53" name="Triângulo isósceles 152"/>
          <p:cNvSpPr/>
          <p:nvPr/>
        </p:nvSpPr>
        <p:spPr>
          <a:xfrm>
            <a:off x="7633338" y="6194309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4" name="Retângulo 163"/>
          <p:cNvSpPr/>
          <p:nvPr/>
        </p:nvSpPr>
        <p:spPr>
          <a:xfrm>
            <a:off x="9942526" y="6292950"/>
            <a:ext cx="9984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Implantar processos TSA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65" name="Triângulo isósceles 164"/>
          <p:cNvSpPr/>
          <p:nvPr/>
        </p:nvSpPr>
        <p:spPr>
          <a:xfrm>
            <a:off x="10667367" y="6198992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cxnSp>
        <p:nvCxnSpPr>
          <p:cNvPr id="130" name="Conector reto 129"/>
          <p:cNvCxnSpPr/>
          <p:nvPr/>
        </p:nvCxnSpPr>
        <p:spPr>
          <a:xfrm>
            <a:off x="4487479" y="1139700"/>
            <a:ext cx="26889" cy="5508000"/>
          </a:xfrm>
          <a:prstGeom prst="line">
            <a:avLst/>
          </a:prstGeom>
          <a:noFill/>
          <a:ln w="9525" cap="flat">
            <a:solidFill>
              <a:srgbClr val="C00000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6" name="Retângulo 165"/>
          <p:cNvSpPr/>
          <p:nvPr/>
        </p:nvSpPr>
        <p:spPr>
          <a:xfrm>
            <a:off x="10820672" y="6319927"/>
            <a:ext cx="9984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Iniciar Operação TSA e Migração</a:t>
            </a:r>
            <a:endParaRPr kumimoji="0" lang="pt-B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67" name="Triângulo isósceles 166"/>
          <p:cNvSpPr/>
          <p:nvPr/>
        </p:nvSpPr>
        <p:spPr>
          <a:xfrm>
            <a:off x="11134513" y="6225969"/>
            <a:ext cx="163773" cy="136450"/>
          </a:xfrm>
          <a:prstGeom prst="triangle">
            <a:avLst/>
          </a:prstGeom>
          <a:solidFill>
            <a:srgbClr val="00D318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1298286" y="1176098"/>
            <a:ext cx="1022684" cy="215444"/>
          </a:xfrm>
          <a:prstGeom prst="rect">
            <a:avLst/>
          </a:prstGeom>
          <a:solidFill>
            <a:srgbClr val="6DD9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Comprar</a:t>
            </a:r>
            <a:r>
              <a:rPr kumimoji="0" lang="en-US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cnpj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1" name="CaixaDeTexto 150"/>
          <p:cNvSpPr txBox="1"/>
          <p:nvPr/>
        </p:nvSpPr>
        <p:spPr>
          <a:xfrm>
            <a:off x="11353257" y="1683472"/>
            <a:ext cx="1901091" cy="430887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Cnpj</a:t>
            </a:r>
            <a:r>
              <a:rPr kumimoji="0" lang="en-US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regular;</a:t>
            </a:r>
            <a:r>
              <a: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definir</a:t>
            </a:r>
            <a:r>
              <a: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comprador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4" name="CaixaDeTexto 153"/>
          <p:cNvSpPr txBox="1"/>
          <p:nvPr/>
        </p:nvSpPr>
        <p:spPr>
          <a:xfrm>
            <a:off x="11329216" y="2192367"/>
            <a:ext cx="2177751" cy="861774"/>
          </a:xfrm>
          <a:prstGeom prst="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Cnpj</a:t>
            </a:r>
            <a:r>
              <a:rPr kumimoji="0" lang="en-US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regular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</a:pPr>
            <a:r>
              <a:rPr lang="en-US" dirty="0" smtClean="0"/>
              <a:t>Plano de </a:t>
            </a:r>
            <a:r>
              <a:rPr lang="en-US" dirty="0" err="1" smtClean="0"/>
              <a:t>Contas</a:t>
            </a:r>
            <a:r>
              <a:rPr lang="en-US" dirty="0" smtClean="0"/>
              <a:t> e </a:t>
            </a:r>
            <a:r>
              <a:rPr lang="en-US" dirty="0" err="1" smtClean="0"/>
              <a:t>Fluxo</a:t>
            </a:r>
            <a:r>
              <a:rPr lang="en-US" dirty="0" smtClean="0"/>
              <a:t> </a:t>
            </a:r>
            <a:r>
              <a:rPr lang="pt-BR" dirty="0" smtClean="0"/>
              <a:t>Contábil == Sistemas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Þ"/>
              <a:tabLst/>
            </a:pPr>
            <a:r>
              <a:rPr kumimoji="0" lang="pt-BR" sz="1400" b="0" i="0" u="none" strike="noStrike" cap="none" spc="0" normalizeH="0" baseline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Carve</a:t>
            </a: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out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5" name="CaixaDeTexto 154"/>
          <p:cNvSpPr txBox="1"/>
          <p:nvPr/>
        </p:nvSpPr>
        <p:spPr>
          <a:xfrm>
            <a:off x="11338987" y="3102281"/>
            <a:ext cx="2177751" cy="430887"/>
          </a:xfrm>
          <a:prstGeom prst="rect">
            <a:avLst/>
          </a:prstGeom>
          <a:solidFill>
            <a:srgbClr val="6DD9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Dia a dia dos Ativos e </a:t>
            </a:r>
            <a:r>
              <a:rPr lang="pt-BR" dirty="0" smtClean="0"/>
              <a:t>Sistemas no perimetro 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6" name="CaixaDeTexto 155"/>
          <p:cNvSpPr txBox="1"/>
          <p:nvPr/>
        </p:nvSpPr>
        <p:spPr>
          <a:xfrm>
            <a:off x="11320234" y="3602116"/>
            <a:ext cx="2177751" cy="861774"/>
          </a:xfrm>
          <a:prstGeom prst="rect">
            <a:avLst/>
          </a:prstGeom>
          <a:solidFill>
            <a:srgbClr val="6DD9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Lista de contratos; donos do contrato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 smtClean="0"/>
              <a:t>Fechar uma comunicação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Negociar</a:t>
            </a:r>
            <a:r>
              <a:rPr kumimoji="0" lang="pt-BR" sz="14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ainda não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7" name="CaixaDeTexto 156"/>
          <p:cNvSpPr txBox="1"/>
          <p:nvPr/>
        </p:nvSpPr>
        <p:spPr>
          <a:xfrm>
            <a:off x="11329216" y="4187960"/>
            <a:ext cx="2177751" cy="86177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 err="1" smtClean="0">
                <a:sym typeface="Wingdings" panose="05000000000000000000" pitchFamily="2" charset="2"/>
              </a:rPr>
              <a:t>Ctt</a:t>
            </a:r>
            <a:r>
              <a:rPr lang="pt-BR" dirty="0" smtClean="0">
                <a:sym typeface="Wingdings" panose="05000000000000000000" pitchFamily="2" charset="2"/>
              </a:rPr>
              <a:t> e Regulamento da oferta de natal em </a:t>
            </a:r>
            <a:r>
              <a:rPr lang="pt-BR" dirty="0" err="1" smtClean="0">
                <a:sym typeface="Wingdings" panose="05000000000000000000" pitchFamily="2" charset="2"/>
              </a:rPr>
              <a:t>upi</a:t>
            </a:r>
            <a:r>
              <a:rPr lang="pt-BR" dirty="0" smtClean="0">
                <a:sym typeface="Wingdings" panose="05000000000000000000" pitchFamily="2" charset="2"/>
              </a:rPr>
              <a:t> – 01/dez; orquestrar na ponta, site...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8" name="CaixaDeTexto 157"/>
          <p:cNvSpPr txBox="1"/>
          <p:nvPr/>
        </p:nvSpPr>
        <p:spPr>
          <a:xfrm>
            <a:off x="1518378" y="4224093"/>
            <a:ext cx="2668593" cy="1292662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Atendimento:  avaliar processos impactados;</a:t>
            </a:r>
            <a:r>
              <a:rPr kumimoji="0" lang="pt-BR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sistemas;</a:t>
            </a:r>
            <a:endParaRPr kumimoji="0" lang="pt-BR" sz="14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 dirty="0" smtClean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r>
              <a:rPr lang="pt-BR" dirty="0" smtClean="0">
                <a:solidFill>
                  <a:schemeClr val="tx2"/>
                </a:solidFill>
              </a:rPr>
              <a:t>Suporte Técnico/</a:t>
            </a:r>
            <a:r>
              <a:rPr lang="pt-BR" dirty="0" err="1" smtClean="0">
                <a:solidFill>
                  <a:schemeClr val="tx2"/>
                </a:solidFill>
              </a:rPr>
              <a:t>PSRs</a:t>
            </a:r>
            <a:r>
              <a:rPr lang="pt-BR" dirty="0" smtClean="0"/>
              <a:t>: avaliar </a:t>
            </a:r>
            <a:r>
              <a:rPr lang="pt-BR" dirty="0"/>
              <a:t>processos impactados; sistemas;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9" name="CaixaDeTexto 158"/>
          <p:cNvSpPr txBox="1"/>
          <p:nvPr/>
        </p:nvSpPr>
        <p:spPr>
          <a:xfrm>
            <a:off x="4209872" y="5411929"/>
            <a:ext cx="2668593" cy="646331"/>
          </a:xfrm>
          <a:prstGeom prst="rect">
            <a:avLst/>
          </a:prstGeom>
          <a:solidFill>
            <a:srgbClr val="6DD9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dirty="0"/>
              <a:t>Fase 1 - Segregação</a:t>
            </a:r>
          </a:p>
          <a:p>
            <a:r>
              <a:rPr lang="pt-BR" dirty="0">
                <a:solidFill>
                  <a:schemeClr val="tx2"/>
                </a:solidFill>
              </a:rPr>
              <a:t>Fase 2 – </a:t>
            </a:r>
            <a:r>
              <a:rPr lang="pt-BR" dirty="0" smtClean="0">
                <a:solidFill>
                  <a:schemeClr val="tx2"/>
                </a:solidFill>
              </a:rPr>
              <a:t>Migração</a:t>
            </a:r>
          </a:p>
          <a:p>
            <a:r>
              <a:rPr lang="pt-BR" dirty="0">
                <a:solidFill>
                  <a:schemeClr val="tx2"/>
                </a:solidFill>
              </a:rPr>
              <a:t>Fase 3 - MOS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60" name="CaixaDeTexto 159"/>
          <p:cNvSpPr txBox="1"/>
          <p:nvPr/>
        </p:nvSpPr>
        <p:spPr>
          <a:xfrm>
            <a:off x="9255729" y="6215335"/>
            <a:ext cx="2668593" cy="86177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Diretrizes do SPA + Comprador definido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/>
              <a:t> </a:t>
            </a:r>
            <a:r>
              <a:rPr lang="pt-BR" dirty="0" smtClean="0"/>
              <a:t>- T. </a:t>
            </a:r>
            <a:r>
              <a:rPr lang="pt-BR" dirty="0" err="1" smtClean="0"/>
              <a:t>sheet</a:t>
            </a:r>
            <a:r>
              <a:rPr lang="pt-BR" dirty="0" smtClean="0"/>
              <a:t> TSA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1" name="CaixaDeTexto 160"/>
          <p:cNvSpPr txBox="1"/>
          <p:nvPr/>
        </p:nvSpPr>
        <p:spPr>
          <a:xfrm>
            <a:off x="12206056" y="3102260"/>
            <a:ext cx="1901091" cy="430887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Cnpj</a:t>
            </a:r>
            <a:r>
              <a:rPr kumimoji="0" lang="en-US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regular;</a:t>
            </a:r>
            <a:r>
              <a: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definir</a:t>
            </a:r>
            <a:r>
              <a: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comprador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2" name="CaixaDeTexto 161"/>
          <p:cNvSpPr txBox="1"/>
          <p:nvPr/>
        </p:nvSpPr>
        <p:spPr>
          <a:xfrm>
            <a:off x="11467631" y="6416781"/>
            <a:ext cx="2668593" cy="646331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Comprador definido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/>
              <a:t> </a:t>
            </a:r>
            <a:r>
              <a:rPr lang="pt-BR" dirty="0" smtClean="0"/>
              <a:t>- Discutir modelo de migração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3" name="CaixaDeTexto 162"/>
          <p:cNvSpPr txBox="1"/>
          <p:nvPr/>
        </p:nvSpPr>
        <p:spPr>
          <a:xfrm>
            <a:off x="1327453" y="7112012"/>
            <a:ext cx="4594763" cy="646331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Pessoas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Comprador definido &gt;&gt; </a:t>
            </a:r>
            <a:r>
              <a:rPr lang="pt-BR" dirty="0" smtClean="0"/>
              <a:t>Discutir modelo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8" name="CaixaDeTexto 167"/>
          <p:cNvSpPr txBox="1"/>
          <p:nvPr/>
        </p:nvSpPr>
        <p:spPr>
          <a:xfrm>
            <a:off x="3253623" y="4736014"/>
            <a:ext cx="2668593" cy="646331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Fase 1 - Segregação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Fase 2 – Migração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 smtClean="0">
                <a:solidFill>
                  <a:schemeClr val="tx2"/>
                </a:solidFill>
              </a:rPr>
              <a:t>Fase 3 -</a:t>
            </a: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MOS</a:t>
            </a:r>
            <a:r>
              <a:rPr kumimoji="0" lang="pt-BR" sz="14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9" name="CaixaDeTexto 168"/>
          <p:cNvSpPr txBox="1"/>
          <p:nvPr/>
        </p:nvSpPr>
        <p:spPr>
          <a:xfrm>
            <a:off x="3027975" y="2400019"/>
            <a:ext cx="2668593" cy="430887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dirty="0"/>
              <a:t>Fase 1 </a:t>
            </a:r>
            <a:r>
              <a:rPr lang="pt-BR" dirty="0" smtClean="0"/>
              <a:t>– Segregação/ M</a:t>
            </a:r>
            <a:r>
              <a:rPr lang="pt-BR" dirty="0" smtClean="0">
                <a:solidFill>
                  <a:schemeClr val="tx2"/>
                </a:solidFill>
              </a:rPr>
              <a:t>igração</a:t>
            </a:r>
          </a:p>
          <a:p>
            <a:r>
              <a:rPr lang="pt-BR" dirty="0" err="1" smtClean="0">
                <a:solidFill>
                  <a:schemeClr val="tx2"/>
                </a:solidFill>
              </a:rPr>
              <a:t>CPs</a:t>
            </a:r>
            <a:r>
              <a:rPr lang="pt-BR" dirty="0" smtClean="0">
                <a:solidFill>
                  <a:schemeClr val="tx2"/>
                </a:solidFill>
              </a:rPr>
              <a:t>...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463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8" name="think-cell Slide" r:id="rId5" imgW="421" imgH="423" progId="TCLayout.ActiveDocument.1">
                  <p:embed/>
                </p:oleObj>
              </mc:Choice>
              <mc:Fallback>
                <p:oleObj name="think-cell Slide" r:id="rId5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21757-CAEC-9B46-BA5E-8BB41E742229}" type="slidenum">
              <a:rPr kumimoji="0" lang="en-US" sz="105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7" name="Título 25"/>
          <p:cNvSpPr txBox="1">
            <a:spLocks/>
          </p:cNvSpPr>
          <p:nvPr/>
        </p:nvSpPr>
        <p:spPr>
          <a:xfrm>
            <a:off x="245945" y="134154"/>
            <a:ext cx="10756482" cy="558294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TWIST: LÍDERES E GOVERNANÇA (1/2)</a:t>
            </a:r>
            <a:endParaRPr lang="pt-BR" sz="2000" dirty="0">
              <a:solidFill>
                <a:srgbClr val="009E0B"/>
              </a:solidFill>
              <a:latin typeface="Simplon BP Bold" pitchFamily="2" charset="0"/>
            </a:endParaRPr>
          </a:p>
          <a:p>
            <a:pPr hangingPunct="1"/>
            <a:r>
              <a:rPr lang="pt-BR" sz="1800" dirty="0">
                <a:solidFill>
                  <a:srgbClr val="4D4D4D"/>
                </a:solidFill>
                <a:latin typeface="Simplon BP Bold" pitchFamily="2" charset="0"/>
              </a:rPr>
              <a:t>Líderes das áreas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32" y="862958"/>
            <a:ext cx="7952305" cy="591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36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7" name="think-cell Slide" r:id="rId5" imgW="421" imgH="423" progId="TCLayout.ActiveDocument.1">
                  <p:embed/>
                </p:oleObj>
              </mc:Choice>
              <mc:Fallback>
                <p:oleObj name="think-cell Slide" r:id="rId5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21757-CAEC-9B46-BA5E-8BB41E742229}" type="slidenum">
              <a:rPr kumimoji="0" lang="en-US" sz="105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7" name="Título 25"/>
          <p:cNvSpPr txBox="1">
            <a:spLocks/>
          </p:cNvSpPr>
          <p:nvPr/>
        </p:nvSpPr>
        <p:spPr>
          <a:xfrm>
            <a:off x="245945" y="134154"/>
            <a:ext cx="10756482" cy="558294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TWIST</a:t>
            </a:r>
            <a:r>
              <a:rPr lang="pt-BR" sz="2000" dirty="0">
                <a:solidFill>
                  <a:srgbClr val="009E0B"/>
                </a:solidFill>
                <a:latin typeface="Simplon BP Bold" pitchFamily="2" charset="0"/>
              </a:rPr>
              <a:t>: LÍDERES E </a:t>
            </a:r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GOVERNANÇA (</a:t>
            </a:r>
            <a:r>
              <a:rPr lang="pt-BR" sz="2000" dirty="0">
                <a:solidFill>
                  <a:srgbClr val="009E0B"/>
                </a:solidFill>
                <a:latin typeface="Simplon BP Bold" pitchFamily="2" charset="0"/>
              </a:rPr>
              <a:t>2/2</a:t>
            </a:r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)</a:t>
            </a:r>
            <a:endParaRPr lang="pt-BR" sz="2000" dirty="0">
              <a:solidFill>
                <a:srgbClr val="009E0B"/>
              </a:solidFill>
              <a:latin typeface="Simplon BP Bold" pitchFamily="2" charset="0"/>
            </a:endParaRPr>
          </a:p>
          <a:p>
            <a:pPr hangingPunct="1"/>
            <a:r>
              <a:rPr lang="pt-BR" sz="1800" dirty="0">
                <a:solidFill>
                  <a:srgbClr val="4D4D4D"/>
                </a:solidFill>
                <a:latin typeface="Simplon BP Bold" pitchFamily="2" charset="0"/>
              </a:rPr>
              <a:t>Líderes das áreas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14" y="794414"/>
            <a:ext cx="7863538" cy="584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3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1" name="think-cell Slide" r:id="rId5" imgW="421" imgH="423" progId="TCLayout.ActiveDocument.1">
                  <p:embed/>
                </p:oleObj>
              </mc:Choice>
              <mc:Fallback>
                <p:oleObj name="think-cell Slide" r:id="rId5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21757-CAEC-9B46-BA5E-8BB41E742229}" type="slidenum">
              <a:rPr kumimoji="0" lang="en-US" sz="105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7" name="Título 25"/>
          <p:cNvSpPr txBox="1">
            <a:spLocks/>
          </p:cNvSpPr>
          <p:nvPr/>
        </p:nvSpPr>
        <p:spPr>
          <a:xfrm>
            <a:off x="314185" y="134154"/>
            <a:ext cx="10756482" cy="558294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TWIST: </a:t>
            </a:r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REPORTS</a:t>
            </a:r>
            <a:endParaRPr lang="pt-BR" sz="2000" dirty="0">
              <a:solidFill>
                <a:srgbClr val="009E0B"/>
              </a:solidFill>
              <a:latin typeface="Simplon BP Bold" pitchFamily="2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33926" y="1494469"/>
            <a:ext cx="9670838" cy="2154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-     Agenda de </a:t>
            </a:r>
            <a:r>
              <a:rPr kumimoji="0" lang="en-US" sz="20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reuniões</a:t>
            </a:r>
            <a:r>
              <a:rPr kumimoji="0" lang="en-US" sz="20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;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000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en-US" sz="20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Iniciar</a:t>
            </a:r>
            <a:r>
              <a:rPr kumimoji="0" lang="en-US" sz="20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 a </a:t>
            </a:r>
            <a:r>
              <a:rPr kumimoji="0" lang="en-US" sz="2000" b="0" i="0" u="none" strike="noStrike" cap="none" spc="0" normalizeH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organização</a:t>
            </a:r>
            <a:r>
              <a:rPr kumimoji="0" lang="en-US" sz="20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 das </a:t>
            </a:r>
            <a:r>
              <a:rPr kumimoji="0" lang="en-US" sz="2000" b="0" i="0" u="none" strike="noStrike" cap="none" spc="0" normalizeH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frentes</a:t>
            </a:r>
            <a:r>
              <a:rPr kumimoji="0" lang="en-US" sz="20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 de </a:t>
            </a:r>
            <a:r>
              <a:rPr kumimoji="0" lang="en-US" sz="2000" b="0" i="0" u="none" strike="noStrike" cap="none" spc="0" normalizeH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trabalho</a:t>
            </a:r>
            <a:r>
              <a:rPr lang="en-US" sz="2000" dirty="0" smtClean="0"/>
              <a:t>, </a:t>
            </a:r>
            <a:r>
              <a:rPr lang="en-US" sz="2000" dirty="0" err="1" smtClean="0"/>
              <a:t>entregas</a:t>
            </a:r>
            <a:r>
              <a:rPr lang="en-US" sz="2000" dirty="0" smtClean="0"/>
              <a:t> e milestones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lang="en-US" sz="2000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en-US" sz="2000" dirty="0" smtClean="0"/>
              <a:t>Status das </a:t>
            </a:r>
            <a:r>
              <a:rPr lang="en-US" sz="2000" dirty="0" err="1" smtClean="0"/>
              <a:t>iniciadas</a:t>
            </a:r>
            <a:r>
              <a:rPr lang="en-US" sz="2000" dirty="0" smtClean="0"/>
              <a:t> de </a:t>
            </a:r>
            <a:r>
              <a:rPr lang="en-US" sz="2000" dirty="0" err="1" smtClean="0"/>
              <a:t>fato</a:t>
            </a:r>
            <a:endParaRPr lang="en-US" sz="2000" dirty="0" smtClean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733925" y="3352587"/>
            <a:ext cx="6401165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Reunião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Quinzenal</a:t>
            </a:r>
            <a:r>
              <a:rPr lang="en-US" sz="1800" dirty="0" smtClean="0"/>
              <a:t>: </a:t>
            </a:r>
            <a:r>
              <a:rPr kumimoji="0" lang="en-US" sz="18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Resgatar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 o Master Doc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6094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7" name="think-cell Slide" r:id="rId5" imgW="421" imgH="423" progId="TCLayout.ActiveDocument.1">
                  <p:embed/>
                </p:oleObj>
              </mc:Choice>
              <mc:Fallback>
                <p:oleObj name="think-cell Slide" r:id="rId5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21757-CAEC-9B46-BA5E-8BB41E742229}" type="slidenum">
              <a:rPr kumimoji="0" lang="en-US" sz="105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747219"/>
              </p:ext>
            </p:extLst>
          </p:nvPr>
        </p:nvGraphicFramePr>
        <p:xfrm>
          <a:off x="418821" y="4302289"/>
          <a:ext cx="10933198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1770057">
                  <a:extLst>
                    <a:ext uri="{9D8B030D-6E8A-4147-A177-3AD203B41FA5}">
                      <a16:colId xmlns:a16="http://schemas.microsoft.com/office/drawing/2014/main" val="2154649168"/>
                    </a:ext>
                  </a:extLst>
                </a:gridCol>
                <a:gridCol w="2197290">
                  <a:extLst>
                    <a:ext uri="{9D8B030D-6E8A-4147-A177-3AD203B41FA5}">
                      <a16:colId xmlns:a16="http://schemas.microsoft.com/office/drawing/2014/main" val="1695374084"/>
                    </a:ext>
                  </a:extLst>
                </a:gridCol>
                <a:gridCol w="4954137">
                  <a:extLst>
                    <a:ext uri="{9D8B030D-6E8A-4147-A177-3AD203B41FA5}">
                      <a16:colId xmlns:a16="http://schemas.microsoft.com/office/drawing/2014/main" val="3042058799"/>
                    </a:ext>
                  </a:extLst>
                </a:gridCol>
                <a:gridCol w="2011714">
                  <a:extLst>
                    <a:ext uri="{9D8B030D-6E8A-4147-A177-3AD203B41FA5}">
                      <a16:colId xmlns:a16="http://schemas.microsoft.com/office/drawing/2014/main" val="351576704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Reunião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Integrantes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Objetivos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i="0" u="none" strike="noStrike" cap="none" spc="0" baseline="0" dirty="0">
                          <a:solidFill>
                            <a:srgbClr val="F2F2F2"/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Agenda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17328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Daily meeting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M&amp;A 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Follow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up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 de pontos críticos e cheque de prioridades.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30 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39855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Weekly</a:t>
                      </a: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pontos críticos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M&amp;A, N2, Líderes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Endereçamento de pontos críticos com N2 impactados.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60 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7259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Reunião executiva</a:t>
                      </a:r>
                      <a:r>
                        <a:rPr lang="pt-BR" sz="14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quinzenal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M&amp;A, N2, Líderes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Status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review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, endereçamento dos pontos de decisão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cross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.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60 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02882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Reunião executiva</a:t>
                      </a:r>
                      <a:r>
                        <a:rPr lang="pt-BR" sz="14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pt-BR" sz="14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mensal - CDG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M&amp;A, </a:t>
                      </a:r>
                      <a:r>
                        <a:rPr lang="pt-BR" sz="14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N1</a:t>
                      </a:r>
                      <a:endParaRPr lang="pt-B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Status </a:t>
                      </a:r>
                      <a:r>
                        <a:rPr lang="pt-BR" sz="1400" b="0" i="0" u="none" strike="noStrike" cap="none" spc="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projeto, pontos críticos ou de decisão.</a:t>
                      </a:r>
                      <a:endParaRPr lang="pt-BR" sz="1400" b="0" i="0" u="none" strike="noStrike" cap="none" spc="0" baseline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Calibri" panose="020F0502020204030204" pitchFamily="34" charset="0"/>
                        <a:cs typeface="+mn-cs"/>
                        <a:sym typeface="Simplon BP Regular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20 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46189"/>
                  </a:ext>
                </a:extLst>
              </a:tr>
            </a:tbl>
          </a:graphicData>
        </a:graphic>
      </p:graphicFrame>
      <p:sp>
        <p:nvSpPr>
          <p:cNvPr id="7" name="Pentagon 70">
            <a:extLst>
              <a:ext uri="{FF2B5EF4-FFF2-40B4-BE49-F238E27FC236}">
                <a16:creationId xmlns:a16="http://schemas.microsoft.com/office/drawing/2014/main" id="{7E12959C-4A9A-4DD6-BF3A-9648A4620508}"/>
              </a:ext>
            </a:extLst>
          </p:cNvPr>
          <p:cNvSpPr/>
          <p:nvPr/>
        </p:nvSpPr>
        <p:spPr>
          <a:xfrm>
            <a:off x="7172067" y="1678607"/>
            <a:ext cx="1800000" cy="396000"/>
          </a:xfrm>
          <a:prstGeom prst="homePlate">
            <a:avLst>
              <a:gd name="adj" fmla="val 0"/>
            </a:avLst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i="1" kern="1200" dirty="0" err="1" smtClean="0">
                <a:solidFill>
                  <a:prstClr val="white"/>
                </a:solidFill>
                <a:latin typeface="Simplon BP Regular" pitchFamily="2" charset="0"/>
                <a:cs typeface="Helvetica"/>
              </a:rPr>
              <a:t>Weekly</a:t>
            </a:r>
            <a:r>
              <a:rPr lang="pt-BR" sz="1050" kern="1200" dirty="0" smtClean="0">
                <a:solidFill>
                  <a:prstClr val="white"/>
                </a:solidFill>
                <a:latin typeface="Simplon BP Regular" pitchFamily="2" charset="0"/>
                <a:cs typeface="Helvetica"/>
              </a:rPr>
              <a:t> </a:t>
            </a:r>
            <a:r>
              <a:rPr kumimoji="0" lang="pt-B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Pontos Críticos</a:t>
            </a: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</a:b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M&amp;A</a:t>
            </a:r>
            <a:r>
              <a:rPr kumimoji="0" lang="pt-BR" sz="105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, N2, Líderes [11 </a:t>
            </a:r>
            <a:r>
              <a:rPr kumimoji="0" lang="pt-BR" sz="105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hrs</a:t>
            </a:r>
            <a:r>
              <a:rPr kumimoji="0" lang="pt-BR" sz="105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]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199B8-9C53-4450-99FA-8EBB43C0F741}"/>
              </a:ext>
            </a:extLst>
          </p:cNvPr>
          <p:cNvSpPr/>
          <p:nvPr/>
        </p:nvSpPr>
        <p:spPr>
          <a:xfrm>
            <a:off x="408185" y="1108489"/>
            <a:ext cx="2160000" cy="3024000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6B59AB-071E-465F-87E8-785D7F4F7402}"/>
              </a:ext>
            </a:extLst>
          </p:cNvPr>
          <p:cNvSpPr/>
          <p:nvPr/>
        </p:nvSpPr>
        <p:spPr>
          <a:xfrm>
            <a:off x="2601484" y="1108489"/>
            <a:ext cx="2160000" cy="3024000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5A828A-EF54-43D1-860D-04FCBEBD0AC2}"/>
              </a:ext>
            </a:extLst>
          </p:cNvPr>
          <p:cNvSpPr/>
          <p:nvPr/>
        </p:nvSpPr>
        <p:spPr>
          <a:xfrm>
            <a:off x="4794783" y="1108488"/>
            <a:ext cx="2160000" cy="3024000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C99E32-3CFE-40DA-8EAE-6CC66650A1BB}"/>
              </a:ext>
            </a:extLst>
          </p:cNvPr>
          <p:cNvSpPr/>
          <p:nvPr/>
        </p:nvSpPr>
        <p:spPr>
          <a:xfrm>
            <a:off x="6988082" y="1108488"/>
            <a:ext cx="2160000" cy="3024000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2CE94F-0EB2-4407-9B36-9BF60CAE9563}"/>
              </a:ext>
            </a:extLst>
          </p:cNvPr>
          <p:cNvSpPr/>
          <p:nvPr/>
        </p:nvSpPr>
        <p:spPr>
          <a:xfrm>
            <a:off x="9181383" y="1096274"/>
            <a:ext cx="2160000" cy="3024000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09CA6C8D-C8C0-49F8-8FAC-B83C55BE3876}"/>
              </a:ext>
            </a:extLst>
          </p:cNvPr>
          <p:cNvSpPr/>
          <p:nvPr/>
        </p:nvSpPr>
        <p:spPr>
          <a:xfrm>
            <a:off x="408185" y="871161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2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a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6F743D9-E2FF-4214-BB1C-5FAB14A68782}"/>
              </a:ext>
            </a:extLst>
          </p:cNvPr>
          <p:cNvSpPr/>
          <p:nvPr/>
        </p:nvSpPr>
        <p:spPr>
          <a:xfrm>
            <a:off x="2601916" y="871162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3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a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4DA2F5B3-8C12-48C5-897D-766F583AE029}"/>
              </a:ext>
            </a:extLst>
          </p:cNvPr>
          <p:cNvSpPr/>
          <p:nvPr/>
        </p:nvSpPr>
        <p:spPr>
          <a:xfrm>
            <a:off x="4795647" y="871161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4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E2272C-AF54-458C-B509-0C9E8F9BD7F6}"/>
              </a:ext>
            </a:extLst>
          </p:cNvPr>
          <p:cNvSpPr/>
          <p:nvPr/>
        </p:nvSpPr>
        <p:spPr>
          <a:xfrm>
            <a:off x="6989378" y="871161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5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67A635-8A09-40CE-91A3-BAB1ED228C7A}"/>
              </a:ext>
            </a:extLst>
          </p:cNvPr>
          <p:cNvSpPr/>
          <p:nvPr/>
        </p:nvSpPr>
        <p:spPr>
          <a:xfrm>
            <a:off x="9183108" y="871161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6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a</a:t>
            </a:r>
          </a:p>
        </p:txBody>
      </p:sp>
      <p:sp>
        <p:nvSpPr>
          <p:cNvPr id="28" name="Pentagon 70">
            <a:extLst>
              <a:ext uri="{FF2B5EF4-FFF2-40B4-BE49-F238E27FC236}">
                <a16:creationId xmlns:a16="http://schemas.microsoft.com/office/drawing/2014/main" id="{7E12959C-4A9A-4DD6-BF3A-9648A4620508}"/>
              </a:ext>
            </a:extLst>
          </p:cNvPr>
          <p:cNvSpPr/>
          <p:nvPr/>
        </p:nvSpPr>
        <p:spPr>
          <a:xfrm>
            <a:off x="4974782" y="1680903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5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Reunião Executiva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N2, M&amp;A</a:t>
            </a:r>
            <a:r>
              <a:rPr kumimoji="0" lang="pt-BR" sz="105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, Líderes [11</a:t>
            </a:r>
            <a:r>
              <a:rPr kumimoji="0" lang="pt-BR" sz="1050" b="0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 </a:t>
            </a:r>
            <a:r>
              <a:rPr kumimoji="0" lang="pt-BR" sz="1050" b="0" i="1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hrs</a:t>
            </a:r>
            <a:r>
              <a:rPr kumimoji="0" lang="pt-BR" sz="1050" b="0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]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41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2796111" y="2167981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Daily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Fábricas – GP TI, Fábricas</a:t>
            </a:r>
            <a:endParaRPr lang="pt-BR" sz="1050" i="1" kern="1200" dirty="0">
              <a:solidFill>
                <a:schemeClr val="tx2"/>
              </a:solidFill>
              <a:latin typeface="Simplon BP Regular" pitchFamily="2" charset="0"/>
            </a:endParaRPr>
          </a:p>
        </p:txBody>
      </p:sp>
      <p:sp>
        <p:nvSpPr>
          <p:cNvPr id="45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612469" y="2167981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Daily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kern="1200" dirty="0" smtClean="0">
                <a:solidFill>
                  <a:schemeClr val="tx2"/>
                </a:solidFill>
                <a:latin typeface="Simplon BP Regular" pitchFamily="2" charset="0"/>
                <a:cs typeface="Helvetica"/>
              </a:rPr>
              <a:t>Fábricas – GP TI, Fábricas</a:t>
            </a:r>
            <a:endParaRPr kumimoji="0" lang="pt-BR" sz="1050" b="0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46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7158424" y="2167981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Daily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Fábricas – GP TI, Fábricas</a:t>
            </a:r>
            <a:endParaRPr lang="pt-BR" sz="1050" i="1" kern="1200" dirty="0">
              <a:solidFill>
                <a:schemeClr val="tx2"/>
              </a:solidFill>
              <a:latin typeface="Simplon BP Regular" pitchFamily="2" charset="0"/>
            </a:endParaRPr>
          </a:p>
        </p:txBody>
      </p:sp>
      <p:sp>
        <p:nvSpPr>
          <p:cNvPr id="47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4974782" y="2167981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Daily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Fábricas – GP TI, Fábricas</a:t>
            </a:r>
            <a:endParaRPr lang="pt-BR" sz="1050" i="1" kern="1200" dirty="0">
              <a:solidFill>
                <a:schemeClr val="tx2"/>
              </a:solidFill>
              <a:latin typeface="Simplon BP Regular" pitchFamily="2" charset="0"/>
            </a:endParaRPr>
          </a:p>
        </p:txBody>
      </p:sp>
      <p:sp>
        <p:nvSpPr>
          <p:cNvPr id="48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9355713" y="2167981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Daily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Fábricas – GP TI, Fábricas</a:t>
            </a:r>
            <a:endParaRPr lang="pt-BR" sz="1050" i="1" kern="1200" dirty="0">
              <a:solidFill>
                <a:schemeClr val="tx2"/>
              </a:solidFill>
              <a:latin typeface="Simplon BP Regular" pitchFamily="2" charset="0"/>
            </a:endParaRPr>
          </a:p>
        </p:txBody>
      </p:sp>
      <p:sp>
        <p:nvSpPr>
          <p:cNvPr id="23" name="Título 25"/>
          <p:cNvSpPr txBox="1">
            <a:spLocks/>
          </p:cNvSpPr>
          <p:nvPr/>
        </p:nvSpPr>
        <p:spPr>
          <a:xfrm>
            <a:off x="245945" y="134154"/>
            <a:ext cx="10756482" cy="558294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TWIST</a:t>
            </a:r>
            <a:r>
              <a:rPr lang="pt-BR" sz="2000" dirty="0">
                <a:solidFill>
                  <a:srgbClr val="009E0B"/>
                </a:solidFill>
                <a:latin typeface="Simplon BP Bold" pitchFamily="2" charset="0"/>
              </a:rPr>
              <a:t>: LÍDERES E GOVERNANÇA</a:t>
            </a:r>
          </a:p>
          <a:p>
            <a:pPr hangingPunct="1"/>
            <a:r>
              <a:rPr lang="pt-BR" sz="1800" dirty="0" smtClean="0">
                <a:solidFill>
                  <a:srgbClr val="4D4D4D"/>
                </a:solidFill>
                <a:latin typeface="Simplon BP Bold" pitchFamily="2" charset="0"/>
              </a:rPr>
              <a:t>Agenda </a:t>
            </a:r>
            <a:r>
              <a:rPr lang="pt-BR" sz="1800" dirty="0">
                <a:solidFill>
                  <a:srgbClr val="4D4D4D"/>
                </a:solidFill>
                <a:latin typeface="Simplon BP Bold" pitchFamily="2" charset="0"/>
              </a:rPr>
              <a:t>de </a:t>
            </a:r>
            <a:r>
              <a:rPr lang="pt-BR" sz="1800" dirty="0" smtClean="0">
                <a:solidFill>
                  <a:srgbClr val="4D4D4D"/>
                </a:solidFill>
                <a:latin typeface="Simplon BP Bold" pitchFamily="2" charset="0"/>
              </a:rPr>
              <a:t>reuniões do projeto</a:t>
            </a:r>
            <a:endParaRPr lang="pt-BR" sz="1800" dirty="0">
              <a:solidFill>
                <a:srgbClr val="4D4D4D"/>
              </a:solidFill>
              <a:latin typeface="Simplon BP Bold" pitchFamily="2" charset="0"/>
            </a:endParaRPr>
          </a:p>
        </p:txBody>
      </p:sp>
      <p:sp>
        <p:nvSpPr>
          <p:cNvPr id="24" name="Pentagon 70">
            <a:extLst>
              <a:ext uri="{FF2B5EF4-FFF2-40B4-BE49-F238E27FC236}">
                <a16:creationId xmlns:a16="http://schemas.microsoft.com/office/drawing/2014/main" id="{7E12959C-4A9A-4DD6-BF3A-9648A4620508}"/>
              </a:ext>
            </a:extLst>
          </p:cNvPr>
          <p:cNvSpPr/>
          <p:nvPr/>
        </p:nvSpPr>
        <p:spPr>
          <a:xfrm>
            <a:off x="612469" y="1680903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5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Reunião Executiva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N1, M&amp;A</a:t>
            </a:r>
            <a:r>
              <a:rPr lang="pt-BR" sz="1050" i="1" kern="1200" dirty="0">
                <a:solidFill>
                  <a:prstClr val="white"/>
                </a:solidFill>
                <a:latin typeface="Simplon BP Regular" pitchFamily="2" charset="0"/>
                <a:cs typeface="Helvetica"/>
              </a:rPr>
              <a:t> </a:t>
            </a:r>
            <a:r>
              <a:rPr kumimoji="0" lang="pt-BR" sz="1050" b="0" i="1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 [CDG</a:t>
            </a:r>
            <a:r>
              <a:rPr kumimoji="0" lang="pt-BR" sz="1050" b="0" i="1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]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25" name="Pentagon 70">
            <a:extLst>
              <a:ext uri="{FF2B5EF4-FFF2-40B4-BE49-F238E27FC236}">
                <a16:creationId xmlns:a16="http://schemas.microsoft.com/office/drawing/2014/main" id="{7E12959C-4A9A-4DD6-BF3A-9648A4620508}"/>
              </a:ext>
            </a:extLst>
          </p:cNvPr>
          <p:cNvSpPr/>
          <p:nvPr/>
        </p:nvSpPr>
        <p:spPr>
          <a:xfrm>
            <a:off x="612469" y="3104514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kern="1200" dirty="0" err="1" smtClean="0">
                <a:solidFill>
                  <a:schemeClr val="tx2"/>
                </a:solidFill>
                <a:latin typeface="Simplon BP Regular" pitchFamily="2" charset="0"/>
                <a:cs typeface="Helvetica"/>
              </a:rPr>
              <a:t>Weekly</a:t>
            </a:r>
            <a:r>
              <a:rPr lang="pt-BR" sz="1050" kern="1200" dirty="0" smtClean="0">
                <a:solidFill>
                  <a:schemeClr val="tx2"/>
                </a:solidFill>
                <a:latin typeface="Simplon BP Regular" pitchFamily="2" charset="0"/>
                <a:cs typeface="Helvetica"/>
              </a:rPr>
              <a:t>  Sistemas - TI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26" name="Pentagon 70">
            <a:extLst>
              <a:ext uri="{FF2B5EF4-FFF2-40B4-BE49-F238E27FC236}">
                <a16:creationId xmlns:a16="http://schemas.microsoft.com/office/drawing/2014/main" id="{7E12959C-4A9A-4DD6-BF3A-9648A4620508}"/>
              </a:ext>
            </a:extLst>
          </p:cNvPr>
          <p:cNvSpPr/>
          <p:nvPr/>
        </p:nvSpPr>
        <p:spPr>
          <a:xfrm>
            <a:off x="2796111" y="3104514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kern="1200" dirty="0" err="1" smtClean="0">
                <a:solidFill>
                  <a:schemeClr val="tx2"/>
                </a:solidFill>
                <a:latin typeface="Simplon BP Regular" pitchFamily="2" charset="0"/>
                <a:cs typeface="Helvetica"/>
              </a:rPr>
              <a:t>Weekly</a:t>
            </a:r>
            <a:r>
              <a:rPr lang="pt-BR" sz="1050" kern="1200" dirty="0" smtClean="0">
                <a:solidFill>
                  <a:schemeClr val="tx2"/>
                </a:solidFill>
                <a:latin typeface="Simplon BP Regular" pitchFamily="2" charset="0"/>
                <a:cs typeface="Helvetica"/>
              </a:rPr>
              <a:t> Sistemas – M&amp;A, TI, PO, Líderes (sistema) (15hs)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27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2796111" y="1185338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Daily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M&amp;A [10hrs]</a:t>
            </a:r>
            <a:endParaRPr kumimoji="0" lang="pt-BR" sz="1050" b="0" i="1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29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612469" y="1185338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Daily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M&amp;A [10hrs]</a:t>
            </a:r>
            <a:endParaRPr kumimoji="0" lang="pt-BR" sz="1050" b="0" i="1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30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7158424" y="1185338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Daily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M&amp;A [10hrs]</a:t>
            </a:r>
            <a:endParaRPr kumimoji="0" lang="pt-BR" sz="1050" b="0" i="1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31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4974782" y="1185338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Daily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M&amp;A [10hrs]</a:t>
            </a:r>
            <a:endParaRPr kumimoji="0" lang="pt-BR" sz="1050" b="0" i="1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32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9355713" y="1185338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Daily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M&amp;A [10hrs]</a:t>
            </a:r>
            <a:endParaRPr kumimoji="0" lang="pt-BR" sz="1050" b="0" i="1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33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2792297" y="2633683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Daily Escrita de Estórias 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– TI, Fábricas, PO, M&amp;A, Líderes</a:t>
            </a:r>
            <a:endParaRPr lang="pt-BR" sz="1050" i="1" kern="1200" dirty="0">
              <a:solidFill>
                <a:schemeClr val="tx2"/>
              </a:solidFill>
              <a:latin typeface="Simplon BP Regular" pitchFamily="2" charset="0"/>
            </a:endParaRPr>
          </a:p>
        </p:txBody>
      </p:sp>
      <p:sp>
        <p:nvSpPr>
          <p:cNvPr id="34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608655" y="2633683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Daily </a:t>
            </a:r>
            <a:r>
              <a:rPr lang="pt-BR" sz="1050" kern="1200" dirty="0" smtClean="0">
                <a:solidFill>
                  <a:schemeClr val="tx2"/>
                </a:solidFill>
                <a:latin typeface="Simplon BP Regular" pitchFamily="2" charset="0"/>
                <a:cs typeface="Helvetica"/>
              </a:rPr>
              <a:t>Escrita de Estórias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kern="1200" dirty="0" smtClean="0">
                <a:solidFill>
                  <a:schemeClr val="tx2"/>
                </a:solidFill>
                <a:latin typeface="Simplon BP Regular" pitchFamily="2" charset="0"/>
                <a:cs typeface="Helvetica"/>
              </a:rPr>
              <a:t>– TI, Fábricas, PO, M&amp;A, Líderes</a:t>
            </a:r>
            <a:endParaRPr kumimoji="0" lang="pt-BR" sz="1050" b="0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35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7154610" y="2633683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Daily Escrita de Estórias 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– TI, Fábricas, PO, M&amp;A, Líderes</a:t>
            </a:r>
            <a:endParaRPr lang="pt-BR" sz="1050" i="1" kern="1200" dirty="0">
              <a:solidFill>
                <a:schemeClr val="tx2"/>
              </a:solidFill>
              <a:latin typeface="Simplon BP Regular" pitchFamily="2" charset="0"/>
            </a:endParaRPr>
          </a:p>
        </p:txBody>
      </p:sp>
      <p:sp>
        <p:nvSpPr>
          <p:cNvPr id="36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4970968" y="2633683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Daily Escrita de Estórias 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– TI, Fábricas, PO, M&amp;A, Líderes</a:t>
            </a:r>
            <a:endParaRPr lang="pt-BR" sz="1050" i="1" kern="1200" dirty="0">
              <a:solidFill>
                <a:schemeClr val="tx2"/>
              </a:solidFill>
              <a:latin typeface="Simplon BP Regular" pitchFamily="2" charset="0"/>
            </a:endParaRPr>
          </a:p>
        </p:txBody>
      </p:sp>
      <p:sp>
        <p:nvSpPr>
          <p:cNvPr id="37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9351899" y="2633683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Daily Escrita de Estórias 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– TI, Fábricas, PO, M&amp;A, Líderes</a:t>
            </a:r>
            <a:endParaRPr lang="pt-BR" sz="1050" i="1" kern="1200" dirty="0">
              <a:solidFill>
                <a:schemeClr val="tx2"/>
              </a:solidFill>
              <a:latin typeface="Simplon BP Regular" pitchFamily="2" charset="0"/>
            </a:endParaRPr>
          </a:p>
        </p:txBody>
      </p:sp>
      <p:sp>
        <p:nvSpPr>
          <p:cNvPr id="38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4974782" y="3666689"/>
            <a:ext cx="1800000" cy="396000"/>
          </a:xfrm>
          <a:prstGeom prst="homePlate">
            <a:avLst>
              <a:gd name="adj" fmla="val 0"/>
            </a:avLst>
          </a:prstGeom>
          <a:solidFill>
            <a:srgbClr val="FFC0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hangingPunct="1">
              <a:defRPr/>
            </a:pPr>
            <a:r>
              <a:rPr lang="pt-BR" sz="1050" kern="1200" dirty="0" smtClean="0">
                <a:solidFill>
                  <a:schemeClr val="tx2"/>
                </a:solidFill>
                <a:latin typeface="Simplon BP Regular" pitchFamily="2" charset="0"/>
              </a:rPr>
              <a:t>Quinzenal Ativos</a:t>
            </a:r>
            <a:endParaRPr lang="pt-BR" sz="1050" kern="1200" dirty="0">
              <a:solidFill>
                <a:schemeClr val="tx2"/>
              </a:solidFill>
              <a:latin typeface="Simplon BP Regular" pitchFamily="2" charset="0"/>
            </a:endParaRPr>
          </a:p>
          <a:p>
            <a:pPr lvl="0" algn="ctr" hangingPunct="1">
              <a:defRPr/>
            </a:pP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– </a:t>
            </a:r>
            <a:r>
              <a:rPr lang="pt-BR" sz="1050" kern="1200" dirty="0" smtClean="0">
                <a:solidFill>
                  <a:schemeClr val="tx2"/>
                </a:solidFill>
                <a:latin typeface="Simplon BP Regular" pitchFamily="2" charset="0"/>
              </a:rPr>
              <a:t>M&amp;A</a:t>
            </a:r>
            <a:r>
              <a:rPr lang="pt-BR" sz="1050" kern="1200" dirty="0">
                <a:solidFill>
                  <a:schemeClr val="tx2"/>
                </a:solidFill>
                <a:latin typeface="Simplon BP Regular" pitchFamily="2" charset="0"/>
              </a:rPr>
              <a:t>, </a:t>
            </a:r>
            <a:r>
              <a:rPr lang="pt-BR" sz="1050" kern="1200" dirty="0" smtClean="0">
                <a:solidFill>
                  <a:schemeClr val="tx2"/>
                </a:solidFill>
                <a:latin typeface="Simplon BP Regular" pitchFamily="2" charset="0"/>
              </a:rPr>
              <a:t>Líderes</a:t>
            </a:r>
            <a:endParaRPr lang="pt-BR" sz="1050" i="1" kern="1200" dirty="0">
              <a:solidFill>
                <a:schemeClr val="tx2"/>
              </a:solidFill>
              <a:latin typeface="Simplon BP Regular" pitchFamily="2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8263041" y="167786"/>
            <a:ext cx="2177716" cy="430887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Rotina</a:t>
            </a:r>
            <a:r>
              <a:rPr kumimoji="0" lang="en-US" sz="1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do Carve-out que </a:t>
            </a:r>
            <a:r>
              <a:rPr kumimoji="0" lang="en-US" sz="1400" b="0" i="0" u="none" strike="noStrike" cap="none" spc="0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seria</a:t>
            </a:r>
            <a:r>
              <a:rPr kumimoji="0" lang="en-US" sz="1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400" b="0" i="0" u="none" strike="noStrike" cap="none" spc="0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financeiro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48007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aixaDeTexto 91"/>
          <p:cNvSpPr txBox="1"/>
          <p:nvPr/>
        </p:nvSpPr>
        <p:spPr>
          <a:xfrm>
            <a:off x="2000600" y="625637"/>
            <a:ext cx="4149888" cy="61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9038976" y="622864"/>
            <a:ext cx="1483198" cy="613005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ítulo 25"/>
          <p:cNvSpPr>
            <a:spLocks noGrp="1"/>
          </p:cNvSpPr>
          <p:nvPr>
            <p:ph type="title"/>
          </p:nvPr>
        </p:nvSpPr>
        <p:spPr>
          <a:xfrm>
            <a:off x="245945" y="134154"/>
            <a:ext cx="10756482" cy="558294"/>
          </a:xfrm>
        </p:spPr>
        <p:txBody>
          <a:bodyPr/>
          <a:lstStyle/>
          <a:p>
            <a:r>
              <a:rPr lang="pt-BR" dirty="0" smtClean="0">
                <a:solidFill>
                  <a:srgbClr val="009E0B"/>
                </a:solidFill>
              </a:rPr>
              <a:t>IMPLANTAÇÃO M&amp;A: UPI CLIENTCO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2"/>
          </p:nvPr>
        </p:nvSpPr>
        <p:spPr>
          <a:xfrm>
            <a:off x="11819155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13</a:t>
            </a:fld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6226687" y="622865"/>
            <a:ext cx="2733947" cy="61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314185" y="1499692"/>
            <a:ext cx="10897872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REGULATÓRIO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314185" y="2464402"/>
            <a:ext cx="10897872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ATIVOS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314182" y="4393822"/>
            <a:ext cx="10897872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SISTEMAS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314182" y="2946757"/>
            <a:ext cx="10897875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 smtClean="0"/>
              <a:t>FORNECEDORES</a:t>
            </a:r>
            <a:endParaRPr lang="pt-BR" sz="105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314183" y="3911467"/>
            <a:ext cx="10897874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OPERAÇÃO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314180" y="1982047"/>
            <a:ext cx="10897874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FINANCEIRO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314185" y="3429112"/>
            <a:ext cx="10897875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 smtClean="0"/>
              <a:t>CLIENTES </a:t>
            </a:r>
            <a:endParaRPr lang="pt-BR" sz="105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314182" y="1017337"/>
            <a:ext cx="10897875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SOCIETÁRIO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285391" y="633580"/>
            <a:ext cx="135373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pt-BR" b="1" dirty="0">
                <a:solidFill>
                  <a:srgbClr val="009E0B"/>
                </a:solidFill>
              </a:rPr>
              <a:t>Líder </a:t>
            </a:r>
            <a:r>
              <a:rPr lang="pt-BR" b="1" dirty="0" smtClean="0">
                <a:solidFill>
                  <a:srgbClr val="009E0B"/>
                </a:solidFill>
              </a:rPr>
              <a:t>N2/ N3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6337505" y="2083413"/>
            <a:ext cx="125477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André Paradizi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337505" y="1024352"/>
            <a:ext cx="145065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Daniella Ventura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Fernando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Raposo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6337505" y="1601058"/>
            <a:ext cx="129572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Viviane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Perdigão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6337505" y="3448424"/>
            <a:ext cx="167535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Francisco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Tecles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(VAR)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Luiz Felipe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Meira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(EMP)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6329650" y="3922898"/>
            <a:ext cx="16581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Jomerson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Almeida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6337505" y="3062167"/>
            <a:ext cx="133666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Luiz </a:t>
            </a:r>
            <a:r>
              <a:rPr lang="pt-BR" sz="1200" dirty="0" err="1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Fillipe</a:t>
            </a:r>
            <a:r>
              <a:rPr lang="pt-BR" sz="1200" dirty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 </a:t>
            </a:r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Vieira</a:t>
            </a:r>
            <a:endParaRPr lang="pt-BR" sz="1200" dirty="0">
              <a:solidFill>
                <a:schemeClr val="tx2">
                  <a:lumMod val="75000"/>
                </a:schemeClr>
              </a:solidFill>
              <a:ea typeface="Calibri" panose="020F0502020204030204" pitchFamily="34" charset="0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6337505" y="4422123"/>
            <a:ext cx="127173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Bruno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Diehl</a:t>
            </a:r>
          </a:p>
          <a:p>
            <a:r>
              <a:rPr lang="pt-BR" sz="1200" dirty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Luiz </a:t>
            </a:r>
            <a:r>
              <a:rPr lang="pt-BR" sz="1200" dirty="0" err="1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Fillipe</a:t>
            </a:r>
            <a:r>
              <a:rPr lang="pt-BR" sz="1200" dirty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 </a:t>
            </a:r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Vieira</a:t>
            </a:r>
            <a:endParaRPr lang="pt-BR" sz="1200" dirty="0">
              <a:solidFill>
                <a:schemeClr val="tx2">
                  <a:lumMod val="75000"/>
                </a:schemeClr>
              </a:solidFill>
              <a:ea typeface="Calibri" panose="020F0502020204030204" pitchFamily="34" charset="0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341237" y="651453"/>
            <a:ext cx="1666751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Frentes de Trabalho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316456" y="5389335"/>
            <a:ext cx="10897872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MIGRAÇÃO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9139789" y="2080231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Francisco Anderson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9139789" y="2595429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Viviane de Medeiros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9139789" y="1105781"/>
            <a:ext cx="130209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Charlene Santino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9139789" y="1609479"/>
            <a:ext cx="1263338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Charlene Santino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68" name="CaixaDeTexto 67"/>
          <p:cNvSpPr txBox="1"/>
          <p:nvPr/>
        </p:nvSpPr>
        <p:spPr>
          <a:xfrm>
            <a:off x="9139789" y="3549925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Nathalia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kumimoji="0" lang="en-US" sz="1200" b="0" i="0" u="none" strike="noStrike" cap="none" spc="0" normalizeH="0" baseline="0" dirty="0" err="1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sym typeface="Simplon BP Regular"/>
              </a:rPr>
              <a:t>Piltz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69" name="CaixaDeTexto 68"/>
          <p:cNvSpPr txBox="1"/>
          <p:nvPr/>
        </p:nvSpPr>
        <p:spPr>
          <a:xfrm>
            <a:off x="9139789" y="3999569"/>
            <a:ext cx="165857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Francisco Anderson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9139789" y="3066058"/>
            <a:ext cx="137368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Viviane de Medeiros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1" name="CaixaDeTexto 70"/>
          <p:cNvSpPr txBox="1"/>
          <p:nvPr/>
        </p:nvSpPr>
        <p:spPr>
          <a:xfrm>
            <a:off x="9139789" y="4495191"/>
            <a:ext cx="1539941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Charlene Santino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72" name="CaixaDeTexto 71"/>
          <p:cNvSpPr txBox="1"/>
          <p:nvPr/>
        </p:nvSpPr>
        <p:spPr>
          <a:xfrm>
            <a:off x="9391811" y="650207"/>
            <a:ext cx="82716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 err="1" smtClean="0">
                <a:solidFill>
                  <a:schemeClr val="tx1">
                    <a:lumMod val="75000"/>
                  </a:schemeClr>
                </a:solidFill>
              </a:rPr>
              <a:t>Apoio</a:t>
            </a:r>
            <a:r>
              <a:rPr lang="en-US" b="1" dirty="0" smtClean="0">
                <a:solidFill>
                  <a:schemeClr val="tx1">
                    <a:lumMod val="75000"/>
                  </a:schemeClr>
                </a:solidFill>
              </a:rPr>
              <a:t> M&amp;A</a:t>
            </a:r>
            <a:endParaRPr kumimoji="0" lang="en-US" sz="1400" b="1" i="0" u="none" strike="noStrike" cap="none" spc="0" normalizeH="0" baseline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2" name="Elipse 1"/>
          <p:cNvSpPr/>
          <p:nvPr/>
        </p:nvSpPr>
        <p:spPr>
          <a:xfrm>
            <a:off x="12387043" y="4362342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4" name="Elipse 43"/>
          <p:cNvSpPr/>
          <p:nvPr/>
        </p:nvSpPr>
        <p:spPr>
          <a:xfrm>
            <a:off x="12399075" y="2468470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5" name="Elipse 44"/>
          <p:cNvSpPr/>
          <p:nvPr/>
        </p:nvSpPr>
        <p:spPr>
          <a:xfrm>
            <a:off x="12399075" y="2895434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smtClean="0"/>
              <a:t>3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6" name="Elipse 45"/>
          <p:cNvSpPr/>
          <p:nvPr/>
        </p:nvSpPr>
        <p:spPr>
          <a:xfrm>
            <a:off x="12416420" y="1940982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smtClean="0"/>
              <a:t>4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7" name="Elipse 46"/>
          <p:cNvSpPr/>
          <p:nvPr/>
        </p:nvSpPr>
        <p:spPr>
          <a:xfrm>
            <a:off x="12428452" y="987492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6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8" name="Elipse 47"/>
          <p:cNvSpPr/>
          <p:nvPr/>
        </p:nvSpPr>
        <p:spPr>
          <a:xfrm>
            <a:off x="12409702" y="3413056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smtClean="0"/>
              <a:t>5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Elipse 48"/>
          <p:cNvSpPr/>
          <p:nvPr/>
        </p:nvSpPr>
        <p:spPr>
          <a:xfrm>
            <a:off x="12333502" y="3938647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smtClean="0"/>
              <a:t>6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1" name="Elipse 50"/>
          <p:cNvSpPr/>
          <p:nvPr/>
        </p:nvSpPr>
        <p:spPr>
          <a:xfrm>
            <a:off x="12439767" y="1455614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smtClean="0"/>
              <a:t>7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2" name="Elipse 51"/>
          <p:cNvSpPr/>
          <p:nvPr/>
        </p:nvSpPr>
        <p:spPr>
          <a:xfrm>
            <a:off x="12376015" y="4901933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318941" y="4876177"/>
            <a:ext cx="10897872" cy="423386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PESSOAS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4" name="Elipse 53"/>
          <p:cNvSpPr/>
          <p:nvPr/>
        </p:nvSpPr>
        <p:spPr>
          <a:xfrm>
            <a:off x="12399075" y="5838062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10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1" name="Elipse 80"/>
          <p:cNvSpPr/>
          <p:nvPr/>
        </p:nvSpPr>
        <p:spPr>
          <a:xfrm>
            <a:off x="12333502" y="5338016"/>
            <a:ext cx="457200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9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2" name="Elipse 81"/>
          <p:cNvSpPr/>
          <p:nvPr/>
        </p:nvSpPr>
        <p:spPr>
          <a:xfrm>
            <a:off x="12369589" y="6219988"/>
            <a:ext cx="506023" cy="302955"/>
          </a:xfrm>
          <a:prstGeom prst="ellipse">
            <a:avLst/>
          </a:prstGeom>
          <a:solidFill>
            <a:schemeClr val="accent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11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3" name="CaixaDeTexto 82"/>
          <p:cNvSpPr txBox="1"/>
          <p:nvPr/>
        </p:nvSpPr>
        <p:spPr>
          <a:xfrm>
            <a:off x="314180" y="5871690"/>
            <a:ext cx="10897872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TSA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4" name="CaixaDeTexto 83"/>
          <p:cNvSpPr txBox="1"/>
          <p:nvPr/>
        </p:nvSpPr>
        <p:spPr>
          <a:xfrm>
            <a:off x="6337505" y="5965678"/>
            <a:ext cx="127173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Elly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Resende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85" name="CaixaDeTexto 84"/>
          <p:cNvSpPr txBox="1"/>
          <p:nvPr/>
        </p:nvSpPr>
        <p:spPr>
          <a:xfrm>
            <a:off x="6337505" y="4999456"/>
            <a:ext cx="127173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Ricardo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Goulart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86" name="CaixaDeTexto 85"/>
          <p:cNvSpPr txBox="1"/>
          <p:nvPr/>
        </p:nvSpPr>
        <p:spPr>
          <a:xfrm>
            <a:off x="308979" y="6354048"/>
            <a:ext cx="10897872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MOS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7" name="CaixaDeTexto 86"/>
          <p:cNvSpPr txBox="1"/>
          <p:nvPr/>
        </p:nvSpPr>
        <p:spPr>
          <a:xfrm>
            <a:off x="6337505" y="2487822"/>
            <a:ext cx="125477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André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Paradizi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Eduardo Pedreira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9" name="CaixaDeTexto 88"/>
          <p:cNvSpPr txBox="1"/>
          <p:nvPr/>
        </p:nvSpPr>
        <p:spPr>
          <a:xfrm>
            <a:off x="6329650" y="4116649"/>
            <a:ext cx="16581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Luiz Eduardo Martins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6337505" y="6458006"/>
            <a:ext cx="127173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Elly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Resende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91" name="CaixaDeTexto 90"/>
          <p:cNvSpPr txBox="1"/>
          <p:nvPr/>
        </p:nvSpPr>
        <p:spPr>
          <a:xfrm>
            <a:off x="6337504" y="5400614"/>
            <a:ext cx="269566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Francisco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Tecles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/ Luiz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Felipe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Meira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3" name="CaixaDeTexto 92"/>
          <p:cNvSpPr txBox="1"/>
          <p:nvPr/>
        </p:nvSpPr>
        <p:spPr>
          <a:xfrm>
            <a:off x="2059303" y="650207"/>
            <a:ext cx="135373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pt-BR" b="1" dirty="0" err="1" smtClean="0">
                <a:solidFill>
                  <a:srgbClr val="009E0B"/>
                </a:solidFill>
              </a:rPr>
              <a:t>Sub-frente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94" name="CaixaDeTexto 93"/>
          <p:cNvSpPr txBox="1"/>
          <p:nvPr/>
        </p:nvSpPr>
        <p:spPr>
          <a:xfrm>
            <a:off x="2102187" y="1975137"/>
            <a:ext cx="230373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Carve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-out /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CPs</a:t>
            </a:r>
            <a:endParaRPr lang="pt-BR" sz="1200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Processos financeiros,</a:t>
            </a:r>
            <a:r>
              <a:rPr kumimoji="0" lang="pt-BR" sz="1200" b="0" i="0" u="none" strike="noStrike" cap="none" spc="0" normalizeH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contábeis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CaixaDeTexto 94"/>
          <p:cNvSpPr txBox="1"/>
          <p:nvPr/>
        </p:nvSpPr>
        <p:spPr>
          <a:xfrm>
            <a:off x="2111416" y="1040979"/>
            <a:ext cx="455452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Operação Societária/ Negociação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Regularização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dos CNPJs p/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cadeia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clientes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logística e RH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96" name="CaixaDeTexto 95"/>
          <p:cNvSpPr txBox="1"/>
          <p:nvPr/>
        </p:nvSpPr>
        <p:spPr>
          <a:xfrm>
            <a:off x="2081034" y="1520568"/>
            <a:ext cx="179302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CADE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Desvinculação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RBR/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Anatel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2111417" y="3465051"/>
            <a:ext cx="189178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Contratos/ Comunicação</a:t>
            </a:r>
          </a:p>
          <a:p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De/ Para Ofertas</a:t>
            </a:r>
            <a:endParaRPr lang="pt-BR" sz="1200" dirty="0">
              <a:solidFill>
                <a:schemeClr val="tx2">
                  <a:lumMod val="75000"/>
                </a:schemeClr>
              </a:solidFill>
              <a:ea typeface="Calibri" panose="020F0502020204030204" pitchFamily="34" charset="0"/>
            </a:endParaRPr>
          </a:p>
        </p:txBody>
      </p:sp>
      <p:sp>
        <p:nvSpPr>
          <p:cNvPr id="98" name="CaixaDeTexto 97"/>
          <p:cNvSpPr txBox="1"/>
          <p:nvPr/>
        </p:nvSpPr>
        <p:spPr>
          <a:xfrm>
            <a:off x="2103562" y="3925670"/>
            <a:ext cx="16581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Atendimento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9" name="CaixaDeTexto 98"/>
          <p:cNvSpPr txBox="1"/>
          <p:nvPr/>
        </p:nvSpPr>
        <p:spPr>
          <a:xfrm>
            <a:off x="2140888" y="2968678"/>
            <a:ext cx="285737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Contratos Atuais / Novos Contratos</a:t>
            </a:r>
          </a:p>
          <a:p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Comunicação</a:t>
            </a:r>
            <a:endParaRPr lang="pt-BR" sz="1200" dirty="0">
              <a:solidFill>
                <a:schemeClr val="tx2">
                  <a:lumMod val="75000"/>
                </a:schemeClr>
              </a:solidFill>
              <a:ea typeface="Calibri" panose="020F0502020204030204" pitchFamily="34" charset="0"/>
            </a:endParaRPr>
          </a:p>
        </p:txBody>
      </p:sp>
      <p:sp>
        <p:nvSpPr>
          <p:cNvPr id="100" name="CaixaDeTexto 99"/>
          <p:cNvSpPr txBox="1"/>
          <p:nvPr/>
        </p:nvSpPr>
        <p:spPr>
          <a:xfrm>
            <a:off x="2111417" y="4424895"/>
            <a:ext cx="127173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Segregação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ea typeface="Calibri" panose="020F0502020204030204" pitchFamily="34" charset="0"/>
              </a:rPr>
              <a:t>Migração</a:t>
            </a:r>
            <a:endParaRPr lang="pt-BR" sz="1200" dirty="0">
              <a:solidFill>
                <a:schemeClr val="tx2">
                  <a:lumMod val="75000"/>
                </a:schemeClr>
              </a:solidFill>
              <a:ea typeface="Calibri" panose="020F0502020204030204" pitchFamily="34" charset="0"/>
            </a:endParaRPr>
          </a:p>
        </p:txBody>
      </p:sp>
      <p:sp>
        <p:nvSpPr>
          <p:cNvPr id="101" name="CaixaDeTexto 100"/>
          <p:cNvSpPr txBox="1"/>
          <p:nvPr/>
        </p:nvSpPr>
        <p:spPr>
          <a:xfrm>
            <a:off x="2098921" y="5967391"/>
            <a:ext cx="374583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Apoio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na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Negociação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/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Operacionalização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102" name="CaixaDeTexto 101"/>
          <p:cNvSpPr txBox="1"/>
          <p:nvPr/>
        </p:nvSpPr>
        <p:spPr>
          <a:xfrm>
            <a:off x="2111416" y="5002228"/>
            <a:ext cx="2776027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Operacionalizar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modelo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negociado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103" name="CaixaDeTexto 102"/>
          <p:cNvSpPr txBox="1"/>
          <p:nvPr/>
        </p:nvSpPr>
        <p:spPr>
          <a:xfrm>
            <a:off x="2111416" y="2488712"/>
            <a:ext cx="327800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Conciliação Físico/ Contábil/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Drop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 de Ativos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Logística Reversa/ Recondicionamento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4" name="CaixaDeTexto 103"/>
          <p:cNvSpPr txBox="1"/>
          <p:nvPr/>
        </p:nvSpPr>
        <p:spPr>
          <a:xfrm>
            <a:off x="2103562" y="4119421"/>
            <a:ext cx="16581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Suporte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Técnico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/ PSRs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5" name="CaixaDeTexto 104"/>
          <p:cNvSpPr txBox="1"/>
          <p:nvPr/>
        </p:nvSpPr>
        <p:spPr>
          <a:xfrm>
            <a:off x="2110764" y="6448773"/>
            <a:ext cx="275194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Apoio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na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Negociação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/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Operacionalização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6" name="CaixaDeTexto 105"/>
          <p:cNvSpPr txBox="1"/>
          <p:nvPr/>
        </p:nvSpPr>
        <p:spPr>
          <a:xfrm>
            <a:off x="2111417" y="5403386"/>
            <a:ext cx="277602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Migração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Clientes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0" name="CaixaDeTexto 109"/>
          <p:cNvSpPr txBox="1"/>
          <p:nvPr/>
        </p:nvSpPr>
        <p:spPr>
          <a:xfrm>
            <a:off x="2102151" y="5585280"/>
            <a:ext cx="277602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Migração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Ativos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/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Sistemas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1" name="CaixaDeTexto 110"/>
          <p:cNvSpPr txBox="1"/>
          <p:nvPr/>
        </p:nvSpPr>
        <p:spPr>
          <a:xfrm>
            <a:off x="6344124" y="5571583"/>
            <a:ext cx="2932842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Eduardo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Pedreira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/ Luiz Eduardo Martins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2" name="CaixaDeTexto 111"/>
          <p:cNvSpPr txBox="1"/>
          <p:nvPr/>
        </p:nvSpPr>
        <p:spPr>
          <a:xfrm>
            <a:off x="9098735" y="5587029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Viviane de Medeiros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3" name="CaixaDeTexto 112"/>
          <p:cNvSpPr txBox="1"/>
          <p:nvPr/>
        </p:nvSpPr>
        <p:spPr>
          <a:xfrm>
            <a:off x="9111506" y="5403190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Nathalia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kumimoji="0" lang="en-US" sz="1200" b="0" i="0" u="none" strike="noStrike" cap="none" spc="0" normalizeH="0" baseline="0" dirty="0" err="1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sym typeface="Simplon BP Regular"/>
              </a:rPr>
              <a:t>Piltz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114" name="CaixaDeTexto 113"/>
          <p:cNvSpPr txBox="1"/>
          <p:nvPr/>
        </p:nvSpPr>
        <p:spPr>
          <a:xfrm>
            <a:off x="9097774" y="5967391"/>
            <a:ext cx="165857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Francisco Anderson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115" name="CaixaDeTexto 114"/>
          <p:cNvSpPr txBox="1"/>
          <p:nvPr/>
        </p:nvSpPr>
        <p:spPr>
          <a:xfrm>
            <a:off x="9111506" y="6465980"/>
            <a:ext cx="165857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Francisco Anderson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116" name="CaixaDeTexto 115"/>
          <p:cNvSpPr txBox="1"/>
          <p:nvPr/>
        </p:nvSpPr>
        <p:spPr>
          <a:xfrm>
            <a:off x="9123098" y="5008044"/>
            <a:ext cx="1539941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Charlene Santino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117" name="CaixaDeTexto 116"/>
          <p:cNvSpPr txBox="1"/>
          <p:nvPr/>
        </p:nvSpPr>
        <p:spPr>
          <a:xfrm>
            <a:off x="9465075" y="69279"/>
            <a:ext cx="330645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Simplon BP Regular"/>
              </a:rPr>
              <a:t>-     </a:t>
            </a:r>
            <a:r>
              <a:rPr kumimoji="0" lang="en-US" sz="2000" b="0" i="0" u="none" strike="noStrike" cap="none" spc="0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Simplon BP Regular"/>
              </a:rPr>
              <a:t>sugestão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7207828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5" name="think-cell Slide" r:id="rId5" imgW="421" imgH="423" progId="TCLayout.ActiveDocument.1">
                  <p:embed/>
                </p:oleObj>
              </mc:Choice>
              <mc:Fallback>
                <p:oleObj name="think-cell Slide" r:id="rId5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21757-CAEC-9B46-BA5E-8BB41E742229}" type="slidenum">
              <a:rPr kumimoji="0" lang="en-US" sz="105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graphicFrame>
        <p:nvGraphicFramePr>
          <p:cNvPr id="5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694220"/>
              </p:ext>
            </p:extLst>
          </p:nvPr>
        </p:nvGraphicFramePr>
        <p:xfrm>
          <a:off x="438111" y="1043355"/>
          <a:ext cx="11315778" cy="51347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1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26">
                  <a:extLst>
                    <a:ext uri="{9D8B030D-6E8A-4147-A177-3AD203B41FA5}">
                      <a16:colId xmlns:a16="http://schemas.microsoft.com/office/drawing/2014/main" val="1912167186"/>
                    </a:ext>
                  </a:extLst>
                </a:gridCol>
                <a:gridCol w="3771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645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Progresso</a:t>
                      </a:r>
                      <a:endParaRPr lang="pt-BR" sz="1600" b="1" i="0" u="none" strike="noStrike" noProof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144" marR="7144" marT="714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Pontos de</a:t>
                      </a:r>
                      <a:r>
                        <a:rPr lang="pt-BR" sz="1600" b="1" u="none" strike="noStrike" baseline="0" noProof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Atenção / Risco</a:t>
                      </a:r>
                      <a:endParaRPr lang="pt-BR" sz="1600" b="1" i="0" u="none" strike="noStrike" noProof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144" marR="7144" marT="714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Próximos Passos</a:t>
                      </a:r>
                      <a:endParaRPr lang="pt-BR" sz="1600" b="1" i="0" u="none" strike="noStrike" noProof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144" marR="7144" marT="7144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062">
                <a:tc>
                  <a:txBody>
                    <a:bodyPr/>
                    <a:lstStyle/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rgbClr val="009E0B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Aprovada a compra de n </a:t>
                      </a:r>
                      <a:r>
                        <a:rPr lang="pt-BR" sz="1400" b="0" i="0" u="none" strike="noStrike" cap="none" spc="0" baseline="0" noProof="0" dirty="0" err="1" smtClean="0">
                          <a:solidFill>
                            <a:srgbClr val="009E0B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CNPJs</a:t>
                      </a:r>
                      <a:r>
                        <a:rPr lang="pt-BR" sz="1400" b="0" i="0" u="none" strike="noStrike" cap="none" spc="0" baseline="0" noProof="0" dirty="0" smtClean="0">
                          <a:solidFill>
                            <a:srgbClr val="009E0B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 necessários para a operação no Conselho Administrativo;</a:t>
                      </a: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Definição </a:t>
                      </a:r>
                      <a:r>
                        <a:rPr lang="pt-BR" sz="14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do </a:t>
                      </a: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CNAE das </a:t>
                      </a:r>
                      <a:r>
                        <a:rPr lang="pt-BR" sz="1400" b="0" i="0" u="none" strike="noStrike" cap="none" spc="0" baseline="0" noProof="0" dirty="0" err="1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UPIs</a:t>
                      </a:r>
                      <a:endParaRPr lang="pt-BR" sz="14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Etapas e custos associados ao processo de obtenção e </a:t>
                      </a:r>
                      <a:r>
                        <a:rPr lang="pt-BR" sz="14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regularização </a:t>
                      </a: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de um </a:t>
                      </a:r>
                      <a:r>
                        <a:rPr lang="pt-BR" sz="14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CNPJ;</a:t>
                      </a: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Definição </a:t>
                      </a:r>
                      <a:r>
                        <a:rPr lang="pt-BR" sz="14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das Premissas de </a:t>
                      </a: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Negócio;</a:t>
                      </a: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Definição do perímetro de ativos;</a:t>
                      </a: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Validação do cenário sistêmico inicial a desenvolver</a:t>
                      </a: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4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4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4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4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81000" marR="81000" marT="27000" marB="2700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Definir a quantidade de </a:t>
                      </a:r>
                      <a:r>
                        <a:rPr lang="pt-BR" sz="1400" b="0" i="0" u="none" strike="noStrike" cap="none" spc="0" baseline="0" noProof="0" dirty="0" err="1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UPIs</a:t>
                      </a: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 necessárias ao término da análise das propostas; </a:t>
                      </a:r>
                      <a:r>
                        <a:rPr lang="pt-BR" sz="1400" b="0" i="1" u="none" strike="noStrike" cap="none" spc="0" baseline="0" noProof="0" dirty="0" smtClean="0">
                          <a:solidFill>
                            <a:srgbClr val="009E0B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Inicialmente, TI adotará 3 </a:t>
                      </a:r>
                      <a:r>
                        <a:rPr lang="pt-BR" sz="1400" b="0" i="1" u="none" strike="noStrike" cap="none" spc="0" baseline="0" noProof="0" dirty="0" err="1" smtClean="0">
                          <a:solidFill>
                            <a:srgbClr val="009E0B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CNPJs</a:t>
                      </a:r>
                      <a:endParaRPr lang="pt-BR" sz="1400" b="0" i="1" u="none" strike="noStrike" cap="none" spc="0" baseline="0" noProof="0" dirty="0" smtClean="0">
                        <a:solidFill>
                          <a:srgbClr val="009E0B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rgbClr val="4D4D4D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Aprovação do Plano de Recuperação Inicial (05/03)</a:t>
                      </a: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rgbClr val="4D4D4D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Necessária a disponibilização de colaboradores para o início da frente de sistemas. </a:t>
                      </a:r>
                      <a:r>
                        <a:rPr lang="pt-BR" sz="1400" b="0" i="1" u="none" strike="noStrike" cap="none" spc="0" baseline="0" noProof="0" dirty="0" err="1" smtClean="0">
                          <a:solidFill>
                            <a:srgbClr val="009E0B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Mindset</a:t>
                      </a:r>
                      <a:r>
                        <a:rPr lang="pt-BR" sz="1400" b="0" i="0" u="none" strike="noStrike" cap="none" spc="0" baseline="0" noProof="0" dirty="0" smtClean="0">
                          <a:solidFill>
                            <a:srgbClr val="009E0B"/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: Trabalhar os requisitos essenciais para desenvolvimento/ entrega sistêmica. </a:t>
                      </a: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400" b="0" i="0" u="none" strike="noStrike" cap="none" spc="0" baseline="0" noProof="0" dirty="0">
                        <a:solidFill>
                          <a:srgbClr val="4D4D4D"/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81000" marR="81000" marT="27000" marB="2700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Iniciar Escrita de </a:t>
                      </a:r>
                      <a:r>
                        <a:rPr lang="pt-BR" sz="1400" b="0" i="0" u="none" strike="noStrike" cap="none" spc="0" baseline="0" noProof="0" dirty="0" err="1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Features</a:t>
                      </a: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 e Refinamento da fase 1 de sistemas – 04/03</a:t>
                      </a: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Confirmar participantes e líderes da agenda prevista – 08/03</a:t>
                      </a:r>
                    </a:p>
                    <a:p>
                      <a:pPr marL="171450" marR="0" lvl="5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Agendar reuniões –  11/03</a:t>
                      </a: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Detalhar </a:t>
                      </a:r>
                      <a:r>
                        <a:rPr lang="pt-BR" sz="14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atividades e refinar cronograma </a:t>
                      </a: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das frentes </a:t>
                      </a:r>
                      <a:r>
                        <a:rPr lang="pt-BR" sz="1400" b="0" i="0" u="none" strike="noStrike" cap="none" spc="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de </a:t>
                      </a:r>
                      <a:r>
                        <a:rPr lang="pt-BR" sz="1400" b="0" i="0" u="none" strike="noStrike" cap="none" spc="0" baseline="0" noProof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+mn-ea"/>
                          <a:cs typeface="+mn-cs"/>
                          <a:sym typeface="Simplon BP Regular"/>
                        </a:rPr>
                        <a:t>trabalho – 30/03</a:t>
                      </a:r>
                      <a:endParaRPr lang="pt-BR" sz="14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  <a:p>
                      <a:pPr marL="171450" marR="0" lvl="5" indent="-17145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pt-BR" sz="1400" b="0" i="0" u="none" strike="noStrike" cap="none" spc="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81000" marR="81000" marT="27000" marB="2700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ítulo 25"/>
          <p:cNvSpPr txBox="1">
            <a:spLocks/>
          </p:cNvSpPr>
          <p:nvPr/>
        </p:nvSpPr>
        <p:spPr>
          <a:xfrm>
            <a:off x="314185" y="134154"/>
            <a:ext cx="10756482" cy="558294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TWIST: STATUS </a:t>
            </a:r>
            <a:r>
              <a:rPr lang="pt-BR" sz="2000" dirty="0">
                <a:solidFill>
                  <a:srgbClr val="009E0B"/>
                </a:solidFill>
                <a:latin typeface="Simplon BP Bold" pitchFamily="2" charset="0"/>
              </a:rPr>
              <a:t>E 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103796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aixaDeTexto 2"/>
          <p:cNvSpPr txBox="1"/>
          <p:nvPr/>
        </p:nvSpPr>
        <p:spPr>
          <a:xfrm>
            <a:off x="733926" y="1494469"/>
            <a:ext cx="967083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-     </a:t>
            </a:r>
            <a:r>
              <a:rPr kumimoji="0" lang="en-US" sz="20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Incluir</a:t>
            </a:r>
            <a:r>
              <a:rPr kumimoji="0" lang="en-US" sz="20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 slides de </a:t>
            </a:r>
            <a:r>
              <a:rPr kumimoji="0" lang="en-US" sz="20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modelo</a:t>
            </a:r>
            <a:r>
              <a:rPr kumimoji="0" lang="en-US" sz="20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 de report (Anderson)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40211590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D37A97C3DEE4A8D4788FE4DCCDEAD" ma:contentTypeVersion="11" ma:contentTypeDescription="Create a new document." ma:contentTypeScope="" ma:versionID="d00ac72e450a6c88aa5868c6273ce3b9">
  <xsd:schema xmlns:xsd="http://www.w3.org/2001/XMLSchema" xmlns:xs="http://www.w3.org/2001/XMLSchema" xmlns:p="http://schemas.microsoft.com/office/2006/metadata/properties" xmlns:ns3="e66c1a7a-ec89-4dc5-b393-5362fae8c521" xmlns:ns4="b78623e7-b84d-4b4d-83f6-340f315802d9" targetNamespace="http://schemas.microsoft.com/office/2006/metadata/properties" ma:root="true" ma:fieldsID="6b08f65e03026fc37bf5bc94aa7787c2" ns3:_="" ns4:_="">
    <xsd:import namespace="e66c1a7a-ec89-4dc5-b393-5362fae8c521"/>
    <xsd:import namespace="b78623e7-b84d-4b4d-83f6-340f315802d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6c1a7a-ec89-4dc5-b393-5362fae8c5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623e7-b84d-4b4d-83f6-340f315802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8623e7-b84d-4b4d-83f6-340f315802d9" xsi:nil="true"/>
  </documentManagement>
</p:properties>
</file>

<file path=customXml/itemProps1.xml><?xml version="1.0" encoding="utf-8"?>
<ds:datastoreItem xmlns:ds="http://schemas.openxmlformats.org/officeDocument/2006/customXml" ds:itemID="{B3F0A6D2-0F1D-44F2-8EFD-D62C407E3C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6c1a7a-ec89-4dc5-b393-5362fae8c521"/>
    <ds:schemaRef ds:uri="b78623e7-b84d-4b4d-83f6-340f315802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B9093C-052E-4A0D-9F7E-80AE13FD2621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b78623e7-b84d-4b4d-83f6-340f315802d9"/>
    <ds:schemaRef ds:uri="http://schemas.openxmlformats.org/package/2006/metadata/core-properties"/>
    <ds:schemaRef ds:uri="e66c1a7a-ec89-4dc5-b393-5362fae8c52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89169</TotalTime>
  <Words>1994</Words>
  <Application>Microsoft Office PowerPoint</Application>
  <PresentationFormat>Widescreen</PresentationFormat>
  <Paragraphs>479</Paragraphs>
  <Slides>15</Slides>
  <Notes>14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30" baseType="lpstr">
      <vt:lpstr>Arial</vt:lpstr>
      <vt:lpstr>Calibri</vt:lpstr>
      <vt:lpstr>Helvetica</vt:lpstr>
      <vt:lpstr>Roboto</vt:lpstr>
      <vt:lpstr>Simplon BP</vt:lpstr>
      <vt:lpstr>Simplon BP Bold</vt:lpstr>
      <vt:lpstr>Simplon BP Regular</vt:lpstr>
      <vt:lpstr>Symbol</vt:lpstr>
      <vt:lpstr>Times</vt:lpstr>
      <vt:lpstr>Wingdings</vt:lpstr>
      <vt:lpstr>2_Tema do Office</vt:lpstr>
      <vt:lpstr>3_Tema do Office</vt:lpstr>
      <vt:lpstr>1_Tema do Office</vt:lpstr>
      <vt:lpstr>Slide do think-cell</vt:lpstr>
      <vt:lpstr>think-cell Slide</vt:lpstr>
      <vt:lpstr>Twist</vt:lpstr>
      <vt:lpstr>CONTEXTO</vt:lpstr>
      <vt:lpstr>AGENDA</vt:lpstr>
      <vt:lpstr>TWIST: VISÃO GERAL DO PERÍMETRO DA CLIENTCO</vt:lpstr>
      <vt:lpstr>TWIST: PRINCIPAIS FRENTES DE TRABALHO DA CLIENTCO</vt:lpstr>
      <vt:lpstr>TWIST: PRINCIPAIS FRENTES DE TRABALHO DA CLIENTCO</vt:lpstr>
      <vt:lpstr>TWIST: IMPLANTAÇÃO UPI CLIENTCO</vt:lpstr>
      <vt:lpstr>TWIST: PRINCIPAIS MILESTONES</vt:lpstr>
      <vt:lpstr>Apresentação do PowerPoint</vt:lpstr>
      <vt:lpstr>Apresentação do PowerPoint</vt:lpstr>
      <vt:lpstr>Apresentação do PowerPoint</vt:lpstr>
      <vt:lpstr>Apresentação do PowerPoint</vt:lpstr>
      <vt:lpstr>IMPLANTAÇÃO M&amp;A: UPI CLIENTCO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Charlene Santino Da Silva</cp:lastModifiedBy>
  <cp:revision>558</cp:revision>
  <dcterms:modified xsi:type="dcterms:W3CDTF">2024-03-08T20:41:24Z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0x010100723D37A97C3DEE4A8D4788FE4DCCDEAD</vt:lpwstr>
  </property>
</Properties>
</file>