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charts/chart1.xml" ContentType="application/vnd.openxmlformats-officedocument.drawingml.chart+xml"/>
  <Override PartName="/ppt/tags/tag13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charts/chart2.xml" ContentType="application/vnd.openxmlformats-officedocument.drawingml.chart+xml"/>
  <Override PartName="/ppt/tags/tag25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3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4.xml" ContentType="application/vnd.openxmlformats-officedocument.theme+xml"/>
  <Override PartName="/ppt/tags/tag28.xml" ContentType="application/vnd.openxmlformats-officedocument.presentationml.tags+xml"/>
  <Override PartName="/ppt/theme/theme5.xml" ContentType="application/vnd.openxmlformats-officedocument.theme+xml"/>
  <Override PartName="/ppt/tags/tag2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30.xml" ContentType="application/vnd.openxmlformats-officedocument.presentationml.tags+xml"/>
  <Override PartName="/ppt/notesSlides/notesSlide15.xml" ContentType="application/vnd.openxmlformats-officedocument.presentationml.notesSlide+xml"/>
  <Override PartName="/ppt/tags/tag31.xml" ContentType="application/vnd.openxmlformats-officedocument.presentationml.tags+xml"/>
  <Override PartName="/ppt/notesSlides/notesSlide16.xml" ContentType="application/vnd.openxmlformats-officedocument.presentationml.notesSlide+xml"/>
  <Override PartName="/ppt/tags/tag32.xml" ContentType="application/vnd.openxmlformats-officedocument.presentationml.tags+xml"/>
  <Override PartName="/ppt/notesSlides/notesSlide17.xml" ContentType="application/vnd.openxmlformats-officedocument.presentationml.notesSlide+xml"/>
  <Override PartName="/ppt/tags/tag33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34.xml" ContentType="application/vnd.openxmlformats-officedocument.presentationml.tags+xml"/>
  <Override PartName="/ppt/notesSlides/notesSlide20.xml" ContentType="application/vnd.openxmlformats-officedocument.presentationml.notesSlide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1" r:id="rId4"/>
    <p:sldMasterId id="2147483800" r:id="rId5"/>
    <p:sldMasterId id="2147483813" r:id="rId6"/>
    <p:sldMasterId id="2147483864" r:id="rId7"/>
  </p:sldMasterIdLst>
  <p:notesMasterIdLst>
    <p:notesMasterId r:id="rId31"/>
  </p:notesMasterIdLst>
  <p:sldIdLst>
    <p:sldId id="293" r:id="rId8"/>
    <p:sldId id="396" r:id="rId9"/>
    <p:sldId id="393" r:id="rId10"/>
    <p:sldId id="340" r:id="rId11"/>
    <p:sldId id="406" r:id="rId12"/>
    <p:sldId id="409" r:id="rId13"/>
    <p:sldId id="400" r:id="rId14"/>
    <p:sldId id="408" r:id="rId15"/>
    <p:sldId id="405" r:id="rId16"/>
    <p:sldId id="401" r:id="rId17"/>
    <p:sldId id="398" r:id="rId18"/>
    <p:sldId id="397" r:id="rId19"/>
    <p:sldId id="402" r:id="rId20"/>
    <p:sldId id="404" r:id="rId21"/>
    <p:sldId id="344" r:id="rId22"/>
    <p:sldId id="330" r:id="rId23"/>
    <p:sldId id="399" r:id="rId24"/>
    <p:sldId id="403" r:id="rId25"/>
    <p:sldId id="342" r:id="rId26"/>
    <p:sldId id="352" r:id="rId27"/>
    <p:sldId id="365" r:id="rId28"/>
    <p:sldId id="391" r:id="rId29"/>
    <p:sldId id="298" r:id="rId30"/>
  </p:sldIdLst>
  <p:sldSz cx="12192000" cy="6858000"/>
  <p:notesSz cx="6858000" cy="9144000"/>
  <p:custDataLst>
    <p:tags r:id="rId32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9pPr>
  </p:defaultTextStyle>
  <p:extLst>
    <p:ext uri="{521415D9-36F7-43E2-AB2F-B90AF26B5E84}">
      <p14:sectionLst xmlns:p14="http://schemas.microsoft.com/office/powerpoint/2010/main">
        <p14:section name="Seção Padrão" id="{E2FD906F-F81E-4346-8F91-A19CEB2BE249}">
          <p14:sldIdLst>
            <p14:sldId id="293"/>
            <p14:sldId id="396"/>
            <p14:sldId id="393"/>
            <p14:sldId id="340"/>
            <p14:sldId id="406"/>
            <p14:sldId id="409"/>
            <p14:sldId id="400"/>
            <p14:sldId id="408"/>
            <p14:sldId id="405"/>
            <p14:sldId id="401"/>
            <p14:sldId id="398"/>
            <p14:sldId id="397"/>
            <p14:sldId id="402"/>
            <p14:sldId id="404"/>
            <p14:sldId id="344"/>
            <p14:sldId id="330"/>
            <p14:sldId id="399"/>
            <p14:sldId id="403"/>
          </p14:sldIdLst>
        </p14:section>
        <p14:section name="BACKUP" id="{F580DD86-D75B-49AB-926C-0E64538724D7}">
          <p14:sldIdLst/>
        </p14:section>
        <p14:section name="SISTEMAS" id="{A87CAA41-4846-4D94-B3E3-22661D800934}">
          <p14:sldIdLst>
            <p14:sldId id="342"/>
            <p14:sldId id="352"/>
            <p14:sldId id="365"/>
            <p14:sldId id="391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009E0B"/>
    <a:srgbClr val="F5F5F5"/>
    <a:srgbClr val="00D318"/>
    <a:srgbClr val="FFFFFF"/>
    <a:srgbClr val="FFFF00"/>
    <a:srgbClr val="3399FF"/>
    <a:srgbClr val="000000"/>
    <a:srgbClr val="404040"/>
    <a:srgbClr val="6DD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F7E7"/>
          </a:solidFill>
        </a:fill>
      </a:tcStyle>
    </a:wholeTbl>
    <a:band2H>
      <a:tcTxStyle/>
      <a:tcStyle>
        <a:tcBdr/>
        <a:fill>
          <a:solidFill>
            <a:schemeClr val="accent2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343" autoAdjust="0"/>
  </p:normalViewPr>
  <p:slideViewPr>
    <p:cSldViewPr snapToGrid="0" snapToObjects="1">
      <p:cViewPr varScale="1">
        <p:scale>
          <a:sx n="68" d="100"/>
          <a:sy n="68" d="100"/>
        </p:scale>
        <p:origin x="8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notesMaster" Target="notesMasters/notesMaster1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theme" Target="theme/theme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" userId="7e73802f-f059-456e-9b61-17d2c2afb959" providerId="ADAL" clId="{19DA34B9-23C0-49E6-A2BC-6995FB75D246}"/>
    <pc:docChg chg="undo custSel addSld delSld modSld sldOrd">
      <pc:chgData name="FRANCISCO" userId="7e73802f-f059-456e-9b61-17d2c2afb959" providerId="ADAL" clId="{19DA34B9-23C0-49E6-A2BC-6995FB75D246}" dt="2024-02-05T17:29:05.178" v="506" actId="20577"/>
      <pc:docMkLst>
        <pc:docMk/>
      </pc:docMkLst>
      <pc:sldChg chg="addSp delSp modSp mod">
        <pc:chgData name="FRANCISCO" userId="7e73802f-f059-456e-9b61-17d2c2afb959" providerId="ADAL" clId="{19DA34B9-23C0-49E6-A2BC-6995FB75D246}" dt="2024-02-05T14:36:28.625" v="437" actId="478"/>
        <pc:sldMkLst>
          <pc:docMk/>
          <pc:sldMk cId="3033749965" sldId="330"/>
        </pc:sldMkLst>
        <pc:spChg chg="mod">
          <ac:chgData name="FRANCISCO" userId="7e73802f-f059-456e-9b61-17d2c2afb959" providerId="ADAL" clId="{19DA34B9-23C0-49E6-A2BC-6995FB75D246}" dt="2024-02-05T13:46:31.614" v="159" actId="14100"/>
          <ac:spMkLst>
            <pc:docMk/>
            <pc:sldMk cId="3033749965" sldId="330"/>
            <ac:spMk id="3" creationId="{00000000-0000-0000-0000-000000000000}"/>
          </ac:spMkLst>
        </pc:spChg>
        <pc:spChg chg="add del mod">
          <ac:chgData name="FRANCISCO" userId="7e73802f-f059-456e-9b61-17d2c2afb959" providerId="ADAL" clId="{19DA34B9-23C0-49E6-A2BC-6995FB75D246}" dt="2024-02-05T14:07:21.731" v="336" actId="478"/>
          <ac:spMkLst>
            <pc:docMk/>
            <pc:sldMk cId="3033749965" sldId="330"/>
            <ac:spMk id="6" creationId="{B2C47DDC-D547-A413-F6E2-FE42AFAAED73}"/>
          </ac:spMkLst>
        </pc:spChg>
        <pc:spChg chg="add del mod">
          <ac:chgData name="FRANCISCO" userId="7e73802f-f059-456e-9b61-17d2c2afb959" providerId="ADAL" clId="{19DA34B9-23C0-49E6-A2BC-6995FB75D246}" dt="2024-02-05T14:07:50.741" v="339" actId="478"/>
          <ac:spMkLst>
            <pc:docMk/>
            <pc:sldMk cId="3033749965" sldId="330"/>
            <ac:spMk id="7" creationId="{1F683862-4371-B57B-E5B4-E33759D19320}"/>
          </ac:spMkLst>
        </pc:spChg>
        <pc:spChg chg="mod">
          <ac:chgData name="FRANCISCO" userId="7e73802f-f059-456e-9b61-17d2c2afb959" providerId="ADAL" clId="{19DA34B9-23C0-49E6-A2BC-6995FB75D246}" dt="2024-02-05T13:43:53.907" v="105" actId="1076"/>
          <ac:spMkLst>
            <pc:docMk/>
            <pc:sldMk cId="3033749965" sldId="330"/>
            <ac:spMk id="21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5:54.279" v="131" actId="1076"/>
          <ac:spMkLst>
            <pc:docMk/>
            <pc:sldMk cId="3033749965" sldId="330"/>
            <ac:spMk id="23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6:38.451" v="186" actId="1038"/>
          <ac:spMkLst>
            <pc:docMk/>
            <pc:sldMk cId="3033749965" sldId="330"/>
            <ac:spMk id="24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5:03.185" v="129" actId="1076"/>
          <ac:spMkLst>
            <pc:docMk/>
            <pc:sldMk cId="3033749965" sldId="330"/>
            <ac:spMk id="25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8:11.794" v="322" actId="14100"/>
          <ac:spMkLst>
            <pc:docMk/>
            <pc:sldMk cId="3033749965" sldId="330"/>
            <ac:spMk id="27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2:17.640" v="95" actId="1076"/>
          <ac:spMkLst>
            <pc:docMk/>
            <pc:sldMk cId="3033749965" sldId="330"/>
            <ac:spMk id="28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2:17.640" v="95" actId="1076"/>
          <ac:spMkLst>
            <pc:docMk/>
            <pc:sldMk cId="3033749965" sldId="330"/>
            <ac:spMk id="29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2:17.640" v="95" actId="1076"/>
          <ac:spMkLst>
            <pc:docMk/>
            <pc:sldMk cId="3033749965" sldId="330"/>
            <ac:spMk id="30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6:18.774" v="134" actId="1076"/>
          <ac:spMkLst>
            <pc:docMk/>
            <pc:sldMk cId="3033749965" sldId="330"/>
            <ac:spMk id="32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6:12.165" v="133" actId="1076"/>
          <ac:spMkLst>
            <pc:docMk/>
            <pc:sldMk cId="3033749965" sldId="330"/>
            <ac:spMk id="33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7:15.491" v="236" actId="1037"/>
          <ac:spMkLst>
            <pc:docMk/>
            <pc:sldMk cId="3033749965" sldId="330"/>
            <ac:spMk id="34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7:15.491" v="236" actId="1037"/>
          <ac:spMkLst>
            <pc:docMk/>
            <pc:sldMk cId="3033749965" sldId="330"/>
            <ac:spMk id="35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7:15.491" v="236" actId="1037"/>
          <ac:spMkLst>
            <pc:docMk/>
            <pc:sldMk cId="3033749965" sldId="330"/>
            <ac:spMk id="36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7:15.491" v="236" actId="1037"/>
          <ac:spMkLst>
            <pc:docMk/>
            <pc:sldMk cId="3033749965" sldId="330"/>
            <ac:spMk id="37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4:35:00.294" v="425" actId="14100"/>
          <ac:spMkLst>
            <pc:docMk/>
            <pc:sldMk cId="3033749965" sldId="330"/>
            <ac:spMk id="38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7:15.491" v="236" actId="1037"/>
          <ac:spMkLst>
            <pc:docMk/>
            <pc:sldMk cId="3033749965" sldId="330"/>
            <ac:spMk id="39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7:28.612" v="276" actId="1037"/>
          <ac:spMkLst>
            <pc:docMk/>
            <pc:sldMk cId="3033749965" sldId="330"/>
            <ac:spMk id="40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7:15.491" v="236" actId="1037"/>
          <ac:spMkLst>
            <pc:docMk/>
            <pc:sldMk cId="3033749965" sldId="330"/>
            <ac:spMk id="42" creationId="{00000000-0000-0000-0000-000000000000}"/>
          </ac:spMkLst>
        </pc:spChg>
        <pc:spChg chg="add mod">
          <ac:chgData name="FRANCISCO" userId="7e73802f-f059-456e-9b61-17d2c2afb959" providerId="ADAL" clId="{19DA34B9-23C0-49E6-A2BC-6995FB75D246}" dt="2024-02-05T14:21:10.492" v="404" actId="20577"/>
          <ac:spMkLst>
            <pc:docMk/>
            <pc:sldMk cId="3033749965" sldId="330"/>
            <ac:spMk id="43" creationId="{9AD4C9EA-1716-626B-3C0F-EA8FC081EA19}"/>
          </ac:spMkLst>
        </pc:spChg>
        <pc:spChg chg="mod">
          <ac:chgData name="FRANCISCO" userId="7e73802f-f059-456e-9b61-17d2c2afb959" providerId="ADAL" clId="{19DA34B9-23C0-49E6-A2BC-6995FB75D246}" dt="2024-02-05T13:41:49.789" v="85" actId="14100"/>
          <ac:spMkLst>
            <pc:docMk/>
            <pc:sldMk cId="3033749965" sldId="330"/>
            <ac:spMk id="46" creationId="{00000000-0000-0000-0000-000000000000}"/>
          </ac:spMkLst>
        </pc:spChg>
        <pc:spChg chg="add mod">
          <ac:chgData name="FRANCISCO" userId="7e73802f-f059-456e-9b61-17d2c2afb959" providerId="ADAL" clId="{19DA34B9-23C0-49E6-A2BC-6995FB75D246}" dt="2024-02-05T14:07:15.371" v="335" actId="207"/>
          <ac:spMkLst>
            <pc:docMk/>
            <pc:sldMk cId="3033749965" sldId="330"/>
            <ac:spMk id="47" creationId="{62FC1B49-13FD-CCF4-C9D0-6C681658E3BD}"/>
          </ac:spMkLst>
        </pc:spChg>
        <pc:spChg chg="mod">
          <ac:chgData name="FRANCISCO" userId="7e73802f-f059-456e-9b61-17d2c2afb959" providerId="ADAL" clId="{19DA34B9-23C0-49E6-A2BC-6995FB75D246}" dt="2024-02-05T13:47:51.211" v="295" actId="1038"/>
          <ac:spMkLst>
            <pc:docMk/>
            <pc:sldMk cId="3033749965" sldId="330"/>
            <ac:spMk id="48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4:18:29.840" v="360" actId="14100"/>
          <ac:spMkLst>
            <pc:docMk/>
            <pc:sldMk cId="3033749965" sldId="330"/>
            <ac:spMk id="49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2:17.640" v="95" actId="1076"/>
          <ac:spMkLst>
            <pc:docMk/>
            <pc:sldMk cId="3033749965" sldId="330"/>
            <ac:spMk id="50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2:17.640" v="95" actId="1076"/>
          <ac:spMkLst>
            <pc:docMk/>
            <pc:sldMk cId="3033749965" sldId="330"/>
            <ac:spMk id="51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6:38.451" v="186" actId="1038"/>
          <ac:spMkLst>
            <pc:docMk/>
            <pc:sldMk cId="3033749965" sldId="330"/>
            <ac:spMk id="53" creationId="{00000000-0000-0000-0000-000000000000}"/>
          </ac:spMkLst>
        </pc:spChg>
        <pc:spChg chg="add mod">
          <ac:chgData name="FRANCISCO" userId="7e73802f-f059-456e-9b61-17d2c2afb959" providerId="ADAL" clId="{19DA34B9-23C0-49E6-A2BC-6995FB75D246}" dt="2024-02-05T14:20:49.840" v="402" actId="20577"/>
          <ac:spMkLst>
            <pc:docMk/>
            <pc:sldMk cId="3033749965" sldId="330"/>
            <ac:spMk id="63" creationId="{4F2D9C09-B578-75A8-AEA4-88F2B055A68B}"/>
          </ac:spMkLst>
        </pc:spChg>
        <pc:spChg chg="add mod">
          <ac:chgData name="FRANCISCO" userId="7e73802f-f059-456e-9b61-17d2c2afb959" providerId="ADAL" clId="{19DA34B9-23C0-49E6-A2BC-6995FB75D246}" dt="2024-02-05T14:18:59.573" v="364" actId="1076"/>
          <ac:spMkLst>
            <pc:docMk/>
            <pc:sldMk cId="3033749965" sldId="330"/>
            <ac:spMk id="64" creationId="{657A45A9-502E-D726-880D-CC1DE083C4DE}"/>
          </ac:spMkLst>
        </pc:spChg>
        <pc:spChg chg="mod">
          <ac:chgData name="FRANCISCO" userId="7e73802f-f059-456e-9b61-17d2c2afb959" providerId="ADAL" clId="{19DA34B9-23C0-49E6-A2BC-6995FB75D246}" dt="2024-02-05T13:42:17.640" v="95" actId="1076"/>
          <ac:spMkLst>
            <pc:docMk/>
            <pc:sldMk cId="3033749965" sldId="330"/>
            <ac:spMk id="81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4:24.718" v="126" actId="1037"/>
          <ac:spMkLst>
            <pc:docMk/>
            <pc:sldMk cId="3033749965" sldId="330"/>
            <ac:spMk id="82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5:39.961" v="130" actId="1076"/>
          <ac:spMkLst>
            <pc:docMk/>
            <pc:sldMk cId="3033749965" sldId="330"/>
            <ac:spMk id="83" creationId="{00000000-0000-0000-0000-000000000000}"/>
          </ac:spMkLst>
        </pc:spChg>
        <pc:spChg chg="mod">
          <ac:chgData name="FRANCISCO" userId="7e73802f-f059-456e-9b61-17d2c2afb959" providerId="ADAL" clId="{19DA34B9-23C0-49E6-A2BC-6995FB75D246}" dt="2024-02-05T13:45:58.632" v="132" actId="1076"/>
          <ac:spMkLst>
            <pc:docMk/>
            <pc:sldMk cId="3033749965" sldId="330"/>
            <ac:spMk id="85" creationId="{00000000-0000-0000-0000-000000000000}"/>
          </ac:spMkLst>
        </pc:spChg>
        <pc:spChg chg="add mod">
          <ac:chgData name="FRANCISCO" userId="7e73802f-f059-456e-9b61-17d2c2afb959" providerId="ADAL" clId="{19DA34B9-23C0-49E6-A2BC-6995FB75D246}" dt="2024-02-05T14:33:24.217" v="411" actId="1076"/>
          <ac:spMkLst>
            <pc:docMk/>
            <pc:sldMk cId="3033749965" sldId="330"/>
            <ac:spMk id="91" creationId="{38FC6AFC-49E3-77DB-E9CD-A621F7DAB0C7}"/>
          </ac:spMkLst>
        </pc:spChg>
        <pc:spChg chg="add mod">
          <ac:chgData name="FRANCISCO" userId="7e73802f-f059-456e-9b61-17d2c2afb959" providerId="ADAL" clId="{19DA34B9-23C0-49E6-A2BC-6995FB75D246}" dt="2024-02-05T14:33:24.217" v="411" actId="1076"/>
          <ac:spMkLst>
            <pc:docMk/>
            <pc:sldMk cId="3033749965" sldId="330"/>
            <ac:spMk id="92" creationId="{2B37B5DB-8B84-2E05-CFB0-023E57A4C913}"/>
          </ac:spMkLst>
        </pc:spChg>
        <pc:spChg chg="add mod">
          <ac:chgData name="FRANCISCO" userId="7e73802f-f059-456e-9b61-17d2c2afb959" providerId="ADAL" clId="{19DA34B9-23C0-49E6-A2BC-6995FB75D246}" dt="2024-02-05T14:33:19.774" v="410" actId="1076"/>
          <ac:spMkLst>
            <pc:docMk/>
            <pc:sldMk cId="3033749965" sldId="330"/>
            <ac:spMk id="93" creationId="{E8D1FAA8-7F28-FACF-343E-F2D3C2158353}"/>
          </ac:spMkLst>
        </pc:spChg>
        <pc:spChg chg="add mod">
          <ac:chgData name="FRANCISCO" userId="7e73802f-f059-456e-9b61-17d2c2afb959" providerId="ADAL" clId="{19DA34B9-23C0-49E6-A2BC-6995FB75D246}" dt="2024-02-05T14:34:15.201" v="417" actId="20577"/>
          <ac:spMkLst>
            <pc:docMk/>
            <pc:sldMk cId="3033749965" sldId="330"/>
            <ac:spMk id="94" creationId="{25AEE74C-0613-BA2B-334E-0B3AB2321A2A}"/>
          </ac:spMkLst>
        </pc:spChg>
        <pc:spChg chg="add mod">
          <ac:chgData name="FRANCISCO" userId="7e73802f-f059-456e-9b61-17d2c2afb959" providerId="ADAL" clId="{19DA34B9-23C0-49E6-A2BC-6995FB75D246}" dt="2024-02-05T14:34:27.618" v="421" actId="20577"/>
          <ac:spMkLst>
            <pc:docMk/>
            <pc:sldMk cId="3033749965" sldId="330"/>
            <ac:spMk id="95" creationId="{E8F4053F-AEED-4A0B-66A0-5797DDAE43B5}"/>
          </ac:spMkLst>
        </pc:spChg>
        <pc:spChg chg="add mod">
          <ac:chgData name="FRANCISCO" userId="7e73802f-f059-456e-9b61-17d2c2afb959" providerId="ADAL" clId="{19DA34B9-23C0-49E6-A2BC-6995FB75D246}" dt="2024-02-05T14:34:35.720" v="423" actId="1076"/>
          <ac:spMkLst>
            <pc:docMk/>
            <pc:sldMk cId="3033749965" sldId="330"/>
            <ac:spMk id="96" creationId="{AA855927-685F-55D3-ED15-F9EC980D00A8}"/>
          </ac:spMkLst>
        </pc:spChg>
        <pc:graphicFrameChg chg="mod modGraphic">
          <ac:chgData name="FRANCISCO" userId="7e73802f-f059-456e-9b61-17d2c2afb959" providerId="ADAL" clId="{19DA34B9-23C0-49E6-A2BC-6995FB75D246}" dt="2024-02-05T13:41:27.207" v="25" actId="14100"/>
          <ac:graphicFrameMkLst>
            <pc:docMk/>
            <pc:sldMk cId="3033749965" sldId="330"/>
            <ac:graphicFrameMk id="22" creationId="{722984D9-B1D7-3135-695E-2E73B4AF9300}"/>
          </ac:graphicFrameMkLst>
        </pc:graphicFrameChg>
        <pc:picChg chg="add del mod">
          <ac:chgData name="FRANCISCO" userId="7e73802f-f059-456e-9b61-17d2c2afb959" providerId="ADAL" clId="{19DA34B9-23C0-49E6-A2BC-6995FB75D246}" dt="2024-02-05T14:36:28.625" v="437" actId="478"/>
          <ac:picMkLst>
            <pc:docMk/>
            <pc:sldMk cId="3033749965" sldId="330"/>
            <ac:picMk id="4" creationId="{18F54945-4800-936F-7680-DFACAC6FAA8E}"/>
          </ac:picMkLst>
        </pc:picChg>
        <pc:cxnChg chg="add del mod">
          <ac:chgData name="FRANCISCO" userId="7e73802f-f059-456e-9b61-17d2c2afb959" providerId="ADAL" clId="{19DA34B9-23C0-49E6-A2BC-6995FB75D246}" dt="2024-02-05T14:08:09.052" v="344" actId="478"/>
          <ac:cxnSpMkLst>
            <pc:docMk/>
            <pc:sldMk cId="3033749965" sldId="330"/>
            <ac:cxnSpMk id="9" creationId="{6B19A05A-FF20-D166-D986-4E910D5ECAD6}"/>
          </ac:cxnSpMkLst>
        </pc:cxnChg>
        <pc:cxnChg chg="add mod">
          <ac:chgData name="FRANCISCO" userId="7e73802f-f059-456e-9b61-17d2c2afb959" providerId="ADAL" clId="{19DA34B9-23C0-49E6-A2BC-6995FB75D246}" dt="2024-02-05T14:08:50.082" v="355" actId="693"/>
          <ac:cxnSpMkLst>
            <pc:docMk/>
            <pc:sldMk cId="3033749965" sldId="330"/>
            <ac:cxnSpMk id="14" creationId="{562C43CE-2DA3-0953-55C3-D97DF4B05656}"/>
          </ac:cxnSpMkLst>
        </pc:cxnChg>
        <pc:cxnChg chg="add del mod">
          <ac:chgData name="FRANCISCO" userId="7e73802f-f059-456e-9b61-17d2c2afb959" providerId="ADAL" clId="{19DA34B9-23C0-49E6-A2BC-6995FB75D246}" dt="2024-02-05T14:19:17.172" v="370" actId="478"/>
          <ac:cxnSpMkLst>
            <pc:docMk/>
            <pc:sldMk cId="3033749965" sldId="330"/>
            <ac:cxnSpMk id="61" creationId="{B17C1DAA-BD87-AA36-ECD2-31620A4B514D}"/>
          </ac:cxnSpMkLst>
        </pc:cxnChg>
        <pc:cxnChg chg="add del mod">
          <ac:chgData name="FRANCISCO" userId="7e73802f-f059-456e-9b61-17d2c2afb959" providerId="ADAL" clId="{19DA34B9-23C0-49E6-A2BC-6995FB75D246}" dt="2024-02-05T14:19:53.448" v="385" actId="478"/>
          <ac:cxnSpMkLst>
            <pc:docMk/>
            <pc:sldMk cId="3033749965" sldId="330"/>
            <ac:cxnSpMk id="69" creationId="{2C58582C-8029-FC86-90A9-4FB16190F8B1}"/>
          </ac:cxnSpMkLst>
        </pc:cxnChg>
        <pc:cxnChg chg="add del mod">
          <ac:chgData name="FRANCISCO" userId="7e73802f-f059-456e-9b61-17d2c2afb959" providerId="ADAL" clId="{19DA34B9-23C0-49E6-A2BC-6995FB75D246}" dt="2024-02-05T14:20:19.745" v="396" actId="478"/>
          <ac:cxnSpMkLst>
            <pc:docMk/>
            <pc:sldMk cId="3033749965" sldId="330"/>
            <ac:cxnSpMk id="80" creationId="{8CFECF7C-3ACC-B0CF-0C5D-F8D189F82CA1}"/>
          </ac:cxnSpMkLst>
        </pc:cxnChg>
        <pc:cxnChg chg="add mod">
          <ac:chgData name="FRANCISCO" userId="7e73802f-f059-456e-9b61-17d2c2afb959" providerId="ADAL" clId="{19DA34B9-23C0-49E6-A2BC-6995FB75D246}" dt="2024-02-05T14:20:44.219" v="399" actId="14100"/>
          <ac:cxnSpMkLst>
            <pc:docMk/>
            <pc:sldMk cId="3033749965" sldId="330"/>
            <ac:cxnSpMk id="89" creationId="{44F2F8D2-1FC6-70FA-E330-7C32EF4F4610}"/>
          </ac:cxnSpMkLst>
        </pc:cxnChg>
        <pc:cxnChg chg="add mod">
          <ac:chgData name="FRANCISCO" userId="7e73802f-f059-456e-9b61-17d2c2afb959" providerId="ADAL" clId="{19DA34B9-23C0-49E6-A2BC-6995FB75D246}" dt="2024-02-05T14:36:01.583" v="431" actId="1076"/>
          <ac:cxnSpMkLst>
            <pc:docMk/>
            <pc:sldMk cId="3033749965" sldId="330"/>
            <ac:cxnSpMk id="97" creationId="{EAD9D55B-F9B3-9A57-0416-3F2DFFC24B96}"/>
          </ac:cxnSpMkLst>
        </pc:cxnChg>
        <pc:cxnChg chg="add mod">
          <ac:chgData name="FRANCISCO" userId="7e73802f-f059-456e-9b61-17d2c2afb959" providerId="ADAL" clId="{19DA34B9-23C0-49E6-A2BC-6995FB75D246}" dt="2024-02-05T14:36:08.541" v="434" actId="14100"/>
          <ac:cxnSpMkLst>
            <pc:docMk/>
            <pc:sldMk cId="3033749965" sldId="330"/>
            <ac:cxnSpMk id="100" creationId="{282ECB89-662D-08DF-6F43-F81E6AF92783}"/>
          </ac:cxnSpMkLst>
        </pc:cxnChg>
        <pc:cxnChg chg="add mod">
          <ac:chgData name="FRANCISCO" userId="7e73802f-f059-456e-9b61-17d2c2afb959" providerId="ADAL" clId="{19DA34B9-23C0-49E6-A2BC-6995FB75D246}" dt="2024-02-05T14:36:15.219" v="436" actId="1076"/>
          <ac:cxnSpMkLst>
            <pc:docMk/>
            <pc:sldMk cId="3033749965" sldId="330"/>
            <ac:cxnSpMk id="102" creationId="{3341CC8E-65CA-58E3-2B9D-F05350E26113}"/>
          </ac:cxnSpMkLst>
        </pc:cxnChg>
      </pc:sldChg>
      <pc:sldChg chg="modSp mod ord modShow">
        <pc:chgData name="FRANCISCO" userId="7e73802f-f059-456e-9b61-17d2c2afb959" providerId="ADAL" clId="{19DA34B9-23C0-49E6-A2BC-6995FB75D246}" dt="2024-02-05T17:29:05.178" v="506" actId="20577"/>
        <pc:sldMkLst>
          <pc:docMk/>
          <pc:sldMk cId="2724206952" sldId="338"/>
        </pc:sldMkLst>
        <pc:spChg chg="mod">
          <ac:chgData name="FRANCISCO" userId="7e73802f-f059-456e-9b61-17d2c2afb959" providerId="ADAL" clId="{19DA34B9-23C0-49E6-A2BC-6995FB75D246}" dt="2024-02-05T17:29:05.178" v="506" actId="20577"/>
          <ac:spMkLst>
            <pc:docMk/>
            <pc:sldMk cId="2724206952" sldId="338"/>
            <ac:spMk id="30" creationId="{00000000-0000-0000-0000-000000000000}"/>
          </ac:spMkLst>
        </pc:spChg>
      </pc:sldChg>
      <pc:sldChg chg="delSp mod">
        <pc:chgData name="FRANCISCO" userId="7e73802f-f059-456e-9b61-17d2c2afb959" providerId="ADAL" clId="{19DA34B9-23C0-49E6-A2BC-6995FB75D246}" dt="2024-02-05T14:40:21.028" v="466" actId="478"/>
        <pc:sldMkLst>
          <pc:docMk/>
          <pc:sldMk cId="3563350130" sldId="340"/>
        </pc:sldMkLst>
        <pc:spChg chg="del">
          <ac:chgData name="FRANCISCO" userId="7e73802f-f059-456e-9b61-17d2c2afb959" providerId="ADAL" clId="{19DA34B9-23C0-49E6-A2BC-6995FB75D246}" dt="2024-02-05T14:40:12.920" v="465" actId="478"/>
          <ac:spMkLst>
            <pc:docMk/>
            <pc:sldMk cId="3563350130" sldId="340"/>
            <ac:spMk id="4" creationId="{00000000-0000-0000-0000-000000000000}"/>
          </ac:spMkLst>
        </pc:spChg>
        <pc:spChg chg="del">
          <ac:chgData name="FRANCISCO" userId="7e73802f-f059-456e-9b61-17d2c2afb959" providerId="ADAL" clId="{19DA34B9-23C0-49E6-A2BC-6995FB75D246}" dt="2024-02-05T14:40:21.028" v="466" actId="478"/>
          <ac:spMkLst>
            <pc:docMk/>
            <pc:sldMk cId="3563350130" sldId="340"/>
            <ac:spMk id="54" creationId="{00000000-0000-0000-0000-000000000000}"/>
          </ac:spMkLst>
        </pc:spChg>
      </pc:sldChg>
      <pc:sldChg chg="modSp mod modShow">
        <pc:chgData name="FRANCISCO" userId="7e73802f-f059-456e-9b61-17d2c2afb959" providerId="ADAL" clId="{19DA34B9-23C0-49E6-A2BC-6995FB75D246}" dt="2024-02-05T13:38:37.030" v="11" actId="20577"/>
        <pc:sldMkLst>
          <pc:docMk/>
          <pc:sldMk cId="1844061124" sldId="341"/>
        </pc:sldMkLst>
        <pc:spChg chg="mod">
          <ac:chgData name="FRANCISCO" userId="7e73802f-f059-456e-9b61-17d2c2afb959" providerId="ADAL" clId="{19DA34B9-23C0-49E6-A2BC-6995FB75D246}" dt="2024-02-05T13:38:37.030" v="11" actId="20577"/>
          <ac:spMkLst>
            <pc:docMk/>
            <pc:sldMk cId="1844061124" sldId="341"/>
            <ac:spMk id="91" creationId="{00000000-0000-0000-0000-000000000000}"/>
          </ac:spMkLst>
        </pc:spChg>
      </pc:sldChg>
      <pc:sldChg chg="mod modShow">
        <pc:chgData name="FRANCISCO" userId="7e73802f-f059-456e-9b61-17d2c2afb959" providerId="ADAL" clId="{19DA34B9-23C0-49E6-A2BC-6995FB75D246}" dt="2024-02-05T13:38:42.653" v="12" actId="729"/>
        <pc:sldMkLst>
          <pc:docMk/>
          <pc:sldMk cId="4116025839" sldId="342"/>
        </pc:sldMkLst>
      </pc:sldChg>
      <pc:sldChg chg="mod modShow">
        <pc:chgData name="FRANCISCO" userId="7e73802f-f059-456e-9b61-17d2c2afb959" providerId="ADAL" clId="{19DA34B9-23C0-49E6-A2BC-6995FB75D246}" dt="2024-02-05T13:38:52.454" v="14" actId="729"/>
        <pc:sldMkLst>
          <pc:docMk/>
          <pc:sldMk cId="846290421" sldId="344"/>
        </pc:sldMkLst>
      </pc:sldChg>
      <pc:sldChg chg="mod modShow">
        <pc:chgData name="FRANCISCO" userId="7e73802f-f059-456e-9b61-17d2c2afb959" providerId="ADAL" clId="{19DA34B9-23C0-49E6-A2BC-6995FB75D246}" dt="2024-02-05T13:38:23.546" v="0" actId="729"/>
        <pc:sldMkLst>
          <pc:docMk/>
          <pc:sldMk cId="968336447" sldId="345"/>
        </pc:sldMkLst>
      </pc:sldChg>
      <pc:sldChg chg="mod modShow">
        <pc:chgData name="FRANCISCO" userId="7e73802f-f059-456e-9b61-17d2c2afb959" providerId="ADAL" clId="{19DA34B9-23C0-49E6-A2BC-6995FB75D246}" dt="2024-02-05T13:38:25.578" v="1" actId="729"/>
        <pc:sldMkLst>
          <pc:docMk/>
          <pc:sldMk cId="1037968456" sldId="346"/>
        </pc:sldMkLst>
      </pc:sldChg>
      <pc:sldChg chg="delSp modSp mod ord modShow">
        <pc:chgData name="FRANCISCO" userId="7e73802f-f059-456e-9b61-17d2c2afb959" providerId="ADAL" clId="{19DA34B9-23C0-49E6-A2BC-6995FB75D246}" dt="2024-02-05T14:40:02.101" v="462" actId="729"/>
        <pc:sldMkLst>
          <pc:docMk/>
          <pc:sldMk cId="2045046335" sldId="347"/>
        </pc:sldMkLst>
        <pc:spChg chg="mod">
          <ac:chgData name="FRANCISCO" userId="7e73802f-f059-456e-9b61-17d2c2afb959" providerId="ADAL" clId="{19DA34B9-23C0-49E6-A2BC-6995FB75D246}" dt="2024-02-05T14:37:08.498" v="440" actId="1076"/>
          <ac:spMkLst>
            <pc:docMk/>
            <pc:sldMk cId="2045046335" sldId="347"/>
            <ac:spMk id="38" creationId="{00000000-0000-0000-0000-000000000000}"/>
          </ac:spMkLst>
        </pc:spChg>
        <pc:spChg chg="del">
          <ac:chgData name="FRANCISCO" userId="7e73802f-f059-456e-9b61-17d2c2afb959" providerId="ADAL" clId="{19DA34B9-23C0-49E6-A2BC-6995FB75D246}" dt="2024-02-05T14:39:03.666" v="458" actId="478"/>
          <ac:spMkLst>
            <pc:docMk/>
            <pc:sldMk cId="2045046335" sldId="347"/>
            <ac:spMk id="121" creationId="{00000000-0000-0000-0000-000000000000}"/>
          </ac:spMkLst>
        </pc:spChg>
        <pc:spChg chg="del">
          <ac:chgData name="FRANCISCO" userId="7e73802f-f059-456e-9b61-17d2c2afb959" providerId="ADAL" clId="{19DA34B9-23C0-49E6-A2BC-6995FB75D246}" dt="2024-02-05T14:39:06.114" v="459" actId="478"/>
          <ac:spMkLst>
            <pc:docMk/>
            <pc:sldMk cId="2045046335" sldId="347"/>
            <ac:spMk id="122" creationId="{B1C13B27-89CB-E9F5-DB92-5D5C41AD1512}"/>
          </ac:spMkLst>
        </pc:spChg>
        <pc:spChg chg="mod">
          <ac:chgData name="FRANCISCO" userId="7e73802f-f059-456e-9b61-17d2c2afb959" providerId="ADAL" clId="{19DA34B9-23C0-49E6-A2BC-6995FB75D246}" dt="2024-02-05T14:38:49.507" v="453" actId="20577"/>
          <ac:spMkLst>
            <pc:docMk/>
            <pc:sldMk cId="2045046335" sldId="347"/>
            <ac:spMk id="132" creationId="{B1C13B27-89CB-E9F5-DB92-5D5C41AD1512}"/>
          </ac:spMkLst>
        </pc:spChg>
        <pc:spChg chg="del">
          <ac:chgData name="FRANCISCO" userId="7e73802f-f059-456e-9b61-17d2c2afb959" providerId="ADAL" clId="{19DA34B9-23C0-49E6-A2BC-6995FB75D246}" dt="2024-02-05T14:38:56.404" v="454" actId="478"/>
          <ac:spMkLst>
            <pc:docMk/>
            <pc:sldMk cId="2045046335" sldId="347"/>
            <ac:spMk id="134" creationId="{B1C13B27-89CB-E9F5-DB92-5D5C41AD1512}"/>
          </ac:spMkLst>
        </pc:spChg>
        <pc:spChg chg="del">
          <ac:chgData name="FRANCISCO" userId="7e73802f-f059-456e-9b61-17d2c2afb959" providerId="ADAL" clId="{19DA34B9-23C0-49E6-A2BC-6995FB75D246}" dt="2024-02-05T14:38:57.410" v="455" actId="478"/>
          <ac:spMkLst>
            <pc:docMk/>
            <pc:sldMk cId="2045046335" sldId="347"/>
            <ac:spMk id="135" creationId="{00000000-0000-0000-0000-000000000000}"/>
          </ac:spMkLst>
        </pc:spChg>
        <pc:spChg chg="del">
          <ac:chgData name="FRANCISCO" userId="7e73802f-f059-456e-9b61-17d2c2afb959" providerId="ADAL" clId="{19DA34B9-23C0-49E6-A2BC-6995FB75D246}" dt="2024-02-05T14:39:54.261" v="461" actId="478"/>
          <ac:spMkLst>
            <pc:docMk/>
            <pc:sldMk cId="2045046335" sldId="347"/>
            <ac:spMk id="136" creationId="{00000000-0000-0000-0000-000000000000}"/>
          </ac:spMkLst>
        </pc:spChg>
        <pc:spChg chg="del mod">
          <ac:chgData name="FRANCISCO" userId="7e73802f-f059-456e-9b61-17d2c2afb959" providerId="ADAL" clId="{19DA34B9-23C0-49E6-A2BC-6995FB75D246}" dt="2024-02-05T14:39:51.848" v="460" actId="478"/>
          <ac:spMkLst>
            <pc:docMk/>
            <pc:sldMk cId="2045046335" sldId="347"/>
            <ac:spMk id="137" creationId="{00000000-0000-0000-0000-000000000000}"/>
          </ac:spMkLst>
        </pc:spChg>
        <pc:cxnChg chg="del">
          <ac:chgData name="FRANCISCO" userId="7e73802f-f059-456e-9b61-17d2c2afb959" providerId="ADAL" clId="{19DA34B9-23C0-49E6-A2BC-6995FB75D246}" dt="2024-02-05T14:39:02.677" v="457" actId="478"/>
          <ac:cxnSpMkLst>
            <pc:docMk/>
            <pc:sldMk cId="2045046335" sldId="347"/>
            <ac:cxnSpMk id="7" creationId="{00000000-0000-0000-0000-000000000000}"/>
          </ac:cxnSpMkLst>
        </pc:cxnChg>
        <pc:cxnChg chg="del">
          <ac:chgData name="FRANCISCO" userId="7e73802f-f059-456e-9b61-17d2c2afb959" providerId="ADAL" clId="{19DA34B9-23C0-49E6-A2BC-6995FB75D246}" dt="2024-02-05T14:38:58.262" v="456" actId="478"/>
          <ac:cxnSpMkLst>
            <pc:docMk/>
            <pc:sldMk cId="2045046335" sldId="347"/>
            <ac:cxnSpMk id="133" creationId="{00000000-0000-0000-0000-000000000000}"/>
          </ac:cxnSpMkLst>
        </pc:cxnChg>
      </pc:sldChg>
      <pc:sldChg chg="add">
        <pc:chgData name="FRANCISCO" userId="7e73802f-f059-456e-9b61-17d2c2afb959" providerId="ADAL" clId="{19DA34B9-23C0-49E6-A2BC-6995FB75D246}" dt="2024-02-05T17:15:07.220" v="467"/>
        <pc:sldMkLst>
          <pc:docMk/>
          <pc:sldMk cId="411152894" sldId="348"/>
        </pc:sldMkLst>
      </pc:sldChg>
      <pc:sldChg chg="del">
        <pc:chgData name="FRANCISCO" userId="7e73802f-f059-456e-9b61-17d2c2afb959" providerId="ADAL" clId="{19DA34B9-23C0-49E6-A2BC-6995FB75D246}" dt="2024-02-05T14:36:30.900" v="438" actId="47"/>
        <pc:sldMkLst>
          <pc:docMk/>
          <pc:sldMk cId="3462348265" sldId="348"/>
        </pc:sldMkLst>
      </pc:sldChg>
      <pc:sldChg chg="add">
        <pc:chgData name="FRANCISCO" userId="7e73802f-f059-456e-9b61-17d2c2afb959" providerId="ADAL" clId="{19DA34B9-23C0-49E6-A2BC-6995FB75D246}" dt="2024-02-05T17:15:07.220" v="467"/>
        <pc:sldMkLst>
          <pc:docMk/>
          <pc:sldMk cId="1014084903" sldId="349"/>
        </pc:sldMkLst>
      </pc:sldChg>
      <pc:sldChg chg="add">
        <pc:chgData name="FRANCISCO" userId="7e73802f-f059-456e-9b61-17d2c2afb959" providerId="ADAL" clId="{19DA34B9-23C0-49E6-A2BC-6995FB75D246}" dt="2024-02-05T17:15:07.220" v="467"/>
        <pc:sldMkLst>
          <pc:docMk/>
          <pc:sldMk cId="3120346850" sldId="35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Shape 15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7" name="Shape 15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Simplon BP Regular"/>
      </a:defRPr>
    </a:lvl1pPr>
    <a:lvl2pPr indent="228600" latinLnBrk="0">
      <a:defRPr sz="1400">
        <a:latin typeface="+mj-lt"/>
        <a:ea typeface="+mj-ea"/>
        <a:cs typeface="+mj-cs"/>
        <a:sym typeface="Simplon BP Regular"/>
      </a:defRPr>
    </a:lvl2pPr>
    <a:lvl3pPr indent="457200" latinLnBrk="0">
      <a:defRPr sz="1400">
        <a:latin typeface="+mj-lt"/>
        <a:ea typeface="+mj-ea"/>
        <a:cs typeface="+mj-cs"/>
        <a:sym typeface="Simplon BP Regular"/>
      </a:defRPr>
    </a:lvl3pPr>
    <a:lvl4pPr indent="685800" latinLnBrk="0">
      <a:defRPr sz="1400">
        <a:latin typeface="+mj-lt"/>
        <a:ea typeface="+mj-ea"/>
        <a:cs typeface="+mj-cs"/>
        <a:sym typeface="Simplon BP Regular"/>
      </a:defRPr>
    </a:lvl4pPr>
    <a:lvl5pPr indent="914400" latinLnBrk="0">
      <a:defRPr sz="1400">
        <a:latin typeface="+mj-lt"/>
        <a:ea typeface="+mj-ea"/>
        <a:cs typeface="+mj-cs"/>
        <a:sym typeface="Simplon BP Regular"/>
      </a:defRPr>
    </a:lvl5pPr>
    <a:lvl6pPr indent="1143000" latinLnBrk="0">
      <a:defRPr sz="1400">
        <a:latin typeface="+mj-lt"/>
        <a:ea typeface="+mj-ea"/>
        <a:cs typeface="+mj-cs"/>
        <a:sym typeface="Simplon BP Regular"/>
      </a:defRPr>
    </a:lvl6pPr>
    <a:lvl7pPr indent="1371600" latinLnBrk="0">
      <a:defRPr sz="1400">
        <a:latin typeface="+mj-lt"/>
        <a:ea typeface="+mj-ea"/>
        <a:cs typeface="+mj-cs"/>
        <a:sym typeface="Simplon BP Regular"/>
      </a:defRPr>
    </a:lvl7pPr>
    <a:lvl8pPr indent="1600200" latinLnBrk="0">
      <a:defRPr sz="1400">
        <a:latin typeface="+mj-lt"/>
        <a:ea typeface="+mj-ea"/>
        <a:cs typeface="+mj-cs"/>
        <a:sym typeface="Simplon BP Regular"/>
      </a:defRPr>
    </a:lvl8pPr>
    <a:lvl9pPr indent="1828800" latinLnBrk="0">
      <a:defRPr sz="1400">
        <a:latin typeface="+mj-lt"/>
        <a:ea typeface="+mj-ea"/>
        <a:cs typeface="+mj-cs"/>
        <a:sym typeface="Simplon BP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2643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OiPlay:</a:t>
            </a:r>
            <a:r>
              <a:rPr lang="pt-BR" baseline="0" dirty="0" err="1"/>
              <a:t>seoplayforjunto,teriaquelevarmuitacoisadoHeadend</a:t>
            </a:r>
            <a:r>
              <a:rPr lang="pt-BR" baseline="0" dirty="0"/>
              <a:t>–60a70%dosequipamentosteriamqueirparaanovaempresaouocompradorjáprecisariaterainfranecessáriaouaLegacyCoprestaserviçoparaanovaempresaparausodainfraestrutura.</a:t>
            </a:r>
          </a:p>
          <a:p>
            <a:endParaRPr lang="pt-BR" baseline="0" dirty="0"/>
          </a:p>
        </p:txBody>
      </p:sp>
    </p:spTree>
    <p:extLst>
      <p:ext uri="{BB962C8B-B14F-4D97-AF65-F5344CB8AC3E}">
        <p14:creationId xmlns:p14="http://schemas.microsoft.com/office/powerpoint/2010/main" val="2253753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OiPlay:</a:t>
            </a:r>
            <a:r>
              <a:rPr lang="pt-BR" baseline="0" dirty="0" err="1"/>
              <a:t>seoplayforjunto,teriaquelevarmuitacoisadoHeadend</a:t>
            </a:r>
            <a:r>
              <a:rPr lang="pt-BR" baseline="0" dirty="0"/>
              <a:t>–60a70%dosequipamentosteriamqueirparaanovaempresaouocompradorjáprecisariaterainfranecessáriaouaLegacyCoprestaserviçoparaanovaempresaparausodainfraestrutura.</a:t>
            </a:r>
          </a:p>
          <a:p>
            <a:endParaRPr lang="pt-BR" baseline="0" dirty="0"/>
          </a:p>
        </p:txBody>
      </p:sp>
    </p:spTree>
    <p:extLst>
      <p:ext uri="{BB962C8B-B14F-4D97-AF65-F5344CB8AC3E}">
        <p14:creationId xmlns:p14="http://schemas.microsoft.com/office/powerpoint/2010/main" val="1450909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9757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0418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303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26063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7C15D-37AE-4681-B341-9EB397321413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5275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7C15D-37AE-4681-B341-9EB397321413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5512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7C15D-37AE-4681-B341-9EB397321413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9994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7C15D-37AE-4681-B341-9EB397321413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9354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7C15D-37AE-4681-B341-9EB397321413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3357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7C15D-37AE-4681-B341-9EB397321413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8347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7C15D-37AE-4681-B341-9EB397321413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48868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4942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76457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64698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29899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27C15D-37AE-4681-B341-9EB397321413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13314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1007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slideMaster" Target="../slideMasters/slideMaster1.xml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tags" Target="../tags/tag9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vmlDrawing" Target="../drawings/vmlDrawing8.v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1.emf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oleObject" Target="../embeddings/oleObject8.bin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chart" Target="../charts/chart1.xml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2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5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9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Layouts/_rels/slideLayout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slideMaster" Target="../slideMasters/slideMaster2.xml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tags" Target="../tags/tag2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1.emf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oleObject" Target="../embeddings/oleObject20.bin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8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1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chart" Target="../charts/chart2.xml"/><Relationship Id="rId2" Type="http://schemas.openxmlformats.org/officeDocument/2006/relationships/tags" Target="../tags/tag24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4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8.png"/><Relationship Id="rId5" Type="http://schemas.openxmlformats.org/officeDocument/2006/relationships/image" Target="../media/image47.emf"/><Relationship Id="rId4" Type="http://schemas.openxmlformats.org/officeDocument/2006/relationships/oleObject" Target="../embeddings/oleObject26.bin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042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título da</a:t>
            </a:r>
            <a:endParaRPr lang="en-US" dirty="0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Subtítulo da apresentação</a:t>
            </a:r>
            <a:endParaRPr lang="en-US" dirty="0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 dirty="0"/>
              <a:t>Mês 2023</a:t>
            </a:r>
            <a:endParaRPr lang="en-US" dirty="0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apresentação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45187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175634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99701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sumário</a:t>
            </a:r>
            <a:endParaRPr lang="en-US" dirty="0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 dirty="0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27847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destaque</a:t>
            </a:r>
            <a:endParaRPr lang="en-US" dirty="0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título da subcapa</a:t>
            </a:r>
            <a:endParaRPr lang="en-US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1588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. </a:t>
            </a:r>
            <a:r>
              <a:rPr lang="pt-BR" dirty="0" err="1"/>
              <a:t>Praesent</a:t>
            </a:r>
            <a:r>
              <a:rPr lang="pt-BR" dirty="0"/>
              <a:t> </a:t>
            </a:r>
            <a:r>
              <a:rPr lang="pt-BR" dirty="0" err="1"/>
              <a:t>luctus</a:t>
            </a:r>
            <a:r>
              <a:rPr lang="pt-BR" dirty="0"/>
              <a:t> sem et </a:t>
            </a:r>
            <a:r>
              <a:rPr lang="pt-BR" dirty="0" err="1"/>
              <a:t>nibh</a:t>
            </a:r>
            <a:r>
              <a:rPr lang="pt-BR" dirty="0"/>
              <a:t> </a:t>
            </a:r>
            <a:r>
              <a:rPr lang="pt-BR" dirty="0" err="1"/>
              <a:t>elementum</a:t>
            </a:r>
            <a:r>
              <a:rPr lang="pt-BR" dirty="0"/>
              <a:t>, </a:t>
            </a:r>
            <a:br>
              <a:rPr lang="pt-BR" dirty="0"/>
            </a:br>
            <a:r>
              <a:rPr lang="pt-BR" dirty="0"/>
              <a:t>quis </a:t>
            </a:r>
            <a:r>
              <a:rPr lang="pt-BR" dirty="0" err="1"/>
              <a:t>volutpat</a:t>
            </a:r>
            <a:r>
              <a:rPr lang="pt-BR" dirty="0"/>
              <a:t> </a:t>
            </a:r>
            <a:r>
              <a:rPr lang="pt-BR" dirty="0" err="1"/>
              <a:t>sapien</a:t>
            </a:r>
            <a:r>
              <a:rPr lang="pt-BR" dirty="0"/>
              <a:t> </a:t>
            </a:r>
            <a:r>
              <a:rPr lang="pt-BR" dirty="0" err="1"/>
              <a:t>sodales</a:t>
            </a:r>
            <a:r>
              <a:rPr lang="pt-BR" dirty="0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2</a:t>
            </a:r>
            <a:endParaRPr lang="en-US" dirty="0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3</a:t>
            </a:r>
            <a:endParaRPr lang="en-US" dirty="0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1</a:t>
            </a:r>
            <a:endParaRPr lang="en-US" dirty="0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74759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rPr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22235789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2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icones</a:t>
            </a:r>
            <a:endParaRPr lang="en-US" dirty="0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6915954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Timeline</a:t>
            </a:r>
            <a:r>
              <a:rPr lang="pt-BR" dirty="0"/>
              <a:t> exemplo</a:t>
            </a:r>
            <a:endParaRPr lang="en-US" dirty="0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22375183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</a:t>
            </a:r>
            <a:r>
              <a:rPr lang="pt-BR" dirty="0"/>
              <a:t>exemplo</a:t>
            </a:r>
            <a:endParaRPr lang="en-US" dirty="0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0258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 err="1"/>
                <a:t>loremipsum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34179681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5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dirty="0" err="1"/>
                <a:t>valoresdolor</a:t>
              </a:r>
              <a:r>
                <a:rPr dirty="0"/>
                <a:t/>
              </a:r>
              <a:br>
                <a:rPr dirty="0"/>
              </a:br>
              <a:r>
                <a:rPr dirty="0" err="1"/>
                <a:t>loremipsum</a:t>
              </a:r>
              <a:endParaRPr dirty="0"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rPr dirty="0"/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loremipsumdolorametdolor</a:t>
                </a:r>
                <a:endParaRPr dirty="0"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loremipsumdolorametdolor</a:t>
                </a:r>
                <a:endParaRPr dirty="0"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dirty="0" err="1"/>
                <a:t>textoem</a:t>
              </a:r>
              <a:r>
                <a:rPr sz="4800" dirty="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 dirty="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rPr dirty="0"/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4400197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título da</a:t>
            </a:r>
            <a:endParaRPr lang="en-US" dirty="0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Subtítulo da apresentação</a:t>
            </a:r>
            <a:endParaRPr lang="en-US" dirty="0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 dirty="0"/>
              <a:t>Mês 2023</a:t>
            </a:r>
            <a:endParaRPr lang="en-US" dirty="0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apresentação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19890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079229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sumário</a:t>
            </a:r>
            <a:endParaRPr lang="en-US" dirty="0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 dirty="0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236572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7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 dirty="0"/>
              <a:t>destaque</a:t>
            </a:r>
            <a:endParaRPr lang="en-US" dirty="0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 dirty="0"/>
              <a:t>título da subcapa</a:t>
            </a:r>
            <a:endParaRPr lang="en-US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481955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0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/>
              <a:t>tópico / texto</a:t>
            </a:r>
            <a:endParaRPr lang="en-US" dirty="0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. </a:t>
            </a:r>
            <a:r>
              <a:rPr lang="pt-BR" dirty="0" err="1"/>
              <a:t>Praesent</a:t>
            </a:r>
            <a:r>
              <a:rPr lang="pt-BR" dirty="0"/>
              <a:t> </a:t>
            </a:r>
            <a:r>
              <a:rPr lang="pt-BR" dirty="0" err="1"/>
              <a:t>luctus</a:t>
            </a:r>
            <a:r>
              <a:rPr lang="pt-BR" dirty="0"/>
              <a:t> sem et </a:t>
            </a:r>
            <a:r>
              <a:rPr lang="pt-BR" dirty="0" err="1"/>
              <a:t>nibh</a:t>
            </a:r>
            <a:r>
              <a:rPr lang="pt-BR" dirty="0"/>
              <a:t> </a:t>
            </a:r>
            <a:r>
              <a:rPr lang="pt-BR" dirty="0" err="1"/>
              <a:t>elementum</a:t>
            </a:r>
            <a:r>
              <a:rPr lang="pt-BR" dirty="0"/>
              <a:t>, </a:t>
            </a:r>
            <a:br>
              <a:rPr lang="pt-BR" dirty="0"/>
            </a:br>
            <a:r>
              <a:rPr lang="pt-BR" dirty="0"/>
              <a:t>quis </a:t>
            </a:r>
            <a:r>
              <a:rPr lang="pt-BR" dirty="0" err="1"/>
              <a:t>volutpat</a:t>
            </a:r>
            <a:r>
              <a:rPr lang="pt-BR" dirty="0"/>
              <a:t> </a:t>
            </a:r>
            <a:r>
              <a:rPr lang="pt-BR" dirty="0" err="1"/>
              <a:t>sapien</a:t>
            </a:r>
            <a:r>
              <a:rPr lang="pt-BR" dirty="0"/>
              <a:t> </a:t>
            </a:r>
            <a:r>
              <a:rPr lang="pt-BR" dirty="0" err="1"/>
              <a:t>sodales</a:t>
            </a:r>
            <a:r>
              <a:rPr lang="pt-BR" dirty="0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2</a:t>
            </a:r>
            <a:endParaRPr lang="en-US" dirty="0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3</a:t>
            </a:r>
            <a:endParaRPr lang="en-US" dirty="0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 dirty="0"/>
              <a:t>subitem 1</a:t>
            </a:r>
            <a:endParaRPr lang="en-US" dirty="0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62543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rPr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84396992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0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icones</a:t>
            </a:r>
            <a:endParaRPr lang="en-US" dirty="0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71748008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3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Timeline</a:t>
            </a:r>
            <a:r>
              <a:rPr lang="pt-BR" dirty="0"/>
              <a:t> exemplo</a:t>
            </a:r>
            <a:endParaRPr lang="en-US" dirty="0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/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Sitamet,consecteturadipiscingelit</a:t>
              </a:r>
              <a:endParaRPr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Crassitamettellussitameteros</a:t>
              </a:r>
              <a:endParaRPr sz="1800" dirty="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dirty="0" err="1"/>
                <a:t>dapibusultricieselementumetodio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3951512812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97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</a:t>
            </a:r>
            <a:r>
              <a:rPr lang="pt-BR" dirty="0"/>
              <a:t>exemplo</a:t>
            </a:r>
            <a:endParaRPr lang="en-US" dirty="0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 dirty="0"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 dirty="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 dirty="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 dirty="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117459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1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</a:t>
                </a:r>
                <a:endParaRPr dirty="0"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/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dirty="0" err="1"/>
                <a:t>loremipsum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99504267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45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dirty="0" err="1"/>
              <a:t>mandala</a:t>
            </a:r>
            <a:endParaRPr lang="en-US" dirty="0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dirty="0" err="1"/>
                <a:t>valoresdolor</a:t>
              </a:r>
              <a:r>
                <a:rPr dirty="0"/>
                <a:t/>
              </a:r>
              <a:br>
                <a:rPr dirty="0"/>
              </a:br>
              <a:r>
                <a:rPr dirty="0" err="1"/>
                <a:t>loremipsum</a:t>
              </a:r>
              <a:endParaRPr dirty="0"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rPr dirty="0"/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dirty="0" err="1"/>
                  <a:t>loremipsumdolorametalurum</a:t>
                </a:r>
                <a:endParaRPr dirty="0"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loremipsumdolorametdolor</a:t>
                </a:r>
                <a:endParaRPr dirty="0"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dirty="0" err="1"/>
                  <a:t>loremipsumdolorametdolor</a:t>
                </a:r>
                <a:endParaRPr dirty="0"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dirty="0" err="1"/>
                <a:t>textoem</a:t>
              </a:r>
              <a:r>
                <a:rPr sz="4800" dirty="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 dirty="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rPr dirty="0"/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9470272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02;p75" descr="Google Shape;202;p7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1037876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02;p75" descr="Google Shape;202;p7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3965369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296;p86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404" name="Google Shape;297;p8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05" name="Google Shape;298;p8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06" name="Google Shape;299;p8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07" name="Google Shape;300;p8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08" name="Google Shape;301;p8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09" name="Google Shape;302;p8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10" name="Google Shape;303;p8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11" name="Google Shape;304;p8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12" name="Google Shape;305;p8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13" name="Google Shape;306;p8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14" name="Google Shape;307;p8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15" name="Google Shape;308;p8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16" name="Google Shape;309;p8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17" name="Google Shape;310;p8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18" name="Google Shape;311;p8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19" name="Google Shape;312;p8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20" name="Google Shape;313;p8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21" name="Google Shape;314;p8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22" name="Google Shape;315;p8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23" name="Google Shape;316;p8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24" name="Google Shape;317;p8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25" name="Google Shape;318;p8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26" name="Google Shape;319;p8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27" name="Google Shape;320;p8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28" name="Google Shape;321;p8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sp>
        <p:nvSpPr>
          <p:cNvPr id="430" name="Google Shape;322;p86"/>
          <p:cNvSpPr/>
          <p:nvPr/>
        </p:nvSpPr>
        <p:spPr>
          <a:xfrm rot="10800000" flipH="1">
            <a:off x="1031768" y="6132116"/>
            <a:ext cx="3600003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431" name="Google Shape;323;p86"/>
          <p:cNvSpPr/>
          <p:nvPr/>
        </p:nvSpPr>
        <p:spPr>
          <a:xfrm>
            <a:off x="339307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pic>
        <p:nvPicPr>
          <p:cNvPr id="432" name="Google Shape;324;p86" descr="Google Shape;324;p8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4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896667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326;p87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440" name="Google Shape;327;p87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41" name="Google Shape;328;p87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42" name="Google Shape;329;p87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43" name="Google Shape;330;p87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44" name="Google Shape;331;p87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45" name="Google Shape;332;p87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46" name="Google Shape;333;p87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47" name="Google Shape;334;p87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48" name="Google Shape;335;p87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49" name="Google Shape;336;p87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50" name="Google Shape;337;p87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51" name="Google Shape;338;p87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52" name="Google Shape;339;p87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53" name="Google Shape;340;p87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54" name="Google Shape;341;p87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55" name="Google Shape;342;p87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56" name="Google Shape;343;p87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57" name="Google Shape;344;p87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58" name="Google Shape;345;p87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59" name="Google Shape;346;p87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60" name="Google Shape;347;p87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61" name="Google Shape;348;p87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62" name="Google Shape;349;p87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63" name="Google Shape;350;p87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64" name="Google Shape;351;p87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sp>
        <p:nvSpPr>
          <p:cNvPr id="466" name="Google Shape;352;p87"/>
          <p:cNvSpPr/>
          <p:nvPr/>
        </p:nvSpPr>
        <p:spPr>
          <a:xfrm rot="10800000" flipH="1">
            <a:off x="1031768" y="6132116"/>
            <a:ext cx="3600003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467" name="Google Shape;353;p87"/>
          <p:cNvSpPr/>
          <p:nvPr/>
        </p:nvSpPr>
        <p:spPr>
          <a:xfrm>
            <a:off x="339307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pic>
        <p:nvPicPr>
          <p:cNvPr id="468" name="Google Shape;354;p87" descr="Google Shape;354;p8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505639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0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oogle Shape;356;p88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476" name="Google Shape;357;p88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77" name="Google Shape;358;p88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78" name="Google Shape;359;p88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79" name="Google Shape;360;p88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80" name="Google Shape;361;p88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81" name="Google Shape;362;p88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82" name="Google Shape;363;p88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83" name="Google Shape;364;p88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84" name="Google Shape;365;p88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85" name="Google Shape;366;p88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86" name="Google Shape;367;p88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87" name="Google Shape;368;p88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88" name="Google Shape;369;p88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89" name="Google Shape;370;p88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90" name="Google Shape;371;p88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91" name="Google Shape;372;p88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92" name="Google Shape;373;p88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93" name="Google Shape;374;p88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94" name="Google Shape;375;p88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95" name="Google Shape;376;p88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96" name="Google Shape;377;p88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97" name="Google Shape;378;p88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98" name="Google Shape;379;p88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499" name="Google Shape;380;p88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00" name="Google Shape;381;p88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pic>
        <p:nvPicPr>
          <p:cNvPr id="502" name="Google Shape;382;p88" descr="Google Shape;382;p8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5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1429006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1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384;p89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510" name="Google Shape;385;p89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11" name="Google Shape;386;p89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12" name="Google Shape;387;p89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13" name="Google Shape;388;p89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14" name="Google Shape;389;p89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15" name="Google Shape;390;p89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16" name="Google Shape;391;p89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17" name="Google Shape;392;p89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18" name="Google Shape;393;p89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19" name="Google Shape;394;p89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20" name="Google Shape;395;p89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21" name="Google Shape;396;p89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22" name="Google Shape;397;p89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23" name="Google Shape;398;p89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24" name="Google Shape;399;p89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25" name="Google Shape;400;p89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26" name="Google Shape;401;p89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27" name="Google Shape;402;p89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28" name="Google Shape;403;p89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29" name="Google Shape;404;p89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30" name="Google Shape;405;p89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31" name="Google Shape;406;p89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32" name="Google Shape;407;p89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33" name="Google Shape;408;p89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34" name="Google Shape;409;p89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pic>
        <p:nvPicPr>
          <p:cNvPr id="536" name="Google Shape;410;p89" descr="Google Shape;410;p8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5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6090215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412;p90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544" name="Google Shape;413;p9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45" name="Google Shape;414;p9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46" name="Google Shape;415;p9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47" name="Google Shape;416;p9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48" name="Google Shape;417;p9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49" name="Google Shape;418;p9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50" name="Google Shape;419;p9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51" name="Google Shape;420;p9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52" name="Google Shape;421;p9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53" name="Google Shape;422;p9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54" name="Google Shape;423;p9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55" name="Google Shape;424;p9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56" name="Google Shape;425;p9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57" name="Google Shape;426;p9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58" name="Google Shape;427;p9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59" name="Google Shape;428;p9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60" name="Google Shape;429;p9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61" name="Google Shape;430;p9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62" name="Google Shape;431;p9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63" name="Google Shape;432;p9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64" name="Google Shape;433;p9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65" name="Google Shape;434;p9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66" name="Google Shape;435;p9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67" name="Google Shape;436;p9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68" name="Google Shape;437;p9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pic>
        <p:nvPicPr>
          <p:cNvPr id="570" name="Google Shape;438;p90" descr="Google Shape;438;p9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5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8313288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440;p91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578" name="Google Shape;441;p9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79" name="Google Shape;442;p9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80" name="Google Shape;443;p9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81" name="Google Shape;444;p9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82" name="Google Shape;445;p9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83" name="Google Shape;446;p9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84" name="Google Shape;447;p9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85" name="Google Shape;448;p9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86" name="Google Shape;449;p9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87" name="Google Shape;450;p9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88" name="Google Shape;451;p9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89" name="Google Shape;452;p9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90" name="Google Shape;453;p9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91" name="Google Shape;454;p9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92" name="Google Shape;455;p9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93" name="Google Shape;456;p9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94" name="Google Shape;457;p9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95" name="Google Shape;458;p9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96" name="Google Shape;459;p9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97" name="Google Shape;460;p9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98" name="Google Shape;461;p9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599" name="Google Shape;462;p9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600" name="Google Shape;463;p9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601" name="Google Shape;464;p9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602" name="Google Shape;465;p9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pic>
        <p:nvPicPr>
          <p:cNvPr id="604" name="Google Shape;466;p91" descr="Google Shape;466;p9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6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124666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8035498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5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624906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470;p95" descr="Google Shape;470;p9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7035790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472;p96" descr="Google Shape;472;p9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0522443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474;p97" descr="Google Shape;474;p9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09668855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505;p99" descr="Google Shape;505;p9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2559405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507;p100" descr="Google Shape;507;p10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5" y="-101599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57328153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4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oogle Shape;509;p101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700" name="Google Shape;510;p10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01" name="Google Shape;511;p10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02" name="Google Shape;512;p10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03" name="Google Shape;513;p10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04" name="Google Shape;514;p10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05" name="Google Shape;515;p10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06" name="Google Shape;516;p10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07" name="Google Shape;517;p10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08" name="Google Shape;518;p10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09" name="Google Shape;519;p10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10" name="Google Shape;520;p10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11" name="Google Shape;521;p10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12" name="Google Shape;522;p10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13" name="Google Shape;523;p10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14" name="Google Shape;524;p10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15" name="Google Shape;525;p10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16" name="Google Shape;526;p10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17" name="Google Shape;527;p10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18" name="Google Shape;528;p10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19" name="Google Shape;529;p10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20" name="Google Shape;530;p10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21" name="Google Shape;531;p10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22" name="Google Shape;532;p10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23" name="Google Shape;533;p10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24" name="Google Shape;534;p10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pic>
        <p:nvPicPr>
          <p:cNvPr id="726" name="Google Shape;535;p101" descr="Google Shape;535;p10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727" name="Google Shape;536;p101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7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7143445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5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538;p102" descr="Google Shape;538;p10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736" name="Google Shape;539;p102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grpSp>
        <p:nvGrpSpPr>
          <p:cNvPr id="762" name="Google Shape;540;p102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737" name="Google Shape;541;p10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38" name="Google Shape;542;p10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39" name="Google Shape;543;p10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40" name="Google Shape;544;p10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41" name="Google Shape;545;p10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42" name="Google Shape;546;p10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43" name="Google Shape;547;p10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44" name="Google Shape;548;p10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45" name="Google Shape;549;p10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46" name="Google Shape;550;p10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47" name="Google Shape;551;p10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48" name="Google Shape;552;p10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49" name="Google Shape;553;p10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50" name="Google Shape;554;p10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51" name="Google Shape;555;p10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52" name="Google Shape;556;p10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53" name="Google Shape;557;p10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54" name="Google Shape;558;p10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55" name="Google Shape;559;p10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56" name="Google Shape;560;p10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57" name="Google Shape;561;p10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58" name="Google Shape;562;p10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59" name="Google Shape;563;p10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60" name="Google Shape;564;p10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61" name="Google Shape;565;p10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sp>
        <p:nvSpPr>
          <p:cNvPr id="7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191795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6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Google Shape;567;p103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770" name="Google Shape;568;p10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71" name="Google Shape;569;p10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72" name="Google Shape;570;p10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73" name="Google Shape;571;p10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74" name="Google Shape;572;p10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75" name="Google Shape;573;p10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76" name="Google Shape;574;p10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77" name="Google Shape;575;p10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78" name="Google Shape;576;p10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79" name="Google Shape;577;p10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80" name="Google Shape;578;p10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81" name="Google Shape;579;p10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82" name="Google Shape;580;p10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83" name="Google Shape;581;p10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84" name="Google Shape;582;p10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85" name="Google Shape;583;p10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86" name="Google Shape;584;p10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87" name="Google Shape;585;p10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88" name="Google Shape;586;p10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89" name="Google Shape;587;p10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90" name="Google Shape;588;p10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91" name="Google Shape;589;p10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92" name="Google Shape;590;p10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93" name="Google Shape;591;p10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794" name="Google Shape;592;p10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pic>
        <p:nvPicPr>
          <p:cNvPr id="796" name="Google Shape;593;p103" descr="Google Shape;593;p10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797" name="Google Shape;594;p103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7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497379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596;p104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805" name="Google Shape;597;p104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06" name="Google Shape;598;p104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07" name="Google Shape;599;p104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08" name="Google Shape;600;p104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09" name="Google Shape;601;p104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10" name="Google Shape;602;p104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11" name="Google Shape;603;p104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12" name="Google Shape;604;p104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13" name="Google Shape;605;p104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14" name="Google Shape;606;p104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15" name="Google Shape;607;p104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16" name="Google Shape;608;p104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17" name="Google Shape;609;p104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18" name="Google Shape;610;p104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19" name="Google Shape;611;p104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20" name="Google Shape;612;p104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21" name="Google Shape;613;p104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22" name="Google Shape;614;p104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23" name="Google Shape;615;p104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24" name="Google Shape;616;p104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25" name="Google Shape;617;p104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26" name="Google Shape;618;p104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27" name="Google Shape;619;p104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28" name="Google Shape;620;p104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29" name="Google Shape;621;p104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sp>
        <p:nvSpPr>
          <p:cNvPr id="831" name="Google Shape;622;p104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pic>
        <p:nvPicPr>
          <p:cNvPr id="832" name="Google Shape;623;p104" descr="Google Shape;623;p10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8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5406898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5" name="Google Shape;625;p105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840" name="Google Shape;626;p10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41" name="Google Shape;627;p10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42" name="Google Shape;628;p10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43" name="Google Shape;629;p10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44" name="Google Shape;630;p10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45" name="Google Shape;631;p10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46" name="Google Shape;632;p10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47" name="Google Shape;633;p10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48" name="Google Shape;634;p10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49" name="Google Shape;635;p10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50" name="Google Shape;636;p10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51" name="Google Shape;637;p10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52" name="Google Shape;638;p10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53" name="Google Shape;639;p10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54" name="Google Shape;640;p10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55" name="Google Shape;641;p10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56" name="Google Shape;642;p10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57" name="Google Shape;643;p10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58" name="Google Shape;644;p10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59" name="Google Shape;645;p10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60" name="Google Shape;646;p10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61" name="Google Shape;647;p10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62" name="Google Shape;648;p10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63" name="Google Shape;649;p10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64" name="Google Shape;650;p10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sp>
        <p:nvSpPr>
          <p:cNvPr id="866" name="Google Shape;651;p105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pic>
        <p:nvPicPr>
          <p:cNvPr id="867" name="Google Shape;652;p105" descr="Google Shape;652;p10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8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5251506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Google Shape;654;p106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875" name="Google Shape;655;p10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76" name="Google Shape;656;p10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77" name="Google Shape;657;p10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78" name="Google Shape;658;p10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79" name="Google Shape;659;p10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80" name="Google Shape;660;p10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81" name="Google Shape;661;p10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82" name="Google Shape;662;p10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83" name="Google Shape;663;p10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84" name="Google Shape;664;p10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85" name="Google Shape;665;p10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86" name="Google Shape;666;p10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87" name="Google Shape;667;p10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88" name="Google Shape;668;p10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89" name="Google Shape;669;p10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90" name="Google Shape;670;p10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91" name="Google Shape;671;p10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92" name="Google Shape;672;p10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93" name="Google Shape;673;p10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94" name="Google Shape;674;p10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95" name="Google Shape;675;p10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96" name="Google Shape;676;p10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97" name="Google Shape;677;p10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98" name="Google Shape;678;p10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899" name="Google Shape;679;p10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sp>
        <p:nvSpPr>
          <p:cNvPr id="901" name="Google Shape;680;p106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pic>
        <p:nvPicPr>
          <p:cNvPr id="902" name="Google Shape;681;p106" descr="Google Shape;681;p10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4216667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9" name="Google Shape;713;p20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944" name="Google Shape;714;p2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45" name="Google Shape;715;p2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46" name="Google Shape;716;p2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47" name="Google Shape;717;p2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48" name="Google Shape;718;p2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49" name="Google Shape;719;p2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50" name="Google Shape;720;p2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51" name="Google Shape;721;p2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52" name="Google Shape;722;p2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53" name="Google Shape;723;p2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54" name="Google Shape;724;p2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55" name="Google Shape;725;p2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56" name="Google Shape;726;p2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57" name="Google Shape;727;p2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58" name="Google Shape;728;p2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59" name="Google Shape;729;p2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60" name="Google Shape;730;p2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61" name="Google Shape;731;p2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62" name="Google Shape;732;p2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63" name="Google Shape;733;p2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64" name="Google Shape;734;p2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65" name="Google Shape;735;p2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66" name="Google Shape;736;p2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67" name="Google Shape;737;p2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68" name="Google Shape;738;p2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pic>
        <p:nvPicPr>
          <p:cNvPr id="970" name="Google Shape;739;p20" descr="Google Shape;739;p2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71" name="Google Shape;740;p20"/>
          <p:cNvSpPr/>
          <p:nvPr/>
        </p:nvSpPr>
        <p:spPr>
          <a:xfrm>
            <a:off x="339307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972" name="Google Shape;741;p20"/>
          <p:cNvSpPr/>
          <p:nvPr/>
        </p:nvSpPr>
        <p:spPr>
          <a:xfrm rot="10800000" flipH="1">
            <a:off x="1031768" y="6132116"/>
            <a:ext cx="3600003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800"/>
          </a:p>
        </p:txBody>
      </p:sp>
      <p:sp>
        <p:nvSpPr>
          <p:cNvPr id="9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4317240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5" name="Google Shape;743;p21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980" name="Google Shape;744;p2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81" name="Google Shape;745;p2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82" name="Google Shape;746;p2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83" name="Google Shape;747;p2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84" name="Google Shape;748;p2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85" name="Google Shape;749;p2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86" name="Google Shape;750;p2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87" name="Google Shape;751;p2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88" name="Google Shape;752;p2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89" name="Google Shape;753;p2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90" name="Google Shape;754;p2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91" name="Google Shape;755;p2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92" name="Google Shape;756;p2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93" name="Google Shape;757;p2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94" name="Google Shape;758;p2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95" name="Google Shape;759;p2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96" name="Google Shape;760;p2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97" name="Google Shape;761;p2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98" name="Google Shape;762;p2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999" name="Google Shape;763;p2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00" name="Google Shape;764;p2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01" name="Google Shape;765;p2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02" name="Google Shape;766;p2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03" name="Google Shape;767;p2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04" name="Google Shape;768;p2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pic>
        <p:nvPicPr>
          <p:cNvPr id="1006" name="Google Shape;769;p21" descr="Google Shape;769;p2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007" name="Google Shape;770;p21"/>
          <p:cNvSpPr/>
          <p:nvPr/>
        </p:nvSpPr>
        <p:spPr>
          <a:xfrm rot="10800000" flipH="1">
            <a:off x="1031768" y="6132116"/>
            <a:ext cx="3600003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1008" name="Google Shape;771;p21"/>
          <p:cNvSpPr/>
          <p:nvPr/>
        </p:nvSpPr>
        <p:spPr>
          <a:xfrm>
            <a:off x="339307" y="1155940"/>
            <a:ext cx="5250611" cy="667109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10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8158956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1" name="Google Shape;773;p81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016" name="Google Shape;774;p8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17" name="Google Shape;775;p8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18" name="Google Shape;776;p8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19" name="Google Shape;777;p8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20" name="Google Shape;778;p8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21" name="Google Shape;779;p8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22" name="Google Shape;780;p8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23" name="Google Shape;781;p8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24" name="Google Shape;782;p8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25" name="Google Shape;783;p8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26" name="Google Shape;784;p8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27" name="Google Shape;785;p8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28" name="Google Shape;786;p8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29" name="Google Shape;787;p8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30" name="Google Shape;788;p8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31" name="Google Shape;789;p8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32" name="Google Shape;790;p8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33" name="Google Shape;791;p8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34" name="Google Shape;792;p8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35" name="Google Shape;793;p8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36" name="Google Shape;794;p8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37" name="Google Shape;795;p8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38" name="Google Shape;796;p8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39" name="Google Shape;797;p8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40" name="Google Shape;798;p8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pic>
        <p:nvPicPr>
          <p:cNvPr id="1042" name="Google Shape;799;p81" descr="Google Shape;799;p8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0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0754786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" name="Google Shape;801;p82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050" name="Google Shape;802;p8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51" name="Google Shape;803;p8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52" name="Google Shape;804;p8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53" name="Google Shape;805;p8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54" name="Google Shape;806;p8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55" name="Google Shape;807;p8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56" name="Google Shape;808;p8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57" name="Google Shape;809;p8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58" name="Google Shape;810;p8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59" name="Google Shape;811;p8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60" name="Google Shape;812;p8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61" name="Google Shape;813;p8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62" name="Google Shape;814;p8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63" name="Google Shape;815;p8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64" name="Google Shape;816;p8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65" name="Google Shape;817;p8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66" name="Google Shape;818;p8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67" name="Google Shape;819;p8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68" name="Google Shape;820;p8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69" name="Google Shape;821;p8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70" name="Google Shape;822;p8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71" name="Google Shape;823;p8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72" name="Google Shape;824;p8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73" name="Google Shape;825;p8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074" name="Google Shape;826;p8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pic>
        <p:nvPicPr>
          <p:cNvPr id="1076" name="Google Shape;827;p82" descr="Google Shape;827;p8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0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5351878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829;p83"/>
          <p:cNvSpPr/>
          <p:nvPr/>
        </p:nvSpPr>
        <p:spPr>
          <a:xfrm flipH="1">
            <a:off x="1" y="0"/>
            <a:ext cx="7481977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1085" name="Google Shape;830;p83"/>
          <p:cNvSpPr/>
          <p:nvPr/>
        </p:nvSpPr>
        <p:spPr>
          <a:xfrm rot="10800000" flipH="1">
            <a:off x="1031768" y="6132116"/>
            <a:ext cx="3600003" cy="18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1086" name="Google Shape;831;p83"/>
          <p:cNvSpPr/>
          <p:nvPr/>
        </p:nvSpPr>
        <p:spPr>
          <a:xfrm>
            <a:off x="339307" y="1155940"/>
            <a:ext cx="5250611" cy="66710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10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5063937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9095726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834;p24" descr="Google Shape;834;p2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152440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8_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oogle Shape;867;p25"/>
          <p:cNvGrpSpPr/>
          <p:nvPr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1146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47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48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49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50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51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52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53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54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55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56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57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58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59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60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61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62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63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64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65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66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67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68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69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70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pic>
        <p:nvPicPr>
          <p:cNvPr id="1172" name="Google Shape;893;p25" descr="Google Shape;893;p2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4" y="5296898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1173" name="Google Shape;894;p25"/>
          <p:cNvSpPr/>
          <p:nvPr/>
        </p:nvSpPr>
        <p:spPr>
          <a:xfrm>
            <a:off x="674914" y="1463039"/>
            <a:ext cx="10927807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1174" name="Google Shape;895;p25"/>
          <p:cNvSpPr/>
          <p:nvPr/>
        </p:nvSpPr>
        <p:spPr>
          <a:xfrm>
            <a:off x="149397" y="150443"/>
            <a:ext cx="2175679" cy="360032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11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5254701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Slide de Título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897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grpSp>
        <p:nvGrpSpPr>
          <p:cNvPr id="1208" name="Google Shape;898;p28"/>
          <p:cNvGrpSpPr/>
          <p:nvPr/>
        </p:nvGrpSpPr>
        <p:grpSpPr>
          <a:xfrm>
            <a:off x="1" y="4145281"/>
            <a:ext cx="4402015" cy="1076961"/>
            <a:chOff x="0" y="0"/>
            <a:chExt cx="4402013" cy="1076959"/>
          </a:xfrm>
        </p:grpSpPr>
        <p:sp>
          <p:nvSpPr>
            <p:cNvPr id="1183" name="Google Shape;899;p28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84" name="Google Shape;900;p28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85" name="Google Shape;901;p28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86" name="Google Shape;902;p28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87" name="Google Shape;903;p28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88" name="Google Shape;904;p28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89" name="Google Shape;905;p28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90" name="Google Shape;906;p28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91" name="Google Shape;907;p28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92" name="Google Shape;908;p28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93" name="Google Shape;909;p28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94" name="Google Shape;910;p28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95" name="Google Shape;911;p28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96" name="Google Shape;912;p28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97" name="Google Shape;913;p28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98" name="Google Shape;914;p28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199" name="Google Shape;915;p28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00" name="Google Shape;916;p28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01" name="Google Shape;917;p28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02" name="Google Shape;918;p28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03" name="Google Shape;919;p28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04" name="Google Shape;920;p28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05" name="Google Shape;921;p28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06" name="Google Shape;922;p28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07" name="Google Shape;923;p28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sp>
        <p:nvSpPr>
          <p:cNvPr id="12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4629069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6" name="Google Shape;925;p29" descr="Google Shape;925;p2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2334132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4" name="Google Shape;927;p30" descr="Google Shape;927;p3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0656228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5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2" name="Google Shape;929;p31" descr="Google Shape;929;p3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8138214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6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931;p32" descr="Google Shape;931;p3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3293705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Google Shape;933;p33" descr="Google Shape;933;p3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89165665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8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Google Shape;935;p34" descr="Google Shape;935;p3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3642904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_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5620569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4869965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3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3" name="Google Shape;939;p35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278" name="Google Shape;940;p3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79" name="Google Shape;941;p3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80" name="Google Shape;942;p3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81" name="Google Shape;943;p3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82" name="Google Shape;944;p3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83" name="Google Shape;945;p3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84" name="Google Shape;946;p3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85" name="Google Shape;947;p3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86" name="Google Shape;948;p3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87" name="Google Shape;949;p3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88" name="Google Shape;950;p3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89" name="Google Shape;951;p3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90" name="Google Shape;952;p3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91" name="Google Shape;953;p3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92" name="Google Shape;954;p3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93" name="Google Shape;955;p3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94" name="Google Shape;956;p3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95" name="Google Shape;957;p3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96" name="Google Shape;958;p3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97" name="Google Shape;959;p3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98" name="Google Shape;960;p3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299" name="Google Shape;961;p3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00" name="Google Shape;962;p3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01" name="Google Shape;963;p3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02" name="Google Shape;964;p3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pic>
        <p:nvPicPr>
          <p:cNvPr id="1304" name="Google Shape;965;p35" descr="Google Shape;965;p3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305" name="Google Shape;966;p35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13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8282229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4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968;p36" descr="Google Shape;968;p3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314" name="Google Shape;969;p36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grpSp>
        <p:nvGrpSpPr>
          <p:cNvPr id="1340" name="Google Shape;970;p36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315" name="Google Shape;971;p3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16" name="Google Shape;972;p3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17" name="Google Shape;973;p3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18" name="Google Shape;974;p3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19" name="Google Shape;975;p3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20" name="Google Shape;976;p3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21" name="Google Shape;977;p3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22" name="Google Shape;978;p3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23" name="Google Shape;979;p3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24" name="Google Shape;980;p3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25" name="Google Shape;981;p3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26" name="Google Shape;982;p3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27" name="Google Shape;983;p3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28" name="Google Shape;984;p3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29" name="Google Shape;985;p3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30" name="Google Shape;986;p3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31" name="Google Shape;987;p3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32" name="Google Shape;988;p3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33" name="Google Shape;989;p3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34" name="Google Shape;990;p3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35" name="Google Shape;991;p3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36" name="Google Shape;992;p3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37" name="Google Shape;993;p3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38" name="Google Shape;994;p3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39" name="Google Shape;995;p3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sp>
        <p:nvSpPr>
          <p:cNvPr id="13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1275536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5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" name="Google Shape;997;p37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348" name="Google Shape;998;p37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49" name="Google Shape;999;p37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50" name="Google Shape;1000;p37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51" name="Google Shape;1001;p37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52" name="Google Shape;1002;p37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53" name="Google Shape;1003;p37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54" name="Google Shape;1004;p37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55" name="Google Shape;1005;p37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56" name="Google Shape;1006;p37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57" name="Google Shape;1007;p37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58" name="Google Shape;1008;p37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59" name="Google Shape;1009;p37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60" name="Google Shape;1010;p37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61" name="Google Shape;1011;p37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62" name="Google Shape;1012;p37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63" name="Google Shape;1013;p37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64" name="Google Shape;1014;p37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65" name="Google Shape;1015;p37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66" name="Google Shape;1016;p37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67" name="Google Shape;1017;p37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68" name="Google Shape;1018;p37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69" name="Google Shape;1019;p37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70" name="Google Shape;1020;p37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71" name="Google Shape;1021;p37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72" name="Google Shape;1022;p37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pic>
        <p:nvPicPr>
          <p:cNvPr id="1374" name="Google Shape;1023;p37" descr="Google Shape;1023;p3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375" name="Google Shape;1024;p37"/>
          <p:cNvSpPr/>
          <p:nvPr/>
        </p:nvSpPr>
        <p:spPr>
          <a:xfrm>
            <a:off x="1178560" y="4356100"/>
            <a:ext cx="2621275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13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2645613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6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8" name="Google Shape;1026;p38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383" name="Google Shape;1027;p38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84" name="Google Shape;1028;p38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85" name="Google Shape;1029;p38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86" name="Google Shape;1030;p38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87" name="Google Shape;1031;p38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88" name="Google Shape;1032;p38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89" name="Google Shape;1033;p38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90" name="Google Shape;1034;p38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91" name="Google Shape;1035;p38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92" name="Google Shape;1036;p38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93" name="Google Shape;1037;p38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94" name="Google Shape;1038;p38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95" name="Google Shape;1039;p38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96" name="Google Shape;1040;p38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97" name="Google Shape;1041;p38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98" name="Google Shape;1042;p38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399" name="Google Shape;1043;p38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00" name="Google Shape;1044;p38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01" name="Google Shape;1045;p38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02" name="Google Shape;1046;p38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03" name="Google Shape;1047;p38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04" name="Google Shape;1048;p38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05" name="Google Shape;1049;p38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06" name="Google Shape;1050;p38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07" name="Google Shape;1051;p38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pic>
        <p:nvPicPr>
          <p:cNvPr id="1409" name="Google Shape;1052;p38" descr="Google Shape;1052;p3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410" name="Google Shape;1053;p38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14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6768415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055;p40" descr="Google Shape;1055;p4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44" name="Google Shape;1056;p40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419" name="Google Shape;1057;p4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20" name="Google Shape;1058;p4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21" name="Google Shape;1059;p4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22" name="Google Shape;1060;p4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23" name="Google Shape;1061;p4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24" name="Google Shape;1062;p4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25" name="Google Shape;1063;p4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26" name="Google Shape;1064;p4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27" name="Google Shape;1065;p4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28" name="Google Shape;1066;p4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29" name="Google Shape;1067;p4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30" name="Google Shape;1068;p4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31" name="Google Shape;1069;p4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32" name="Google Shape;1070;p4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33" name="Google Shape;1071;p4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34" name="Google Shape;1072;p4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35" name="Google Shape;1073;p4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36" name="Google Shape;1074;p4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37" name="Google Shape;1075;p4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38" name="Google Shape;1076;p4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39" name="Google Shape;1077;p4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40" name="Google Shape;1078;p4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41" name="Google Shape;1079;p4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42" name="Google Shape;1080;p4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43" name="Google Shape;1081;p4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sp>
        <p:nvSpPr>
          <p:cNvPr id="1445" name="Google Shape;1082;p40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14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5111616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084;p42"/>
          <p:cNvGrpSpPr/>
          <p:nvPr/>
        </p:nvGrpSpPr>
        <p:grpSpPr>
          <a:xfrm>
            <a:off x="8797291" y="6001216"/>
            <a:ext cx="3081581" cy="753915"/>
            <a:chOff x="0" y="0"/>
            <a:chExt cx="3081580" cy="753914"/>
          </a:xfrm>
        </p:grpSpPr>
        <p:sp>
          <p:nvSpPr>
            <p:cNvPr id="1453" name="Google Shape;1085;p4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54" name="Google Shape;1086;p4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55" name="Google Shape;1087;p4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56" name="Google Shape;1088;p4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57" name="Google Shape;1089;p4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58" name="Google Shape;1090;p4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59" name="Google Shape;1091;p4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60" name="Google Shape;1092;p4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61" name="Google Shape;1093;p4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62" name="Google Shape;1094;p4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63" name="Google Shape;1095;p4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64" name="Google Shape;1096;p4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65" name="Google Shape;1097;p4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66" name="Google Shape;1098;p4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67" name="Google Shape;1099;p4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68" name="Google Shape;1100;p4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69" name="Google Shape;1101;p4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70" name="Google Shape;1102;p4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71" name="Google Shape;1103;p4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72" name="Google Shape;1104;p4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73" name="Google Shape;1105;p4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74" name="Google Shape;1106;p4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75" name="Google Shape;1107;p4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76" name="Google Shape;1108;p4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  <p:sp>
          <p:nvSpPr>
            <p:cNvPr id="1477" name="Google Shape;1109;p4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800"/>
            </a:p>
          </p:txBody>
        </p:sp>
      </p:grpSp>
      <p:pic>
        <p:nvPicPr>
          <p:cNvPr id="1479" name="Google Shape;1110;p42" descr="Google Shape;1110;p4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7" y="919308"/>
            <a:ext cx="4684107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480" name="Google Shape;1111;p42"/>
          <p:cNvSpPr/>
          <p:nvPr/>
        </p:nvSpPr>
        <p:spPr>
          <a:xfrm>
            <a:off x="1178560" y="4275588"/>
            <a:ext cx="2621275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800"/>
          </a:p>
        </p:txBody>
      </p:sp>
      <p:sp>
        <p:nvSpPr>
          <p:cNvPr id="14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918796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113;p43" descr="Google Shape;1113;p4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4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5401373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6" name="Google Shape;1115;p44" descr="Google Shape;1115;p4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4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5192406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4" name="Google Shape;1117;p45" descr="Google Shape;1117;p4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5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1653211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2" name="Google Shape;1119;p46" descr="Google Shape;1119;p4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5"/>
            <a:ext cx="1121339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5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0085691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6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3946926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2127" y="2119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3" name="Slide do think-cell" r:id="rId4" imgW="360" imgH="360" progId="TCLayout.ActiveDocument.1">
                  <p:embed/>
                </p:oleObj>
              </mc:Choice>
              <mc:Fallback>
                <p:oleObj name="Slide do think-cell" r:id="rId4" imgW="360" imgH="360" progId="TCLayout.ActiveDocument.1">
                  <p:embed/>
                  <p:pic>
                    <p:nvPicPr>
                      <p:cNvPr id="7" name="Object 6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" y="2119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aixaDeTexto 1"/>
          <p:cNvSpPr txBox="1"/>
          <p:nvPr userDrawn="1"/>
        </p:nvSpPr>
        <p:spPr>
          <a:xfrm>
            <a:off x="11455400" y="6572615"/>
            <a:ext cx="720000" cy="2853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 defTabSz="914354"/>
            <a:fld id="{F276089D-944B-4A1E-867F-0936F324BBF0}" type="slidenum">
              <a:rPr lang="pt-BR" sz="1067" smtClean="0">
                <a:solidFill>
                  <a:prstClr val="black"/>
                </a:solidFill>
                <a:latin typeface="Simplon BP Light" pitchFamily="2" charset="0"/>
              </a:rPr>
              <a:pPr algn="r" defTabSz="914354"/>
              <a:t>‹nº›</a:t>
            </a:fld>
            <a:endParaRPr lang="pt-BR" sz="1067" dirty="0">
              <a:solidFill>
                <a:prstClr val="black"/>
              </a:solidFill>
              <a:latin typeface="Simplon BP Light" pitchFamily="2" charset="0"/>
            </a:endParaRPr>
          </a:p>
        </p:txBody>
      </p:sp>
      <p:pic>
        <p:nvPicPr>
          <p:cNvPr id="9" name="myImgFim" descr="http://colaboradoroi.net.br/assinatura/logos/verde_5.png"/>
          <p:cNvPicPr/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2367" y="75260"/>
            <a:ext cx="768000" cy="86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544106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EDD70-1F40-4990-9517-057B459B5E79}" type="datetimeFigureOut">
              <a:rPr lang="pt-BR" smtClean="0"/>
              <a:t>04/02/2026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30603-47EF-4521-BECC-A588EE08DF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42467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5331233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02;p75" descr="Google Shape;202;p7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4754947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7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266;p85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368" name="Google Shape;267;p8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69" name="Google Shape;268;p8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0" name="Google Shape;269;p8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1" name="Google Shape;270;p8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2" name="Google Shape;271;p8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3" name="Google Shape;272;p8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4" name="Google Shape;273;p8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5" name="Google Shape;274;p8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6" name="Google Shape;275;p8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7" name="Google Shape;276;p8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8" name="Google Shape;277;p8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79" name="Google Shape;278;p8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0" name="Google Shape;279;p8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1" name="Google Shape;280;p8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2" name="Google Shape;281;p8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3" name="Google Shape;282;p8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4" name="Google Shape;283;p8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5" name="Google Shape;284;p8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6" name="Google Shape;285;p8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7" name="Google Shape;286;p8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8" name="Google Shape;287;p8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89" name="Google Shape;288;p8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90" name="Google Shape;289;p8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91" name="Google Shape;290;p8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92" name="Google Shape;291;p8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94" name="Google Shape;292;p85" descr="Google Shape;292;p8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95" name="Google Shape;293;p85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396" name="Google Shape;294;p85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4874453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296;p86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404" name="Google Shape;297;p8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05" name="Google Shape;298;p8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06" name="Google Shape;299;p8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07" name="Google Shape;300;p8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08" name="Google Shape;301;p8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09" name="Google Shape;302;p8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0" name="Google Shape;303;p8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1" name="Google Shape;304;p8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2" name="Google Shape;305;p8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3" name="Google Shape;306;p8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4" name="Google Shape;307;p8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5" name="Google Shape;308;p8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6" name="Google Shape;309;p8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7" name="Google Shape;310;p8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8" name="Google Shape;311;p8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19" name="Google Shape;312;p8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0" name="Google Shape;313;p8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1" name="Google Shape;314;p8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2" name="Google Shape;315;p8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3" name="Google Shape;316;p8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4" name="Google Shape;317;p8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5" name="Google Shape;318;p8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6" name="Google Shape;319;p8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7" name="Google Shape;320;p8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28" name="Google Shape;321;p8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30" name="Google Shape;322;p86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31" name="Google Shape;323;p86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432" name="Google Shape;324;p86" descr="Google Shape;324;p8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4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8924722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326;p87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440" name="Google Shape;327;p87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1" name="Google Shape;328;p87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2" name="Google Shape;329;p87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3" name="Google Shape;330;p87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4" name="Google Shape;331;p87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5" name="Google Shape;332;p87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6" name="Google Shape;333;p87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7" name="Google Shape;334;p87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8" name="Google Shape;335;p87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49" name="Google Shape;336;p87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0" name="Google Shape;337;p87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1" name="Google Shape;338;p87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2" name="Google Shape;339;p87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3" name="Google Shape;340;p87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4" name="Google Shape;341;p87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5" name="Google Shape;342;p87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6" name="Google Shape;343;p87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7" name="Google Shape;344;p87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8" name="Google Shape;345;p87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59" name="Google Shape;346;p87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60" name="Google Shape;347;p87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61" name="Google Shape;348;p87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62" name="Google Shape;349;p87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63" name="Google Shape;350;p87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464" name="Google Shape;351;p87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466" name="Google Shape;352;p87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67" name="Google Shape;353;p87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468" name="Google Shape;354;p87" descr="Google Shape;354;p8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1892513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1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5" name="Google Shape;384;p89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510" name="Google Shape;385;p89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1" name="Google Shape;386;p89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2" name="Google Shape;387;p89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3" name="Google Shape;388;p89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4" name="Google Shape;389;p89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5" name="Google Shape;390;p89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6" name="Google Shape;391;p89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7" name="Google Shape;392;p89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8" name="Google Shape;393;p89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19" name="Google Shape;394;p89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0" name="Google Shape;395;p89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1" name="Google Shape;396;p89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2" name="Google Shape;397;p89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3" name="Google Shape;398;p89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4" name="Google Shape;399;p89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5" name="Google Shape;400;p89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6" name="Google Shape;401;p89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7" name="Google Shape;402;p89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8" name="Google Shape;403;p89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29" name="Google Shape;404;p89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30" name="Google Shape;405;p89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31" name="Google Shape;406;p89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32" name="Google Shape;407;p89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33" name="Google Shape;408;p89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34" name="Google Shape;409;p89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536" name="Google Shape;410;p89" descr="Google Shape;410;p8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5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5304321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412;p90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544" name="Google Shape;413;p9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45" name="Google Shape;414;p9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46" name="Google Shape;415;p9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47" name="Google Shape;416;p9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48" name="Google Shape;417;p9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49" name="Google Shape;418;p9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0" name="Google Shape;419;p9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1" name="Google Shape;420;p9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2" name="Google Shape;421;p9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3" name="Google Shape;422;p9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4" name="Google Shape;423;p9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5" name="Google Shape;424;p9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6" name="Google Shape;425;p9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7" name="Google Shape;426;p9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8" name="Google Shape;427;p9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59" name="Google Shape;428;p9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0" name="Google Shape;429;p9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1" name="Google Shape;430;p9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2" name="Google Shape;431;p9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3" name="Google Shape;432;p9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4" name="Google Shape;433;p9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5" name="Google Shape;434;p9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6" name="Google Shape;435;p9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7" name="Google Shape;436;p9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68" name="Google Shape;437;p9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570" name="Google Shape;438;p90" descr="Google Shape;438;p9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5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375079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440;p91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578" name="Google Shape;441;p9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79" name="Google Shape;442;p9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0" name="Google Shape;443;p9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1" name="Google Shape;444;p9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2" name="Google Shape;445;p9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3" name="Google Shape;446;p9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4" name="Google Shape;447;p9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5" name="Google Shape;448;p9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6" name="Google Shape;449;p9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7" name="Google Shape;450;p9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8" name="Google Shape;451;p9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89" name="Google Shape;452;p9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0" name="Google Shape;453;p9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1" name="Google Shape;454;p9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2" name="Google Shape;455;p9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3" name="Google Shape;456;p9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4" name="Google Shape;457;p9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5" name="Google Shape;458;p9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6" name="Google Shape;459;p9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7" name="Google Shape;460;p9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8" name="Google Shape;461;p9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599" name="Google Shape;462;p9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00" name="Google Shape;463;p9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01" name="Google Shape;464;p9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02" name="Google Shape;465;p9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604" name="Google Shape;466;p91" descr="Google Shape;466;p9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6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7271769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8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369584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5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0612837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470;p95" descr="Google Shape;470;p9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764810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472;p96" descr="Google Shape;472;p9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2127644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474;p97" descr="Google Shape;474;p9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0165199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476;p9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676" name="Google Shape;477;p98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651" name="Google Shape;478;p98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2" name="Google Shape;479;p98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3" name="Google Shape;480;p98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4" name="Google Shape;481;p98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5" name="Google Shape;482;p98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6" name="Google Shape;483;p98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7" name="Google Shape;484;p98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8" name="Google Shape;485;p98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9" name="Google Shape;486;p98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0" name="Google Shape;487;p98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1" name="Google Shape;488;p98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2" name="Google Shape;489;p98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3" name="Google Shape;490;p98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4" name="Google Shape;491;p98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5" name="Google Shape;492;p98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6" name="Google Shape;493;p98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7" name="Google Shape;494;p98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8" name="Google Shape;495;p98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9" name="Google Shape;496;p98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0" name="Google Shape;497;p98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1" name="Google Shape;498;p98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2" name="Google Shape;499;p98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3" name="Google Shape;500;p98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4" name="Google Shape;501;p98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5" name="Google Shape;502;p98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6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169504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0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505;p99" descr="Google Shape;505;p9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5695756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2" name="Google Shape;507;p100" descr="Google Shape;507;p10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6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3081337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4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oogle Shape;509;p101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700" name="Google Shape;510;p10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1" name="Google Shape;511;p10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2" name="Google Shape;512;p10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3" name="Google Shape;513;p10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4" name="Google Shape;514;p10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5" name="Google Shape;515;p10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6" name="Google Shape;516;p10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7" name="Google Shape;517;p10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8" name="Google Shape;518;p10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9" name="Google Shape;519;p10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0" name="Google Shape;520;p10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1" name="Google Shape;521;p10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2" name="Google Shape;522;p10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3" name="Google Shape;523;p10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4" name="Google Shape;524;p10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5" name="Google Shape;525;p10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6" name="Google Shape;526;p10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7" name="Google Shape;527;p10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8" name="Google Shape;528;p10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9" name="Google Shape;529;p10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0" name="Google Shape;530;p10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1" name="Google Shape;531;p10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2" name="Google Shape;532;p10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3" name="Google Shape;533;p10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4" name="Google Shape;534;p10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726" name="Google Shape;535;p101" descr="Google Shape;535;p10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727" name="Google Shape;536;p101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0674057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5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538;p102" descr="Google Shape;538;p10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736" name="Google Shape;539;p102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762" name="Google Shape;540;p102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737" name="Google Shape;541;p10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8" name="Google Shape;542;p10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9" name="Google Shape;543;p10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0" name="Google Shape;544;p10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1" name="Google Shape;545;p10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2" name="Google Shape;546;p10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3" name="Google Shape;547;p10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4" name="Google Shape;548;p10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5" name="Google Shape;549;p10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6" name="Google Shape;550;p10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7" name="Google Shape;551;p10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8" name="Google Shape;552;p10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9" name="Google Shape;553;p10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0" name="Google Shape;554;p10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1" name="Google Shape;555;p10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2" name="Google Shape;556;p10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3" name="Google Shape;557;p10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4" name="Google Shape;558;p10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5" name="Google Shape;559;p10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6" name="Google Shape;560;p10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7" name="Google Shape;561;p10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8" name="Google Shape;562;p10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9" name="Google Shape;563;p10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0" name="Google Shape;564;p10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1" name="Google Shape;565;p10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7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8460613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6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5" name="Google Shape;567;p10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770" name="Google Shape;568;p10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1" name="Google Shape;569;p10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2" name="Google Shape;570;p10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3" name="Google Shape;571;p10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4" name="Google Shape;572;p10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5" name="Google Shape;573;p10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6" name="Google Shape;574;p10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7" name="Google Shape;575;p10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8" name="Google Shape;576;p10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9" name="Google Shape;577;p10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0" name="Google Shape;578;p10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1" name="Google Shape;579;p10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2" name="Google Shape;580;p10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3" name="Google Shape;581;p10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4" name="Google Shape;582;p10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5" name="Google Shape;583;p10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6" name="Google Shape;584;p10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7" name="Google Shape;585;p10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8" name="Google Shape;586;p10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9" name="Google Shape;587;p10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0" name="Google Shape;588;p10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1" name="Google Shape;589;p10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2" name="Google Shape;590;p10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3" name="Google Shape;591;p10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4" name="Google Shape;592;p10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796" name="Google Shape;593;p103" descr="Google Shape;593;p10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797" name="Google Shape;594;p103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2497067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596;p104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805" name="Google Shape;597;p104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6" name="Google Shape;598;p104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7" name="Google Shape;599;p104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8" name="Google Shape;600;p104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9" name="Google Shape;601;p104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0" name="Google Shape;602;p104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1" name="Google Shape;603;p104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2" name="Google Shape;604;p104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3" name="Google Shape;605;p104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4" name="Google Shape;606;p104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5" name="Google Shape;607;p104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6" name="Google Shape;608;p104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7" name="Google Shape;609;p104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8" name="Google Shape;610;p104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9" name="Google Shape;611;p104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0" name="Google Shape;612;p104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1" name="Google Shape;613;p104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2" name="Google Shape;614;p104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3" name="Google Shape;615;p104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4" name="Google Shape;616;p104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5" name="Google Shape;617;p104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6" name="Google Shape;618;p104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7" name="Google Shape;619;p104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8" name="Google Shape;620;p104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9" name="Google Shape;621;p104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831" name="Google Shape;622;p104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832" name="Google Shape;623;p104" descr="Google Shape;623;p10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8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3592987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5" name="Google Shape;625;p105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840" name="Google Shape;626;p10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1" name="Google Shape;627;p10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2" name="Google Shape;628;p10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3" name="Google Shape;629;p10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4" name="Google Shape;630;p10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5" name="Google Shape;631;p10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6" name="Google Shape;632;p10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7" name="Google Shape;633;p10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8" name="Google Shape;634;p10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9" name="Google Shape;635;p10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0" name="Google Shape;636;p10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1" name="Google Shape;637;p10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2" name="Google Shape;638;p10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3" name="Google Shape;639;p10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4" name="Google Shape;640;p10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5" name="Google Shape;641;p10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6" name="Google Shape;642;p10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7" name="Google Shape;643;p10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8" name="Google Shape;644;p10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9" name="Google Shape;645;p10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0" name="Google Shape;646;p10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1" name="Google Shape;647;p10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2" name="Google Shape;648;p10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3" name="Google Shape;649;p10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4" name="Google Shape;650;p10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866" name="Google Shape;651;p105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867" name="Google Shape;652;p105" descr="Google Shape;652;p10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8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7905032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19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0" name="Google Shape;654;p106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875" name="Google Shape;655;p10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6" name="Google Shape;656;p10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7" name="Google Shape;657;p10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8" name="Google Shape;658;p10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9" name="Google Shape;659;p10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0" name="Google Shape;660;p10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1" name="Google Shape;661;p10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2" name="Google Shape;662;p10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3" name="Google Shape;663;p10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4" name="Google Shape;664;p10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5" name="Google Shape;665;p10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6" name="Google Shape;666;p10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7" name="Google Shape;667;p10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8" name="Google Shape;668;p10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9" name="Google Shape;669;p10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0" name="Google Shape;670;p10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1" name="Google Shape;671;p10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2" name="Google Shape;672;p10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3" name="Google Shape;673;p10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4" name="Google Shape;674;p10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5" name="Google Shape;675;p10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6" name="Google Shape;676;p10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7" name="Google Shape;677;p10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8" name="Google Shape;678;p10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99" name="Google Shape;679;p10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901" name="Google Shape;680;p106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902" name="Google Shape;681;p106" descr="Google Shape;681;p10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9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9954504"/>
      </p:ext>
    </p:extLst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9" name="Google Shape;713;p20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944" name="Google Shape;714;p2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45" name="Google Shape;715;p2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46" name="Google Shape;716;p2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47" name="Google Shape;717;p2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48" name="Google Shape;718;p2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49" name="Google Shape;719;p2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0" name="Google Shape;720;p2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1" name="Google Shape;721;p2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2" name="Google Shape;722;p2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3" name="Google Shape;723;p2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4" name="Google Shape;724;p2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5" name="Google Shape;725;p2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6" name="Google Shape;726;p2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7" name="Google Shape;727;p2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8" name="Google Shape;728;p2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59" name="Google Shape;729;p2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0" name="Google Shape;730;p2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1" name="Google Shape;731;p2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2" name="Google Shape;732;p2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3" name="Google Shape;733;p2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4" name="Google Shape;734;p2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5" name="Google Shape;735;p2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6" name="Google Shape;736;p2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7" name="Google Shape;737;p2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68" name="Google Shape;738;p2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70" name="Google Shape;739;p20" descr="Google Shape;739;p2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71" name="Google Shape;740;p20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972" name="Google Shape;741;p20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1563833"/>
      </p:ext>
    </p:extLst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5" name="Google Shape;743;p21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980" name="Google Shape;744;p2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1" name="Google Shape;745;p2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2" name="Google Shape;746;p2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3" name="Google Shape;747;p2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4" name="Google Shape;748;p2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5" name="Google Shape;749;p2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6" name="Google Shape;750;p2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7" name="Google Shape;751;p2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8" name="Google Shape;752;p2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89" name="Google Shape;753;p2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0" name="Google Shape;754;p2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1" name="Google Shape;755;p2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2" name="Google Shape;756;p2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3" name="Google Shape;757;p2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4" name="Google Shape;758;p2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5" name="Google Shape;759;p2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6" name="Google Shape;760;p2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7" name="Google Shape;761;p2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8" name="Google Shape;762;p2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99" name="Google Shape;763;p2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00" name="Google Shape;764;p2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01" name="Google Shape;765;p2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02" name="Google Shape;766;p2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03" name="Google Shape;767;p2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04" name="Google Shape;768;p2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006" name="Google Shape;769;p21" descr="Google Shape;769;p2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007" name="Google Shape;770;p21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008" name="Google Shape;771;p21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0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1760653"/>
      </p:ext>
    </p:extLst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1" name="Google Shape;773;p81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016" name="Google Shape;774;p81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17" name="Google Shape;775;p81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18" name="Google Shape;776;p81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19" name="Google Shape;777;p81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0" name="Google Shape;778;p81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1" name="Google Shape;779;p81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2" name="Google Shape;780;p81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3" name="Google Shape;781;p81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4" name="Google Shape;782;p81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5" name="Google Shape;783;p81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6" name="Google Shape;784;p81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7" name="Google Shape;785;p81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8" name="Google Shape;786;p81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29" name="Google Shape;787;p81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0" name="Google Shape;788;p81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1" name="Google Shape;789;p81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2" name="Google Shape;790;p81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3" name="Google Shape;791;p81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4" name="Google Shape;792;p81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5" name="Google Shape;793;p81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6" name="Google Shape;794;p81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7" name="Google Shape;795;p81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8" name="Google Shape;796;p81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39" name="Google Shape;797;p81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40" name="Google Shape;798;p81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042" name="Google Shape;799;p81" descr="Google Shape;799;p8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0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1541427"/>
      </p:ext>
    </p:extLst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" name="Google Shape;801;p82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050" name="Google Shape;802;p8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1" name="Google Shape;803;p8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2" name="Google Shape;804;p8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3" name="Google Shape;805;p8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4" name="Google Shape;806;p8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5" name="Google Shape;807;p8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6" name="Google Shape;808;p8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7" name="Google Shape;809;p8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8" name="Google Shape;810;p8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59" name="Google Shape;811;p8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0" name="Google Shape;812;p8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1" name="Google Shape;813;p8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2" name="Google Shape;814;p8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3" name="Google Shape;815;p8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4" name="Google Shape;816;p8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5" name="Google Shape;817;p8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6" name="Google Shape;818;p8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7" name="Google Shape;819;p8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8" name="Google Shape;820;p8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69" name="Google Shape;821;p8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70" name="Google Shape;822;p8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71" name="Google Shape;823;p8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72" name="Google Shape;824;p8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73" name="Google Shape;825;p8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74" name="Google Shape;826;p8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076" name="Google Shape;827;p82" descr="Google Shape;827;p8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10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3850431"/>
      </p:ext>
    </p:extLst>
  </p:cSld>
  <p:clrMapOvr>
    <a:masterClrMapping/>
  </p:clrMapOvr>
  <p:transition spd="med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829;p83"/>
          <p:cNvSpPr/>
          <p:nvPr/>
        </p:nvSpPr>
        <p:spPr>
          <a:xfrm flipH="1">
            <a:off x="0" y="0"/>
            <a:ext cx="7481977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085" name="Google Shape;830;p8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086" name="Google Shape;831;p8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0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5697042"/>
      </p:ext>
    </p:extLst>
  </p:cSld>
  <p:clrMapOvr>
    <a:masterClrMapping/>
  </p:clrMapOvr>
  <p:transition spd="med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8780468"/>
      </p:ext>
    </p:extLst>
  </p:cSld>
  <p:clrMapOvr>
    <a:masterClrMapping/>
  </p:clrMapOvr>
  <p:transition spd="med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1" name="Google Shape;834;p24" descr="Google Shape;834;p2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1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2631844"/>
      </p:ext>
    </p:extLst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7_Slide de Título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9" name="Google Shape;836;p122" descr="Google Shape;836;p12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07416" y="226692"/>
            <a:ext cx="1216567" cy="20753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35" name="Google Shape;837;p122"/>
          <p:cNvGrpSpPr/>
          <p:nvPr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1110" name="Google Shape;838;p12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1" name="Google Shape;839;p12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2" name="Google Shape;840;p12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3" name="Google Shape;841;p12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4" name="Google Shape;842;p12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5" name="Google Shape;843;p12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6" name="Google Shape;844;p12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7" name="Google Shape;845;p12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8" name="Google Shape;846;p12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19" name="Google Shape;847;p12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0" name="Google Shape;848;p12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1" name="Google Shape;849;p12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2" name="Google Shape;850;p12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3" name="Google Shape;851;p12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4" name="Google Shape;852;p12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5" name="Google Shape;853;p12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6" name="Google Shape;854;p12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7" name="Google Shape;855;p12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8" name="Google Shape;856;p12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29" name="Google Shape;857;p12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30" name="Google Shape;858;p12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31" name="Google Shape;859;p12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32" name="Google Shape;860;p12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33" name="Google Shape;861;p12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34" name="Google Shape;862;p12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DBDBD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136" name="Google Shape;863;p122"/>
          <p:cNvSpPr/>
          <p:nvPr/>
        </p:nvSpPr>
        <p:spPr>
          <a:xfrm>
            <a:off x="674913" y="1463039"/>
            <a:ext cx="10927807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137" name="Google Shape;864;p122" descr="Google Shape;864;p122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1138" name="Google Shape;865;p122"/>
          <p:cNvSpPr/>
          <p:nvPr/>
        </p:nvSpPr>
        <p:spPr>
          <a:xfrm>
            <a:off x="149395" y="150442"/>
            <a:ext cx="2175679" cy="360032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13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188544"/>
      </p:ext>
    </p:extLst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8_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oogle Shape;867;p25"/>
          <p:cNvGrpSpPr/>
          <p:nvPr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1146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47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48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49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0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1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2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3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4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5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6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7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8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9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0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1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2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3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4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5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6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7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8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9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70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172" name="Google Shape;893;p25" descr="Google Shape;893;p2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1173" name="Google Shape;894;p25"/>
          <p:cNvSpPr/>
          <p:nvPr/>
        </p:nvSpPr>
        <p:spPr>
          <a:xfrm>
            <a:off x="674913" y="1463039"/>
            <a:ext cx="10927807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174" name="Google Shape;895;p25"/>
          <p:cNvSpPr/>
          <p:nvPr/>
        </p:nvSpPr>
        <p:spPr>
          <a:xfrm>
            <a:off x="149395" y="150442"/>
            <a:ext cx="2175679" cy="360032"/>
          </a:xfrm>
          <a:prstGeom prst="rect">
            <a:avLst/>
          </a:prstGeom>
          <a:solidFill>
            <a:srgbClr val="FFFF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1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209491"/>
      </p:ext>
    </p:extLst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_Slide de Título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897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1208" name="Google Shape;898;p28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1183" name="Google Shape;899;p28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4" name="Google Shape;900;p28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5" name="Google Shape;901;p28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6" name="Google Shape;902;p28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7" name="Google Shape;903;p28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8" name="Google Shape;904;p28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9" name="Google Shape;905;p28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0" name="Google Shape;906;p28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1" name="Google Shape;907;p28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2" name="Google Shape;908;p28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3" name="Google Shape;909;p28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4" name="Google Shape;910;p28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5" name="Google Shape;911;p28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6" name="Google Shape;912;p28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7" name="Google Shape;913;p28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8" name="Google Shape;914;p28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9" name="Google Shape;915;p28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0" name="Google Shape;916;p28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1" name="Google Shape;917;p28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2" name="Google Shape;918;p28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3" name="Google Shape;919;p28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4" name="Google Shape;920;p28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5" name="Google Shape;921;p28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6" name="Google Shape;922;p28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7" name="Google Shape;923;p28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4">
                  <a:lumOff val="13999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2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804290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3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6" name="Google Shape;925;p29" descr="Google Shape;925;p29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0792336"/>
      </p:ext>
    </p:extLst>
  </p:cSld>
  <p:clrMapOvr>
    <a:masterClrMapping/>
  </p:clrMapOvr>
  <p:transition spd="med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4" name="Google Shape;927;p30" descr="Google Shape;927;p3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281708"/>
      </p:ext>
    </p:extLst>
  </p:cSld>
  <p:clrMapOvr>
    <a:masterClrMapping/>
  </p:clrMapOvr>
  <p:transition spd="med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5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2" name="Google Shape;929;p31" descr="Google Shape;929;p3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9069684"/>
      </p:ext>
    </p:extLst>
  </p:cSld>
  <p:clrMapOvr>
    <a:masterClrMapping/>
  </p:clrMapOvr>
  <p:transition spd="med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6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0" name="Google Shape;931;p32" descr="Google Shape;931;p3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3129507"/>
      </p:ext>
    </p:extLst>
  </p:cSld>
  <p:clrMapOvr>
    <a:masterClrMapping/>
  </p:clrMapOvr>
  <p:transition spd="med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Google Shape;933;p33" descr="Google Shape;933;p3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8176345"/>
      </p:ext>
    </p:extLst>
  </p:cSld>
  <p:clrMapOvr>
    <a:masterClrMapping/>
  </p:clrMapOvr>
  <p:transition spd="med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_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8578628"/>
      </p:ext>
    </p:extLst>
  </p:cSld>
  <p:clrMapOvr>
    <a:masterClrMapping/>
  </p:clrMapOvr>
  <p:transition spd="med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9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303338"/>
      </p:ext>
    </p:extLst>
  </p:cSld>
  <p:clrMapOvr>
    <a:masterClrMapping/>
  </p:clrMapOvr>
  <p:transition spd="med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3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3" name="Google Shape;939;p35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278" name="Google Shape;940;p3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79" name="Google Shape;941;p3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0" name="Google Shape;942;p3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1" name="Google Shape;943;p3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2" name="Google Shape;944;p3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3" name="Google Shape;945;p3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4" name="Google Shape;946;p3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5" name="Google Shape;947;p3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6" name="Google Shape;948;p3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7" name="Google Shape;949;p3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8" name="Google Shape;950;p3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89" name="Google Shape;951;p3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0" name="Google Shape;952;p3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1" name="Google Shape;953;p3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2" name="Google Shape;954;p3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3" name="Google Shape;955;p3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4" name="Google Shape;956;p3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5" name="Google Shape;957;p3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6" name="Google Shape;958;p3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7" name="Google Shape;959;p3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8" name="Google Shape;960;p3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99" name="Google Shape;961;p3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00" name="Google Shape;962;p3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01" name="Google Shape;963;p3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02" name="Google Shape;964;p3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304" name="Google Shape;965;p35" descr="Google Shape;965;p3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1305" name="Google Shape;966;p35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30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3741827"/>
      </p:ext>
    </p:extLst>
  </p:cSld>
  <p:clrMapOvr>
    <a:masterClrMapping/>
  </p:clrMapOvr>
  <p:transition spd="med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4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968;p36" descr="Google Shape;968;p3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1314" name="Google Shape;969;p36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1340" name="Google Shape;970;p36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315" name="Google Shape;971;p36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16" name="Google Shape;972;p36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17" name="Google Shape;973;p36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18" name="Google Shape;974;p36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19" name="Google Shape;975;p36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0" name="Google Shape;976;p36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1" name="Google Shape;977;p36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2" name="Google Shape;978;p36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3" name="Google Shape;979;p36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4" name="Google Shape;980;p36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5" name="Google Shape;981;p36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6" name="Google Shape;982;p36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7" name="Google Shape;983;p36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8" name="Google Shape;984;p36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29" name="Google Shape;985;p36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0" name="Google Shape;986;p36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1" name="Google Shape;987;p36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2" name="Google Shape;988;p36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3" name="Google Shape;989;p36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4" name="Google Shape;990;p36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5" name="Google Shape;991;p36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6" name="Google Shape;992;p36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7" name="Google Shape;993;p36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8" name="Google Shape;994;p36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39" name="Google Shape;995;p36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3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9482693"/>
      </p:ext>
    </p:extLst>
  </p:cSld>
  <p:clrMapOvr>
    <a:masterClrMapping/>
  </p:clrMapOvr>
  <p:transition spd="med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5 2"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" name="Google Shape;997;p37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348" name="Google Shape;998;p37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49" name="Google Shape;999;p37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0" name="Google Shape;1000;p37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1" name="Google Shape;1001;p37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2" name="Google Shape;1002;p37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3" name="Google Shape;1003;p37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4" name="Google Shape;1004;p37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5" name="Google Shape;1005;p37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6" name="Google Shape;1006;p37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7" name="Google Shape;1007;p37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8" name="Google Shape;1008;p37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59" name="Google Shape;1009;p37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0" name="Google Shape;1010;p37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1" name="Google Shape;1011;p37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2" name="Google Shape;1012;p37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3" name="Google Shape;1013;p37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4" name="Google Shape;1014;p37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5" name="Google Shape;1015;p37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6" name="Google Shape;1016;p37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7" name="Google Shape;1017;p37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8" name="Google Shape;1018;p37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69" name="Google Shape;1019;p37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70" name="Google Shape;1020;p37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71" name="Google Shape;1021;p37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72" name="Google Shape;1022;p37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374" name="Google Shape;1023;p37" descr="Google Shape;1023;p37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1375" name="Google Shape;1024;p37"/>
          <p:cNvSpPr/>
          <p:nvPr/>
        </p:nvSpPr>
        <p:spPr>
          <a:xfrm>
            <a:off x="1178560" y="4356099"/>
            <a:ext cx="2621274" cy="1955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18054"/>
                </a:lnTo>
                <a:cubicBezTo>
                  <a:pt x="21600" y="20012"/>
                  <a:pt x="21482" y="21600"/>
                  <a:pt x="21335" y="21600"/>
                </a:cubicBezTo>
                <a:lnTo>
                  <a:pt x="265" y="21600"/>
                </a:lnTo>
                <a:cubicBezTo>
                  <a:pt x="118" y="21600"/>
                  <a:pt x="0" y="20012"/>
                  <a:pt x="0" y="18054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ECE425"/>
              </a:gs>
              <a:gs pos="95000">
                <a:srgbClr val="56B14B"/>
              </a:gs>
              <a:gs pos="100000">
                <a:srgbClr val="56B14B"/>
              </a:gs>
            </a:gsLst>
            <a:lin ang="186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3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512257"/>
      </p:ext>
    </p:extLst>
  </p:cSld>
  <p:clrMapOvr>
    <a:masterClrMapping/>
  </p:clrMapOvr>
  <p:transition spd="med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Slide de Título 6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8" name="Google Shape;1026;p38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383" name="Google Shape;1027;p38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4" name="Google Shape;1028;p38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5" name="Google Shape;1029;p38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6" name="Google Shape;1030;p38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7" name="Google Shape;1031;p38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8" name="Google Shape;1032;p38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89" name="Google Shape;1033;p38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0" name="Google Shape;1034;p38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1" name="Google Shape;1035;p38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2" name="Google Shape;1036;p38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3" name="Google Shape;1037;p38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4" name="Google Shape;1038;p38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5" name="Google Shape;1039;p38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6" name="Google Shape;1040;p38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7" name="Google Shape;1041;p38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8" name="Google Shape;1042;p38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99" name="Google Shape;1043;p38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0" name="Google Shape;1044;p38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1" name="Google Shape;1045;p38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2" name="Google Shape;1046;p38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3" name="Google Shape;1047;p38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4" name="Google Shape;1048;p38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5" name="Google Shape;1049;p38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6" name="Google Shape;1050;p38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07" name="Google Shape;1051;p38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409" name="Google Shape;1052;p38" descr="Google Shape;1052;p38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1410" name="Google Shape;1053;p38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4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5118418"/>
      </p:ext>
    </p:extLst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055;p40" descr="Google Shape;1055;p40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44" name="Google Shape;1056;p40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419" name="Google Shape;1057;p40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0" name="Google Shape;1058;p40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1" name="Google Shape;1059;p40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2" name="Google Shape;1060;p40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3" name="Google Shape;1061;p40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4" name="Google Shape;1062;p40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5" name="Google Shape;1063;p40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6" name="Google Shape;1064;p40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7" name="Google Shape;1065;p40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8" name="Google Shape;1066;p40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29" name="Google Shape;1067;p40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0" name="Google Shape;1068;p40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1" name="Google Shape;1069;p40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2" name="Google Shape;1070;p40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3" name="Google Shape;1071;p40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4" name="Google Shape;1072;p40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5" name="Google Shape;1073;p40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6" name="Google Shape;1074;p40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7" name="Google Shape;1075;p40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8" name="Google Shape;1076;p40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39" name="Google Shape;1077;p40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40" name="Google Shape;1078;p40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41" name="Google Shape;1079;p40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42" name="Google Shape;1080;p40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43" name="Google Shape;1081;p40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445" name="Google Shape;1082;p40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4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0706951"/>
      </p:ext>
    </p:extLst>
  </p:cSld>
  <p:clrMapOvr>
    <a:masterClrMapping/>
  </p:clrMapOvr>
  <p:transition spd="med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8_Slide de Título 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084;p42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1453" name="Google Shape;1085;p42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4" name="Google Shape;1086;p42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5" name="Google Shape;1087;p42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6" name="Google Shape;1088;p42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7" name="Google Shape;1089;p42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8" name="Google Shape;1090;p42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59" name="Google Shape;1091;p42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0" name="Google Shape;1092;p42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1" name="Google Shape;1093;p42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2" name="Google Shape;1094;p42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3" name="Google Shape;1095;p42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4" name="Google Shape;1096;p42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5" name="Google Shape;1097;p42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6" name="Google Shape;1098;p42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7" name="Google Shape;1099;p42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8" name="Google Shape;1100;p42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69" name="Google Shape;1101;p42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0" name="Google Shape;1102;p42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1" name="Google Shape;1103;p42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2" name="Google Shape;1104;p42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3" name="Google Shape;1105;p42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4" name="Google Shape;1106;p42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5" name="Google Shape;1107;p42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6" name="Google Shape;1108;p42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77" name="Google Shape;1109;p42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1479" name="Google Shape;1110;p42" descr="Google Shape;1110;p42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6058" y="919308"/>
            <a:ext cx="4684106" cy="4684106"/>
          </a:xfrm>
          <a:prstGeom prst="rect">
            <a:avLst/>
          </a:prstGeom>
          <a:ln w="12700">
            <a:miter lim="400000"/>
          </a:ln>
        </p:spPr>
      </p:pic>
      <p:sp>
        <p:nvSpPr>
          <p:cNvPr id="1480" name="Google Shape;1111;p42"/>
          <p:cNvSpPr/>
          <p:nvPr/>
        </p:nvSpPr>
        <p:spPr>
          <a:xfrm>
            <a:off x="1178560" y="4275587"/>
            <a:ext cx="2621274" cy="195581"/>
          </a:xfrm>
          <a:prstGeom prst="rect">
            <a:avLst/>
          </a:prstGeom>
          <a:gradFill>
            <a:gsLst>
              <a:gs pos="0">
                <a:srgbClr val="000000"/>
              </a:gs>
              <a:gs pos="70000">
                <a:schemeClr val="accent1"/>
              </a:gs>
              <a:gs pos="100000">
                <a:schemeClr val="accent1"/>
              </a:gs>
            </a:gsLst>
            <a:lin ang="2700000"/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14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2483924"/>
      </p:ext>
    </p:extLst>
  </p:cSld>
  <p:clrMapOvr>
    <a:masterClrMapping/>
  </p:clrMapOvr>
  <p:transition spd="med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9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Google Shape;1113;p43" descr="Google Shape;1113;p43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4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652473"/>
      </p:ext>
    </p:extLst>
  </p:cSld>
  <p:clrMapOvr>
    <a:masterClrMapping/>
  </p:clrMapOvr>
  <p:transition spd="med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6" name="Google Shape;1115;p44" descr="Google Shape;1115;p44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49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7756408"/>
      </p:ext>
    </p:extLst>
  </p:cSld>
  <p:clrMapOvr>
    <a:masterClrMapping/>
  </p:clrMapOvr>
  <p:transition spd="med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lide de Título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4" name="Google Shape;1117;p45" descr="Google Shape;1117;p45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5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9711785"/>
      </p:ext>
    </p:extLst>
  </p:cSld>
  <p:clrMapOvr>
    <a:masterClrMapping/>
  </p:clrMapOvr>
  <p:transition spd="med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lide de Título 1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2" name="Google Shape;1119;p46" descr="Google Shape;1119;p4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2760" y="-71537"/>
            <a:ext cx="1121338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5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3004795"/>
      </p:ext>
    </p:extLst>
  </p:cSld>
  <p:clrMapOvr>
    <a:masterClrMapping/>
  </p:clrMapOvr>
  <p:transition spd="med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6_Slide de Título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51479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3.bin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14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vmlDrawing" Target="../drawings/vmlDrawing13.v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26" Type="http://schemas.openxmlformats.org/officeDocument/2006/relationships/slideLayout" Target="../slideLayouts/slideLayout49.xml"/><Relationship Id="rId39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44.xml"/><Relationship Id="rId34" Type="http://schemas.openxmlformats.org/officeDocument/2006/relationships/slideLayout" Target="../slideLayouts/slideLayout57.xml"/><Relationship Id="rId42" Type="http://schemas.openxmlformats.org/officeDocument/2006/relationships/slideLayout" Target="../slideLayouts/slideLayout65.xml"/><Relationship Id="rId47" Type="http://schemas.openxmlformats.org/officeDocument/2006/relationships/slideLayout" Target="../slideLayouts/slideLayout70.xml"/><Relationship Id="rId50" Type="http://schemas.openxmlformats.org/officeDocument/2006/relationships/slideLayout" Target="../slideLayouts/slideLayout73.xml"/><Relationship Id="rId55" Type="http://schemas.openxmlformats.org/officeDocument/2006/relationships/image" Target="../media/image1.emf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47.xml"/><Relationship Id="rId32" Type="http://schemas.openxmlformats.org/officeDocument/2006/relationships/slideLayout" Target="../slideLayouts/slideLayout55.xml"/><Relationship Id="rId37" Type="http://schemas.openxmlformats.org/officeDocument/2006/relationships/slideLayout" Target="../slideLayouts/slideLayout60.xml"/><Relationship Id="rId40" Type="http://schemas.openxmlformats.org/officeDocument/2006/relationships/slideLayout" Target="../slideLayouts/slideLayout63.xml"/><Relationship Id="rId45" Type="http://schemas.openxmlformats.org/officeDocument/2006/relationships/slideLayout" Target="../slideLayouts/slideLayout68.xml"/><Relationship Id="rId53" Type="http://schemas.openxmlformats.org/officeDocument/2006/relationships/tags" Target="../tags/tag26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54.xml"/><Relationship Id="rId44" Type="http://schemas.openxmlformats.org/officeDocument/2006/relationships/slideLayout" Target="../slideLayouts/slideLayout67.xml"/><Relationship Id="rId52" Type="http://schemas.openxmlformats.org/officeDocument/2006/relationships/vmlDrawing" Target="../drawings/vmlDrawing25.v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Relationship Id="rId27" Type="http://schemas.openxmlformats.org/officeDocument/2006/relationships/slideLayout" Target="../slideLayouts/slideLayout50.xml"/><Relationship Id="rId30" Type="http://schemas.openxmlformats.org/officeDocument/2006/relationships/slideLayout" Target="../slideLayouts/slideLayout53.xml"/><Relationship Id="rId35" Type="http://schemas.openxmlformats.org/officeDocument/2006/relationships/slideLayout" Target="../slideLayouts/slideLayout58.xml"/><Relationship Id="rId43" Type="http://schemas.openxmlformats.org/officeDocument/2006/relationships/slideLayout" Target="../slideLayouts/slideLayout66.xml"/><Relationship Id="rId48" Type="http://schemas.openxmlformats.org/officeDocument/2006/relationships/slideLayout" Target="../slideLayouts/slideLayout71.xml"/><Relationship Id="rId8" Type="http://schemas.openxmlformats.org/officeDocument/2006/relationships/slideLayout" Target="../slideLayouts/slideLayout31.xml"/><Relationship Id="rId51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48.xml"/><Relationship Id="rId33" Type="http://schemas.openxmlformats.org/officeDocument/2006/relationships/slideLayout" Target="../slideLayouts/slideLayout56.xml"/><Relationship Id="rId38" Type="http://schemas.openxmlformats.org/officeDocument/2006/relationships/slideLayout" Target="../slideLayouts/slideLayout61.xml"/><Relationship Id="rId46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43.xml"/><Relationship Id="rId41" Type="http://schemas.openxmlformats.org/officeDocument/2006/relationships/slideLayout" Target="../slideLayouts/slideLayout64.xml"/><Relationship Id="rId54" Type="http://schemas.openxmlformats.org/officeDocument/2006/relationships/oleObject" Target="../embeddings/oleObject25.bin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28" Type="http://schemas.openxmlformats.org/officeDocument/2006/relationships/slideLayout" Target="../slideLayouts/slideLayout51.xml"/><Relationship Id="rId36" Type="http://schemas.openxmlformats.org/officeDocument/2006/relationships/slideLayout" Target="../slideLayouts/slideLayout59.xml"/><Relationship Id="rId49" Type="http://schemas.openxmlformats.org/officeDocument/2006/relationships/slideLayout" Target="../slideLayouts/slideLayout72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6.xml"/><Relationship Id="rId18" Type="http://schemas.openxmlformats.org/officeDocument/2006/relationships/slideLayout" Target="../slideLayouts/slideLayout91.xml"/><Relationship Id="rId26" Type="http://schemas.openxmlformats.org/officeDocument/2006/relationships/slideLayout" Target="../slideLayouts/slideLayout99.xml"/><Relationship Id="rId39" Type="http://schemas.openxmlformats.org/officeDocument/2006/relationships/slideLayout" Target="../slideLayouts/slideLayout112.xml"/><Relationship Id="rId21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107.xml"/><Relationship Id="rId42" Type="http://schemas.openxmlformats.org/officeDocument/2006/relationships/slideLayout" Target="../slideLayouts/slideLayout115.xml"/><Relationship Id="rId47" Type="http://schemas.openxmlformats.org/officeDocument/2006/relationships/slideLayout" Target="../slideLayouts/slideLayout120.xml"/><Relationship Id="rId50" Type="http://schemas.openxmlformats.org/officeDocument/2006/relationships/slideLayout" Target="../slideLayouts/slideLayout123.xml"/><Relationship Id="rId55" Type="http://schemas.openxmlformats.org/officeDocument/2006/relationships/image" Target="../media/image1.emf"/><Relationship Id="rId7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5.xml"/><Relationship Id="rId16" Type="http://schemas.openxmlformats.org/officeDocument/2006/relationships/slideLayout" Target="../slideLayouts/slideLayout89.xml"/><Relationship Id="rId29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84.xml"/><Relationship Id="rId24" Type="http://schemas.openxmlformats.org/officeDocument/2006/relationships/slideLayout" Target="../slideLayouts/slideLayout97.xml"/><Relationship Id="rId32" Type="http://schemas.openxmlformats.org/officeDocument/2006/relationships/slideLayout" Target="../slideLayouts/slideLayout105.xml"/><Relationship Id="rId37" Type="http://schemas.openxmlformats.org/officeDocument/2006/relationships/slideLayout" Target="../slideLayouts/slideLayout110.xml"/><Relationship Id="rId40" Type="http://schemas.openxmlformats.org/officeDocument/2006/relationships/slideLayout" Target="../slideLayouts/slideLayout113.xml"/><Relationship Id="rId45" Type="http://schemas.openxmlformats.org/officeDocument/2006/relationships/slideLayout" Target="../slideLayouts/slideLayout118.xml"/><Relationship Id="rId53" Type="http://schemas.openxmlformats.org/officeDocument/2006/relationships/tags" Target="../tags/tag28.xml"/><Relationship Id="rId5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83.xml"/><Relationship Id="rId19" Type="http://schemas.openxmlformats.org/officeDocument/2006/relationships/slideLayout" Target="../slideLayouts/slideLayout92.xml"/><Relationship Id="rId31" Type="http://schemas.openxmlformats.org/officeDocument/2006/relationships/slideLayout" Target="../slideLayouts/slideLayout104.xml"/><Relationship Id="rId44" Type="http://schemas.openxmlformats.org/officeDocument/2006/relationships/slideLayout" Target="../slideLayouts/slideLayout117.xml"/><Relationship Id="rId52" Type="http://schemas.openxmlformats.org/officeDocument/2006/relationships/vmlDrawing" Target="../drawings/vmlDrawing27.vml"/><Relationship Id="rId4" Type="http://schemas.openxmlformats.org/officeDocument/2006/relationships/slideLayout" Target="../slideLayouts/slideLayout77.xml"/><Relationship Id="rId9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95.xml"/><Relationship Id="rId27" Type="http://schemas.openxmlformats.org/officeDocument/2006/relationships/slideLayout" Target="../slideLayouts/slideLayout100.xml"/><Relationship Id="rId30" Type="http://schemas.openxmlformats.org/officeDocument/2006/relationships/slideLayout" Target="../slideLayouts/slideLayout103.xml"/><Relationship Id="rId35" Type="http://schemas.openxmlformats.org/officeDocument/2006/relationships/slideLayout" Target="../slideLayouts/slideLayout108.xml"/><Relationship Id="rId43" Type="http://schemas.openxmlformats.org/officeDocument/2006/relationships/slideLayout" Target="../slideLayouts/slideLayout116.xml"/><Relationship Id="rId48" Type="http://schemas.openxmlformats.org/officeDocument/2006/relationships/slideLayout" Target="../slideLayouts/slideLayout121.xml"/><Relationship Id="rId8" Type="http://schemas.openxmlformats.org/officeDocument/2006/relationships/slideLayout" Target="../slideLayouts/slideLayout81.xml"/><Relationship Id="rId51" Type="http://schemas.openxmlformats.org/officeDocument/2006/relationships/theme" Target="../theme/theme4.xml"/><Relationship Id="rId3" Type="http://schemas.openxmlformats.org/officeDocument/2006/relationships/slideLayout" Target="../slideLayouts/slideLayout76.xml"/><Relationship Id="rId12" Type="http://schemas.openxmlformats.org/officeDocument/2006/relationships/slideLayout" Target="../slideLayouts/slideLayout85.xml"/><Relationship Id="rId17" Type="http://schemas.openxmlformats.org/officeDocument/2006/relationships/slideLayout" Target="../slideLayouts/slideLayout90.xml"/><Relationship Id="rId25" Type="http://schemas.openxmlformats.org/officeDocument/2006/relationships/slideLayout" Target="../slideLayouts/slideLayout98.xml"/><Relationship Id="rId33" Type="http://schemas.openxmlformats.org/officeDocument/2006/relationships/slideLayout" Target="../slideLayouts/slideLayout106.xml"/><Relationship Id="rId38" Type="http://schemas.openxmlformats.org/officeDocument/2006/relationships/slideLayout" Target="../slideLayouts/slideLayout111.xml"/><Relationship Id="rId46" Type="http://schemas.openxmlformats.org/officeDocument/2006/relationships/slideLayout" Target="../slideLayouts/slideLayout119.xml"/><Relationship Id="rId20" Type="http://schemas.openxmlformats.org/officeDocument/2006/relationships/slideLayout" Target="../slideLayouts/slideLayout93.xml"/><Relationship Id="rId41" Type="http://schemas.openxmlformats.org/officeDocument/2006/relationships/slideLayout" Target="../slideLayouts/slideLayout114.xml"/><Relationship Id="rId54" Type="http://schemas.openxmlformats.org/officeDocument/2006/relationships/oleObject" Target="../embeddings/oleObject27.bin"/><Relationship Id="rId1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88.xml"/><Relationship Id="rId23" Type="http://schemas.openxmlformats.org/officeDocument/2006/relationships/slideLayout" Target="../slideLayouts/slideLayout96.xml"/><Relationship Id="rId28" Type="http://schemas.openxmlformats.org/officeDocument/2006/relationships/slideLayout" Target="../slideLayouts/slideLayout101.xml"/><Relationship Id="rId36" Type="http://schemas.openxmlformats.org/officeDocument/2006/relationships/slideLayout" Target="../slideLayouts/slideLayout109.xml"/><Relationship Id="rId49" Type="http://schemas.openxmlformats.org/officeDocument/2006/relationships/slideLayout" Target="../slideLayouts/slideLayout1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5" name="Slide do think-cell" r:id="rId15" imgW="421" imgH="423" progId="TCLayout.ActiveDocument.1">
                  <p:embed/>
                </p:oleObj>
              </mc:Choice>
              <mc:Fallback>
                <p:oleObj name="Slide do think-cell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dirty="0"/>
              <a:t>tópico/texto</a:t>
            </a:r>
            <a:endParaRPr lang="en-US" dirty="0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pt-BR" dirty="0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69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90" r:id="rId3"/>
    <p:sldLayoutId id="2147483755" r:id="rId4"/>
    <p:sldLayoutId id="2147483791" r:id="rId5"/>
    <p:sldLayoutId id="2147483799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2" name="Slide do think-cell" r:id="rId16" imgW="421" imgH="423" progId="TCLayout.ActiveDocument.1">
                  <p:embed/>
                </p:oleObj>
              </mc:Choice>
              <mc:Fallback>
                <p:oleObj name="Slide do think-cell" r:id="rId16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dirty="0"/>
              <a:t>tópico/texto</a:t>
            </a:r>
            <a:endParaRPr lang="en-US" dirty="0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pt-BR" dirty="0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dirty="0" err="1">
                <a:solidFill>
                  <a:srgbClr val="4D4D4D"/>
                </a:solidFill>
              </a:rPr>
              <a:t>Simplonbpregular</a:t>
            </a:r>
            <a:r>
              <a:rPr lang="en-US" dirty="0" err="1">
                <a:solidFill>
                  <a:schemeClr val="accent1"/>
                </a:solidFill>
              </a:rPr>
              <a:t>simplonbpBold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425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53"/>
            </p:custDataLst>
            <p:extLst>
              <p:ext uri="{D42A27DB-BD31-4B8C-83A1-F6EECF244321}">
                <p14:modId xmlns:p14="http://schemas.microsoft.com/office/powerpoint/2010/main" val="370254361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70" name="Slide do think-cell" r:id="rId54" imgW="421" imgH="423" progId="TCLayout.ActiveDocument.1">
                  <p:embed/>
                </p:oleObj>
              </mc:Choice>
              <mc:Fallback>
                <p:oleObj name="Slide do think-cell" r:id="rId54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5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50" y="6217851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01329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831" r:id="rId18"/>
    <p:sldLayoutId id="2147483832" r:id="rId19"/>
    <p:sldLayoutId id="2147483833" r:id="rId20"/>
    <p:sldLayoutId id="2147483834" r:id="rId21"/>
    <p:sldLayoutId id="2147483835" r:id="rId22"/>
    <p:sldLayoutId id="2147483836" r:id="rId23"/>
    <p:sldLayoutId id="2147483837" r:id="rId24"/>
    <p:sldLayoutId id="2147483838" r:id="rId25"/>
    <p:sldLayoutId id="2147483839" r:id="rId26"/>
    <p:sldLayoutId id="2147483840" r:id="rId27"/>
    <p:sldLayoutId id="2147483841" r:id="rId28"/>
    <p:sldLayoutId id="2147483842" r:id="rId29"/>
    <p:sldLayoutId id="2147483843" r:id="rId30"/>
    <p:sldLayoutId id="2147483844" r:id="rId31"/>
    <p:sldLayoutId id="2147483845" r:id="rId32"/>
    <p:sldLayoutId id="2147483846" r:id="rId33"/>
    <p:sldLayoutId id="2147483847" r:id="rId34"/>
    <p:sldLayoutId id="2147483848" r:id="rId35"/>
    <p:sldLayoutId id="2147483849" r:id="rId36"/>
    <p:sldLayoutId id="2147483850" r:id="rId37"/>
    <p:sldLayoutId id="2147483851" r:id="rId38"/>
    <p:sldLayoutId id="2147483852" r:id="rId39"/>
    <p:sldLayoutId id="2147483853" r:id="rId40"/>
    <p:sldLayoutId id="2147483854" r:id="rId41"/>
    <p:sldLayoutId id="2147483855" r:id="rId42"/>
    <p:sldLayoutId id="2147483856" r:id="rId43"/>
    <p:sldLayoutId id="2147483857" r:id="rId44"/>
    <p:sldLayoutId id="2147483858" r:id="rId45"/>
    <p:sldLayoutId id="2147483859" r:id="rId46"/>
    <p:sldLayoutId id="2147483860" r:id="rId47"/>
    <p:sldLayoutId id="2147483861" r:id="rId48"/>
    <p:sldLayoutId id="2147483862" r:id="rId49"/>
    <p:sldLayoutId id="2147483863" r:id="rId50"/>
  </p:sldLayoutIdLst>
  <p:transition spd="med"/>
  <p:txStyles>
    <p:titleStyle>
      <a:lvl1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5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17" name="Slide do think-cell" r:id="rId54" imgW="421" imgH="423" progId="TCLayout.ActiveDocument.1">
                  <p:embed/>
                </p:oleObj>
              </mc:Choice>
              <mc:Fallback>
                <p:oleObj name="Slide do think-cell" r:id="rId54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27398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  <p:sldLayoutId id="2147483882" r:id="rId18"/>
    <p:sldLayoutId id="2147483883" r:id="rId19"/>
    <p:sldLayoutId id="2147483884" r:id="rId20"/>
    <p:sldLayoutId id="2147483885" r:id="rId21"/>
    <p:sldLayoutId id="2147483886" r:id="rId22"/>
    <p:sldLayoutId id="2147483887" r:id="rId23"/>
    <p:sldLayoutId id="2147483888" r:id="rId24"/>
    <p:sldLayoutId id="2147483889" r:id="rId25"/>
    <p:sldLayoutId id="2147483890" r:id="rId26"/>
    <p:sldLayoutId id="2147483891" r:id="rId27"/>
    <p:sldLayoutId id="2147483892" r:id="rId28"/>
    <p:sldLayoutId id="2147483893" r:id="rId29"/>
    <p:sldLayoutId id="2147483894" r:id="rId30"/>
    <p:sldLayoutId id="2147483895" r:id="rId31"/>
    <p:sldLayoutId id="2147483896" r:id="rId32"/>
    <p:sldLayoutId id="2147483897" r:id="rId33"/>
    <p:sldLayoutId id="2147483898" r:id="rId34"/>
    <p:sldLayoutId id="2147483899" r:id="rId35"/>
    <p:sldLayoutId id="2147483900" r:id="rId36"/>
    <p:sldLayoutId id="2147483901" r:id="rId37"/>
    <p:sldLayoutId id="2147483902" r:id="rId38"/>
    <p:sldLayoutId id="2147483903" r:id="rId39"/>
    <p:sldLayoutId id="2147483904" r:id="rId40"/>
    <p:sldLayoutId id="2147483905" r:id="rId41"/>
    <p:sldLayoutId id="2147483906" r:id="rId42"/>
    <p:sldLayoutId id="2147483907" r:id="rId43"/>
    <p:sldLayoutId id="2147483908" r:id="rId44"/>
    <p:sldLayoutId id="2147483909" r:id="rId45"/>
    <p:sldLayoutId id="2147483910" r:id="rId46"/>
    <p:sldLayoutId id="2147483911" r:id="rId47"/>
    <p:sldLayoutId id="2147483912" r:id="rId48"/>
    <p:sldLayoutId id="2147483913" r:id="rId49"/>
    <p:sldLayoutId id="2147483914" r:id="rId50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9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8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50.emf"/><Relationship Id="rId5" Type="http://schemas.openxmlformats.org/officeDocument/2006/relationships/oleObject" Target="../embeddings/oleObject29.bin"/><Relationship Id="rId4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5.xml"/><Relationship Id="rId2" Type="http://schemas.openxmlformats.org/officeDocument/2006/relationships/tags" Target="../tags/tag30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0.bin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1.bin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52.png"/><Relationship Id="rId2" Type="http://schemas.openxmlformats.org/officeDocument/2006/relationships/tags" Target="../tags/tag3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2.bin"/><Relationship Id="rId4" Type="http://schemas.openxmlformats.org/officeDocument/2006/relationships/notesSlide" Target="../notesSlides/notesSlide1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slideLayout" Target="../slideLayouts/slideLayout24.xml"/><Relationship Id="rId2" Type="http://schemas.openxmlformats.org/officeDocument/2006/relationships/tags" Target="../tags/tag33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3.bin"/><Relationship Id="rId4" Type="http://schemas.openxmlformats.org/officeDocument/2006/relationships/notesSlide" Target="../notesSlides/notesSlide18.xml"/><Relationship Id="rId9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54.png"/><Relationship Id="rId2" Type="http://schemas.openxmlformats.org/officeDocument/2006/relationships/tags" Target="../tags/tag34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4.bin"/><Relationship Id="rId4" Type="http://schemas.openxmlformats.org/officeDocument/2006/relationships/notesSlide" Target="../notesSlides/notesSlide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5.xml"/><Relationship Id="rId1" Type="http://schemas.openxmlformats.org/officeDocument/2006/relationships/vmlDrawing" Target="../drawings/vmlDrawing3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773207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3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190260" y="998024"/>
            <a:ext cx="5923700" cy="791776"/>
          </a:xfrm>
        </p:spPr>
        <p:txBody>
          <a:bodyPr/>
          <a:lstStyle/>
          <a:p>
            <a:r>
              <a:rPr lang="en-US" dirty="0" err="1" smtClean="0"/>
              <a:t>Kaidô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 smtClean="0"/>
              <a:t>Implantação</a:t>
            </a:r>
            <a:r>
              <a:rPr lang="en-US" dirty="0" smtClean="0"/>
              <a:t> M&amp;A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smtClean="0"/>
              <a:t>05 </a:t>
            </a:r>
            <a:r>
              <a:rPr lang="en-US" dirty="0" err="1" smtClean="0"/>
              <a:t>Fevereiro</a:t>
            </a:r>
            <a:r>
              <a:rPr lang="en-US" dirty="0" smtClean="0"/>
              <a:t> 2026</a:t>
            </a:r>
            <a:endParaRPr lang="en-US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2"/>
          </p:nvPr>
        </p:nvSpPr>
        <p:spPr>
          <a:xfrm>
            <a:off x="1190260" y="1699641"/>
            <a:ext cx="7994318" cy="1016000"/>
          </a:xfrm>
        </p:spPr>
        <p:txBody>
          <a:bodyPr/>
          <a:lstStyle/>
          <a:p>
            <a:r>
              <a:rPr lang="en-US" dirty="0" smtClean="0"/>
              <a:t>UPI </a:t>
            </a:r>
            <a:r>
              <a:rPr lang="en-US" dirty="0" err="1" smtClean="0"/>
              <a:t>Tahto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093122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1639" y="119371"/>
            <a:ext cx="10756482" cy="558294"/>
          </a:xfrm>
        </p:spPr>
        <p:txBody>
          <a:bodyPr/>
          <a:lstStyle/>
          <a:p>
            <a:r>
              <a:rPr lang="en-US" dirty="0">
                <a:solidFill>
                  <a:srgbClr val="009E0B"/>
                </a:solidFill>
              </a:rPr>
              <a:t>CONTEXTO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</a:t>
            </a:fld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314182" y="955343"/>
            <a:ext cx="11653230" cy="5641423"/>
          </a:xfrm>
          <a:prstGeom prst="rect">
            <a:avLst/>
          </a:prstGeom>
          <a:noFill/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1584644" y="2200564"/>
            <a:ext cx="937082" cy="3313131"/>
          </a:xfrm>
          <a:prstGeom prst="rect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CENÁRIO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1" i="0" u="none" strike="noStrike" cap="none" spc="0" normalizeH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ATUAL</a:t>
            </a:r>
            <a:endParaRPr kumimoji="0" lang="pt-BR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2703868" y="2200565"/>
            <a:ext cx="8298115" cy="3313130"/>
          </a:xfrm>
          <a:prstGeom prst="rect">
            <a:avLst/>
          </a:prstGeom>
          <a:noFill/>
          <a:ln w="127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2000" tIns="72000" rIns="0" bIns="0" numCol="1" spcCol="38100" rtlCol="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009E0B"/>
                </a:solidFill>
              </a:rPr>
              <a:t>UPI </a:t>
            </a:r>
            <a:r>
              <a:rPr lang="pt-BR" sz="1600" dirty="0" err="1" smtClean="0">
                <a:solidFill>
                  <a:srgbClr val="009E0B"/>
                </a:solidFill>
              </a:rPr>
              <a:t>Tahto</a:t>
            </a:r>
            <a:r>
              <a:rPr lang="pt-BR" sz="1600" dirty="0" smtClean="0">
                <a:solidFill>
                  <a:srgbClr val="009E0B"/>
                </a:solidFill>
              </a:rPr>
              <a:t> </a:t>
            </a:r>
            <a:r>
              <a:rPr lang="pt-BR" sz="1600" dirty="0">
                <a:solidFill>
                  <a:srgbClr val="009E0B"/>
                </a:solidFill>
              </a:rPr>
              <a:t>faz parte do Plano de Recuperação Judicial </a:t>
            </a:r>
            <a:r>
              <a:rPr kumimoji="0" lang="pt-BR" sz="1600" b="0" i="0" u="none" strike="noStrike" cap="none" spc="0" normalizeH="0" dirty="0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da Oi </a:t>
            </a:r>
            <a:r>
              <a:rPr kumimoji="0" lang="pt-BR" sz="1600" b="0" i="0" u="none" strike="noStrike" cap="none" spc="0" normalizeH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submetido </a:t>
            </a:r>
            <a:r>
              <a:rPr lang="pt-BR" sz="1600" dirty="0">
                <a:solidFill>
                  <a:srgbClr val="FF0000"/>
                </a:solidFill>
              </a:rPr>
              <a:t>à</a:t>
            </a:r>
            <a:r>
              <a:rPr kumimoji="0" lang="pt-BR" sz="1600" b="0" i="0" u="none" strike="noStrike" cap="none" spc="0" normalizeH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lang="pt-BR" sz="1600" dirty="0">
                <a:solidFill>
                  <a:srgbClr val="FF0000"/>
                </a:solidFill>
              </a:rPr>
              <a:t>a</a:t>
            </a:r>
            <a:r>
              <a:rPr kumimoji="0" lang="pt-BR" sz="1600" b="0" i="0" u="none" strike="noStrike" cap="none" spc="0" normalizeH="0" dirty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provação da AGC </a:t>
            </a:r>
            <a:r>
              <a:rPr kumimoji="0" lang="pt-BR" sz="1600" b="0" i="0" u="none" strike="noStrike" cap="none" spc="0" normalizeH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(19/04)</a:t>
            </a:r>
            <a:endParaRPr kumimoji="0" lang="pt-BR" sz="1600" b="0" i="0" u="none" strike="noStrike" cap="none" spc="0" normalizeH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pt-BR" sz="1600" dirty="0">
              <a:solidFill>
                <a:schemeClr val="accent6"/>
              </a:solidFill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pt-BR" sz="1600" b="0" i="0" u="none" strike="noStrike" cap="none" spc="0" normalizeH="0" dirty="0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No PRJ, o fechamento da UPI </a:t>
            </a:r>
            <a:r>
              <a:rPr lang="pt-BR" sz="1600" dirty="0" err="1" smtClean="0">
                <a:solidFill>
                  <a:schemeClr val="accent6"/>
                </a:solidFill>
              </a:rPr>
              <a:t>Tahto</a:t>
            </a:r>
            <a:r>
              <a:rPr kumimoji="0" lang="pt-BR" sz="1600" b="0" i="0" u="none" strike="noStrike" cap="none" spc="0" normalizeH="0" dirty="0" smtClean="0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pt-BR" sz="1600" b="0" i="0" u="none" strike="noStrike" cap="none" spc="0" normalizeH="0" dirty="0">
                <a:ln>
                  <a:noFill/>
                </a:ln>
                <a:solidFill>
                  <a:schemeClr val="accent6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e a entrada de recursos deve acontecer no </a:t>
            </a:r>
            <a:r>
              <a:rPr lang="pt-BR" sz="1600" dirty="0">
                <a:solidFill>
                  <a:srgbClr val="FF0000"/>
                </a:solidFill>
              </a:rPr>
              <a:t>1º trimestre de 2025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pt-BR" sz="1600" dirty="0">
              <a:solidFill>
                <a:schemeClr val="accent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chemeClr val="accent6"/>
                </a:solidFill>
              </a:rPr>
              <a:t>Necessidade de iniciar a criação </a:t>
            </a:r>
            <a:r>
              <a:rPr lang="pt-BR" sz="1600" dirty="0" smtClean="0">
                <a:solidFill>
                  <a:schemeClr val="accent6"/>
                </a:solidFill>
              </a:rPr>
              <a:t>da UPI </a:t>
            </a:r>
            <a:r>
              <a:rPr lang="pt-BR" sz="1600" dirty="0">
                <a:solidFill>
                  <a:schemeClr val="accent6"/>
                </a:solidFill>
              </a:rPr>
              <a:t>para garantir prazo previsto para o fechamento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1600" dirty="0">
              <a:solidFill>
                <a:schemeClr val="accent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chemeClr val="accent6"/>
                </a:solidFill>
              </a:rPr>
              <a:t>UPI </a:t>
            </a:r>
            <a:r>
              <a:rPr lang="pt-BR" sz="1600" dirty="0" err="1" smtClean="0">
                <a:solidFill>
                  <a:schemeClr val="accent6"/>
                </a:solidFill>
              </a:rPr>
              <a:t>Tahto</a:t>
            </a:r>
            <a:r>
              <a:rPr lang="pt-BR" sz="1600" dirty="0" smtClean="0">
                <a:solidFill>
                  <a:schemeClr val="accent6"/>
                </a:solidFill>
              </a:rPr>
              <a:t> </a:t>
            </a:r>
            <a:r>
              <a:rPr lang="pt-BR" sz="1600" dirty="0">
                <a:solidFill>
                  <a:schemeClr val="accent6"/>
                </a:solidFill>
              </a:rPr>
              <a:t>tem como escopo a </a:t>
            </a:r>
            <a:r>
              <a:rPr lang="pt-BR" sz="1600" dirty="0">
                <a:solidFill>
                  <a:srgbClr val="FF0000"/>
                </a:solidFill>
              </a:rPr>
              <a:t>venda da </a:t>
            </a:r>
            <a:r>
              <a:rPr lang="pt-BR" sz="1600" dirty="0" smtClean="0">
                <a:solidFill>
                  <a:srgbClr val="FF0000"/>
                </a:solidFill>
              </a:rPr>
              <a:t>empresa e base </a:t>
            </a:r>
            <a:r>
              <a:rPr lang="pt-BR" sz="1600" dirty="0">
                <a:solidFill>
                  <a:srgbClr val="FF0000"/>
                </a:solidFill>
              </a:rPr>
              <a:t>de </a:t>
            </a:r>
            <a:r>
              <a:rPr lang="pt-BR" sz="1600" dirty="0" smtClean="0">
                <a:solidFill>
                  <a:srgbClr val="FF0000"/>
                </a:solidFill>
              </a:rPr>
              <a:t>clientes de </a:t>
            </a:r>
            <a:r>
              <a:rPr lang="pt-BR" sz="1600" dirty="0" err="1" smtClean="0">
                <a:solidFill>
                  <a:srgbClr val="FF0000"/>
                </a:solidFill>
              </a:rPr>
              <a:t>Call</a:t>
            </a:r>
            <a:r>
              <a:rPr lang="pt-BR" sz="1600" dirty="0" smtClean="0">
                <a:solidFill>
                  <a:srgbClr val="FF0000"/>
                </a:solidFill>
              </a:rPr>
              <a:t> Center da </a:t>
            </a:r>
            <a:r>
              <a:rPr lang="pt-BR" sz="1600" dirty="0" err="1" smtClean="0">
                <a:solidFill>
                  <a:srgbClr val="FF0000"/>
                </a:solidFill>
              </a:rPr>
              <a:t>Tahto</a:t>
            </a:r>
            <a:r>
              <a:rPr lang="pt-BR" sz="1600" dirty="0" smtClean="0">
                <a:solidFill>
                  <a:srgbClr val="FF0000"/>
                </a:solidFill>
              </a:rPr>
              <a:t> </a:t>
            </a:r>
            <a:r>
              <a:rPr lang="pt-BR" sz="1600" dirty="0">
                <a:solidFill>
                  <a:srgbClr val="FF0000"/>
                </a:solidFill>
              </a:rPr>
              <a:t>com os ativos </a:t>
            </a:r>
            <a:r>
              <a:rPr lang="pt-BR" sz="1600" dirty="0">
                <a:solidFill>
                  <a:schemeClr val="accent6"/>
                </a:solidFill>
              </a:rPr>
              <a:t>relacionados à prestação do serviço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sz="1600" dirty="0">
              <a:solidFill>
                <a:schemeClr val="accent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chemeClr val="accent6"/>
                </a:solidFill>
              </a:rPr>
              <a:t>Atualmente, estamos na etapa de </a:t>
            </a:r>
            <a:r>
              <a:rPr lang="pt-BR" sz="1600" dirty="0">
                <a:solidFill>
                  <a:srgbClr val="FF0000"/>
                </a:solidFill>
              </a:rPr>
              <a:t>recebimento e avaliação das propostas de compra e venda </a:t>
            </a:r>
            <a:r>
              <a:rPr lang="pt-BR" sz="1600" dirty="0">
                <a:solidFill>
                  <a:schemeClr val="accent6"/>
                </a:solidFill>
              </a:rPr>
              <a:t>da UPI </a:t>
            </a:r>
            <a:r>
              <a:rPr lang="pt-BR" sz="1600" dirty="0" err="1" smtClean="0">
                <a:solidFill>
                  <a:schemeClr val="accent6"/>
                </a:solidFill>
              </a:rPr>
              <a:t>Tahto</a:t>
            </a:r>
            <a:endParaRPr lang="pt-BR" sz="1600" dirty="0">
              <a:solidFill>
                <a:schemeClr val="accent6"/>
              </a:solidFill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pt-BR" sz="1600" b="0" i="0" u="none" strike="noStrike" cap="none" spc="0" normalizeH="0" baseline="0" dirty="0">
              <a:ln>
                <a:noFill/>
              </a:ln>
              <a:solidFill>
                <a:srgbClr val="009E0B"/>
              </a:solidFill>
              <a:effectLst/>
              <a:uFillTx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840717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571" y="119371"/>
            <a:ext cx="10756482" cy="558294"/>
          </a:xfrm>
        </p:spPr>
        <p:txBody>
          <a:bodyPr/>
          <a:lstStyle/>
          <a:p>
            <a:r>
              <a:rPr lang="en-US" dirty="0" smtClean="0">
                <a:solidFill>
                  <a:srgbClr val="009E0B"/>
                </a:solidFill>
              </a:rPr>
              <a:t>AGENDA</a:t>
            </a:r>
            <a:endParaRPr lang="en-US" dirty="0">
              <a:solidFill>
                <a:srgbClr val="009E0B"/>
              </a:solidFill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3</a:t>
            </a:fld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314182" y="955343"/>
            <a:ext cx="11653230" cy="5641423"/>
          </a:xfrm>
          <a:prstGeom prst="rect">
            <a:avLst/>
          </a:prstGeom>
          <a:noFill/>
          <a:ln w="25400" cap="flat">
            <a:solidFill>
              <a:srgbClr val="00D318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2703868" y="2244782"/>
            <a:ext cx="8051525" cy="3094766"/>
          </a:xfrm>
          <a:prstGeom prst="rect">
            <a:avLst/>
          </a:prstGeom>
          <a:noFill/>
          <a:ln w="127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2000" tIns="72000" rIns="0" bIns="0" numCol="1" spcCol="38100" rtlCol="0" anchor="t">
            <a:noAutofit/>
          </a:bodyPr>
          <a:lstStyle/>
          <a:p>
            <a:pPr marL="342900" indent="-342900">
              <a:spcAft>
                <a:spcPts val="1800"/>
              </a:spcAft>
              <a:buClr>
                <a:srgbClr val="009E0B"/>
              </a:buClr>
              <a:buFont typeface="+mj-lt"/>
              <a:buAutoNum type="arabicPeriod"/>
            </a:pPr>
            <a:r>
              <a:rPr lang="pt-BR" sz="2000" dirty="0" smtClean="0">
                <a:solidFill>
                  <a:srgbClr val="FF0000"/>
                </a:solidFill>
              </a:rPr>
              <a:t>Perímetro da Operação</a:t>
            </a:r>
          </a:p>
          <a:p>
            <a:pPr marL="342900" indent="-342900">
              <a:spcAft>
                <a:spcPts val="1800"/>
              </a:spcAft>
              <a:buClr>
                <a:srgbClr val="009E0B"/>
              </a:buClr>
              <a:buFont typeface="+mj-lt"/>
              <a:buAutoNum type="arabicPeriod"/>
            </a:pPr>
            <a:r>
              <a:rPr lang="pt-BR" sz="2000" dirty="0" smtClean="0">
                <a:solidFill>
                  <a:schemeClr val="accent6"/>
                </a:solidFill>
              </a:rPr>
              <a:t>Frentes e Escopo por frente</a:t>
            </a:r>
          </a:p>
          <a:p>
            <a:pPr marL="342900" indent="-342900">
              <a:spcAft>
                <a:spcPts val="1800"/>
              </a:spcAft>
              <a:buClr>
                <a:srgbClr val="009E0B"/>
              </a:buClr>
              <a:buFont typeface="+mj-lt"/>
              <a:buAutoNum type="arabicPeriod"/>
            </a:pPr>
            <a:r>
              <a:rPr lang="pt-BR" sz="2000" dirty="0" smtClean="0">
                <a:solidFill>
                  <a:srgbClr val="FF0000"/>
                </a:solidFill>
              </a:rPr>
              <a:t>Principais Marcos</a:t>
            </a:r>
          </a:p>
          <a:p>
            <a:pPr marL="342900" indent="-342900">
              <a:spcAft>
                <a:spcPts val="1800"/>
              </a:spcAft>
              <a:buClr>
                <a:srgbClr val="009E0B"/>
              </a:buClr>
              <a:buFont typeface="+mj-lt"/>
              <a:buAutoNum type="arabicPeriod"/>
            </a:pPr>
            <a:r>
              <a:rPr lang="pt-BR" sz="2000" dirty="0" smtClean="0">
                <a:solidFill>
                  <a:schemeClr val="accent6"/>
                </a:solidFill>
              </a:rPr>
              <a:t>Líderes </a:t>
            </a:r>
            <a:r>
              <a:rPr lang="pt-BR" sz="2000" dirty="0">
                <a:solidFill>
                  <a:schemeClr val="accent6"/>
                </a:solidFill>
              </a:rPr>
              <a:t>e Governança</a:t>
            </a:r>
          </a:p>
          <a:p>
            <a:pPr marL="342900" indent="-342900">
              <a:spcAft>
                <a:spcPts val="1800"/>
              </a:spcAft>
              <a:buClr>
                <a:srgbClr val="009E0B"/>
              </a:buClr>
              <a:buFont typeface="+mj-lt"/>
              <a:buAutoNum type="arabicPeriod"/>
            </a:pPr>
            <a:r>
              <a:rPr lang="pt-BR" sz="2000" dirty="0" smtClean="0">
                <a:solidFill>
                  <a:srgbClr val="FF0000"/>
                </a:solidFill>
              </a:rPr>
              <a:t>Frente de Sistemas</a:t>
            </a:r>
          </a:p>
          <a:p>
            <a:pPr marL="342900" indent="-342900">
              <a:spcAft>
                <a:spcPts val="1800"/>
              </a:spcAft>
              <a:buClr>
                <a:srgbClr val="009E0B"/>
              </a:buClr>
              <a:buFont typeface="+mj-lt"/>
              <a:buAutoNum type="arabicPeriod"/>
            </a:pPr>
            <a:r>
              <a:rPr lang="pt-BR" sz="2000" dirty="0" smtClean="0">
                <a:solidFill>
                  <a:srgbClr val="FF0000"/>
                </a:solidFill>
              </a:rPr>
              <a:t>Próximos Passos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pt-BR" sz="2000" b="0" i="0" u="none" strike="noStrike" cap="none" spc="0" normalizeH="0" baseline="0" dirty="0">
              <a:ln>
                <a:noFill/>
              </a:ln>
              <a:solidFill>
                <a:srgbClr val="009E0B"/>
              </a:solidFill>
              <a:effectLst/>
              <a:uFillTx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584644" y="2200564"/>
            <a:ext cx="937082" cy="3313131"/>
          </a:xfrm>
          <a:prstGeom prst="rect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b="1" dirty="0" smtClean="0">
                <a:solidFill>
                  <a:schemeClr val="bg1"/>
                </a:solidFill>
              </a:rPr>
              <a:t>AGENDA</a:t>
            </a:r>
            <a:endParaRPr kumimoji="0" lang="pt-BR" sz="1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1853547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/>
          <p:cNvSpPr txBox="1"/>
          <p:nvPr/>
        </p:nvSpPr>
        <p:spPr>
          <a:xfrm>
            <a:off x="2046934" y="636721"/>
            <a:ext cx="9171242" cy="617966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ítulo 25"/>
          <p:cNvSpPr>
            <a:spLocks noGrp="1"/>
          </p:cNvSpPr>
          <p:nvPr>
            <p:ph type="title"/>
          </p:nvPr>
        </p:nvSpPr>
        <p:spPr>
          <a:xfrm>
            <a:off x="189673" y="134154"/>
            <a:ext cx="10756482" cy="558294"/>
          </a:xfrm>
        </p:spPr>
        <p:txBody>
          <a:bodyPr/>
          <a:lstStyle/>
          <a:p>
            <a:r>
              <a:rPr lang="pt-BR" dirty="0">
                <a:solidFill>
                  <a:srgbClr val="009E0B"/>
                </a:solidFill>
              </a:rPr>
              <a:t>KAIDÔ: </a:t>
            </a:r>
            <a:r>
              <a:rPr lang="pt-BR" dirty="0" smtClean="0">
                <a:solidFill>
                  <a:srgbClr val="009E0B"/>
                </a:solidFill>
              </a:rPr>
              <a:t>IMPLANTAÇÃO UPI TAHTO (1 de 2)</a:t>
            </a:r>
            <a:endParaRPr lang="pt-BR" dirty="0">
              <a:solidFill>
                <a:srgbClr val="009E0B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314185" y="2344491"/>
            <a:ext cx="10970342" cy="426044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b="1" dirty="0" smtClean="0">
                <a:solidFill>
                  <a:srgbClr val="4D4D4D"/>
                </a:solidFill>
                <a:latin typeface="+mn-lt"/>
                <a:ea typeface="+mn-ea"/>
                <a:cs typeface="+mn-cs"/>
              </a:rPr>
              <a:t>REGULATÓRIA</a:t>
            </a:r>
            <a:endParaRPr lang="pt-BR" b="1" dirty="0">
              <a:solidFill>
                <a:srgbClr val="4D4D4D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314185" y="3482663"/>
            <a:ext cx="10970342" cy="1109207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ATIVOS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14182" y="2841923"/>
            <a:ext cx="10970345" cy="57600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200" b="1">
                <a:solidFill>
                  <a:srgbClr val="009E0B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sz="1400" dirty="0" smtClean="0"/>
              <a:t>JURÍDICA</a:t>
            </a:r>
            <a:endParaRPr lang="pt-BR" sz="1100" dirty="0"/>
          </a:p>
        </p:txBody>
      </p:sp>
      <p:sp>
        <p:nvSpPr>
          <p:cNvPr id="3" name="CaixaDeTexto 2"/>
          <p:cNvSpPr txBox="1"/>
          <p:nvPr/>
        </p:nvSpPr>
        <p:spPr>
          <a:xfrm>
            <a:off x="2164341" y="674525"/>
            <a:ext cx="4668895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b="1" dirty="0">
                <a:solidFill>
                  <a:srgbClr val="009E0B"/>
                </a:solidFill>
              </a:rPr>
              <a:t>Escopo das Frentes </a:t>
            </a:r>
            <a:r>
              <a:rPr lang="pt-BR" b="1" dirty="0" smtClean="0">
                <a:solidFill>
                  <a:srgbClr val="009E0B"/>
                </a:solidFill>
              </a:rPr>
              <a:t>TAHTO</a:t>
            </a:r>
            <a:endParaRPr lang="pt-BR" b="1" dirty="0">
              <a:solidFill>
                <a:srgbClr val="009E0B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314182" y="935370"/>
            <a:ext cx="10970345" cy="1322322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SOCIETÁRIA/</a:t>
            </a:r>
          </a:p>
          <a:p>
            <a:pPr fontAlgn="auto" hangingPunct="0"/>
            <a:r>
              <a:rPr lang="pt-BR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FISCAL</a:t>
            </a:r>
            <a:endParaRPr lang="pt-BR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2060863" y="952329"/>
            <a:ext cx="9223667" cy="127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marL="171450" indent="-171450" fontAlgn="auto" hangingPunct="0"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Aquisição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de 1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CNPJ pela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</a:rPr>
              <a:t>BtCC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 para criação da UPI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</a:rPr>
              <a:t>Tahto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 – </a:t>
            </a:r>
            <a:r>
              <a:rPr lang="pt-BR" sz="1200" dirty="0" smtClean="0">
                <a:solidFill>
                  <a:srgbClr val="009E0B"/>
                </a:solidFill>
              </a:rPr>
              <a:t>venda da empresa Olímpia associada a Oi Services para </a:t>
            </a:r>
            <a:r>
              <a:rPr lang="pt-BR" sz="1200" dirty="0" err="1" smtClean="0">
                <a:solidFill>
                  <a:srgbClr val="009E0B"/>
                </a:solidFill>
              </a:rPr>
              <a:t>BtCC</a:t>
            </a:r>
            <a:r>
              <a:rPr lang="pt-BR" sz="1200" dirty="0" smtClean="0">
                <a:solidFill>
                  <a:srgbClr val="009E0B"/>
                </a:solidFill>
              </a:rPr>
              <a:t> </a:t>
            </a:r>
          </a:p>
          <a:p>
            <a:pPr marL="171450" indent="-171450" fontAlgn="auto" hangingPunct="0"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Aprovação da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Criação da UPI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</a:rPr>
              <a:t>Tahto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com </a:t>
            </a:r>
            <a:r>
              <a:rPr lang="pt-BR" sz="1200" dirty="0" err="1">
                <a:solidFill>
                  <a:schemeClr val="bg2">
                    <a:lumMod val="50000"/>
                  </a:schemeClr>
                </a:solidFill>
              </a:rPr>
              <a:t>drop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 de clientes e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Ativos </a:t>
            </a:r>
            <a:r>
              <a:rPr lang="pt-BR" sz="1200" dirty="0" smtClean="0">
                <a:solidFill>
                  <a:srgbClr val="4D4D4D"/>
                </a:solidFill>
              </a:rPr>
              <a:t>(</a:t>
            </a:r>
            <a:r>
              <a:rPr lang="pt-BR" sz="1200" strike="sngStrike" dirty="0" err="1">
                <a:solidFill>
                  <a:srgbClr val="4D4D4D"/>
                </a:solidFill>
              </a:rPr>
              <a:t>ReDir</a:t>
            </a:r>
            <a:r>
              <a:rPr lang="pt-BR" sz="1200" strike="sngStrike" dirty="0">
                <a:solidFill>
                  <a:srgbClr val="4D4D4D"/>
                </a:solidFill>
              </a:rPr>
              <a:t>, CA,</a:t>
            </a:r>
            <a:r>
              <a:rPr lang="pt-BR" sz="1200" dirty="0">
                <a:solidFill>
                  <a:srgbClr val="4D4D4D"/>
                </a:solidFill>
              </a:rPr>
              <a:t> CF, AGE) </a:t>
            </a:r>
            <a:endParaRPr lang="pt-BR" sz="1200" dirty="0" smtClean="0">
              <a:solidFill>
                <a:srgbClr val="4D4D4D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Elaboração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do laudo contábil e materiais de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apoio para o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</a:rPr>
              <a:t>drop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</a:rPr>
              <a:t>down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 de ativos e pessoas.</a:t>
            </a:r>
            <a:endParaRPr lang="pt-BR" sz="1200" dirty="0">
              <a:solidFill>
                <a:schemeClr val="bg2">
                  <a:lumMod val="50000"/>
                </a:schemeClr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Regularizar CNPJ Matriz: Ajustar representante legal, objeto social,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</a:rPr>
              <a:t>CNAEs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 e Estatuto.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Filiais (Fat./RH/</a:t>
            </a:r>
            <a:r>
              <a:rPr lang="pt-BR" sz="1200" dirty="0" smtClean="0">
                <a:solidFill>
                  <a:srgbClr val="FF0000"/>
                </a:solidFill>
              </a:rPr>
              <a:t>CA?)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: Criar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</a:rPr>
              <a:t>CNPJs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obter Inscr.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Municipal, Alvará de Funcionamento e Inscr. Estadual, se aplicável.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Levantar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</a:rPr>
              <a:t>docs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 dos endereços indicados e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</a:rPr>
              <a:t>ctts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de locação a serem tratados;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Repasse de incentivos fiscais, se aplicável, para a UPI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</a:rPr>
              <a:t>Tahto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 (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</a:rPr>
              <a:t>Ex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: ISS)</a:t>
            </a:r>
            <a:endParaRPr lang="pt-BR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2046932" y="2362313"/>
            <a:ext cx="8197562" cy="4082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buFont typeface="Wingdings" panose="05000000000000000000" pitchFamily="2" charset="2"/>
              <a:buChar char="§"/>
              <a:defRPr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sz="1200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N/A Anuência Anatel: Empresa </a:t>
            </a:r>
            <a:r>
              <a:rPr lang="pt-BR" sz="1200" b="1" dirty="0" err="1">
                <a:solidFill>
                  <a:schemeClr val="bg2">
                    <a:lumMod val="50000"/>
                  </a:schemeClr>
                </a:solidFill>
                <a:latin typeface="+mj-lt"/>
              </a:rPr>
              <a:t>BtCC</a:t>
            </a:r>
            <a:r>
              <a:rPr lang="pt-BR" sz="1200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 não tem outorga e não é regulamentada pela Anatel. </a:t>
            </a:r>
          </a:p>
          <a:p>
            <a:r>
              <a:rPr lang="pt-BR" sz="1200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N/A Anuência CADE para venda da UPI: Possível comprador é estrangeiro, sem negócios no Brasil.</a:t>
            </a:r>
          </a:p>
        </p:txBody>
      </p:sp>
      <p:sp>
        <p:nvSpPr>
          <p:cNvPr id="18" name="CaixaDeTexto 17"/>
          <p:cNvSpPr txBox="1"/>
          <p:nvPr/>
        </p:nvSpPr>
        <p:spPr>
          <a:xfrm>
            <a:off x="2046932" y="3470506"/>
            <a:ext cx="9012954" cy="11213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buFont typeface="Wingdings" panose="05000000000000000000" pitchFamily="2" charset="2"/>
              <a:buChar char="§"/>
              <a:defRPr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Conciliação de Físico e Contábil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;</a:t>
            </a:r>
            <a:endParaRPr lang="pt-BR" sz="1200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Migração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dos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ativos fixos (SAP BTSA para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SAP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BtCC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(BRPE) – Servidores, rede,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desktops/notebooks via </a:t>
            </a:r>
            <a:r>
              <a:rPr lang="pt-BR" sz="1200" b="1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venda de ativos ou doação?</a:t>
            </a:r>
            <a:endParaRPr lang="pt-BR" sz="1200" b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  <a:p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Drop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 de Ativos da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BtCC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 para UPI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Tahto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. Sistemas envolvidos de inventário (SAP</a:t>
            </a:r>
            <a:r>
              <a:rPr lang="pt-BR" sz="1200" b="1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, Algum outro?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) </a:t>
            </a:r>
          </a:p>
          <a:p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Definição do modelo de venda/ tributário para aplicar nos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drops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 entre empresas. </a:t>
            </a:r>
          </a:p>
          <a:p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Segregação de licenças, sistemas, servidores, rede e plataformas compartilhados com a Oi S/A. Verificar o que será mantido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tb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 na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BtCC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 e o que será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dropado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 para a UPI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Tahto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  <a:latin typeface="+mj-lt"/>
              </a:rPr>
              <a:t>.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314180" y="4655963"/>
            <a:ext cx="10970344" cy="1326136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FINANCEIRO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2046934" y="4720880"/>
            <a:ext cx="9171242" cy="12522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marL="171450" indent="-171450" fontAlgn="auto" hangingPunct="0"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Aprovação dos investimentos necessários para a criação da UPI  e definir modelo de pagamento via </a:t>
            </a:r>
            <a:r>
              <a:rPr lang="pt-BR" sz="1200" dirty="0" err="1" smtClean="0">
                <a:solidFill>
                  <a:schemeClr val="bg2">
                    <a:lumMod val="50000"/>
                  </a:schemeClr>
                </a:solidFill>
              </a:rPr>
              <a:t>BtCC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pPr marL="171450" indent="-171450" fontAlgn="auto" hangingPunct="0"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Criação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de fluxo financeiro do CNPJ: abertura de contas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, aplicações, seguros, plano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de contas e fluxo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contábil da UPI;</a:t>
            </a:r>
          </a:p>
          <a:p>
            <a:pPr marL="171450" indent="-171450" fontAlgn="auto" hangingPunct="0"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rgbClr val="4D4D4D"/>
                </a:solidFill>
              </a:rPr>
              <a:t>Alinhamento do Contábil </a:t>
            </a:r>
            <a:r>
              <a:rPr lang="pt-BR" sz="1200" dirty="0">
                <a:solidFill>
                  <a:srgbClr val="4D4D4D"/>
                </a:solidFill>
              </a:rPr>
              <a:t>com </a:t>
            </a:r>
            <a:r>
              <a:rPr lang="pt-BR" sz="1200" dirty="0" smtClean="0">
                <a:solidFill>
                  <a:srgbClr val="4D4D4D"/>
                </a:solidFill>
              </a:rPr>
              <a:t>DRE Contábil e DRE Gerencial </a:t>
            </a:r>
            <a:endParaRPr lang="pt-BR" sz="1200" dirty="0" smtClean="0">
              <a:solidFill>
                <a:srgbClr val="4D4D4D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Tratar seguros, seguros garantias e </a:t>
            </a:r>
            <a:r>
              <a:rPr lang="pt-BR" sz="1200" dirty="0" smtClean="0">
                <a:solidFill>
                  <a:srgbClr val="4D4D4D"/>
                </a:solidFill>
              </a:rPr>
              <a:t>cartas fianças para a UPI </a:t>
            </a:r>
            <a:r>
              <a:rPr lang="pt-BR" sz="1200" dirty="0" err="1" smtClean="0">
                <a:solidFill>
                  <a:srgbClr val="4D4D4D"/>
                </a:solidFill>
              </a:rPr>
              <a:t>Tahto</a:t>
            </a:r>
            <a:r>
              <a:rPr lang="pt-BR" sz="1200" dirty="0" smtClean="0">
                <a:solidFill>
                  <a:srgbClr val="4D4D4D"/>
                </a:solidFill>
              </a:rPr>
              <a:t>. Avaliar o que deverá ser mantido na </a:t>
            </a:r>
            <a:r>
              <a:rPr lang="pt-BR" sz="1200" dirty="0" err="1" smtClean="0">
                <a:solidFill>
                  <a:srgbClr val="4D4D4D"/>
                </a:solidFill>
              </a:rPr>
              <a:t>BtCC</a:t>
            </a:r>
            <a:r>
              <a:rPr lang="pt-BR" sz="1200" dirty="0" smtClean="0">
                <a:solidFill>
                  <a:srgbClr val="4D4D4D"/>
                </a:solidFill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rgbClr val="4D4D4D"/>
                </a:solidFill>
              </a:rPr>
              <a:t>Troca de Titularidade das </a:t>
            </a:r>
            <a:r>
              <a:rPr lang="pt-BR" sz="1200" dirty="0" err="1" smtClean="0">
                <a:solidFill>
                  <a:srgbClr val="4D4D4D"/>
                </a:solidFill>
              </a:rPr>
              <a:t>UCs</a:t>
            </a:r>
            <a:r>
              <a:rPr lang="pt-BR" sz="1200" dirty="0" smtClean="0">
                <a:solidFill>
                  <a:srgbClr val="4D4D4D"/>
                </a:solidFill>
              </a:rPr>
              <a:t> de energia a serem transferidas da Oi para </a:t>
            </a:r>
            <a:r>
              <a:rPr lang="pt-BR" sz="1200" dirty="0" err="1" smtClean="0">
                <a:solidFill>
                  <a:srgbClr val="4D4D4D"/>
                </a:solidFill>
              </a:rPr>
              <a:t>BtCC</a:t>
            </a:r>
            <a:r>
              <a:rPr lang="pt-BR" sz="1200" dirty="0" smtClean="0">
                <a:solidFill>
                  <a:srgbClr val="4D4D4D"/>
                </a:solidFill>
              </a:rPr>
              <a:t> e/ou UPI </a:t>
            </a:r>
            <a:r>
              <a:rPr lang="pt-BR" sz="1200" dirty="0" err="1" smtClean="0">
                <a:solidFill>
                  <a:srgbClr val="4D4D4D"/>
                </a:solidFill>
              </a:rPr>
              <a:t>Tahto</a:t>
            </a:r>
            <a:r>
              <a:rPr lang="pt-BR" sz="1200" dirty="0" smtClean="0">
                <a:solidFill>
                  <a:srgbClr val="4D4D4D"/>
                </a:solidFill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rgbClr val="4D4D4D"/>
                </a:solidFill>
              </a:rPr>
              <a:t>Migração das atividades de gestão das contas, contingências e processos contábeis da </a:t>
            </a:r>
            <a:r>
              <a:rPr lang="pt-BR" sz="1200" dirty="0" err="1" smtClean="0">
                <a:solidFill>
                  <a:srgbClr val="4D4D4D"/>
                </a:solidFill>
              </a:rPr>
              <a:t>BtCC</a:t>
            </a:r>
            <a:r>
              <a:rPr lang="pt-BR" sz="1200" dirty="0" smtClean="0">
                <a:solidFill>
                  <a:srgbClr val="4D4D4D"/>
                </a:solidFill>
              </a:rPr>
              <a:t> para a Oi S/A até a conclusão da venda </a:t>
            </a:r>
            <a:r>
              <a:rPr lang="pt-BR" sz="1200" dirty="0" smtClean="0">
                <a:solidFill>
                  <a:schemeClr val="tx2"/>
                </a:solidFill>
              </a:rPr>
              <a:t>[ADM Oi? </a:t>
            </a:r>
            <a:r>
              <a:rPr lang="pt-BR" sz="1200" dirty="0">
                <a:solidFill>
                  <a:schemeClr val="tx2"/>
                </a:solidFill>
              </a:rPr>
              <a:t>TSA Reverso</a:t>
            </a:r>
            <a:r>
              <a:rPr lang="pt-BR" sz="1200" dirty="0" smtClean="0">
                <a:solidFill>
                  <a:schemeClr val="tx2"/>
                </a:solidFill>
              </a:rPr>
              <a:t>?)</a:t>
            </a:r>
            <a:r>
              <a:rPr lang="pt-BR" sz="1200" dirty="0" smtClean="0">
                <a:solidFill>
                  <a:srgbClr val="4D4D4D"/>
                </a:solidFill>
              </a:rPr>
              <a:t> </a:t>
            </a:r>
            <a:endParaRPr lang="pt-BR" sz="1200" dirty="0">
              <a:solidFill>
                <a:srgbClr val="FF0000"/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2046932" y="2856443"/>
            <a:ext cx="9237591" cy="6096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buFont typeface="Wingdings" panose="05000000000000000000" pitchFamily="2" charset="2"/>
              <a:buChar char="§"/>
              <a:defRPr sz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sz="1100" dirty="0" smtClean="0">
                <a:solidFill>
                  <a:schemeClr val="tx2"/>
                </a:solidFill>
                <a:latin typeface="+mj-lt"/>
              </a:rPr>
              <a:t>Definir tratamento para o passivo de processos e contingência jurídica da </a:t>
            </a:r>
            <a:r>
              <a:rPr lang="pt-BR" sz="1100" dirty="0" err="1" smtClean="0">
                <a:solidFill>
                  <a:schemeClr val="tx2"/>
                </a:solidFill>
                <a:latin typeface="+mj-lt"/>
              </a:rPr>
              <a:t>BtCC</a:t>
            </a:r>
            <a:r>
              <a:rPr lang="pt-BR" sz="1100" dirty="0" smtClean="0">
                <a:solidFill>
                  <a:schemeClr val="tx2"/>
                </a:solidFill>
                <a:latin typeface="+mj-lt"/>
              </a:rPr>
              <a:t> que </a:t>
            </a:r>
            <a:r>
              <a:rPr lang="pt-BR" sz="1100" u="sng" dirty="0" smtClean="0">
                <a:solidFill>
                  <a:schemeClr val="tx2"/>
                </a:solidFill>
                <a:latin typeface="+mj-lt"/>
              </a:rPr>
              <a:t>não serão </a:t>
            </a:r>
            <a:r>
              <a:rPr lang="pt-BR" sz="1100" u="sng" dirty="0" err="1" smtClean="0">
                <a:solidFill>
                  <a:schemeClr val="tx2"/>
                </a:solidFill>
                <a:latin typeface="+mj-lt"/>
              </a:rPr>
              <a:t>dropados</a:t>
            </a:r>
            <a:r>
              <a:rPr lang="pt-BR" sz="1100" u="sng" dirty="0" smtClean="0">
                <a:solidFill>
                  <a:schemeClr val="tx2"/>
                </a:solidFill>
                <a:latin typeface="+mj-lt"/>
              </a:rPr>
              <a:t> para UPI. </a:t>
            </a:r>
          </a:p>
          <a:p>
            <a:r>
              <a:rPr lang="pt-BR" sz="1100" dirty="0" smtClean="0">
                <a:solidFill>
                  <a:schemeClr val="tx2"/>
                </a:solidFill>
                <a:latin typeface="+mj-lt"/>
              </a:rPr>
              <a:t>Definir sistema e processo </a:t>
            </a:r>
            <a:r>
              <a:rPr lang="pt-BR" sz="1100" dirty="0">
                <a:solidFill>
                  <a:schemeClr val="tx2"/>
                </a:solidFill>
                <a:latin typeface="+mj-lt"/>
              </a:rPr>
              <a:t>d</a:t>
            </a:r>
            <a:r>
              <a:rPr lang="pt-BR" sz="1100" dirty="0" smtClean="0">
                <a:solidFill>
                  <a:schemeClr val="tx2"/>
                </a:solidFill>
                <a:latin typeface="+mj-lt"/>
              </a:rPr>
              <a:t>a UPI para </a:t>
            </a:r>
            <a:r>
              <a:rPr lang="pt-BR" sz="1100" dirty="0" err="1" smtClean="0">
                <a:solidFill>
                  <a:schemeClr val="tx2"/>
                </a:solidFill>
                <a:latin typeface="+mj-lt"/>
              </a:rPr>
              <a:t>drop</a:t>
            </a:r>
            <a:r>
              <a:rPr lang="pt-BR" sz="1100" dirty="0" smtClean="0">
                <a:solidFill>
                  <a:schemeClr val="tx2"/>
                </a:solidFill>
                <a:latin typeface="+mj-lt"/>
              </a:rPr>
              <a:t> e pós-</a:t>
            </a:r>
            <a:r>
              <a:rPr lang="pt-BR" sz="1100" dirty="0" err="1" smtClean="0">
                <a:solidFill>
                  <a:schemeClr val="tx2"/>
                </a:solidFill>
                <a:latin typeface="+mj-lt"/>
              </a:rPr>
              <a:t>closing</a:t>
            </a:r>
            <a:r>
              <a:rPr lang="pt-BR" sz="1100" dirty="0" smtClean="0">
                <a:solidFill>
                  <a:schemeClr val="tx2"/>
                </a:solidFill>
                <a:latin typeface="+mj-lt"/>
              </a:rPr>
              <a:t>: </a:t>
            </a:r>
            <a:r>
              <a:rPr lang="pt-BR" sz="1100" b="1" dirty="0" smtClean="0">
                <a:solidFill>
                  <a:schemeClr val="tx2"/>
                </a:solidFill>
                <a:latin typeface="+mj-lt"/>
              </a:rPr>
              <a:t>Manter SISJUR </a:t>
            </a:r>
            <a:r>
              <a:rPr lang="pt-BR" sz="1100" b="1" dirty="0" smtClean="0">
                <a:solidFill>
                  <a:schemeClr val="tx2"/>
                </a:solidFill>
                <a:latin typeface="+mj-lt"/>
              </a:rPr>
              <a:t>.</a:t>
            </a:r>
          </a:p>
          <a:p>
            <a:r>
              <a:rPr lang="pt-BR" sz="1100" dirty="0" smtClean="0">
                <a:solidFill>
                  <a:schemeClr val="tx2"/>
                </a:solidFill>
                <a:latin typeface="+mj-lt"/>
              </a:rPr>
              <a:t>Definir </a:t>
            </a:r>
            <a:r>
              <a:rPr lang="pt-BR" sz="1100" dirty="0" smtClean="0">
                <a:solidFill>
                  <a:schemeClr val="tx2"/>
                </a:solidFill>
                <a:latin typeface="+mj-lt"/>
              </a:rPr>
              <a:t>profissionais que irão gerir passivo da </a:t>
            </a:r>
            <a:r>
              <a:rPr lang="pt-BR" sz="1100" dirty="0" err="1" smtClean="0">
                <a:solidFill>
                  <a:schemeClr val="tx2"/>
                </a:solidFill>
                <a:latin typeface="+mj-lt"/>
              </a:rPr>
              <a:t>BtCC</a:t>
            </a:r>
            <a:r>
              <a:rPr lang="pt-BR" sz="1100" dirty="0" smtClean="0">
                <a:solidFill>
                  <a:schemeClr val="tx2"/>
                </a:solidFill>
                <a:latin typeface="+mj-lt"/>
              </a:rPr>
              <a:t> após a conclusão da venda e realizar migração das atividades. [Jurídico Oi S/A? TSA Reverso?)</a:t>
            </a:r>
            <a:endParaRPr lang="pt-BR" sz="11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314180" y="674524"/>
            <a:ext cx="2298387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b="1" dirty="0">
                <a:solidFill>
                  <a:srgbClr val="009E0B"/>
                </a:solidFill>
              </a:rPr>
              <a:t>Frentes de Trabalho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2"/>
          </p:nvPr>
        </p:nvSpPr>
        <p:spPr>
          <a:xfrm>
            <a:off x="11819155" y="659676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33501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/>
          <p:cNvSpPr txBox="1"/>
          <p:nvPr/>
        </p:nvSpPr>
        <p:spPr>
          <a:xfrm>
            <a:off x="2046934" y="636721"/>
            <a:ext cx="9171242" cy="617966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ítulo 25"/>
          <p:cNvSpPr>
            <a:spLocks noGrp="1"/>
          </p:cNvSpPr>
          <p:nvPr>
            <p:ph type="title"/>
          </p:nvPr>
        </p:nvSpPr>
        <p:spPr>
          <a:xfrm>
            <a:off x="189673" y="134154"/>
            <a:ext cx="10756482" cy="558294"/>
          </a:xfrm>
        </p:spPr>
        <p:txBody>
          <a:bodyPr/>
          <a:lstStyle/>
          <a:p>
            <a:r>
              <a:rPr lang="pt-BR" dirty="0">
                <a:solidFill>
                  <a:srgbClr val="009E0B"/>
                </a:solidFill>
              </a:rPr>
              <a:t>KAIDÔ: </a:t>
            </a:r>
            <a:r>
              <a:rPr lang="pt-BR" dirty="0" smtClean="0">
                <a:solidFill>
                  <a:srgbClr val="009E0B"/>
                </a:solidFill>
              </a:rPr>
              <a:t>IMPLANTAÇÃO UPI TAHTO (2 de 2)</a:t>
            </a:r>
            <a:endParaRPr lang="pt-BR" dirty="0">
              <a:solidFill>
                <a:srgbClr val="009E0B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314182" y="3888221"/>
            <a:ext cx="10970342" cy="917276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SISTEMAS/ </a:t>
            </a:r>
          </a:p>
          <a:p>
            <a:pPr fontAlgn="auto" hangingPunct="0"/>
            <a:r>
              <a:rPr lang="pt-BR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MIGRAÇÃO</a:t>
            </a:r>
            <a:endParaRPr lang="pt-BR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314183" y="4872389"/>
            <a:ext cx="10970344" cy="1833211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PROCESSOS/</a:t>
            </a:r>
          </a:p>
          <a:p>
            <a:pPr fontAlgn="auto" hangingPunct="0"/>
            <a:r>
              <a:rPr lang="pt-BR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TSA</a:t>
            </a:r>
            <a:endParaRPr lang="pt-BR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2164341" y="674525"/>
            <a:ext cx="4668895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b="1" dirty="0">
                <a:solidFill>
                  <a:srgbClr val="009E0B"/>
                </a:solidFill>
              </a:rPr>
              <a:t>Escopo das Frentes </a:t>
            </a:r>
            <a:r>
              <a:rPr lang="pt-BR" b="1" dirty="0" smtClean="0">
                <a:solidFill>
                  <a:srgbClr val="009E0B"/>
                </a:solidFill>
              </a:rPr>
              <a:t>TAHTO </a:t>
            </a:r>
            <a:endParaRPr lang="pt-BR" b="1" dirty="0">
              <a:solidFill>
                <a:srgbClr val="009E0B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2046933" y="4896034"/>
            <a:ext cx="9171243" cy="18095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buFont typeface="Wingdings" panose="05000000000000000000" pitchFamily="2" charset="2"/>
              <a:buChar char="§"/>
              <a:defRPr sz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indent="0">
              <a:buNone/>
            </a:pPr>
            <a:r>
              <a:rPr lang="pt-BR" dirty="0" smtClean="0">
                <a:solidFill>
                  <a:srgbClr val="4D4D4D"/>
                </a:solidFill>
                <a:latin typeface="+mj-lt"/>
              </a:rPr>
              <a:t>PROCESSOS:</a:t>
            </a:r>
          </a:p>
          <a:p>
            <a:r>
              <a:rPr lang="pt-BR" dirty="0" smtClean="0">
                <a:solidFill>
                  <a:srgbClr val="4D4D4D"/>
                </a:solidFill>
                <a:latin typeface="+mj-lt"/>
              </a:rPr>
              <a:t>Levantar </a:t>
            </a:r>
            <a:r>
              <a:rPr lang="pt-BR" dirty="0">
                <a:solidFill>
                  <a:srgbClr val="4D4D4D"/>
                </a:solidFill>
                <a:latin typeface="+mj-lt"/>
              </a:rPr>
              <a:t>Controle de Processos e SOX a serem migrados para UPI </a:t>
            </a:r>
            <a:r>
              <a:rPr lang="pt-BR" dirty="0" err="1">
                <a:solidFill>
                  <a:srgbClr val="4D4D4D"/>
                </a:solidFill>
                <a:latin typeface="+mj-lt"/>
              </a:rPr>
              <a:t>Tahto</a:t>
            </a:r>
            <a:r>
              <a:rPr lang="pt-BR" dirty="0">
                <a:solidFill>
                  <a:srgbClr val="4D4D4D"/>
                </a:solidFill>
                <a:latin typeface="+mj-lt"/>
              </a:rPr>
              <a:t>, </a:t>
            </a:r>
            <a:endParaRPr lang="pt-BR" dirty="0" smtClean="0">
              <a:solidFill>
                <a:srgbClr val="4D4D4D"/>
              </a:solidFill>
              <a:latin typeface="+mj-lt"/>
            </a:endParaRPr>
          </a:p>
          <a:p>
            <a:r>
              <a:rPr lang="pt-BR" dirty="0">
                <a:solidFill>
                  <a:srgbClr val="4D4D4D"/>
                </a:solidFill>
                <a:latin typeface="+mj-lt"/>
              </a:rPr>
              <a:t>Avaliar canais de CONTATO com cliente: Telefones/0800, site, </a:t>
            </a:r>
            <a:r>
              <a:rPr lang="pt-BR" dirty="0" err="1">
                <a:solidFill>
                  <a:srgbClr val="4D4D4D"/>
                </a:solidFill>
                <a:latin typeface="+mj-lt"/>
              </a:rPr>
              <a:t>APPs</a:t>
            </a:r>
            <a:r>
              <a:rPr lang="pt-BR" dirty="0">
                <a:solidFill>
                  <a:srgbClr val="4D4D4D"/>
                </a:solidFill>
                <a:latin typeface="+mj-lt"/>
              </a:rPr>
              <a:t>, </a:t>
            </a:r>
            <a:r>
              <a:rPr lang="pt-BR" dirty="0" err="1">
                <a:solidFill>
                  <a:srgbClr val="4D4D4D"/>
                </a:solidFill>
                <a:latin typeface="+mj-lt"/>
              </a:rPr>
              <a:t>URAs</a:t>
            </a:r>
            <a:r>
              <a:rPr lang="pt-BR" dirty="0">
                <a:solidFill>
                  <a:srgbClr val="4D4D4D"/>
                </a:solidFill>
                <a:latin typeface="+mj-lt"/>
              </a:rPr>
              <a:t> para ajustar fluxo da </a:t>
            </a:r>
            <a:r>
              <a:rPr lang="pt-BR" dirty="0" err="1">
                <a:solidFill>
                  <a:srgbClr val="4D4D4D"/>
                </a:solidFill>
                <a:latin typeface="+mj-lt"/>
              </a:rPr>
              <a:t>BtCC</a:t>
            </a:r>
            <a:r>
              <a:rPr lang="pt-BR" dirty="0">
                <a:solidFill>
                  <a:srgbClr val="4D4D4D"/>
                </a:solidFill>
                <a:latin typeface="+mj-lt"/>
              </a:rPr>
              <a:t> e/ou migrar para UPI </a:t>
            </a:r>
            <a:r>
              <a:rPr lang="pt-BR" dirty="0" err="1">
                <a:solidFill>
                  <a:srgbClr val="4D4D4D"/>
                </a:solidFill>
                <a:latin typeface="+mj-lt"/>
              </a:rPr>
              <a:t>Tahto</a:t>
            </a:r>
            <a:r>
              <a:rPr lang="pt-BR" dirty="0">
                <a:solidFill>
                  <a:srgbClr val="4D4D4D"/>
                </a:solidFill>
                <a:latin typeface="+mj-lt"/>
              </a:rPr>
              <a:t>;</a:t>
            </a:r>
          </a:p>
          <a:p>
            <a:r>
              <a:rPr lang="pt-BR" dirty="0">
                <a:solidFill>
                  <a:srgbClr val="4D4D4D"/>
                </a:solidFill>
                <a:latin typeface="+mj-lt"/>
              </a:rPr>
              <a:t>Avaliar adequações dos processos operacionais de atendimento ao cliente – URA, Atendimento, Suporte, Instalação/ Manutenção, Retenção e Cancelamento, Vendas, e, necessidade de criação/revisão de contratos com a Oi S/A para UPI </a:t>
            </a:r>
            <a:endParaRPr lang="pt-BR" dirty="0" smtClean="0">
              <a:solidFill>
                <a:srgbClr val="4D4D4D"/>
              </a:solidFill>
              <a:latin typeface="+mj-lt"/>
            </a:endParaRPr>
          </a:p>
          <a:p>
            <a:pPr marL="0" indent="0">
              <a:buNone/>
            </a:pPr>
            <a:r>
              <a:rPr lang="pt-BR" dirty="0" smtClean="0">
                <a:solidFill>
                  <a:srgbClr val="4D4D4D"/>
                </a:solidFill>
                <a:latin typeface="+mj-lt"/>
              </a:rPr>
              <a:t>TSA</a:t>
            </a:r>
            <a:endParaRPr lang="pt-BR" dirty="0">
              <a:solidFill>
                <a:srgbClr val="4D4D4D"/>
              </a:solidFill>
              <a:latin typeface="+mj-lt"/>
            </a:endParaRPr>
          </a:p>
          <a:p>
            <a:r>
              <a:rPr lang="pt-BR" dirty="0" smtClean="0">
                <a:solidFill>
                  <a:srgbClr val="4D4D4D"/>
                </a:solidFill>
                <a:latin typeface="+mj-lt"/>
              </a:rPr>
              <a:t>Elaborar </a:t>
            </a:r>
            <a:r>
              <a:rPr lang="pt-BR" dirty="0">
                <a:solidFill>
                  <a:srgbClr val="4D4D4D"/>
                </a:solidFill>
                <a:latin typeface="+mj-lt"/>
              </a:rPr>
              <a:t>contrato de TSA </a:t>
            </a:r>
            <a:r>
              <a:rPr lang="pt-BR" dirty="0" err="1" smtClean="0">
                <a:solidFill>
                  <a:srgbClr val="4D4D4D"/>
                </a:solidFill>
                <a:latin typeface="+mj-lt"/>
              </a:rPr>
              <a:t>Pré</a:t>
            </a:r>
            <a:r>
              <a:rPr lang="pt-BR" dirty="0" smtClean="0">
                <a:solidFill>
                  <a:srgbClr val="4D4D4D"/>
                </a:solidFill>
                <a:latin typeface="+mj-lt"/>
              </a:rPr>
              <a:t> e Pós-</a:t>
            </a:r>
            <a:r>
              <a:rPr lang="pt-BR" dirty="0" err="1" smtClean="0">
                <a:solidFill>
                  <a:srgbClr val="4D4D4D"/>
                </a:solidFill>
                <a:latin typeface="+mj-lt"/>
              </a:rPr>
              <a:t>Closing</a:t>
            </a:r>
            <a:r>
              <a:rPr lang="pt-BR" dirty="0" smtClean="0">
                <a:solidFill>
                  <a:srgbClr val="4D4D4D"/>
                </a:solidFill>
                <a:latin typeface="+mj-lt"/>
              </a:rPr>
              <a:t>: (1) Novos </a:t>
            </a:r>
            <a:r>
              <a:rPr lang="pt-BR" dirty="0">
                <a:solidFill>
                  <a:srgbClr val="4D4D4D"/>
                </a:solidFill>
                <a:latin typeface="+mj-lt"/>
              </a:rPr>
              <a:t>Contratos </a:t>
            </a:r>
            <a:r>
              <a:rPr lang="pt-BR" dirty="0" err="1" smtClean="0">
                <a:solidFill>
                  <a:srgbClr val="4D4D4D"/>
                </a:solidFill>
                <a:latin typeface="+mj-lt"/>
              </a:rPr>
              <a:t>Intercompany</a:t>
            </a:r>
            <a:r>
              <a:rPr lang="pt-BR" dirty="0">
                <a:solidFill>
                  <a:srgbClr val="4D4D4D"/>
                </a:solidFill>
                <a:latin typeface="+mj-lt"/>
              </a:rPr>
              <a:t> </a:t>
            </a:r>
            <a:r>
              <a:rPr lang="pt-BR" dirty="0" smtClean="0">
                <a:solidFill>
                  <a:srgbClr val="4D4D4D"/>
                </a:solidFill>
                <a:latin typeface="+mj-lt"/>
              </a:rPr>
              <a:t>- </a:t>
            </a:r>
            <a:r>
              <a:rPr lang="pt-BR" dirty="0">
                <a:solidFill>
                  <a:srgbClr val="4D4D4D"/>
                </a:solidFill>
                <a:latin typeface="+mj-lt"/>
              </a:rPr>
              <a:t>fornecimento do </a:t>
            </a:r>
            <a:r>
              <a:rPr lang="pt-BR" dirty="0" smtClean="0">
                <a:solidFill>
                  <a:srgbClr val="4D4D4D"/>
                </a:solidFill>
                <a:latin typeface="+mj-lt"/>
              </a:rPr>
              <a:t>VOIP </a:t>
            </a:r>
            <a:r>
              <a:rPr lang="pt-BR" dirty="0">
                <a:solidFill>
                  <a:srgbClr val="4D4D4D"/>
                </a:solidFill>
                <a:latin typeface="+mj-lt"/>
              </a:rPr>
              <a:t>(elementos de rede compartilhados </a:t>
            </a:r>
            <a:r>
              <a:rPr lang="pt-BR" dirty="0" smtClean="0">
                <a:solidFill>
                  <a:srgbClr val="4D4D4D"/>
                </a:solidFill>
                <a:latin typeface="+mj-lt"/>
              </a:rPr>
              <a:t>da </a:t>
            </a:r>
            <a:r>
              <a:rPr lang="pt-BR" dirty="0">
                <a:solidFill>
                  <a:srgbClr val="4D4D4D"/>
                </a:solidFill>
                <a:latin typeface="+mj-lt"/>
              </a:rPr>
              <a:t>telefonia fixa / </a:t>
            </a:r>
            <a:r>
              <a:rPr lang="pt-BR" dirty="0" smtClean="0">
                <a:solidFill>
                  <a:srgbClr val="4D4D4D"/>
                </a:solidFill>
                <a:latin typeface="+mj-lt"/>
              </a:rPr>
              <a:t>Oi </a:t>
            </a:r>
            <a:r>
              <a:rPr lang="pt-BR" dirty="0" smtClean="0">
                <a:solidFill>
                  <a:srgbClr val="4D4D4D"/>
                </a:solidFill>
                <a:latin typeface="+mj-lt"/>
              </a:rPr>
              <a:t>Soluções), (2) serviços </a:t>
            </a:r>
            <a:r>
              <a:rPr lang="pt-BR" dirty="0" smtClean="0">
                <a:solidFill>
                  <a:srgbClr val="4D4D4D"/>
                </a:solidFill>
                <a:latin typeface="+mj-lt"/>
              </a:rPr>
              <a:t>de suporte de </a:t>
            </a:r>
            <a:r>
              <a:rPr lang="pt-BR" dirty="0">
                <a:solidFill>
                  <a:srgbClr val="4D4D4D"/>
                </a:solidFill>
                <a:latin typeface="+mj-lt"/>
              </a:rPr>
              <a:t>Sistemas até a segregação, </a:t>
            </a:r>
            <a:r>
              <a:rPr lang="pt-BR" dirty="0" smtClean="0">
                <a:solidFill>
                  <a:srgbClr val="4D4D4D"/>
                </a:solidFill>
                <a:latin typeface="+mj-lt"/>
              </a:rPr>
              <a:t>(3) Aluguel </a:t>
            </a:r>
            <a:r>
              <a:rPr lang="pt-BR" dirty="0">
                <a:solidFill>
                  <a:srgbClr val="4D4D4D"/>
                </a:solidFill>
                <a:latin typeface="+mj-lt"/>
              </a:rPr>
              <a:t>Imóveis </a:t>
            </a:r>
            <a:r>
              <a:rPr lang="pt-BR" dirty="0" smtClean="0">
                <a:solidFill>
                  <a:srgbClr val="4D4D4D"/>
                </a:solidFill>
                <a:latin typeface="+mj-lt"/>
              </a:rPr>
              <a:t>e/ou </a:t>
            </a:r>
            <a:r>
              <a:rPr lang="pt-BR" dirty="0" err="1">
                <a:solidFill>
                  <a:srgbClr val="4D4D4D"/>
                </a:solidFill>
                <a:latin typeface="+mj-lt"/>
              </a:rPr>
              <a:t>Colocation</a:t>
            </a:r>
            <a:r>
              <a:rPr lang="pt-BR" dirty="0">
                <a:solidFill>
                  <a:srgbClr val="4D4D4D"/>
                </a:solidFill>
                <a:latin typeface="+mj-lt"/>
              </a:rPr>
              <a:t> </a:t>
            </a:r>
            <a:r>
              <a:rPr lang="pt-BR" dirty="0" smtClean="0">
                <a:solidFill>
                  <a:srgbClr val="4D4D4D"/>
                </a:solidFill>
                <a:latin typeface="+mj-lt"/>
              </a:rPr>
              <a:t>Equipamentos, </a:t>
            </a:r>
            <a:r>
              <a:rPr lang="pt-BR" dirty="0" smtClean="0">
                <a:solidFill>
                  <a:srgbClr val="4D4D4D"/>
                </a:solidFill>
                <a:latin typeface="+mj-lt"/>
              </a:rPr>
              <a:t>(4) serviços </a:t>
            </a:r>
            <a:r>
              <a:rPr lang="pt-BR" dirty="0" smtClean="0">
                <a:solidFill>
                  <a:srgbClr val="4D4D4D"/>
                </a:solidFill>
                <a:latin typeface="+mj-lt"/>
              </a:rPr>
              <a:t>administrativos e/ou RH da </a:t>
            </a:r>
            <a:r>
              <a:rPr lang="pt-BR" dirty="0" err="1" smtClean="0">
                <a:solidFill>
                  <a:srgbClr val="4D4D4D"/>
                </a:solidFill>
                <a:latin typeface="+mj-lt"/>
              </a:rPr>
              <a:t>BtCC</a:t>
            </a:r>
            <a:r>
              <a:rPr lang="pt-BR" dirty="0" smtClean="0">
                <a:solidFill>
                  <a:srgbClr val="4D4D4D"/>
                </a:solidFill>
                <a:latin typeface="+mj-lt"/>
              </a:rPr>
              <a:t>. </a:t>
            </a:r>
          </a:p>
          <a:p>
            <a:r>
              <a:rPr lang="pt-BR" dirty="0" smtClean="0">
                <a:solidFill>
                  <a:srgbClr val="4D4D4D"/>
                </a:solidFill>
                <a:latin typeface="+mj-lt"/>
              </a:rPr>
              <a:t>Marca “</a:t>
            </a:r>
            <a:r>
              <a:rPr lang="pt-BR" dirty="0" err="1" smtClean="0">
                <a:solidFill>
                  <a:srgbClr val="4D4D4D"/>
                </a:solidFill>
                <a:latin typeface="+mj-lt"/>
              </a:rPr>
              <a:t>Tahto</a:t>
            </a:r>
            <a:r>
              <a:rPr lang="pt-BR" dirty="0" smtClean="0">
                <a:solidFill>
                  <a:srgbClr val="4D4D4D"/>
                </a:solidFill>
                <a:latin typeface="+mj-lt"/>
              </a:rPr>
              <a:t>” deverá ser negociada no contrato de compra e venda.</a:t>
            </a:r>
            <a:endParaRPr lang="pt-BR" dirty="0">
              <a:solidFill>
                <a:srgbClr val="4D4D4D"/>
              </a:solidFill>
              <a:latin typeface="+mj-lt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2046934" y="3898396"/>
            <a:ext cx="8682979" cy="8917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buFont typeface="Wingdings" panose="05000000000000000000" pitchFamily="2" charset="2"/>
              <a:buChar char="§"/>
              <a:defRPr sz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dirty="0">
                <a:solidFill>
                  <a:schemeClr val="tx2"/>
                </a:solidFill>
                <a:latin typeface="+mj-lt"/>
              </a:rPr>
              <a:t>Preparação sistêmica para DROP ativos / receita / clientes 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/ </a:t>
            </a:r>
            <a:r>
              <a:rPr lang="pt-BR" dirty="0" err="1" smtClean="0">
                <a:solidFill>
                  <a:schemeClr val="tx2"/>
                </a:solidFill>
                <a:latin typeface="+mj-lt"/>
              </a:rPr>
              <a:t>HCs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 na UPI </a:t>
            </a:r>
            <a:r>
              <a:rPr lang="pt-BR" dirty="0" err="1" smtClean="0">
                <a:solidFill>
                  <a:schemeClr val="tx2"/>
                </a:solidFill>
                <a:latin typeface="+mj-lt"/>
              </a:rPr>
              <a:t>Tahto</a:t>
            </a:r>
            <a:endParaRPr lang="pt-BR" dirty="0">
              <a:solidFill>
                <a:schemeClr val="tx2"/>
              </a:solidFill>
              <a:latin typeface="+mj-lt"/>
            </a:endParaRPr>
          </a:p>
          <a:p>
            <a:r>
              <a:rPr lang="pt-BR" dirty="0">
                <a:solidFill>
                  <a:schemeClr val="tx2"/>
                </a:solidFill>
                <a:latin typeface="+mj-lt"/>
              </a:rPr>
              <a:t>Viabilizar faturamento 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dos clientes na UPI </a:t>
            </a:r>
            <a:r>
              <a:rPr lang="pt-BR" dirty="0" err="1" smtClean="0">
                <a:solidFill>
                  <a:schemeClr val="tx2"/>
                </a:solidFill>
                <a:latin typeface="+mj-lt"/>
              </a:rPr>
              <a:t>Tahto</a:t>
            </a:r>
            <a:endParaRPr lang="pt-BR" dirty="0">
              <a:solidFill>
                <a:schemeClr val="tx2"/>
              </a:solidFill>
              <a:latin typeface="+mj-lt"/>
            </a:endParaRPr>
          </a:p>
          <a:p>
            <a:r>
              <a:rPr lang="pt-BR" dirty="0">
                <a:solidFill>
                  <a:schemeClr val="tx2"/>
                </a:solidFill>
                <a:latin typeface="+mj-lt"/>
              </a:rPr>
              <a:t>Avaliar impactos nos relatórios 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operacionais e fiscais; </a:t>
            </a:r>
          </a:p>
          <a:p>
            <a:r>
              <a:rPr lang="pt-BR" dirty="0" smtClean="0">
                <a:solidFill>
                  <a:schemeClr val="tx2"/>
                </a:solidFill>
                <a:latin typeface="+mj-lt"/>
              </a:rPr>
              <a:t>Avaliar tratamento a ser dado nos 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sistemas/plataformas 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que deverão ser mantidos na </a:t>
            </a:r>
            <a:r>
              <a:rPr lang="pt-BR" dirty="0" err="1" smtClean="0">
                <a:solidFill>
                  <a:schemeClr val="tx2"/>
                </a:solidFill>
                <a:latin typeface="+mj-lt"/>
              </a:rPr>
              <a:t>BtCC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 e </a:t>
            </a:r>
            <a:r>
              <a:rPr lang="pt-BR" dirty="0" err="1" smtClean="0">
                <a:solidFill>
                  <a:schemeClr val="tx2"/>
                </a:solidFill>
                <a:latin typeface="+mj-lt"/>
              </a:rPr>
              <a:t>dropados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 para UPI </a:t>
            </a:r>
            <a:r>
              <a:rPr lang="pt-BR" dirty="0" err="1" smtClean="0">
                <a:solidFill>
                  <a:schemeClr val="tx2"/>
                </a:solidFill>
                <a:latin typeface="+mj-lt"/>
              </a:rPr>
              <a:t>Tahto</a:t>
            </a:r>
            <a:endParaRPr lang="pt-BR" dirty="0" smtClean="0">
              <a:solidFill>
                <a:schemeClr val="tx2"/>
              </a:solidFill>
              <a:latin typeface="+mj-lt"/>
            </a:endParaRPr>
          </a:p>
          <a:p>
            <a:r>
              <a:rPr lang="pt-BR" dirty="0" smtClean="0">
                <a:solidFill>
                  <a:schemeClr val="tx2"/>
                </a:solidFill>
                <a:latin typeface="+mj-lt"/>
              </a:rPr>
              <a:t>Avaliar tratamento de acessos/ perfis para UPI </a:t>
            </a:r>
            <a:r>
              <a:rPr lang="pt-BR" dirty="0" err="1" smtClean="0">
                <a:solidFill>
                  <a:schemeClr val="tx2"/>
                </a:solidFill>
                <a:latin typeface="+mj-lt"/>
              </a:rPr>
              <a:t>Tahto</a:t>
            </a:r>
            <a:endParaRPr lang="pt-BR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314180" y="674524"/>
            <a:ext cx="2298387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b="1" dirty="0">
                <a:solidFill>
                  <a:srgbClr val="009E0B"/>
                </a:solidFill>
              </a:rPr>
              <a:t>Frentes de Trabalho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2"/>
          </p:nvPr>
        </p:nvSpPr>
        <p:spPr>
          <a:xfrm>
            <a:off x="11819155" y="659676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5</a:t>
            </a:fld>
            <a:endParaRPr lang="pt-BR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314185" y="976414"/>
            <a:ext cx="10970345" cy="1955472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200" b="1">
                <a:solidFill>
                  <a:srgbClr val="009E0B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sz="1400" dirty="0" smtClean="0"/>
              <a:t>CONTRATOS/ </a:t>
            </a:r>
          </a:p>
          <a:p>
            <a:r>
              <a:rPr lang="pt-BR" sz="1400" dirty="0" smtClean="0"/>
              <a:t>COMUNICAÇÃO</a:t>
            </a:r>
            <a:endParaRPr lang="pt-BR" sz="1400" dirty="0" smtClean="0"/>
          </a:p>
        </p:txBody>
      </p:sp>
      <p:sp>
        <p:nvSpPr>
          <p:cNvPr id="25" name="CaixaDeTexto 24"/>
          <p:cNvSpPr txBox="1"/>
          <p:nvPr/>
        </p:nvSpPr>
        <p:spPr>
          <a:xfrm>
            <a:off x="2060582" y="1061141"/>
            <a:ext cx="9223947" cy="18707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buFont typeface="Wingdings" panose="05000000000000000000" pitchFamily="2" charset="2"/>
              <a:buChar char="§"/>
              <a:defRPr sz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indent="0">
              <a:buNone/>
            </a:pPr>
            <a:r>
              <a:rPr lang="pt-BR" dirty="0" smtClean="0">
                <a:solidFill>
                  <a:schemeClr val="tx2"/>
                </a:solidFill>
                <a:latin typeface="+mj-lt"/>
              </a:rPr>
              <a:t>FORNECEDORES</a:t>
            </a:r>
          </a:p>
          <a:p>
            <a:r>
              <a:rPr lang="pt-BR" dirty="0" smtClean="0">
                <a:solidFill>
                  <a:schemeClr val="tx2"/>
                </a:solidFill>
                <a:latin typeface="+mj-lt"/>
              </a:rPr>
              <a:t>Segregação 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dos contratos compartilhados de fornecedores/parceiros entre Oi S/A e </a:t>
            </a:r>
            <a:r>
              <a:rPr lang="pt-BR" dirty="0" err="1" smtClean="0">
                <a:solidFill>
                  <a:schemeClr val="tx2"/>
                </a:solidFill>
                <a:latin typeface="+mj-lt"/>
              </a:rPr>
              <a:t>BtCC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;</a:t>
            </a:r>
          </a:p>
          <a:p>
            <a:r>
              <a:rPr lang="pt-BR" dirty="0" smtClean="0">
                <a:solidFill>
                  <a:schemeClr val="tx2"/>
                </a:solidFill>
                <a:latin typeface="+mj-lt"/>
              </a:rPr>
              <a:t>Cessão dos contratos de fornecedores/parceiros exclusivos da </a:t>
            </a:r>
            <a:r>
              <a:rPr lang="pt-BR" dirty="0" err="1" smtClean="0">
                <a:solidFill>
                  <a:schemeClr val="tx2"/>
                </a:solidFill>
                <a:latin typeface="+mj-lt"/>
              </a:rPr>
              <a:t>BtCC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 para a UPI </a:t>
            </a:r>
            <a:r>
              <a:rPr lang="pt-BR" dirty="0" err="1" smtClean="0">
                <a:solidFill>
                  <a:schemeClr val="tx2"/>
                </a:solidFill>
                <a:latin typeface="+mj-lt"/>
              </a:rPr>
              <a:t>Tahto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 </a:t>
            </a:r>
          </a:p>
          <a:p>
            <a:r>
              <a:rPr lang="pt-BR" dirty="0" smtClean="0">
                <a:solidFill>
                  <a:schemeClr val="tx2"/>
                </a:solidFill>
                <a:latin typeface="+mj-lt"/>
              </a:rPr>
              <a:t>Criar </a:t>
            </a:r>
            <a:r>
              <a:rPr lang="pt-BR" dirty="0">
                <a:solidFill>
                  <a:schemeClr val="tx2"/>
                </a:solidFill>
                <a:latin typeface="+mj-lt"/>
              </a:rPr>
              <a:t>regulamento de rateio de despesas administrativas, Jurídico, utilização de sistemas de equipamentos compartilhados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;</a:t>
            </a:r>
          </a:p>
          <a:p>
            <a:r>
              <a:rPr lang="pt-BR" dirty="0">
                <a:solidFill>
                  <a:schemeClr val="tx2"/>
                </a:solidFill>
                <a:latin typeface="+mj-lt"/>
              </a:rPr>
              <a:t>Rever fluxo de faturamento e pagamento de serviços</a:t>
            </a:r>
          </a:p>
          <a:p>
            <a:r>
              <a:rPr lang="pt-BR" dirty="0" smtClean="0">
                <a:solidFill>
                  <a:schemeClr val="tx2"/>
                </a:solidFill>
                <a:latin typeface="+mj-lt"/>
              </a:rPr>
              <a:t>Elaborar plano de comunicação para fornecedores (carta e documentos de cessão contratual, fluxo de faturamento/pagamento de serviço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)</a:t>
            </a:r>
          </a:p>
          <a:p>
            <a:pPr marL="0" indent="0">
              <a:buNone/>
            </a:pPr>
            <a:r>
              <a:rPr lang="pt-BR" dirty="0">
                <a:solidFill>
                  <a:schemeClr val="tx2"/>
                </a:solidFill>
                <a:latin typeface="+mj-lt"/>
              </a:rPr>
              <a:t>CLIENTES:</a:t>
            </a:r>
          </a:p>
          <a:p>
            <a:r>
              <a:rPr lang="pt-BR" dirty="0">
                <a:solidFill>
                  <a:schemeClr val="tx2"/>
                </a:solidFill>
                <a:latin typeface="+mj-lt"/>
              </a:rPr>
              <a:t>Realizar a cessão dos contratos de clientes  para a UPI </a:t>
            </a:r>
            <a:r>
              <a:rPr lang="pt-BR" dirty="0" err="1">
                <a:solidFill>
                  <a:schemeClr val="tx2"/>
                </a:solidFill>
                <a:latin typeface="+mj-lt"/>
              </a:rPr>
              <a:t>Tahto</a:t>
            </a:r>
            <a:r>
              <a:rPr lang="pt-BR" dirty="0">
                <a:solidFill>
                  <a:schemeClr val="tx2"/>
                </a:solidFill>
                <a:latin typeface="+mj-lt"/>
              </a:rPr>
              <a:t>. </a:t>
            </a:r>
          </a:p>
          <a:p>
            <a:r>
              <a:rPr lang="pt-BR" dirty="0">
                <a:solidFill>
                  <a:schemeClr val="tx2"/>
                </a:solidFill>
                <a:latin typeface="+mj-lt"/>
              </a:rPr>
              <a:t>Elaborar plano de comunicação para clientes (carta e documentos de cessão contratual, faturamento de serviço e pagamento)</a:t>
            </a:r>
          </a:p>
          <a:p>
            <a:endParaRPr lang="pt-BR" dirty="0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314188" y="2991284"/>
            <a:ext cx="10970342" cy="839816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PESSOAS</a:t>
            </a:r>
            <a:endParaRPr lang="pt-BR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2046940" y="2987391"/>
            <a:ext cx="8682979" cy="8437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171450" indent="-171450">
              <a:buFont typeface="Wingdings" panose="05000000000000000000" pitchFamily="2" charset="2"/>
              <a:buChar char="§"/>
              <a:defRPr sz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dirty="0" smtClean="0">
                <a:solidFill>
                  <a:schemeClr val="tx2"/>
                </a:solidFill>
                <a:latin typeface="+mj-lt"/>
              </a:rPr>
              <a:t>Tratar contratos de benefícios/fornecedores da folha</a:t>
            </a:r>
          </a:p>
          <a:p>
            <a:r>
              <a:rPr lang="pt-BR" dirty="0" smtClean="0">
                <a:solidFill>
                  <a:schemeClr val="tx2"/>
                </a:solidFill>
                <a:latin typeface="+mj-lt"/>
              </a:rPr>
              <a:t>Preparação do sistema para a transferência de pessoas </a:t>
            </a:r>
            <a:r>
              <a:rPr lang="pt-BR" dirty="0">
                <a:solidFill>
                  <a:schemeClr val="tx2"/>
                </a:solidFill>
                <a:latin typeface="+mj-lt"/>
              </a:rPr>
              <a:t>da </a:t>
            </a:r>
            <a:r>
              <a:rPr lang="pt-BR" dirty="0" err="1">
                <a:solidFill>
                  <a:schemeClr val="tx2"/>
                </a:solidFill>
                <a:latin typeface="+mj-lt"/>
              </a:rPr>
              <a:t>BtCC</a:t>
            </a:r>
            <a:r>
              <a:rPr lang="pt-BR" dirty="0">
                <a:solidFill>
                  <a:schemeClr val="tx2"/>
                </a:solidFill>
                <a:latin typeface="+mj-lt"/>
              </a:rPr>
              <a:t> para UPI </a:t>
            </a:r>
            <a:r>
              <a:rPr lang="pt-BR" dirty="0" err="1" smtClean="0">
                <a:solidFill>
                  <a:schemeClr val="tx2"/>
                </a:solidFill>
                <a:latin typeface="+mj-lt"/>
              </a:rPr>
              <a:t>Tahto</a:t>
            </a:r>
            <a:endParaRPr lang="pt-BR" dirty="0" smtClean="0">
              <a:solidFill>
                <a:schemeClr val="tx2"/>
              </a:solidFill>
              <a:latin typeface="+mj-lt"/>
            </a:endParaRPr>
          </a:p>
          <a:p>
            <a:r>
              <a:rPr lang="pt-BR" dirty="0" smtClean="0">
                <a:solidFill>
                  <a:schemeClr val="tx2"/>
                </a:solidFill>
                <a:latin typeface="+mj-lt"/>
              </a:rPr>
              <a:t>Avaliar criação do portal de gente e adequação de plataformas de RH para UPI </a:t>
            </a:r>
            <a:r>
              <a:rPr lang="pt-BR" dirty="0" err="1" smtClean="0">
                <a:solidFill>
                  <a:schemeClr val="tx2"/>
                </a:solidFill>
                <a:latin typeface="+mj-lt"/>
              </a:rPr>
              <a:t>Tahto</a:t>
            </a:r>
            <a:endParaRPr lang="pt-BR" dirty="0" smtClean="0">
              <a:solidFill>
                <a:schemeClr val="tx2"/>
              </a:solidFill>
              <a:latin typeface="+mj-lt"/>
            </a:endParaRPr>
          </a:p>
          <a:p>
            <a:r>
              <a:rPr lang="pt-BR" dirty="0">
                <a:solidFill>
                  <a:schemeClr val="tx2"/>
                </a:solidFill>
                <a:latin typeface="+mj-lt"/>
              </a:rPr>
              <a:t>Migração 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de </a:t>
            </a:r>
            <a:r>
              <a:rPr lang="pt-BR" dirty="0">
                <a:solidFill>
                  <a:schemeClr val="tx2"/>
                </a:solidFill>
                <a:latin typeface="+mj-lt"/>
              </a:rPr>
              <a:t>atividades 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da folha e processos da </a:t>
            </a:r>
            <a:r>
              <a:rPr lang="pt-BR" dirty="0" err="1">
                <a:solidFill>
                  <a:schemeClr val="tx2"/>
                </a:solidFill>
                <a:latin typeface="+mj-lt"/>
              </a:rPr>
              <a:t>BtCC</a:t>
            </a:r>
            <a:r>
              <a:rPr lang="pt-BR" dirty="0">
                <a:solidFill>
                  <a:schemeClr val="tx2"/>
                </a:solidFill>
                <a:latin typeface="+mj-lt"/>
              </a:rPr>
              <a:t> para a Oi S/A 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p/ tratar ano-calendário da folha [</a:t>
            </a:r>
            <a:r>
              <a:rPr lang="pt-BR" dirty="0">
                <a:solidFill>
                  <a:schemeClr val="tx2"/>
                </a:solidFill>
                <a:latin typeface="+mj-lt"/>
              </a:rPr>
              <a:t>ADM 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RH? </a:t>
            </a:r>
            <a:r>
              <a:rPr lang="pt-BR" dirty="0">
                <a:solidFill>
                  <a:schemeClr val="tx2"/>
                </a:solidFill>
                <a:latin typeface="+mj-lt"/>
              </a:rPr>
              <a:t>TSA Reverso</a:t>
            </a:r>
            <a:r>
              <a:rPr lang="pt-BR" dirty="0" smtClean="0">
                <a:solidFill>
                  <a:schemeClr val="tx2"/>
                </a:solidFill>
                <a:latin typeface="+mj-lt"/>
              </a:rPr>
              <a:t>?) </a:t>
            </a:r>
            <a:endParaRPr lang="pt-BR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604533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aixaDeTexto 76"/>
          <p:cNvSpPr txBox="1"/>
          <p:nvPr/>
        </p:nvSpPr>
        <p:spPr>
          <a:xfrm>
            <a:off x="7490915" y="620239"/>
            <a:ext cx="2066400" cy="61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2" name="CaixaDeTexto 91"/>
          <p:cNvSpPr txBox="1"/>
          <p:nvPr/>
        </p:nvSpPr>
        <p:spPr>
          <a:xfrm>
            <a:off x="1880189" y="625637"/>
            <a:ext cx="3320680" cy="61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3" name="CaixaDeTexto 62"/>
          <p:cNvSpPr txBox="1"/>
          <p:nvPr/>
        </p:nvSpPr>
        <p:spPr>
          <a:xfrm>
            <a:off x="9673299" y="622864"/>
            <a:ext cx="1650787" cy="61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ítulo 25"/>
          <p:cNvSpPr>
            <a:spLocks noGrp="1"/>
          </p:cNvSpPr>
          <p:nvPr>
            <p:ph type="title"/>
          </p:nvPr>
        </p:nvSpPr>
        <p:spPr>
          <a:xfrm>
            <a:off x="245945" y="134154"/>
            <a:ext cx="10756482" cy="558294"/>
          </a:xfrm>
        </p:spPr>
        <p:txBody>
          <a:bodyPr/>
          <a:lstStyle/>
          <a:p>
            <a:r>
              <a:rPr lang="pt-BR" dirty="0">
                <a:solidFill>
                  <a:srgbClr val="009E0B"/>
                </a:solidFill>
              </a:rPr>
              <a:t>KAIDÔ: IMPLANTAÇÃO UPI TAHTO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2"/>
          </p:nvPr>
        </p:nvSpPr>
        <p:spPr>
          <a:xfrm>
            <a:off x="11861486" y="6596766"/>
            <a:ext cx="316751" cy="276999"/>
          </a:xfrm>
          <a:noFill/>
        </p:spPr>
        <p:txBody>
          <a:bodyPr/>
          <a:lstStyle/>
          <a:p>
            <a:fld id="{86CB4B4D-7CA3-9044-876B-883B54F8677D}" type="slidenum">
              <a:rPr lang="pt-BR" smtClean="0"/>
              <a:t>6</a:t>
            </a:fld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5307991" y="622865"/>
            <a:ext cx="2067946" cy="61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314182" y="2406343"/>
            <a:ext cx="11520000" cy="586091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ATIVOS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314182" y="5032446"/>
            <a:ext cx="11520000" cy="663848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SISTEMAS/ </a:t>
            </a:r>
          </a:p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MIGRAÇÃO</a:t>
            </a:r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314182" y="3643437"/>
            <a:ext cx="11520000" cy="870494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200" b="1">
                <a:solidFill>
                  <a:srgbClr val="009E0B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dirty="0" smtClean="0"/>
              <a:t>CONTRATOS/ </a:t>
            </a:r>
          </a:p>
          <a:p>
            <a:r>
              <a:rPr lang="pt-BR" dirty="0" smtClean="0"/>
              <a:t>COMUNICAÇÃO</a:t>
            </a:r>
            <a:endParaRPr lang="pt-BR" sz="1050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314180" y="3012561"/>
            <a:ext cx="11520000" cy="586167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FINANCEIRO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314182" y="930253"/>
            <a:ext cx="11520000" cy="1013615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SOCIETÁRIO/ </a:t>
            </a:r>
          </a:p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FISCAL</a:t>
            </a:r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5366694" y="633580"/>
            <a:ext cx="135373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pt-BR" b="1" dirty="0">
                <a:solidFill>
                  <a:srgbClr val="009E0B"/>
                </a:solidFill>
              </a:rPr>
              <a:t>Líder </a:t>
            </a:r>
            <a:r>
              <a:rPr lang="pt-BR" b="1" dirty="0" smtClean="0">
                <a:solidFill>
                  <a:srgbClr val="009E0B"/>
                </a:solidFill>
              </a:rPr>
              <a:t>N2/ N3</a:t>
            </a:r>
            <a:endParaRPr lang="pt-BR" b="1" dirty="0">
              <a:solidFill>
                <a:srgbClr val="009E0B"/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5375509" y="3040862"/>
            <a:ext cx="1790046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Marcelo Gomes/ 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Patricia Decursi/ 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Carolina Gava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50" name="CaixaDeTexto 49"/>
          <p:cNvSpPr txBox="1"/>
          <p:nvPr/>
        </p:nvSpPr>
        <p:spPr>
          <a:xfrm>
            <a:off x="5375266" y="980813"/>
            <a:ext cx="1955347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Marina </a:t>
            </a:r>
            <a:r>
              <a:rPr lang="pt-BR" sz="1200" dirty="0" smtClean="0">
                <a:solidFill>
                  <a:srgbClr val="4D4D4D"/>
                </a:solidFill>
              </a:rPr>
              <a:t>Maciel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Pedro Rique/ 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Alessandra </a:t>
            </a:r>
            <a:r>
              <a:rPr lang="pt-BR" sz="1200" dirty="0" smtClean="0">
                <a:solidFill>
                  <a:srgbClr val="4D4D4D"/>
                </a:solidFill>
              </a:rPr>
              <a:t>Benevides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Adriano </a:t>
            </a:r>
            <a:r>
              <a:rPr lang="pt-BR" sz="1200" dirty="0" smtClean="0">
                <a:solidFill>
                  <a:srgbClr val="4D4D4D"/>
                </a:solidFill>
              </a:rPr>
              <a:t>Andrey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Valeria Braga</a:t>
            </a:r>
            <a:endParaRPr lang="en-US" sz="1200" dirty="0">
              <a:solidFill>
                <a:srgbClr val="4D4D4D"/>
              </a:solidFill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5367411" y="4126091"/>
            <a:ext cx="165811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</a:rPr>
              <a:t> </a:t>
            </a:r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Barbara Erthal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389780" y="3671765"/>
            <a:ext cx="133666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Luiz </a:t>
            </a:r>
            <a:r>
              <a:rPr lang="pt-BR" sz="1200" dirty="0" err="1">
                <a:solidFill>
                  <a:srgbClr val="4D4D4D"/>
                </a:solidFill>
                <a:ea typeface="Calibri" panose="020F0502020204030204" pitchFamily="34" charset="0"/>
              </a:rPr>
              <a:t>Fillipe</a:t>
            </a:r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Vieira</a:t>
            </a:r>
          </a:p>
          <a:p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Barbara Erthal</a:t>
            </a:r>
            <a:endParaRPr lang="pt-BR" sz="1200" dirty="0">
              <a:solidFill>
                <a:srgbClr val="4D4D4D"/>
              </a:solidFill>
              <a:ea typeface="Calibri" panose="020F0502020204030204" pitchFamily="34" charset="0"/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5393453" y="5074334"/>
            <a:ext cx="1973158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Rodrigo Azevedo 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Alexandre </a:t>
            </a:r>
            <a:r>
              <a:rPr lang="pt-BR" sz="1200" dirty="0" smtClean="0">
                <a:solidFill>
                  <a:srgbClr val="4D4D4D"/>
                </a:solidFill>
              </a:rPr>
              <a:t>Furtado</a:t>
            </a:r>
          </a:p>
          <a:p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River de Morais e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Silva</a:t>
            </a:r>
            <a:endParaRPr lang="pt-BR" sz="1200" dirty="0">
              <a:solidFill>
                <a:srgbClr val="4D4D4D"/>
              </a:solidFill>
              <a:ea typeface="Calibri" panose="020F0502020204030204" pitchFamily="34" charset="0"/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341237" y="651453"/>
            <a:ext cx="193047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b="1" dirty="0">
                <a:solidFill>
                  <a:srgbClr val="009E0B"/>
                </a:solidFill>
              </a:rPr>
              <a:t>Frentes de </a:t>
            </a:r>
            <a:r>
              <a:rPr lang="pt-BR" b="1" dirty="0" smtClean="0">
                <a:solidFill>
                  <a:srgbClr val="009E0B"/>
                </a:solidFill>
              </a:rPr>
              <a:t>Trabalho </a:t>
            </a:r>
            <a:r>
              <a:rPr lang="pt-BR" b="1" dirty="0" smtClean="0">
                <a:solidFill>
                  <a:schemeClr val="tx2"/>
                </a:solidFill>
              </a:rPr>
              <a:t>(*)</a:t>
            </a:r>
            <a:endParaRPr lang="pt-BR" b="1" dirty="0">
              <a:solidFill>
                <a:schemeClr val="tx2"/>
              </a:solidFill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9730569" y="3210094"/>
            <a:ext cx="1362653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>
                <a:solidFill>
                  <a:srgbClr val="4D4D4D"/>
                </a:solidFill>
              </a:rPr>
              <a:t>Francisco Anderson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9716385" y="2607613"/>
            <a:ext cx="1362653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>
                <a:solidFill>
                  <a:srgbClr val="4D4D4D"/>
                </a:solidFill>
              </a:rPr>
              <a:t>Francisco Anderson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9745083" y="1250926"/>
            <a:ext cx="130209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>
                <a:solidFill>
                  <a:srgbClr val="4D4D4D"/>
                </a:solidFill>
              </a:rPr>
              <a:t>Charlene Santino</a:t>
            </a:r>
          </a:p>
          <a:p>
            <a:r>
              <a:rPr lang="en-US" sz="1200" dirty="0" smtClean="0">
                <a:solidFill>
                  <a:srgbClr val="4D4D4D"/>
                </a:solidFill>
              </a:rPr>
              <a:t>Nathalia </a:t>
            </a:r>
            <a:r>
              <a:rPr lang="en-US" sz="1200" dirty="0">
                <a:solidFill>
                  <a:srgbClr val="4D4D4D"/>
                </a:solidFill>
              </a:rPr>
              <a:t>Piltz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9730569" y="3911469"/>
            <a:ext cx="137368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 smtClean="0">
                <a:solidFill>
                  <a:srgbClr val="4D4D4D"/>
                </a:solidFill>
              </a:rPr>
              <a:t>Alessandro </a:t>
            </a:r>
            <a:r>
              <a:rPr lang="en-US" sz="1200" dirty="0" smtClean="0">
                <a:solidFill>
                  <a:srgbClr val="4D4D4D"/>
                </a:solidFill>
              </a:rPr>
              <a:t>Barbosa</a:t>
            </a:r>
          </a:p>
          <a:p>
            <a:r>
              <a:rPr lang="en-US" sz="1200" dirty="0">
                <a:solidFill>
                  <a:srgbClr val="4D4D4D"/>
                </a:solidFill>
              </a:rPr>
              <a:t>Francisco </a:t>
            </a:r>
            <a:r>
              <a:rPr lang="en-US" sz="1200" dirty="0" smtClean="0">
                <a:solidFill>
                  <a:srgbClr val="4D4D4D"/>
                </a:solidFill>
              </a:rPr>
              <a:t>Anderson</a:t>
            </a:r>
            <a:endParaRPr lang="en-US" sz="1200" dirty="0">
              <a:solidFill>
                <a:srgbClr val="4D4D4D"/>
              </a:solidFill>
            </a:endParaRPr>
          </a:p>
        </p:txBody>
      </p:sp>
      <p:sp>
        <p:nvSpPr>
          <p:cNvPr id="71" name="CaixaDeTexto 70"/>
          <p:cNvSpPr txBox="1"/>
          <p:nvPr/>
        </p:nvSpPr>
        <p:spPr>
          <a:xfrm>
            <a:off x="9730569" y="5252734"/>
            <a:ext cx="1539941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4D4D4D"/>
                </a:solidFill>
              </a:rPr>
              <a:t>Charlene Santino</a:t>
            </a:r>
          </a:p>
        </p:txBody>
      </p:sp>
      <p:sp>
        <p:nvSpPr>
          <p:cNvPr id="72" name="CaixaDeTexto 71"/>
          <p:cNvSpPr txBox="1"/>
          <p:nvPr/>
        </p:nvSpPr>
        <p:spPr>
          <a:xfrm>
            <a:off x="10026135" y="650207"/>
            <a:ext cx="82716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 err="1" smtClean="0">
                <a:solidFill>
                  <a:schemeClr val="tx1">
                    <a:lumMod val="75000"/>
                  </a:schemeClr>
                </a:solidFill>
              </a:rPr>
              <a:t>Apoio</a:t>
            </a:r>
            <a:r>
              <a:rPr lang="en-US" b="1" dirty="0" smtClean="0">
                <a:solidFill>
                  <a:schemeClr val="tx1">
                    <a:lumMod val="75000"/>
                  </a:schemeClr>
                </a:solidFill>
              </a:rPr>
              <a:t> M&amp;A</a:t>
            </a:r>
            <a:endParaRPr kumimoji="0" lang="en-US" sz="1400" b="1" i="0" u="none" strike="noStrike" cap="none" spc="0" normalizeH="0" baseline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318941" y="4571371"/>
            <a:ext cx="11520000" cy="423386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PESSOAS</a:t>
            </a:r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3" name="CaixaDeTexto 82"/>
          <p:cNvSpPr txBox="1"/>
          <p:nvPr/>
        </p:nvSpPr>
        <p:spPr>
          <a:xfrm>
            <a:off x="314180" y="5726545"/>
            <a:ext cx="11520000" cy="994601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PROCESSOS/ </a:t>
            </a:r>
          </a:p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TSA</a:t>
            </a:r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4" name="CaixaDeTexto 83"/>
          <p:cNvSpPr txBox="1"/>
          <p:nvPr/>
        </p:nvSpPr>
        <p:spPr>
          <a:xfrm>
            <a:off x="5404294" y="5778705"/>
            <a:ext cx="1835571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</a:rPr>
              <a:t>Mariana Mesquita</a:t>
            </a:r>
          </a:p>
          <a:p>
            <a:r>
              <a:rPr lang="pt-BR" sz="1200" dirty="0" smtClean="0">
                <a:solidFill>
                  <a:srgbClr val="4D4D4D"/>
                </a:solidFill>
              </a:rPr>
              <a:t>Caio </a:t>
            </a:r>
            <a:r>
              <a:rPr lang="pt-BR" sz="1200" dirty="0" smtClean="0">
                <a:solidFill>
                  <a:srgbClr val="4D4D4D"/>
                </a:solidFill>
              </a:rPr>
              <a:t>Gusmon</a:t>
            </a:r>
          </a:p>
          <a:p>
            <a:r>
              <a:rPr lang="pt-BR" sz="1200" dirty="0">
                <a:solidFill>
                  <a:srgbClr val="4D4D4D"/>
                </a:solidFill>
              </a:rPr>
              <a:t>Rodrigo Azevedo </a:t>
            </a:r>
          </a:p>
          <a:p>
            <a:r>
              <a:rPr lang="pt-BR" sz="1200" dirty="0">
                <a:solidFill>
                  <a:srgbClr val="4D4D4D"/>
                </a:solidFill>
              </a:rPr>
              <a:t>Alexandre Furtado</a:t>
            </a:r>
            <a:endParaRPr lang="pt-BR" sz="1200" dirty="0">
              <a:solidFill>
                <a:srgbClr val="4D4D4D"/>
              </a:solidFill>
              <a:ea typeface="Calibri" panose="020F0502020204030204" pitchFamily="34" charset="0"/>
            </a:endParaRPr>
          </a:p>
        </p:txBody>
      </p:sp>
      <p:sp>
        <p:nvSpPr>
          <p:cNvPr id="85" name="CaixaDeTexto 84"/>
          <p:cNvSpPr txBox="1"/>
          <p:nvPr/>
        </p:nvSpPr>
        <p:spPr>
          <a:xfrm>
            <a:off x="5375266" y="4709164"/>
            <a:ext cx="127173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4D4D4D"/>
                </a:solidFill>
              </a:rPr>
              <a:t>Ricardo Goulart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87" name="CaixaDeTexto 86"/>
          <p:cNvSpPr txBox="1"/>
          <p:nvPr/>
        </p:nvSpPr>
        <p:spPr>
          <a:xfrm>
            <a:off x="5360752" y="2429763"/>
            <a:ext cx="1254776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Marcelo Gomes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Alexandre</a:t>
            </a:r>
            <a:r>
              <a:rPr kumimoji="0" lang="pt-BR" sz="1200" b="0" i="0" u="none" strike="noStrike" cap="none" spc="0" normalizeH="0" baseline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Furtado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Rodrigo Azevedo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3" name="CaixaDeTexto 92"/>
          <p:cNvSpPr txBox="1"/>
          <p:nvPr/>
        </p:nvSpPr>
        <p:spPr>
          <a:xfrm>
            <a:off x="1938891" y="650207"/>
            <a:ext cx="135373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pt-BR" b="1" dirty="0" err="1" smtClean="0">
                <a:solidFill>
                  <a:srgbClr val="009E0B"/>
                </a:solidFill>
              </a:rPr>
              <a:t>Sub-frente</a:t>
            </a:r>
            <a:endParaRPr lang="pt-BR" b="1" dirty="0">
              <a:solidFill>
                <a:srgbClr val="009E0B"/>
              </a:solidFill>
            </a:endParaRPr>
          </a:p>
        </p:txBody>
      </p:sp>
      <p:sp>
        <p:nvSpPr>
          <p:cNvPr id="94" name="CaixaDeTexto 93"/>
          <p:cNvSpPr txBox="1"/>
          <p:nvPr/>
        </p:nvSpPr>
        <p:spPr>
          <a:xfrm>
            <a:off x="1923718" y="3063707"/>
            <a:ext cx="330437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err="1" smtClean="0">
                <a:solidFill>
                  <a:srgbClr val="4D4D4D"/>
                </a:solidFill>
              </a:rPr>
              <a:t>Carve</a:t>
            </a:r>
            <a:r>
              <a:rPr lang="pt-BR" sz="1200" dirty="0" smtClean="0">
                <a:solidFill>
                  <a:srgbClr val="4D4D4D"/>
                </a:solidFill>
              </a:rPr>
              <a:t>-out / </a:t>
            </a:r>
            <a:r>
              <a:rPr lang="pt-BR" sz="1200" dirty="0" err="1" smtClean="0">
                <a:solidFill>
                  <a:srgbClr val="4D4D4D"/>
                </a:solidFill>
              </a:rPr>
              <a:t>CPs</a:t>
            </a:r>
            <a:r>
              <a:rPr lang="pt-BR" sz="1200" dirty="0" smtClean="0">
                <a:solidFill>
                  <a:srgbClr val="4D4D4D"/>
                </a:solidFill>
              </a:rPr>
              <a:t>, </a:t>
            </a:r>
            <a:r>
              <a:rPr kumimoji="0" lang="pt-BR" sz="1200" b="0" i="0" u="none" strike="noStrike" cap="none" spc="0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Processos financeiros,</a:t>
            </a:r>
            <a:r>
              <a:rPr kumimoji="0" lang="pt-BR" sz="1200" b="0" i="0" u="none" strike="noStrike" cap="none" spc="0" normalizeH="0" dirty="0" smtClean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contábeis,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Tratamento de seguros, garantias/fiança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95" name="CaixaDeTexto 94"/>
          <p:cNvSpPr txBox="1"/>
          <p:nvPr/>
        </p:nvSpPr>
        <p:spPr>
          <a:xfrm>
            <a:off x="1932948" y="1011953"/>
            <a:ext cx="3438051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Operação Societária/ Repasse de Incentivo Fiscal</a:t>
            </a:r>
            <a:r>
              <a:rPr lang="en-US" sz="1200" dirty="0" smtClean="0">
                <a:solidFill>
                  <a:srgbClr val="4D4D4D"/>
                </a:solidFill>
              </a:rPr>
              <a:t> </a:t>
            </a:r>
            <a:endParaRPr lang="en-US" sz="1200" dirty="0">
              <a:solidFill>
                <a:srgbClr val="4D4D4D"/>
              </a:solidFill>
            </a:endParaRP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1200" dirty="0" smtClean="0">
              <a:solidFill>
                <a:srgbClr val="4D4D4D"/>
              </a:solidFill>
            </a:endParaRP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rgbClr val="4D4D4D"/>
                </a:solidFill>
              </a:rPr>
              <a:t>Criação</a:t>
            </a:r>
            <a:r>
              <a:rPr lang="en-US" sz="1200" dirty="0" smtClean="0">
                <a:solidFill>
                  <a:srgbClr val="4D4D4D"/>
                </a:solidFill>
              </a:rPr>
              <a:t> </a:t>
            </a:r>
            <a:r>
              <a:rPr lang="en-US" sz="1200" dirty="0" smtClean="0">
                <a:solidFill>
                  <a:srgbClr val="4D4D4D"/>
                </a:solidFill>
              </a:rPr>
              <a:t>de CNPJs e </a:t>
            </a:r>
            <a:r>
              <a:rPr lang="en-US" sz="1200" dirty="0" err="1" smtClean="0">
                <a:solidFill>
                  <a:srgbClr val="4D4D4D"/>
                </a:solidFill>
              </a:rPr>
              <a:t>filiais</a:t>
            </a:r>
            <a:r>
              <a:rPr lang="en-US" sz="1200" dirty="0" smtClean="0">
                <a:solidFill>
                  <a:srgbClr val="4D4D4D"/>
                </a:solidFill>
              </a:rPr>
              <a:t> 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98" name="CaixaDeTexto 97"/>
          <p:cNvSpPr txBox="1"/>
          <p:nvPr/>
        </p:nvSpPr>
        <p:spPr>
          <a:xfrm>
            <a:off x="1939608" y="4114348"/>
            <a:ext cx="324294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Migração dos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Contratos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de Clientes e Comunicação</a:t>
            </a:r>
            <a:endParaRPr lang="en-US" sz="1200" dirty="0" smtClean="0">
              <a:solidFill>
                <a:srgbClr val="4D4D4D"/>
              </a:solidFill>
            </a:endParaRPr>
          </a:p>
        </p:txBody>
      </p:sp>
      <p:sp>
        <p:nvSpPr>
          <p:cNvPr id="99" name="CaixaDeTexto 98"/>
          <p:cNvSpPr txBox="1"/>
          <p:nvPr/>
        </p:nvSpPr>
        <p:spPr>
          <a:xfrm>
            <a:off x="1933391" y="3679873"/>
            <a:ext cx="326558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Segregação e Migração dos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Contratos de Fornecedores e Comunicação</a:t>
            </a:r>
            <a:endParaRPr lang="pt-BR" sz="1200" dirty="0">
              <a:solidFill>
                <a:srgbClr val="009E0B"/>
              </a:solidFill>
              <a:ea typeface="Calibri" panose="020F0502020204030204" pitchFamily="34" charset="0"/>
            </a:endParaRPr>
          </a:p>
        </p:txBody>
      </p:sp>
      <p:sp>
        <p:nvSpPr>
          <p:cNvPr id="100" name="CaixaDeTexto 99"/>
          <p:cNvSpPr txBox="1"/>
          <p:nvPr/>
        </p:nvSpPr>
        <p:spPr>
          <a:xfrm>
            <a:off x="1947461" y="5122106"/>
            <a:ext cx="274248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Segregação</a:t>
            </a:r>
          </a:p>
          <a:p>
            <a:r>
              <a:rPr lang="en-US" sz="1200" dirty="0" err="1">
                <a:solidFill>
                  <a:srgbClr val="4D4D4D"/>
                </a:solidFill>
              </a:rPr>
              <a:t>Migração</a:t>
            </a:r>
            <a:r>
              <a:rPr lang="en-US" sz="1200" dirty="0">
                <a:solidFill>
                  <a:srgbClr val="4D4D4D"/>
                </a:solidFill>
              </a:rPr>
              <a:t> de </a:t>
            </a:r>
            <a:r>
              <a:rPr lang="en-US" sz="1200" dirty="0" err="1">
                <a:solidFill>
                  <a:srgbClr val="4D4D4D"/>
                </a:solidFill>
              </a:rPr>
              <a:t>Sistemas</a:t>
            </a:r>
            <a:r>
              <a:rPr lang="en-US" sz="1200" dirty="0">
                <a:solidFill>
                  <a:srgbClr val="4D4D4D"/>
                </a:solidFill>
              </a:rPr>
              <a:t>/ </a:t>
            </a:r>
            <a:r>
              <a:rPr lang="en-US" sz="1200" dirty="0" err="1">
                <a:solidFill>
                  <a:srgbClr val="4D4D4D"/>
                </a:solidFill>
              </a:rPr>
              <a:t>Plataformas</a:t>
            </a:r>
            <a:endParaRPr lang="en-US" sz="1200" dirty="0">
              <a:solidFill>
                <a:srgbClr val="4D4D4D"/>
              </a:solidFill>
            </a:endParaRPr>
          </a:p>
        </p:txBody>
      </p:sp>
      <p:sp>
        <p:nvSpPr>
          <p:cNvPr id="101" name="CaixaDeTexto 100"/>
          <p:cNvSpPr txBox="1"/>
          <p:nvPr/>
        </p:nvSpPr>
        <p:spPr>
          <a:xfrm>
            <a:off x="1934967" y="5778705"/>
            <a:ext cx="3229396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</a:rPr>
              <a:t>Processos </a:t>
            </a:r>
            <a:r>
              <a:rPr lang="pt-BR" sz="1200" dirty="0" smtClean="0">
                <a:solidFill>
                  <a:srgbClr val="4D4D4D"/>
                </a:solidFill>
              </a:rPr>
              <a:t>operacionais, SOX </a:t>
            </a:r>
          </a:p>
          <a:p>
            <a:r>
              <a:rPr lang="en-US" sz="1200" dirty="0" err="1" smtClean="0">
                <a:solidFill>
                  <a:srgbClr val="4D4D4D"/>
                </a:solidFill>
              </a:rPr>
              <a:t>Atendimento</a:t>
            </a:r>
            <a:r>
              <a:rPr lang="en-US" sz="1200" dirty="0" smtClean="0">
                <a:solidFill>
                  <a:srgbClr val="4D4D4D"/>
                </a:solidFill>
              </a:rPr>
              <a:t> </a:t>
            </a:r>
            <a:r>
              <a:rPr lang="en-US" sz="1200" dirty="0" err="1" smtClean="0">
                <a:solidFill>
                  <a:srgbClr val="4D4D4D"/>
                </a:solidFill>
              </a:rPr>
              <a:t>aos</a:t>
            </a:r>
            <a:r>
              <a:rPr lang="en-US" sz="1200" dirty="0" smtClean="0">
                <a:solidFill>
                  <a:srgbClr val="4D4D4D"/>
                </a:solidFill>
              </a:rPr>
              <a:t> </a:t>
            </a:r>
            <a:r>
              <a:rPr lang="en-US" sz="1200" dirty="0" err="1" smtClean="0">
                <a:solidFill>
                  <a:srgbClr val="4D4D4D"/>
                </a:solidFill>
              </a:rPr>
              <a:t>clientes</a:t>
            </a:r>
            <a:r>
              <a:rPr lang="en-US" sz="1200" dirty="0" smtClean="0">
                <a:solidFill>
                  <a:srgbClr val="4D4D4D"/>
                </a:solidFill>
              </a:rPr>
              <a:t>  </a:t>
            </a:r>
          </a:p>
          <a:p>
            <a:r>
              <a:rPr lang="en-US" sz="1200" dirty="0" smtClean="0">
                <a:solidFill>
                  <a:srgbClr val="4D4D4D"/>
                </a:solidFill>
              </a:rPr>
              <a:t> </a:t>
            </a:r>
            <a:endParaRPr lang="en-US" sz="1200" dirty="0">
              <a:solidFill>
                <a:srgbClr val="4D4D4D"/>
              </a:solidFill>
            </a:endParaRP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rgbClr val="4D4D4D"/>
                </a:solidFill>
              </a:rPr>
              <a:t>Serviços</a:t>
            </a:r>
            <a:r>
              <a:rPr lang="en-US" sz="1200" dirty="0" smtClean="0">
                <a:solidFill>
                  <a:srgbClr val="4D4D4D"/>
                </a:solidFill>
              </a:rPr>
              <a:t> </a:t>
            </a:r>
            <a:r>
              <a:rPr lang="en-US" sz="1200" dirty="0" err="1" smtClean="0">
                <a:solidFill>
                  <a:srgbClr val="4D4D4D"/>
                </a:solidFill>
              </a:rPr>
              <a:t>pré</a:t>
            </a:r>
            <a:r>
              <a:rPr lang="en-US" sz="1200" dirty="0" smtClean="0">
                <a:solidFill>
                  <a:srgbClr val="4D4D4D"/>
                </a:solidFill>
              </a:rPr>
              <a:t> e </a:t>
            </a:r>
            <a:r>
              <a:rPr lang="en-US" sz="1200" dirty="0" err="1" smtClean="0">
                <a:solidFill>
                  <a:srgbClr val="4D4D4D"/>
                </a:solidFill>
              </a:rPr>
              <a:t>pós</a:t>
            </a:r>
            <a:r>
              <a:rPr lang="en-US" sz="1200" dirty="0" smtClean="0">
                <a:solidFill>
                  <a:srgbClr val="4D4D4D"/>
                </a:solidFill>
              </a:rPr>
              <a:t>-closing 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102" name="CaixaDeTexto 101"/>
          <p:cNvSpPr txBox="1"/>
          <p:nvPr/>
        </p:nvSpPr>
        <p:spPr>
          <a:xfrm>
            <a:off x="1932948" y="4595824"/>
            <a:ext cx="3231415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rgbClr val="4D4D4D"/>
                </a:solidFill>
              </a:rPr>
              <a:t>Tratamento</a:t>
            </a:r>
            <a:r>
              <a:rPr lang="en-US" sz="1200" dirty="0" smtClean="0">
                <a:solidFill>
                  <a:srgbClr val="4D4D4D"/>
                </a:solidFill>
              </a:rPr>
              <a:t> de </a:t>
            </a:r>
            <a:r>
              <a:rPr lang="en-US" sz="1200" dirty="0" err="1" smtClean="0">
                <a:solidFill>
                  <a:srgbClr val="4D4D4D"/>
                </a:solidFill>
              </a:rPr>
              <a:t>contratos</a:t>
            </a:r>
            <a:r>
              <a:rPr lang="en-US" sz="1200" dirty="0" smtClean="0">
                <a:solidFill>
                  <a:srgbClr val="4D4D4D"/>
                </a:solidFill>
              </a:rPr>
              <a:t> de </a:t>
            </a:r>
            <a:r>
              <a:rPr lang="en-US" sz="1200" dirty="0" err="1" smtClean="0">
                <a:solidFill>
                  <a:srgbClr val="4D4D4D"/>
                </a:solidFill>
              </a:rPr>
              <a:t>benefícios</a:t>
            </a:r>
            <a:endParaRPr lang="en-US" sz="1200" dirty="0" smtClean="0">
              <a:solidFill>
                <a:srgbClr val="4D4D4D"/>
              </a:solidFill>
            </a:endParaRP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rgbClr val="4D4D4D"/>
                </a:solidFill>
              </a:rPr>
              <a:t>Migração</a:t>
            </a:r>
            <a:r>
              <a:rPr lang="en-US" sz="1200" dirty="0" smtClean="0">
                <a:solidFill>
                  <a:srgbClr val="4D4D4D"/>
                </a:solidFill>
              </a:rPr>
              <a:t> de HCs 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103" name="CaixaDeTexto 102"/>
          <p:cNvSpPr txBox="1"/>
          <p:nvPr/>
        </p:nvSpPr>
        <p:spPr>
          <a:xfrm>
            <a:off x="1961975" y="2459681"/>
            <a:ext cx="3524055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Conciliação Físico/ Contábil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Segregação dos ativos 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err="1" smtClean="0">
                <a:solidFill>
                  <a:srgbClr val="4D4D4D"/>
                </a:solidFill>
              </a:rPr>
              <a:t>Drop</a:t>
            </a:r>
            <a:r>
              <a:rPr lang="pt-BR" sz="1200" dirty="0" smtClean="0">
                <a:solidFill>
                  <a:srgbClr val="4D4D4D"/>
                </a:solidFill>
              </a:rPr>
              <a:t> de Ativos</a:t>
            </a:r>
            <a:endParaRPr kumimoji="0" lang="en-US" sz="1200" b="0" i="0" u="non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114" name="CaixaDeTexto 113"/>
          <p:cNvSpPr txBox="1"/>
          <p:nvPr/>
        </p:nvSpPr>
        <p:spPr>
          <a:xfrm>
            <a:off x="9756543" y="6031310"/>
            <a:ext cx="1658576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>
                <a:solidFill>
                  <a:srgbClr val="4D4D4D"/>
                </a:solidFill>
              </a:rPr>
              <a:t>Francisco </a:t>
            </a:r>
            <a:r>
              <a:rPr lang="en-US" sz="1200" dirty="0" smtClean="0">
                <a:solidFill>
                  <a:srgbClr val="4D4D4D"/>
                </a:solidFill>
              </a:rPr>
              <a:t>Anderson</a:t>
            </a:r>
          </a:p>
          <a:p>
            <a:r>
              <a:rPr lang="en-US" sz="1200" dirty="0">
                <a:solidFill>
                  <a:srgbClr val="4D4D4D"/>
                </a:solidFill>
              </a:rPr>
              <a:t>Nathalia Piltz</a:t>
            </a:r>
          </a:p>
          <a:p>
            <a:endParaRPr lang="en-US" sz="1200" dirty="0" smtClean="0">
              <a:solidFill>
                <a:srgbClr val="4D4D4D"/>
              </a:solidFill>
            </a:endParaRPr>
          </a:p>
        </p:txBody>
      </p:sp>
      <p:sp>
        <p:nvSpPr>
          <p:cNvPr id="117" name="CaixaDeTexto 116"/>
          <p:cNvSpPr txBox="1"/>
          <p:nvPr/>
        </p:nvSpPr>
        <p:spPr>
          <a:xfrm>
            <a:off x="6216572" y="356995"/>
            <a:ext cx="7849537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(*)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Modelo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 de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frentes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poderá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ser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atualizado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após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 as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rodadas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 de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negociação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sym typeface="Simplon BP Regular"/>
            </a:endParaRPr>
          </a:p>
        </p:txBody>
      </p:sp>
      <p:sp>
        <p:nvSpPr>
          <p:cNvPr id="4" name="Elipse 3"/>
          <p:cNvSpPr/>
          <p:nvPr/>
        </p:nvSpPr>
        <p:spPr>
          <a:xfrm>
            <a:off x="11494434" y="1362364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8" name="Elipse 87"/>
          <p:cNvSpPr/>
          <p:nvPr/>
        </p:nvSpPr>
        <p:spPr>
          <a:xfrm>
            <a:off x="11494434" y="2628170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0" name="Elipse 89"/>
          <p:cNvSpPr/>
          <p:nvPr/>
        </p:nvSpPr>
        <p:spPr>
          <a:xfrm>
            <a:off x="11494434" y="3231911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7" name="Elipse 106"/>
          <p:cNvSpPr/>
          <p:nvPr/>
        </p:nvSpPr>
        <p:spPr>
          <a:xfrm>
            <a:off x="11494434" y="3998374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8" name="Elipse 107"/>
          <p:cNvSpPr/>
          <p:nvPr/>
        </p:nvSpPr>
        <p:spPr>
          <a:xfrm>
            <a:off x="11494434" y="5235154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9" name="Elipse 108"/>
          <p:cNvSpPr/>
          <p:nvPr/>
        </p:nvSpPr>
        <p:spPr>
          <a:xfrm>
            <a:off x="11494434" y="4689471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9" name="Elipse 118"/>
          <p:cNvSpPr/>
          <p:nvPr/>
        </p:nvSpPr>
        <p:spPr>
          <a:xfrm>
            <a:off x="11494434" y="6123594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8" name="CaixaDeTexto 77"/>
          <p:cNvSpPr txBox="1"/>
          <p:nvPr/>
        </p:nvSpPr>
        <p:spPr>
          <a:xfrm>
            <a:off x="7549617" y="659982"/>
            <a:ext cx="1702369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pt-BR" b="1" dirty="0">
                <a:solidFill>
                  <a:srgbClr val="009E0B"/>
                </a:solidFill>
              </a:rPr>
              <a:t>Líder </a:t>
            </a:r>
            <a:r>
              <a:rPr lang="pt-BR" b="1" dirty="0" smtClean="0">
                <a:solidFill>
                  <a:srgbClr val="009E0B"/>
                </a:solidFill>
              </a:rPr>
              <a:t>TAHTO N2/ N3</a:t>
            </a:r>
            <a:endParaRPr lang="pt-BR" b="1" dirty="0">
              <a:solidFill>
                <a:srgbClr val="009E0B"/>
              </a:solidFill>
            </a:endParaRPr>
          </a:p>
        </p:txBody>
      </p:sp>
      <p:sp>
        <p:nvSpPr>
          <p:cNvPr id="81" name="CaixaDeTexto 80"/>
          <p:cNvSpPr txBox="1"/>
          <p:nvPr/>
        </p:nvSpPr>
        <p:spPr>
          <a:xfrm>
            <a:off x="7514647" y="978185"/>
            <a:ext cx="2158652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>
                <a:solidFill>
                  <a:srgbClr val="4D4D4D"/>
                </a:solidFill>
              </a:rPr>
              <a:t>Roger Allan Maia </a:t>
            </a:r>
            <a:r>
              <a:rPr lang="pt-BR" sz="1200" dirty="0" smtClean="0">
                <a:solidFill>
                  <a:srgbClr val="4D4D4D"/>
                </a:solidFill>
              </a:rPr>
              <a:t>Malheiros</a:t>
            </a:r>
          </a:p>
          <a:p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Luciana de Oliveira Carmo</a:t>
            </a:r>
          </a:p>
          <a:p>
            <a:r>
              <a:rPr lang="pt-BR" sz="1200" dirty="0" smtClean="0">
                <a:solidFill>
                  <a:srgbClr val="4D4D4D"/>
                </a:solidFill>
              </a:rPr>
              <a:t>Renata Cristina de </a:t>
            </a:r>
            <a:r>
              <a:rPr lang="pt-BR" sz="1200" dirty="0">
                <a:solidFill>
                  <a:srgbClr val="4D4D4D"/>
                </a:solidFill>
              </a:rPr>
              <a:t>Souza/ Glauber Henrique Dos </a:t>
            </a:r>
            <a:r>
              <a:rPr lang="pt-BR" sz="1200" dirty="0" smtClean="0">
                <a:solidFill>
                  <a:srgbClr val="4D4D4D"/>
                </a:solidFill>
              </a:rPr>
              <a:t>Santos</a:t>
            </a:r>
          </a:p>
          <a:p>
            <a:r>
              <a:rPr lang="pt-BR" sz="1200" dirty="0">
                <a:solidFill>
                  <a:srgbClr val="4D4D4D"/>
                </a:solidFill>
              </a:rPr>
              <a:t>Uliana Maria N. Prado </a:t>
            </a:r>
            <a:r>
              <a:rPr lang="pt-BR" sz="1200" dirty="0" smtClean="0">
                <a:solidFill>
                  <a:srgbClr val="4D4D4D"/>
                </a:solidFill>
              </a:rPr>
              <a:t>Peres</a:t>
            </a:r>
            <a:endParaRPr lang="pt-BR" sz="1200" dirty="0">
              <a:solidFill>
                <a:srgbClr val="4D4D4D"/>
              </a:solidFill>
            </a:endParaRPr>
          </a:p>
        </p:txBody>
      </p:sp>
      <p:sp>
        <p:nvSpPr>
          <p:cNvPr id="124" name="CaixaDeTexto 123"/>
          <p:cNvSpPr txBox="1"/>
          <p:nvPr/>
        </p:nvSpPr>
        <p:spPr>
          <a:xfrm>
            <a:off x="7550261" y="4138026"/>
            <a:ext cx="2180155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Bruno Fantaguzzi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Linces</a:t>
            </a:r>
          </a:p>
          <a:p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Luciana de Oliveira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Carmo</a:t>
            </a:r>
            <a:endParaRPr lang="pt-BR" sz="1200" dirty="0">
              <a:solidFill>
                <a:srgbClr val="4D4D4D"/>
              </a:solidFill>
              <a:ea typeface="Calibri" panose="020F0502020204030204" pitchFamily="34" charset="0"/>
            </a:endParaRPr>
          </a:p>
        </p:txBody>
      </p:sp>
      <p:sp>
        <p:nvSpPr>
          <p:cNvPr id="125" name="CaixaDeTexto 124"/>
          <p:cNvSpPr txBox="1"/>
          <p:nvPr/>
        </p:nvSpPr>
        <p:spPr>
          <a:xfrm>
            <a:off x="7543676" y="3669137"/>
            <a:ext cx="211129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Renata </a:t>
            </a:r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Cristina de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Souza </a:t>
            </a:r>
          </a:p>
          <a:p>
            <a:r>
              <a:rPr lang="pt-BR" sz="1200" dirty="0" smtClean="0">
                <a:solidFill>
                  <a:srgbClr val="4D4D4D"/>
                </a:solidFill>
              </a:rPr>
              <a:t>Rafael </a:t>
            </a:r>
            <a:r>
              <a:rPr lang="pt-BR" sz="1200" dirty="0">
                <a:solidFill>
                  <a:srgbClr val="4D4D4D"/>
                </a:solidFill>
              </a:rPr>
              <a:t>Fernandes </a:t>
            </a:r>
            <a:r>
              <a:rPr lang="pt-BR" sz="1200" dirty="0" smtClean="0">
                <a:solidFill>
                  <a:srgbClr val="4D4D4D"/>
                </a:solidFill>
              </a:rPr>
              <a:t>Vaz</a:t>
            </a:r>
            <a:endParaRPr lang="en-US" sz="1200" dirty="0">
              <a:solidFill>
                <a:srgbClr val="4D4D4D"/>
              </a:solidFill>
            </a:endParaRPr>
          </a:p>
        </p:txBody>
      </p:sp>
      <p:sp>
        <p:nvSpPr>
          <p:cNvPr id="126" name="CaixaDeTexto 125"/>
          <p:cNvSpPr txBox="1"/>
          <p:nvPr/>
        </p:nvSpPr>
        <p:spPr>
          <a:xfrm>
            <a:off x="7529162" y="5072632"/>
            <a:ext cx="1830362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</a:rPr>
              <a:t>Rodrigo </a:t>
            </a:r>
            <a:r>
              <a:rPr lang="pt-BR" sz="1200" dirty="0">
                <a:solidFill>
                  <a:srgbClr val="4D4D4D"/>
                </a:solidFill>
              </a:rPr>
              <a:t>Correia </a:t>
            </a:r>
            <a:r>
              <a:rPr lang="pt-BR" sz="1200" dirty="0" smtClean="0">
                <a:solidFill>
                  <a:srgbClr val="4D4D4D"/>
                </a:solidFill>
              </a:rPr>
              <a:t>Furukawa</a:t>
            </a:r>
          </a:p>
          <a:p>
            <a:r>
              <a:rPr lang="pt-BR" sz="1200" dirty="0" smtClean="0">
                <a:solidFill>
                  <a:srgbClr val="4D4D4D"/>
                </a:solidFill>
              </a:rPr>
              <a:t>Luiz </a:t>
            </a:r>
            <a:r>
              <a:rPr lang="pt-BR" sz="1200" dirty="0">
                <a:solidFill>
                  <a:srgbClr val="4D4D4D"/>
                </a:solidFill>
              </a:rPr>
              <a:t>Paulo Araujo Da </a:t>
            </a:r>
            <a:r>
              <a:rPr lang="pt-BR" sz="1200" dirty="0" smtClean="0">
                <a:solidFill>
                  <a:srgbClr val="4D4D4D"/>
                </a:solidFill>
              </a:rPr>
              <a:t>Silva</a:t>
            </a:r>
          </a:p>
          <a:p>
            <a:r>
              <a:rPr lang="pt-BR" sz="1200" dirty="0" smtClean="0">
                <a:solidFill>
                  <a:srgbClr val="4D4D4D"/>
                </a:solidFill>
              </a:rPr>
              <a:t>Filipe </a:t>
            </a:r>
            <a:r>
              <a:rPr lang="pt-BR" sz="1200" dirty="0">
                <a:solidFill>
                  <a:srgbClr val="4D4D4D"/>
                </a:solidFill>
              </a:rPr>
              <a:t>Miguel Xavier Da Silva</a:t>
            </a:r>
            <a:endParaRPr lang="pt-BR" sz="1200" dirty="0">
              <a:solidFill>
                <a:srgbClr val="4D4D4D"/>
              </a:solidFill>
              <a:ea typeface="Calibri" panose="020F0502020204030204" pitchFamily="34" charset="0"/>
            </a:endParaRPr>
          </a:p>
        </p:txBody>
      </p:sp>
      <p:sp>
        <p:nvSpPr>
          <p:cNvPr id="127" name="CaixaDeTexto 126"/>
          <p:cNvSpPr txBox="1"/>
          <p:nvPr/>
        </p:nvSpPr>
        <p:spPr>
          <a:xfrm>
            <a:off x="7554721" y="5787096"/>
            <a:ext cx="1804803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Luciana </a:t>
            </a:r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de Oliveira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Carmo</a:t>
            </a:r>
          </a:p>
          <a:p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Bruno </a:t>
            </a:r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Fantaguzzi Linces</a:t>
            </a:r>
          </a:p>
          <a:p>
            <a:r>
              <a:rPr lang="pt-BR" sz="1200" dirty="0">
                <a:solidFill>
                  <a:srgbClr val="4D4D4D"/>
                </a:solidFill>
              </a:rPr>
              <a:t>Rodrigo Correia Furukawa</a:t>
            </a:r>
          </a:p>
          <a:p>
            <a:r>
              <a:rPr lang="pt-BR" sz="1200" dirty="0" smtClean="0">
                <a:solidFill>
                  <a:srgbClr val="4D4D4D"/>
                </a:solidFill>
              </a:rPr>
              <a:t>Luiz </a:t>
            </a:r>
            <a:r>
              <a:rPr lang="pt-BR" sz="1200" dirty="0">
                <a:solidFill>
                  <a:srgbClr val="4D4D4D"/>
                </a:solidFill>
              </a:rPr>
              <a:t>Paulo Araujo Da Silva</a:t>
            </a:r>
          </a:p>
          <a:p>
            <a:r>
              <a:rPr lang="pt-BR" sz="1200" dirty="0">
                <a:solidFill>
                  <a:srgbClr val="4D4D4D"/>
                </a:solidFill>
              </a:rPr>
              <a:t>Filipe Miguel Xavier Da </a:t>
            </a:r>
            <a:r>
              <a:rPr lang="pt-BR" sz="1200" dirty="0" smtClean="0">
                <a:solidFill>
                  <a:srgbClr val="4D4D4D"/>
                </a:solidFill>
              </a:rPr>
              <a:t>Silva</a:t>
            </a:r>
            <a:endParaRPr lang="en-US" sz="1200" dirty="0">
              <a:solidFill>
                <a:srgbClr val="4D4D4D"/>
              </a:solidFill>
            </a:endParaRPr>
          </a:p>
        </p:txBody>
      </p:sp>
      <p:sp>
        <p:nvSpPr>
          <p:cNvPr id="128" name="CaixaDeTexto 127"/>
          <p:cNvSpPr txBox="1"/>
          <p:nvPr/>
        </p:nvSpPr>
        <p:spPr>
          <a:xfrm>
            <a:off x="7542930" y="4604381"/>
            <a:ext cx="191894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err="1">
                <a:solidFill>
                  <a:srgbClr val="4D4D4D"/>
                </a:solidFill>
              </a:rPr>
              <a:t>Uliana</a:t>
            </a:r>
            <a:r>
              <a:rPr lang="pt-BR" sz="1200" dirty="0">
                <a:solidFill>
                  <a:srgbClr val="4D4D4D"/>
                </a:solidFill>
              </a:rPr>
              <a:t> Maria </a:t>
            </a:r>
            <a:r>
              <a:rPr lang="pt-BR" sz="1200" dirty="0" smtClean="0">
                <a:solidFill>
                  <a:srgbClr val="4D4D4D"/>
                </a:solidFill>
              </a:rPr>
              <a:t>N. </a:t>
            </a:r>
            <a:r>
              <a:rPr lang="pt-BR" sz="1200" dirty="0">
                <a:solidFill>
                  <a:srgbClr val="4D4D4D"/>
                </a:solidFill>
              </a:rPr>
              <a:t>Prado </a:t>
            </a:r>
            <a:r>
              <a:rPr lang="pt-BR" sz="1200" dirty="0" smtClean="0">
                <a:solidFill>
                  <a:srgbClr val="4D4D4D"/>
                </a:solidFill>
              </a:rPr>
              <a:t>Peres</a:t>
            </a:r>
          </a:p>
          <a:p>
            <a:r>
              <a:rPr lang="en-US" sz="1200" dirty="0" err="1">
                <a:solidFill>
                  <a:srgbClr val="4D4D4D"/>
                </a:solidFill>
              </a:rPr>
              <a:t>Odair</a:t>
            </a:r>
            <a:r>
              <a:rPr lang="en-US" sz="1200" dirty="0">
                <a:solidFill>
                  <a:srgbClr val="4D4D4D"/>
                </a:solidFill>
              </a:rPr>
              <a:t> Jose </a:t>
            </a:r>
            <a:r>
              <a:rPr lang="en-US" sz="1200" dirty="0" err="1" smtClean="0">
                <a:solidFill>
                  <a:srgbClr val="4D4D4D"/>
                </a:solidFill>
              </a:rPr>
              <a:t>Fruhling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129" name="CaixaDeTexto 128"/>
          <p:cNvSpPr txBox="1"/>
          <p:nvPr/>
        </p:nvSpPr>
        <p:spPr>
          <a:xfrm>
            <a:off x="7514649" y="2427137"/>
            <a:ext cx="2442153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</a:rPr>
              <a:t>Roger </a:t>
            </a:r>
            <a:r>
              <a:rPr lang="pt-BR" sz="1200" dirty="0">
                <a:solidFill>
                  <a:srgbClr val="4D4D4D"/>
                </a:solidFill>
              </a:rPr>
              <a:t>Allan Maia </a:t>
            </a:r>
            <a:r>
              <a:rPr lang="pt-BR" sz="1200" dirty="0" smtClean="0">
                <a:solidFill>
                  <a:srgbClr val="4D4D4D"/>
                </a:solidFill>
              </a:rPr>
              <a:t>Malheiros</a:t>
            </a:r>
          </a:p>
          <a:p>
            <a:r>
              <a:rPr lang="pt-BR" sz="1200" dirty="0">
                <a:solidFill>
                  <a:srgbClr val="4D4D4D"/>
                </a:solidFill>
              </a:rPr>
              <a:t>Victor Santos Martins Pereira </a:t>
            </a:r>
            <a:endParaRPr lang="pt-BR" sz="1200" dirty="0" smtClean="0">
              <a:solidFill>
                <a:srgbClr val="4D4D4D"/>
              </a:solidFill>
            </a:endParaRPr>
          </a:p>
          <a:p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Luiz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Paulo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Araujo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Da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Silva</a:t>
            </a:r>
            <a:endParaRPr lang="pt-BR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2" name="CaixaDeTexto 131"/>
          <p:cNvSpPr txBox="1"/>
          <p:nvPr/>
        </p:nvSpPr>
        <p:spPr>
          <a:xfrm>
            <a:off x="7549617" y="3117720"/>
            <a:ext cx="1989128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>
                <a:solidFill>
                  <a:srgbClr val="4D4D4D"/>
                </a:solidFill>
              </a:rPr>
              <a:t>Roger Allan Maia Malheiros</a:t>
            </a:r>
            <a:endParaRPr lang="en-US" sz="1200" dirty="0">
              <a:solidFill>
                <a:srgbClr val="4D4D4D"/>
              </a:solidFill>
            </a:endParaRPr>
          </a:p>
        </p:txBody>
      </p:sp>
      <p:sp>
        <p:nvSpPr>
          <p:cNvPr id="134" name="CaixaDeTexto 133"/>
          <p:cNvSpPr txBox="1"/>
          <p:nvPr/>
        </p:nvSpPr>
        <p:spPr>
          <a:xfrm>
            <a:off x="314182" y="1981557"/>
            <a:ext cx="11520000" cy="39258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200" b="1">
                <a:solidFill>
                  <a:srgbClr val="009E0B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dirty="0" smtClean="0"/>
              <a:t>JURÍDICA</a:t>
            </a:r>
            <a:endParaRPr lang="pt-BR" sz="1050" dirty="0"/>
          </a:p>
        </p:txBody>
      </p:sp>
      <p:sp>
        <p:nvSpPr>
          <p:cNvPr id="135" name="CaixaDeTexto 134"/>
          <p:cNvSpPr txBox="1"/>
          <p:nvPr/>
        </p:nvSpPr>
        <p:spPr>
          <a:xfrm>
            <a:off x="5368012" y="2096967"/>
            <a:ext cx="1336664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Elen Souto</a:t>
            </a:r>
            <a:endParaRPr lang="pt-BR" sz="1200" dirty="0">
              <a:solidFill>
                <a:srgbClr val="4D4D4D"/>
              </a:solidFill>
              <a:ea typeface="Calibri" panose="020F0502020204030204" pitchFamily="34" charset="0"/>
            </a:endParaRPr>
          </a:p>
        </p:txBody>
      </p:sp>
      <p:sp>
        <p:nvSpPr>
          <p:cNvPr id="136" name="CaixaDeTexto 135"/>
          <p:cNvSpPr txBox="1"/>
          <p:nvPr/>
        </p:nvSpPr>
        <p:spPr>
          <a:xfrm>
            <a:off x="9745083" y="2100858"/>
            <a:ext cx="137368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>
                <a:solidFill>
                  <a:srgbClr val="4D4D4D"/>
                </a:solidFill>
              </a:rPr>
              <a:t>Francisco Anderson</a:t>
            </a:r>
          </a:p>
        </p:txBody>
      </p:sp>
      <p:sp>
        <p:nvSpPr>
          <p:cNvPr id="137" name="CaixaDeTexto 136"/>
          <p:cNvSpPr txBox="1"/>
          <p:nvPr/>
        </p:nvSpPr>
        <p:spPr>
          <a:xfrm>
            <a:off x="1940651" y="2105077"/>
            <a:ext cx="3833759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chemeClr val="tx2"/>
                </a:solidFill>
              </a:rPr>
              <a:t>Passivo e Contingência Jurídica</a:t>
            </a:r>
            <a:endParaRPr lang="pt-BR" sz="1200" dirty="0">
              <a:solidFill>
                <a:schemeClr val="tx2"/>
              </a:solidFill>
            </a:endParaRPr>
          </a:p>
        </p:txBody>
      </p:sp>
      <p:sp>
        <p:nvSpPr>
          <p:cNvPr id="138" name="Elipse 137"/>
          <p:cNvSpPr/>
          <p:nvPr/>
        </p:nvSpPr>
        <p:spPr>
          <a:xfrm>
            <a:off x="11494434" y="2089749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9" name="CaixaDeTexto 138"/>
          <p:cNvSpPr txBox="1"/>
          <p:nvPr/>
        </p:nvSpPr>
        <p:spPr>
          <a:xfrm>
            <a:off x="7535598" y="2095597"/>
            <a:ext cx="2238434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Luciana de Oliveira Carmo</a:t>
            </a:r>
          </a:p>
        </p:txBody>
      </p:sp>
      <p:sp>
        <p:nvSpPr>
          <p:cNvPr id="5" name="CaixaDeTexto 4"/>
          <p:cNvSpPr txBox="1"/>
          <p:nvPr/>
        </p:nvSpPr>
        <p:spPr>
          <a:xfrm flipH="1">
            <a:off x="-1783081" y="9898743"/>
            <a:ext cx="955767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Kick</a:t>
            </a: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-off - quinta 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9" name="CaixaDeTexto 88"/>
          <p:cNvSpPr txBox="1"/>
          <p:nvPr/>
        </p:nvSpPr>
        <p:spPr>
          <a:xfrm>
            <a:off x="9738974" y="4599201"/>
            <a:ext cx="137368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 smtClean="0">
                <a:solidFill>
                  <a:srgbClr val="4D4D4D"/>
                </a:solidFill>
              </a:rPr>
              <a:t>Alessandro Barbosa</a:t>
            </a:r>
          </a:p>
          <a:p>
            <a:r>
              <a:rPr lang="en-US" sz="1200" dirty="0">
                <a:solidFill>
                  <a:srgbClr val="4D4D4D"/>
                </a:solidFill>
              </a:rPr>
              <a:t>Charlene </a:t>
            </a:r>
            <a:r>
              <a:rPr lang="en-US" sz="1200" dirty="0" smtClean="0">
                <a:solidFill>
                  <a:srgbClr val="4D4D4D"/>
                </a:solidFill>
              </a:rPr>
              <a:t>Santino</a:t>
            </a:r>
          </a:p>
        </p:txBody>
      </p:sp>
    </p:spTree>
    <p:extLst>
      <p:ext uri="{BB962C8B-B14F-4D97-AF65-F5344CB8AC3E}">
        <p14:creationId xmlns:p14="http://schemas.microsoft.com/office/powerpoint/2010/main" val="412439060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aixaDeTexto 76"/>
          <p:cNvSpPr txBox="1"/>
          <p:nvPr/>
        </p:nvSpPr>
        <p:spPr>
          <a:xfrm>
            <a:off x="7490915" y="620239"/>
            <a:ext cx="2066400" cy="61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2" name="CaixaDeTexto 91"/>
          <p:cNvSpPr txBox="1"/>
          <p:nvPr/>
        </p:nvSpPr>
        <p:spPr>
          <a:xfrm>
            <a:off x="1880189" y="625637"/>
            <a:ext cx="3320680" cy="61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3" name="CaixaDeTexto 62"/>
          <p:cNvSpPr txBox="1"/>
          <p:nvPr/>
        </p:nvSpPr>
        <p:spPr>
          <a:xfrm>
            <a:off x="9673299" y="622864"/>
            <a:ext cx="1650787" cy="61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Título 25"/>
          <p:cNvSpPr>
            <a:spLocks noGrp="1"/>
          </p:cNvSpPr>
          <p:nvPr>
            <p:ph type="title"/>
          </p:nvPr>
        </p:nvSpPr>
        <p:spPr>
          <a:xfrm>
            <a:off x="245945" y="134154"/>
            <a:ext cx="10756482" cy="558294"/>
          </a:xfrm>
        </p:spPr>
        <p:txBody>
          <a:bodyPr/>
          <a:lstStyle/>
          <a:p>
            <a:r>
              <a:rPr lang="pt-BR" dirty="0">
                <a:solidFill>
                  <a:srgbClr val="009E0B"/>
                </a:solidFill>
              </a:rPr>
              <a:t>KAIDÔ: IMPLANTAÇÃO UPI TAHTO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2"/>
          </p:nvPr>
        </p:nvSpPr>
        <p:spPr>
          <a:xfrm>
            <a:off x="11861486" y="6596766"/>
            <a:ext cx="316751" cy="276999"/>
          </a:xfrm>
          <a:noFill/>
        </p:spPr>
        <p:txBody>
          <a:bodyPr/>
          <a:lstStyle/>
          <a:p>
            <a:fld id="{86CB4B4D-7CA3-9044-876B-883B54F8677D}" type="slidenum">
              <a:rPr lang="pt-BR" smtClean="0"/>
              <a:t>7</a:t>
            </a:fld>
            <a:endParaRPr lang="pt-BR" dirty="0"/>
          </a:p>
        </p:txBody>
      </p:sp>
      <p:sp>
        <p:nvSpPr>
          <p:cNvPr id="29" name="CaixaDeTexto 28"/>
          <p:cNvSpPr txBox="1"/>
          <p:nvPr/>
        </p:nvSpPr>
        <p:spPr>
          <a:xfrm>
            <a:off x="5307991" y="622865"/>
            <a:ext cx="2067946" cy="612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>
            <a:solidFill>
              <a:schemeClr val="bg1">
                <a:lumMod val="6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algn="ctr" fontAlgn="auto" hangingPunct="0"/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314182" y="1819007"/>
            <a:ext cx="11520000" cy="32901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REGULATÓRIA</a:t>
            </a:r>
            <a:endParaRPr lang="pt-BR" sz="1200" b="1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314182" y="2522459"/>
            <a:ext cx="11520000" cy="586091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ATIVOS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314182" y="5148562"/>
            <a:ext cx="11520000" cy="554068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SISTEMAS/ </a:t>
            </a:r>
          </a:p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MIGRAÇÃO</a:t>
            </a:r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314182" y="3759553"/>
            <a:ext cx="11520000" cy="870494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200" b="1">
                <a:solidFill>
                  <a:srgbClr val="009E0B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dirty="0" smtClean="0"/>
              <a:t>CONTRATOS/ </a:t>
            </a:r>
          </a:p>
          <a:p>
            <a:r>
              <a:rPr lang="pt-BR" dirty="0" smtClean="0"/>
              <a:t>COMUNICAÇÃO</a:t>
            </a:r>
            <a:endParaRPr lang="pt-BR" sz="1050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314180" y="3128677"/>
            <a:ext cx="11520000" cy="586167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FINANCEIRO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314182" y="930252"/>
            <a:ext cx="11520000" cy="85850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SOCIETÁRIO/ </a:t>
            </a:r>
          </a:p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FISCAL</a:t>
            </a:r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5366694" y="633580"/>
            <a:ext cx="135373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pt-BR" b="1" dirty="0">
                <a:solidFill>
                  <a:srgbClr val="009E0B"/>
                </a:solidFill>
              </a:rPr>
              <a:t>Líder </a:t>
            </a:r>
            <a:r>
              <a:rPr lang="pt-BR" b="1" dirty="0" smtClean="0">
                <a:solidFill>
                  <a:srgbClr val="009E0B"/>
                </a:solidFill>
              </a:rPr>
              <a:t>N2/ N3</a:t>
            </a:r>
            <a:endParaRPr lang="pt-BR" b="1" dirty="0">
              <a:solidFill>
                <a:srgbClr val="009E0B"/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5375509" y="3156978"/>
            <a:ext cx="1790046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Marcelo Gomes/ 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Patricia Decursi/ 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Carolina Gava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55" name="CaixaDeTexto 54"/>
          <p:cNvSpPr txBox="1"/>
          <p:nvPr/>
        </p:nvSpPr>
        <p:spPr>
          <a:xfrm>
            <a:off x="5375266" y="1891344"/>
            <a:ext cx="129572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</a:rPr>
              <a:t>Mariana Doher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5367411" y="4242207"/>
            <a:ext cx="165811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</a:rPr>
              <a:t> </a:t>
            </a:r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Barbara Erthal</a:t>
            </a:r>
          </a:p>
        </p:txBody>
      </p:sp>
      <p:sp>
        <p:nvSpPr>
          <p:cNvPr id="58" name="CaixaDeTexto 57"/>
          <p:cNvSpPr txBox="1"/>
          <p:nvPr/>
        </p:nvSpPr>
        <p:spPr>
          <a:xfrm>
            <a:off x="5389780" y="3787881"/>
            <a:ext cx="133666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Luiz </a:t>
            </a:r>
            <a:r>
              <a:rPr lang="pt-BR" sz="1200" dirty="0" err="1">
                <a:solidFill>
                  <a:srgbClr val="4D4D4D"/>
                </a:solidFill>
                <a:ea typeface="Calibri" panose="020F0502020204030204" pitchFamily="34" charset="0"/>
              </a:rPr>
              <a:t>Fillipe</a:t>
            </a:r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Vieira</a:t>
            </a:r>
          </a:p>
          <a:p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Barbara Erthal</a:t>
            </a:r>
            <a:endParaRPr lang="pt-BR" sz="1200" dirty="0">
              <a:solidFill>
                <a:srgbClr val="4D4D4D"/>
              </a:solidFill>
              <a:ea typeface="Calibri" panose="020F0502020204030204" pitchFamily="34" charset="0"/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5349911" y="5175936"/>
            <a:ext cx="1973158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Rodrigo Azevedo 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Alexandre </a:t>
            </a:r>
            <a:r>
              <a:rPr lang="pt-BR" sz="1200" dirty="0" smtClean="0">
                <a:solidFill>
                  <a:srgbClr val="4D4D4D"/>
                </a:solidFill>
              </a:rPr>
              <a:t>Furtado</a:t>
            </a:r>
          </a:p>
          <a:p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River </a:t>
            </a:r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de Morais e Silva</a:t>
            </a:r>
            <a:endParaRPr lang="pt-BR" sz="1200" dirty="0">
              <a:solidFill>
                <a:srgbClr val="4D4D4D"/>
              </a:solidFill>
              <a:ea typeface="Calibri" panose="020F0502020204030204" pitchFamily="34" charset="0"/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341237" y="651453"/>
            <a:ext cx="193047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b="1" dirty="0">
                <a:solidFill>
                  <a:srgbClr val="009E0B"/>
                </a:solidFill>
              </a:rPr>
              <a:t>Frentes de </a:t>
            </a:r>
            <a:r>
              <a:rPr lang="pt-BR" b="1" dirty="0" smtClean="0">
                <a:solidFill>
                  <a:srgbClr val="009E0B"/>
                </a:solidFill>
              </a:rPr>
              <a:t>Trabalho </a:t>
            </a:r>
            <a:r>
              <a:rPr lang="pt-BR" b="1" dirty="0" smtClean="0">
                <a:solidFill>
                  <a:schemeClr val="tx2"/>
                </a:solidFill>
              </a:rPr>
              <a:t>(*)</a:t>
            </a:r>
            <a:endParaRPr lang="pt-BR" b="1" dirty="0">
              <a:solidFill>
                <a:schemeClr val="tx2"/>
              </a:solidFill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9730569" y="3326210"/>
            <a:ext cx="1362653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>
                <a:solidFill>
                  <a:srgbClr val="4D4D4D"/>
                </a:solidFill>
              </a:rPr>
              <a:t>Francisco Anderson</a:t>
            </a:r>
          </a:p>
        </p:txBody>
      </p:sp>
      <p:sp>
        <p:nvSpPr>
          <p:cNvPr id="65" name="CaixaDeTexto 64"/>
          <p:cNvSpPr txBox="1"/>
          <p:nvPr/>
        </p:nvSpPr>
        <p:spPr>
          <a:xfrm>
            <a:off x="9716385" y="2723729"/>
            <a:ext cx="1362653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>
                <a:solidFill>
                  <a:srgbClr val="4D4D4D"/>
                </a:solidFill>
              </a:rPr>
              <a:t>Francisco Anderson</a:t>
            </a:r>
          </a:p>
        </p:txBody>
      </p:sp>
      <p:sp>
        <p:nvSpPr>
          <p:cNvPr id="66" name="CaixaDeTexto 65"/>
          <p:cNvSpPr txBox="1"/>
          <p:nvPr/>
        </p:nvSpPr>
        <p:spPr>
          <a:xfrm>
            <a:off x="9745083" y="1163838"/>
            <a:ext cx="130209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>
                <a:solidFill>
                  <a:srgbClr val="4D4D4D"/>
                </a:solidFill>
              </a:rPr>
              <a:t>Charlene Santino</a:t>
            </a:r>
          </a:p>
          <a:p>
            <a:r>
              <a:rPr lang="en-US" sz="1200" dirty="0" smtClean="0">
                <a:solidFill>
                  <a:srgbClr val="4D4D4D"/>
                </a:solidFill>
              </a:rPr>
              <a:t>Nathalia </a:t>
            </a:r>
            <a:r>
              <a:rPr lang="en-US" sz="1200" dirty="0">
                <a:solidFill>
                  <a:srgbClr val="4D4D4D"/>
                </a:solidFill>
              </a:rPr>
              <a:t>Piltz</a:t>
            </a:r>
          </a:p>
        </p:txBody>
      </p:sp>
      <p:sp>
        <p:nvSpPr>
          <p:cNvPr id="67" name="CaixaDeTexto 66"/>
          <p:cNvSpPr txBox="1"/>
          <p:nvPr/>
        </p:nvSpPr>
        <p:spPr>
          <a:xfrm>
            <a:off x="9745083" y="1899765"/>
            <a:ext cx="1263338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>
                <a:solidFill>
                  <a:srgbClr val="4D4D4D"/>
                </a:solidFill>
              </a:rPr>
              <a:t>Charlene Santino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9730569" y="4027585"/>
            <a:ext cx="137368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 smtClean="0">
                <a:solidFill>
                  <a:srgbClr val="4D4D4D"/>
                </a:solidFill>
              </a:rPr>
              <a:t>Alessandro </a:t>
            </a:r>
            <a:r>
              <a:rPr lang="en-US" sz="1200" dirty="0" smtClean="0">
                <a:solidFill>
                  <a:srgbClr val="4D4D4D"/>
                </a:solidFill>
              </a:rPr>
              <a:t>Barbosa</a:t>
            </a:r>
          </a:p>
          <a:p>
            <a:r>
              <a:rPr lang="en-US" sz="1200" dirty="0">
                <a:solidFill>
                  <a:srgbClr val="4D4D4D"/>
                </a:solidFill>
              </a:rPr>
              <a:t>Francisco </a:t>
            </a:r>
            <a:r>
              <a:rPr lang="en-US" sz="1200" dirty="0" smtClean="0">
                <a:solidFill>
                  <a:srgbClr val="4D4D4D"/>
                </a:solidFill>
              </a:rPr>
              <a:t>Anderson</a:t>
            </a:r>
            <a:endParaRPr lang="en-US" sz="1200" dirty="0">
              <a:solidFill>
                <a:srgbClr val="4D4D4D"/>
              </a:solidFill>
            </a:endParaRPr>
          </a:p>
        </p:txBody>
      </p:sp>
      <p:sp>
        <p:nvSpPr>
          <p:cNvPr id="71" name="CaixaDeTexto 70"/>
          <p:cNvSpPr txBox="1"/>
          <p:nvPr/>
        </p:nvSpPr>
        <p:spPr>
          <a:xfrm>
            <a:off x="9730569" y="5368850"/>
            <a:ext cx="1539941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4D4D4D"/>
                </a:solidFill>
              </a:rPr>
              <a:t>Charlene Santino</a:t>
            </a:r>
          </a:p>
        </p:txBody>
      </p:sp>
      <p:sp>
        <p:nvSpPr>
          <p:cNvPr id="72" name="CaixaDeTexto 71"/>
          <p:cNvSpPr txBox="1"/>
          <p:nvPr/>
        </p:nvSpPr>
        <p:spPr>
          <a:xfrm>
            <a:off x="10026135" y="650207"/>
            <a:ext cx="82716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b="1" dirty="0" err="1" smtClean="0">
                <a:solidFill>
                  <a:schemeClr val="tx1">
                    <a:lumMod val="75000"/>
                  </a:schemeClr>
                </a:solidFill>
              </a:rPr>
              <a:t>Apoio</a:t>
            </a:r>
            <a:r>
              <a:rPr lang="en-US" b="1" dirty="0" smtClean="0">
                <a:solidFill>
                  <a:schemeClr val="tx1">
                    <a:lumMod val="75000"/>
                  </a:schemeClr>
                </a:solidFill>
              </a:rPr>
              <a:t> M&amp;A</a:t>
            </a:r>
            <a:endParaRPr kumimoji="0" lang="en-US" sz="1400" b="1" i="0" u="none" strike="noStrike" cap="none" spc="0" normalizeH="0" baseline="0" dirty="0">
              <a:ln>
                <a:noFill/>
              </a:ln>
              <a:solidFill>
                <a:schemeClr val="tx1">
                  <a:lumMod val="75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53" name="CaixaDeTexto 52"/>
          <p:cNvSpPr txBox="1"/>
          <p:nvPr/>
        </p:nvSpPr>
        <p:spPr>
          <a:xfrm>
            <a:off x="318941" y="4687487"/>
            <a:ext cx="11520000" cy="423386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PESSOAS</a:t>
            </a:r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3" name="CaixaDeTexto 82"/>
          <p:cNvSpPr txBox="1"/>
          <p:nvPr/>
        </p:nvSpPr>
        <p:spPr>
          <a:xfrm>
            <a:off x="314180" y="5741063"/>
            <a:ext cx="11520000" cy="994601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/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PROCESSOS/ </a:t>
            </a:r>
          </a:p>
          <a:p>
            <a:pPr fontAlgn="auto" hangingPunct="0"/>
            <a:r>
              <a:rPr lang="pt-BR" sz="1200" b="1" dirty="0" smtClean="0">
                <a:solidFill>
                  <a:srgbClr val="009E0B"/>
                </a:solidFill>
                <a:latin typeface="+mn-lt"/>
                <a:ea typeface="+mn-ea"/>
                <a:cs typeface="+mn-cs"/>
              </a:rPr>
              <a:t>TSA</a:t>
            </a:r>
            <a:endParaRPr lang="pt-BR" sz="1200" b="1" dirty="0">
              <a:solidFill>
                <a:srgbClr val="009E0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4" name="CaixaDeTexto 83"/>
          <p:cNvSpPr txBox="1"/>
          <p:nvPr/>
        </p:nvSpPr>
        <p:spPr>
          <a:xfrm>
            <a:off x="5360752" y="5793223"/>
            <a:ext cx="1835571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</a:rPr>
              <a:t>Mariana Mesquita</a:t>
            </a:r>
          </a:p>
          <a:p>
            <a:r>
              <a:rPr lang="pt-BR" sz="1200" dirty="0" smtClean="0">
                <a:solidFill>
                  <a:srgbClr val="4D4D4D"/>
                </a:solidFill>
              </a:rPr>
              <a:t>Caio </a:t>
            </a:r>
            <a:r>
              <a:rPr lang="pt-BR" sz="1200" dirty="0" smtClean="0">
                <a:solidFill>
                  <a:srgbClr val="4D4D4D"/>
                </a:solidFill>
              </a:rPr>
              <a:t>Gusmon</a:t>
            </a:r>
          </a:p>
          <a:p>
            <a:r>
              <a:rPr lang="pt-BR" sz="1200" dirty="0">
                <a:solidFill>
                  <a:srgbClr val="4D4D4D"/>
                </a:solidFill>
              </a:rPr>
              <a:t>Rodrigo Azevedo </a:t>
            </a:r>
          </a:p>
          <a:p>
            <a:r>
              <a:rPr lang="pt-BR" sz="1200" dirty="0">
                <a:solidFill>
                  <a:srgbClr val="4D4D4D"/>
                </a:solidFill>
              </a:rPr>
              <a:t>Alexandre Furtado</a:t>
            </a:r>
            <a:endParaRPr lang="pt-BR" sz="1200" dirty="0">
              <a:solidFill>
                <a:srgbClr val="4D4D4D"/>
              </a:solidFill>
              <a:ea typeface="Calibri" panose="020F0502020204030204" pitchFamily="34" charset="0"/>
            </a:endParaRPr>
          </a:p>
        </p:txBody>
      </p:sp>
      <p:sp>
        <p:nvSpPr>
          <p:cNvPr id="85" name="CaixaDeTexto 84"/>
          <p:cNvSpPr txBox="1"/>
          <p:nvPr/>
        </p:nvSpPr>
        <p:spPr>
          <a:xfrm>
            <a:off x="5375266" y="4825280"/>
            <a:ext cx="1271730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rgbClr val="4D4D4D"/>
                </a:solidFill>
              </a:rPr>
              <a:t>Ricardo Goulart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87" name="CaixaDeTexto 86"/>
          <p:cNvSpPr txBox="1"/>
          <p:nvPr/>
        </p:nvSpPr>
        <p:spPr>
          <a:xfrm>
            <a:off x="5360752" y="2545879"/>
            <a:ext cx="1254776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Marcelo Gomes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Alexandre</a:t>
            </a:r>
            <a:r>
              <a:rPr kumimoji="0" lang="pt-BR" sz="1200" b="0" i="0" u="none" strike="noStrike" cap="none" spc="0" normalizeH="0" baseline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Furtado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Rodrigo Azevedo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3" name="CaixaDeTexto 92"/>
          <p:cNvSpPr txBox="1"/>
          <p:nvPr/>
        </p:nvSpPr>
        <p:spPr>
          <a:xfrm>
            <a:off x="1938891" y="650207"/>
            <a:ext cx="135373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pt-BR" b="1" dirty="0" err="1" smtClean="0">
                <a:solidFill>
                  <a:srgbClr val="009E0B"/>
                </a:solidFill>
              </a:rPr>
              <a:t>Sub-frente</a:t>
            </a:r>
            <a:endParaRPr lang="pt-BR" b="1" dirty="0">
              <a:solidFill>
                <a:srgbClr val="009E0B"/>
              </a:solidFill>
            </a:endParaRPr>
          </a:p>
        </p:txBody>
      </p:sp>
      <p:sp>
        <p:nvSpPr>
          <p:cNvPr id="94" name="CaixaDeTexto 93"/>
          <p:cNvSpPr txBox="1"/>
          <p:nvPr/>
        </p:nvSpPr>
        <p:spPr>
          <a:xfrm>
            <a:off x="1923718" y="3179823"/>
            <a:ext cx="330437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err="1" smtClean="0">
                <a:solidFill>
                  <a:srgbClr val="4D4D4D"/>
                </a:solidFill>
              </a:rPr>
              <a:t>Carve</a:t>
            </a:r>
            <a:r>
              <a:rPr lang="pt-BR" sz="1200" dirty="0" smtClean="0">
                <a:solidFill>
                  <a:srgbClr val="4D4D4D"/>
                </a:solidFill>
              </a:rPr>
              <a:t>-out / </a:t>
            </a:r>
            <a:r>
              <a:rPr lang="pt-BR" sz="1200" dirty="0" err="1" smtClean="0">
                <a:solidFill>
                  <a:srgbClr val="4D4D4D"/>
                </a:solidFill>
              </a:rPr>
              <a:t>CPs</a:t>
            </a:r>
            <a:r>
              <a:rPr lang="pt-BR" sz="1200" dirty="0" smtClean="0">
                <a:solidFill>
                  <a:srgbClr val="4D4D4D"/>
                </a:solidFill>
              </a:rPr>
              <a:t>, </a:t>
            </a:r>
            <a:r>
              <a:rPr kumimoji="0" lang="pt-BR" sz="1200" b="0" i="0" u="none" strike="noStrike" cap="none" spc="0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Processos financeiros,</a:t>
            </a:r>
            <a:r>
              <a:rPr kumimoji="0" lang="pt-BR" sz="1200" b="0" i="0" u="none" strike="noStrike" cap="none" spc="0" normalizeH="0" dirty="0" smtClean="0">
                <a:ln>
                  <a:noFill/>
                </a:ln>
                <a:solidFill>
                  <a:srgbClr val="4D4D4D"/>
                </a:solidFill>
                <a:effectLst/>
                <a:uFillTx/>
                <a:sym typeface="Simplon BP Regular"/>
              </a:rPr>
              <a:t> contábeis,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Tratamento de seguros, garantias/fiança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95" name="CaixaDeTexto 94"/>
          <p:cNvSpPr txBox="1"/>
          <p:nvPr/>
        </p:nvSpPr>
        <p:spPr>
          <a:xfrm>
            <a:off x="1932948" y="968409"/>
            <a:ext cx="3438051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Operação Societária/ Repasse de Incentivo Fiscal</a:t>
            </a:r>
            <a:r>
              <a:rPr lang="en-US" sz="1200" dirty="0" smtClean="0">
                <a:solidFill>
                  <a:srgbClr val="4D4D4D"/>
                </a:solidFill>
              </a:rPr>
              <a:t> </a:t>
            </a:r>
            <a:endParaRPr lang="en-US" sz="1200" dirty="0">
              <a:solidFill>
                <a:srgbClr val="4D4D4D"/>
              </a:solidFill>
            </a:endParaRP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rgbClr val="4D4D4D"/>
                </a:solidFill>
              </a:rPr>
              <a:t>Criação</a:t>
            </a:r>
            <a:r>
              <a:rPr lang="en-US" sz="1200" dirty="0" smtClean="0">
                <a:solidFill>
                  <a:srgbClr val="4D4D4D"/>
                </a:solidFill>
              </a:rPr>
              <a:t> de CNPJs e </a:t>
            </a:r>
            <a:r>
              <a:rPr lang="en-US" sz="1200" dirty="0" err="1" smtClean="0">
                <a:solidFill>
                  <a:srgbClr val="4D4D4D"/>
                </a:solidFill>
              </a:rPr>
              <a:t>filiais</a:t>
            </a:r>
            <a:r>
              <a:rPr lang="en-US" sz="1200" dirty="0" smtClean="0">
                <a:solidFill>
                  <a:srgbClr val="4D4D4D"/>
                </a:solidFill>
              </a:rPr>
              <a:t> 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96" name="CaixaDeTexto 95"/>
          <p:cNvSpPr txBox="1"/>
          <p:nvPr/>
        </p:nvSpPr>
        <p:spPr>
          <a:xfrm>
            <a:off x="1960622" y="1897938"/>
            <a:ext cx="3061321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solidFill>
                  <a:schemeClr val="bg1">
                    <a:lumMod val="75000"/>
                  </a:schemeClr>
                </a:solidFill>
              </a:rPr>
              <a:t>CADE/ </a:t>
            </a:r>
            <a:r>
              <a:rPr lang="en-US" sz="1200" dirty="0" err="1" smtClean="0">
                <a:solidFill>
                  <a:schemeClr val="bg1">
                    <a:lumMod val="75000"/>
                  </a:schemeClr>
                </a:solidFill>
              </a:rPr>
              <a:t>Anatel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98" name="CaixaDeTexto 97"/>
          <p:cNvSpPr txBox="1"/>
          <p:nvPr/>
        </p:nvSpPr>
        <p:spPr>
          <a:xfrm>
            <a:off x="1939608" y="4230464"/>
            <a:ext cx="324294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Migração dos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Contratos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de Clientes e Comunicação</a:t>
            </a:r>
            <a:endParaRPr lang="en-US" sz="1200" dirty="0" smtClean="0">
              <a:solidFill>
                <a:srgbClr val="4D4D4D"/>
              </a:solidFill>
            </a:endParaRPr>
          </a:p>
        </p:txBody>
      </p:sp>
      <p:sp>
        <p:nvSpPr>
          <p:cNvPr id="99" name="CaixaDeTexto 98"/>
          <p:cNvSpPr txBox="1"/>
          <p:nvPr/>
        </p:nvSpPr>
        <p:spPr>
          <a:xfrm>
            <a:off x="1933391" y="3795989"/>
            <a:ext cx="326558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Segregação e Migração dos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Contratos de Fornecedores e Comunicação</a:t>
            </a:r>
            <a:endParaRPr lang="pt-BR" sz="1200" dirty="0">
              <a:solidFill>
                <a:srgbClr val="009E0B"/>
              </a:solidFill>
              <a:ea typeface="Calibri" panose="020F0502020204030204" pitchFamily="34" charset="0"/>
            </a:endParaRPr>
          </a:p>
        </p:txBody>
      </p:sp>
      <p:sp>
        <p:nvSpPr>
          <p:cNvPr id="100" name="CaixaDeTexto 99"/>
          <p:cNvSpPr txBox="1"/>
          <p:nvPr/>
        </p:nvSpPr>
        <p:spPr>
          <a:xfrm>
            <a:off x="1947461" y="5238222"/>
            <a:ext cx="274248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Segregação</a:t>
            </a:r>
          </a:p>
          <a:p>
            <a:r>
              <a:rPr lang="en-US" sz="1200" dirty="0" err="1">
                <a:solidFill>
                  <a:srgbClr val="4D4D4D"/>
                </a:solidFill>
              </a:rPr>
              <a:t>Migração</a:t>
            </a:r>
            <a:r>
              <a:rPr lang="en-US" sz="1200" dirty="0">
                <a:solidFill>
                  <a:srgbClr val="4D4D4D"/>
                </a:solidFill>
              </a:rPr>
              <a:t> de </a:t>
            </a:r>
            <a:r>
              <a:rPr lang="en-US" sz="1200" dirty="0" err="1">
                <a:solidFill>
                  <a:srgbClr val="4D4D4D"/>
                </a:solidFill>
              </a:rPr>
              <a:t>Sistemas</a:t>
            </a:r>
            <a:r>
              <a:rPr lang="en-US" sz="1200" dirty="0">
                <a:solidFill>
                  <a:srgbClr val="4D4D4D"/>
                </a:solidFill>
              </a:rPr>
              <a:t>/ </a:t>
            </a:r>
            <a:r>
              <a:rPr lang="en-US" sz="1200" dirty="0" err="1">
                <a:solidFill>
                  <a:srgbClr val="4D4D4D"/>
                </a:solidFill>
              </a:rPr>
              <a:t>Plataformas</a:t>
            </a:r>
            <a:endParaRPr lang="en-US" sz="1200" dirty="0">
              <a:solidFill>
                <a:srgbClr val="4D4D4D"/>
              </a:solidFill>
            </a:endParaRPr>
          </a:p>
        </p:txBody>
      </p:sp>
      <p:sp>
        <p:nvSpPr>
          <p:cNvPr id="101" name="CaixaDeTexto 100"/>
          <p:cNvSpPr txBox="1"/>
          <p:nvPr/>
        </p:nvSpPr>
        <p:spPr>
          <a:xfrm>
            <a:off x="1934967" y="5793223"/>
            <a:ext cx="3229396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</a:rPr>
              <a:t>Processos </a:t>
            </a:r>
            <a:r>
              <a:rPr lang="pt-BR" sz="1200" dirty="0" smtClean="0">
                <a:solidFill>
                  <a:srgbClr val="4D4D4D"/>
                </a:solidFill>
              </a:rPr>
              <a:t>operacionais, SOX </a:t>
            </a:r>
          </a:p>
          <a:p>
            <a:r>
              <a:rPr lang="en-US" sz="1200" dirty="0" err="1" smtClean="0">
                <a:solidFill>
                  <a:srgbClr val="4D4D4D"/>
                </a:solidFill>
              </a:rPr>
              <a:t>Atendimento</a:t>
            </a:r>
            <a:r>
              <a:rPr lang="en-US" sz="1200" dirty="0" smtClean="0">
                <a:solidFill>
                  <a:srgbClr val="4D4D4D"/>
                </a:solidFill>
              </a:rPr>
              <a:t> </a:t>
            </a:r>
            <a:r>
              <a:rPr lang="en-US" sz="1200" dirty="0" err="1" smtClean="0">
                <a:solidFill>
                  <a:srgbClr val="4D4D4D"/>
                </a:solidFill>
              </a:rPr>
              <a:t>aos</a:t>
            </a:r>
            <a:r>
              <a:rPr lang="en-US" sz="1200" dirty="0" smtClean="0">
                <a:solidFill>
                  <a:srgbClr val="4D4D4D"/>
                </a:solidFill>
              </a:rPr>
              <a:t> </a:t>
            </a:r>
            <a:r>
              <a:rPr lang="en-US" sz="1200" dirty="0" err="1" smtClean="0">
                <a:solidFill>
                  <a:srgbClr val="4D4D4D"/>
                </a:solidFill>
              </a:rPr>
              <a:t>clientes</a:t>
            </a:r>
            <a:r>
              <a:rPr lang="en-US" sz="1200" dirty="0" smtClean="0">
                <a:solidFill>
                  <a:srgbClr val="4D4D4D"/>
                </a:solidFill>
              </a:rPr>
              <a:t>  </a:t>
            </a:r>
          </a:p>
          <a:p>
            <a:r>
              <a:rPr lang="en-US" sz="1200" dirty="0" smtClean="0">
                <a:solidFill>
                  <a:srgbClr val="4D4D4D"/>
                </a:solidFill>
              </a:rPr>
              <a:t> </a:t>
            </a:r>
            <a:endParaRPr lang="en-US" sz="1200" dirty="0">
              <a:solidFill>
                <a:srgbClr val="4D4D4D"/>
              </a:solidFill>
            </a:endParaRP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rgbClr val="4D4D4D"/>
                </a:solidFill>
              </a:rPr>
              <a:t>Serviços</a:t>
            </a:r>
            <a:r>
              <a:rPr lang="en-US" sz="1200" dirty="0" smtClean="0">
                <a:solidFill>
                  <a:srgbClr val="4D4D4D"/>
                </a:solidFill>
              </a:rPr>
              <a:t> </a:t>
            </a:r>
            <a:r>
              <a:rPr lang="en-US" sz="1200" dirty="0" err="1" smtClean="0">
                <a:solidFill>
                  <a:srgbClr val="4D4D4D"/>
                </a:solidFill>
              </a:rPr>
              <a:t>pré</a:t>
            </a:r>
            <a:r>
              <a:rPr lang="en-US" sz="1200" dirty="0" smtClean="0">
                <a:solidFill>
                  <a:srgbClr val="4D4D4D"/>
                </a:solidFill>
              </a:rPr>
              <a:t> e </a:t>
            </a:r>
            <a:r>
              <a:rPr lang="en-US" sz="1200" dirty="0" err="1" smtClean="0">
                <a:solidFill>
                  <a:srgbClr val="4D4D4D"/>
                </a:solidFill>
              </a:rPr>
              <a:t>pós</a:t>
            </a:r>
            <a:r>
              <a:rPr lang="en-US" sz="1200" dirty="0" smtClean="0">
                <a:solidFill>
                  <a:srgbClr val="4D4D4D"/>
                </a:solidFill>
              </a:rPr>
              <a:t>-closing 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102" name="CaixaDeTexto 101"/>
          <p:cNvSpPr txBox="1"/>
          <p:nvPr/>
        </p:nvSpPr>
        <p:spPr>
          <a:xfrm>
            <a:off x="1932948" y="4711940"/>
            <a:ext cx="3231415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rgbClr val="4D4D4D"/>
                </a:solidFill>
              </a:rPr>
              <a:t>Tratamento</a:t>
            </a:r>
            <a:r>
              <a:rPr lang="en-US" sz="1200" dirty="0" smtClean="0">
                <a:solidFill>
                  <a:srgbClr val="4D4D4D"/>
                </a:solidFill>
              </a:rPr>
              <a:t> de </a:t>
            </a:r>
            <a:r>
              <a:rPr lang="en-US" sz="1200" dirty="0" err="1" smtClean="0">
                <a:solidFill>
                  <a:srgbClr val="4D4D4D"/>
                </a:solidFill>
              </a:rPr>
              <a:t>contratos</a:t>
            </a:r>
            <a:r>
              <a:rPr lang="en-US" sz="1200" dirty="0" smtClean="0">
                <a:solidFill>
                  <a:srgbClr val="4D4D4D"/>
                </a:solidFill>
              </a:rPr>
              <a:t> de </a:t>
            </a:r>
            <a:r>
              <a:rPr lang="en-US" sz="1200" dirty="0" err="1" smtClean="0">
                <a:solidFill>
                  <a:srgbClr val="4D4D4D"/>
                </a:solidFill>
              </a:rPr>
              <a:t>benefícios</a:t>
            </a:r>
            <a:endParaRPr lang="en-US" sz="1200" dirty="0" smtClean="0">
              <a:solidFill>
                <a:srgbClr val="4D4D4D"/>
              </a:solidFill>
            </a:endParaRP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 err="1" smtClean="0">
                <a:solidFill>
                  <a:srgbClr val="4D4D4D"/>
                </a:solidFill>
              </a:rPr>
              <a:t>Migração</a:t>
            </a:r>
            <a:r>
              <a:rPr lang="en-US" sz="1200" dirty="0" smtClean="0">
                <a:solidFill>
                  <a:srgbClr val="4D4D4D"/>
                </a:solidFill>
              </a:rPr>
              <a:t> de HCs 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103" name="CaixaDeTexto 102"/>
          <p:cNvSpPr txBox="1"/>
          <p:nvPr/>
        </p:nvSpPr>
        <p:spPr>
          <a:xfrm>
            <a:off x="1961975" y="2575797"/>
            <a:ext cx="3524055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Conciliação Físico/ Contábil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Segregação dos ativos 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err="1" smtClean="0">
                <a:solidFill>
                  <a:srgbClr val="4D4D4D"/>
                </a:solidFill>
              </a:rPr>
              <a:t>Drop</a:t>
            </a:r>
            <a:r>
              <a:rPr lang="pt-BR" sz="1200" dirty="0" smtClean="0">
                <a:solidFill>
                  <a:srgbClr val="4D4D4D"/>
                </a:solidFill>
              </a:rPr>
              <a:t> de Ativos</a:t>
            </a:r>
            <a:endParaRPr kumimoji="0" lang="en-US" sz="1200" b="0" i="0" u="non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114" name="CaixaDeTexto 113"/>
          <p:cNvSpPr txBox="1"/>
          <p:nvPr/>
        </p:nvSpPr>
        <p:spPr>
          <a:xfrm>
            <a:off x="9756543" y="6045828"/>
            <a:ext cx="1658576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>
                <a:solidFill>
                  <a:srgbClr val="4D4D4D"/>
                </a:solidFill>
              </a:rPr>
              <a:t>Francisco </a:t>
            </a:r>
            <a:r>
              <a:rPr lang="en-US" sz="1200" dirty="0" smtClean="0">
                <a:solidFill>
                  <a:srgbClr val="4D4D4D"/>
                </a:solidFill>
              </a:rPr>
              <a:t>Anderson</a:t>
            </a:r>
          </a:p>
          <a:p>
            <a:r>
              <a:rPr lang="en-US" sz="1200" dirty="0">
                <a:solidFill>
                  <a:srgbClr val="4D4D4D"/>
                </a:solidFill>
              </a:rPr>
              <a:t>Nathalia Piltz</a:t>
            </a:r>
          </a:p>
          <a:p>
            <a:endParaRPr lang="en-US" sz="1200" dirty="0" smtClean="0">
              <a:solidFill>
                <a:srgbClr val="4D4D4D"/>
              </a:solidFill>
            </a:endParaRPr>
          </a:p>
        </p:txBody>
      </p:sp>
      <p:sp>
        <p:nvSpPr>
          <p:cNvPr id="117" name="CaixaDeTexto 116"/>
          <p:cNvSpPr txBox="1"/>
          <p:nvPr/>
        </p:nvSpPr>
        <p:spPr>
          <a:xfrm>
            <a:off x="6216572" y="356995"/>
            <a:ext cx="7849537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(*)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Modelo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 de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frentes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poderá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ser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atualizado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após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 as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rodadas</a:t>
            </a:r>
            <a:r>
              <a:rPr kumimoji="0" lang="en-US" sz="12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 de </a:t>
            </a:r>
            <a:r>
              <a:rPr kumimoji="0" lang="en-US" sz="1200" b="0" i="0" u="none" strike="noStrike" cap="none" spc="0" normalizeH="0" dirty="0" err="1" smtClean="0">
                <a:ln>
                  <a:noFill/>
                </a:ln>
                <a:solidFill>
                  <a:schemeClr val="tx2"/>
                </a:solidFill>
                <a:effectLst/>
                <a:uFillTx/>
                <a:sym typeface="Simplon BP Regular"/>
              </a:rPr>
              <a:t>negociação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sym typeface="Simplon BP Regular"/>
            </a:endParaRPr>
          </a:p>
        </p:txBody>
      </p:sp>
      <p:sp>
        <p:nvSpPr>
          <p:cNvPr id="4" name="Elipse 3"/>
          <p:cNvSpPr/>
          <p:nvPr/>
        </p:nvSpPr>
        <p:spPr>
          <a:xfrm>
            <a:off x="11494434" y="1275276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8" name="Elipse 87"/>
          <p:cNvSpPr/>
          <p:nvPr/>
        </p:nvSpPr>
        <p:spPr>
          <a:xfrm>
            <a:off x="11494434" y="2744286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0" name="Elipse 89"/>
          <p:cNvSpPr/>
          <p:nvPr/>
        </p:nvSpPr>
        <p:spPr>
          <a:xfrm>
            <a:off x="11494434" y="3348027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7" name="Elipse 106"/>
          <p:cNvSpPr/>
          <p:nvPr/>
        </p:nvSpPr>
        <p:spPr>
          <a:xfrm>
            <a:off x="11494434" y="4114490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8" name="Elipse 107"/>
          <p:cNvSpPr/>
          <p:nvPr/>
        </p:nvSpPr>
        <p:spPr>
          <a:xfrm>
            <a:off x="11494434" y="5351270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09" name="Elipse 108"/>
          <p:cNvSpPr/>
          <p:nvPr/>
        </p:nvSpPr>
        <p:spPr>
          <a:xfrm>
            <a:off x="11494434" y="4805587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19" name="Elipse 118"/>
          <p:cNvSpPr/>
          <p:nvPr/>
        </p:nvSpPr>
        <p:spPr>
          <a:xfrm>
            <a:off x="11494434" y="6138112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78" name="CaixaDeTexto 77"/>
          <p:cNvSpPr txBox="1"/>
          <p:nvPr/>
        </p:nvSpPr>
        <p:spPr>
          <a:xfrm>
            <a:off x="7549617" y="659982"/>
            <a:ext cx="1702369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algn="ctr"/>
            <a:r>
              <a:rPr lang="pt-BR" b="1" dirty="0">
                <a:solidFill>
                  <a:srgbClr val="009E0B"/>
                </a:solidFill>
              </a:rPr>
              <a:t>Líder </a:t>
            </a:r>
            <a:r>
              <a:rPr lang="pt-BR" b="1" dirty="0" smtClean="0">
                <a:solidFill>
                  <a:srgbClr val="009E0B"/>
                </a:solidFill>
              </a:rPr>
              <a:t>TAHTO N2/ N3</a:t>
            </a:r>
            <a:endParaRPr lang="pt-BR" b="1" dirty="0">
              <a:solidFill>
                <a:srgbClr val="009E0B"/>
              </a:solidFill>
            </a:endParaRPr>
          </a:p>
        </p:txBody>
      </p:sp>
      <p:sp>
        <p:nvSpPr>
          <p:cNvPr id="82" name="CaixaDeTexto 81"/>
          <p:cNvSpPr txBox="1"/>
          <p:nvPr/>
        </p:nvSpPr>
        <p:spPr>
          <a:xfrm>
            <a:off x="7601732" y="1903232"/>
            <a:ext cx="1860142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Luciana de Oliveira Carmo</a:t>
            </a:r>
          </a:p>
        </p:txBody>
      </p:sp>
      <p:sp>
        <p:nvSpPr>
          <p:cNvPr id="124" name="CaixaDeTexto 123"/>
          <p:cNvSpPr txBox="1"/>
          <p:nvPr/>
        </p:nvSpPr>
        <p:spPr>
          <a:xfrm>
            <a:off x="7550261" y="4254142"/>
            <a:ext cx="2180155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Bruno Fantaguzzi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Linces</a:t>
            </a:r>
          </a:p>
          <a:p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Luciana de Oliveira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Carmo</a:t>
            </a:r>
            <a:endParaRPr lang="pt-BR" sz="1200" dirty="0">
              <a:solidFill>
                <a:srgbClr val="4D4D4D"/>
              </a:solidFill>
              <a:ea typeface="Calibri" panose="020F0502020204030204" pitchFamily="34" charset="0"/>
            </a:endParaRPr>
          </a:p>
        </p:txBody>
      </p:sp>
      <p:sp>
        <p:nvSpPr>
          <p:cNvPr id="125" name="CaixaDeTexto 124"/>
          <p:cNvSpPr txBox="1"/>
          <p:nvPr/>
        </p:nvSpPr>
        <p:spPr>
          <a:xfrm>
            <a:off x="7543676" y="3785253"/>
            <a:ext cx="211129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Renata </a:t>
            </a:r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Cristina de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Souza </a:t>
            </a:r>
          </a:p>
          <a:p>
            <a:r>
              <a:rPr lang="pt-BR" sz="1200" dirty="0" smtClean="0">
                <a:solidFill>
                  <a:srgbClr val="4D4D4D"/>
                </a:solidFill>
              </a:rPr>
              <a:t>Rafael </a:t>
            </a:r>
            <a:r>
              <a:rPr lang="pt-BR" sz="1200" dirty="0">
                <a:solidFill>
                  <a:srgbClr val="4D4D4D"/>
                </a:solidFill>
              </a:rPr>
              <a:t>Fernandes </a:t>
            </a:r>
            <a:r>
              <a:rPr lang="pt-BR" sz="1200" dirty="0" smtClean="0">
                <a:solidFill>
                  <a:srgbClr val="4D4D4D"/>
                </a:solidFill>
              </a:rPr>
              <a:t>Vaz</a:t>
            </a:r>
            <a:endParaRPr lang="en-US" sz="1200" dirty="0">
              <a:solidFill>
                <a:srgbClr val="4D4D4D"/>
              </a:solidFill>
            </a:endParaRPr>
          </a:p>
        </p:txBody>
      </p:sp>
      <p:sp>
        <p:nvSpPr>
          <p:cNvPr id="126" name="CaixaDeTexto 125"/>
          <p:cNvSpPr txBox="1"/>
          <p:nvPr/>
        </p:nvSpPr>
        <p:spPr>
          <a:xfrm>
            <a:off x="7529162" y="5159720"/>
            <a:ext cx="1830362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</a:rPr>
              <a:t>Rodrigo </a:t>
            </a:r>
            <a:r>
              <a:rPr lang="pt-BR" sz="1200" dirty="0">
                <a:solidFill>
                  <a:srgbClr val="4D4D4D"/>
                </a:solidFill>
              </a:rPr>
              <a:t>Correia </a:t>
            </a:r>
            <a:r>
              <a:rPr lang="pt-BR" sz="1200" dirty="0" smtClean="0">
                <a:solidFill>
                  <a:srgbClr val="4D4D4D"/>
                </a:solidFill>
              </a:rPr>
              <a:t>Furukawa</a:t>
            </a:r>
          </a:p>
          <a:p>
            <a:r>
              <a:rPr lang="pt-BR" sz="1200" dirty="0" smtClean="0">
                <a:solidFill>
                  <a:srgbClr val="4D4D4D"/>
                </a:solidFill>
              </a:rPr>
              <a:t>Luiz </a:t>
            </a:r>
            <a:r>
              <a:rPr lang="pt-BR" sz="1200" dirty="0">
                <a:solidFill>
                  <a:srgbClr val="4D4D4D"/>
                </a:solidFill>
              </a:rPr>
              <a:t>Paulo Araujo Da </a:t>
            </a:r>
            <a:r>
              <a:rPr lang="pt-BR" sz="1200" dirty="0" smtClean="0">
                <a:solidFill>
                  <a:srgbClr val="4D4D4D"/>
                </a:solidFill>
              </a:rPr>
              <a:t>Silva</a:t>
            </a:r>
          </a:p>
          <a:p>
            <a:r>
              <a:rPr lang="pt-BR" sz="1200" dirty="0" smtClean="0">
                <a:solidFill>
                  <a:srgbClr val="4D4D4D"/>
                </a:solidFill>
              </a:rPr>
              <a:t>Filipe </a:t>
            </a:r>
            <a:r>
              <a:rPr lang="pt-BR" sz="1200" dirty="0">
                <a:solidFill>
                  <a:srgbClr val="4D4D4D"/>
                </a:solidFill>
              </a:rPr>
              <a:t>Miguel Xavier Da Silva</a:t>
            </a:r>
            <a:endParaRPr lang="pt-BR" sz="1200" dirty="0">
              <a:solidFill>
                <a:srgbClr val="4D4D4D"/>
              </a:solidFill>
              <a:ea typeface="Calibri" panose="020F0502020204030204" pitchFamily="34" charset="0"/>
            </a:endParaRPr>
          </a:p>
        </p:txBody>
      </p:sp>
      <p:sp>
        <p:nvSpPr>
          <p:cNvPr id="127" name="CaixaDeTexto 126"/>
          <p:cNvSpPr txBox="1"/>
          <p:nvPr/>
        </p:nvSpPr>
        <p:spPr>
          <a:xfrm>
            <a:off x="7554721" y="5801614"/>
            <a:ext cx="1804803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Luciana </a:t>
            </a:r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de Oliveira </a:t>
            </a:r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Carmo</a:t>
            </a:r>
          </a:p>
          <a:p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Bruno </a:t>
            </a:r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Fantaguzzi Linces</a:t>
            </a:r>
          </a:p>
          <a:p>
            <a:r>
              <a:rPr lang="pt-BR" sz="1200" dirty="0">
                <a:solidFill>
                  <a:srgbClr val="4D4D4D"/>
                </a:solidFill>
              </a:rPr>
              <a:t>Rodrigo Correia Furukawa</a:t>
            </a:r>
          </a:p>
          <a:p>
            <a:r>
              <a:rPr lang="pt-BR" sz="1200" dirty="0" smtClean="0">
                <a:solidFill>
                  <a:srgbClr val="4D4D4D"/>
                </a:solidFill>
              </a:rPr>
              <a:t>Luiz </a:t>
            </a:r>
            <a:r>
              <a:rPr lang="pt-BR" sz="1200" dirty="0">
                <a:solidFill>
                  <a:srgbClr val="4D4D4D"/>
                </a:solidFill>
              </a:rPr>
              <a:t>Paulo Araujo Da Silva</a:t>
            </a:r>
          </a:p>
          <a:p>
            <a:r>
              <a:rPr lang="pt-BR" sz="1200" dirty="0">
                <a:solidFill>
                  <a:srgbClr val="4D4D4D"/>
                </a:solidFill>
              </a:rPr>
              <a:t>Filipe Miguel Xavier Da </a:t>
            </a:r>
            <a:r>
              <a:rPr lang="pt-BR" sz="1200" dirty="0" smtClean="0">
                <a:solidFill>
                  <a:srgbClr val="4D4D4D"/>
                </a:solidFill>
              </a:rPr>
              <a:t>Silva</a:t>
            </a:r>
            <a:endParaRPr lang="en-US" sz="1200" dirty="0">
              <a:solidFill>
                <a:srgbClr val="4D4D4D"/>
              </a:solidFill>
            </a:endParaRPr>
          </a:p>
        </p:txBody>
      </p:sp>
      <p:sp>
        <p:nvSpPr>
          <p:cNvPr id="128" name="CaixaDeTexto 127"/>
          <p:cNvSpPr txBox="1"/>
          <p:nvPr/>
        </p:nvSpPr>
        <p:spPr>
          <a:xfrm>
            <a:off x="7542930" y="4720497"/>
            <a:ext cx="191894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err="1">
                <a:solidFill>
                  <a:srgbClr val="4D4D4D"/>
                </a:solidFill>
              </a:rPr>
              <a:t>Uliana</a:t>
            </a:r>
            <a:r>
              <a:rPr lang="pt-BR" sz="1200" dirty="0">
                <a:solidFill>
                  <a:srgbClr val="4D4D4D"/>
                </a:solidFill>
              </a:rPr>
              <a:t> Maria </a:t>
            </a:r>
            <a:r>
              <a:rPr lang="pt-BR" sz="1200" dirty="0" smtClean="0">
                <a:solidFill>
                  <a:srgbClr val="4D4D4D"/>
                </a:solidFill>
              </a:rPr>
              <a:t>N. </a:t>
            </a:r>
            <a:r>
              <a:rPr lang="pt-BR" sz="1200" dirty="0">
                <a:solidFill>
                  <a:srgbClr val="4D4D4D"/>
                </a:solidFill>
              </a:rPr>
              <a:t>Prado </a:t>
            </a:r>
            <a:r>
              <a:rPr lang="pt-BR" sz="1200" dirty="0" smtClean="0">
                <a:solidFill>
                  <a:srgbClr val="4D4D4D"/>
                </a:solidFill>
              </a:rPr>
              <a:t>Peres</a:t>
            </a:r>
          </a:p>
          <a:p>
            <a:r>
              <a:rPr lang="en-US" sz="1200" dirty="0" err="1">
                <a:solidFill>
                  <a:srgbClr val="4D4D4D"/>
                </a:solidFill>
              </a:rPr>
              <a:t>Odair</a:t>
            </a:r>
            <a:r>
              <a:rPr lang="en-US" sz="1200" dirty="0">
                <a:solidFill>
                  <a:srgbClr val="4D4D4D"/>
                </a:solidFill>
              </a:rPr>
              <a:t> Jose </a:t>
            </a:r>
            <a:r>
              <a:rPr lang="en-US" sz="1200" dirty="0" err="1" smtClean="0">
                <a:solidFill>
                  <a:srgbClr val="4D4D4D"/>
                </a:solidFill>
              </a:rPr>
              <a:t>Fruhling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4D4D4D"/>
              </a:solidFill>
              <a:effectLst/>
              <a:uFillTx/>
              <a:sym typeface="Simplon BP Regular"/>
            </a:endParaRPr>
          </a:p>
        </p:txBody>
      </p:sp>
      <p:sp>
        <p:nvSpPr>
          <p:cNvPr id="129" name="CaixaDeTexto 128"/>
          <p:cNvSpPr txBox="1"/>
          <p:nvPr/>
        </p:nvSpPr>
        <p:spPr>
          <a:xfrm>
            <a:off x="7514649" y="2543253"/>
            <a:ext cx="2442153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</a:rPr>
              <a:t>Roger </a:t>
            </a:r>
            <a:r>
              <a:rPr lang="pt-BR" sz="1200" dirty="0">
                <a:solidFill>
                  <a:srgbClr val="4D4D4D"/>
                </a:solidFill>
              </a:rPr>
              <a:t>Allan Maia </a:t>
            </a:r>
            <a:r>
              <a:rPr lang="pt-BR" sz="1200" dirty="0" smtClean="0">
                <a:solidFill>
                  <a:srgbClr val="4D4D4D"/>
                </a:solidFill>
              </a:rPr>
              <a:t>Malheiros</a:t>
            </a:r>
          </a:p>
          <a:p>
            <a:r>
              <a:rPr lang="pt-BR" sz="1200" dirty="0">
                <a:solidFill>
                  <a:srgbClr val="4D4D4D"/>
                </a:solidFill>
              </a:rPr>
              <a:t>Victor Santos Martins Pereira </a:t>
            </a:r>
            <a:endParaRPr lang="pt-BR" sz="1200" dirty="0" smtClean="0">
              <a:solidFill>
                <a:srgbClr val="4D4D4D"/>
              </a:solidFill>
            </a:endParaRPr>
          </a:p>
          <a:p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Luiz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Paulo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Araujo </a:t>
            </a:r>
            <a:r>
              <a:rPr lang="pt-BR" sz="1200" dirty="0">
                <a:solidFill>
                  <a:schemeClr val="bg2">
                    <a:lumMod val="50000"/>
                  </a:schemeClr>
                </a:solidFill>
              </a:rPr>
              <a:t>Da </a:t>
            </a:r>
            <a:r>
              <a:rPr lang="pt-BR" sz="1200" dirty="0" smtClean="0">
                <a:solidFill>
                  <a:schemeClr val="bg2">
                    <a:lumMod val="50000"/>
                  </a:schemeClr>
                </a:solidFill>
              </a:rPr>
              <a:t>Silva</a:t>
            </a:r>
            <a:endParaRPr lang="pt-BR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2" name="CaixaDeTexto 131"/>
          <p:cNvSpPr txBox="1"/>
          <p:nvPr/>
        </p:nvSpPr>
        <p:spPr>
          <a:xfrm>
            <a:off x="7549617" y="3233836"/>
            <a:ext cx="1989128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>
                <a:solidFill>
                  <a:srgbClr val="4D4D4D"/>
                </a:solidFill>
              </a:rPr>
              <a:t>Roger Allan Maia Malheiros</a:t>
            </a:r>
            <a:endParaRPr lang="en-US" sz="1200" dirty="0">
              <a:solidFill>
                <a:srgbClr val="4D4D4D"/>
              </a:solidFill>
            </a:endParaRPr>
          </a:p>
        </p:txBody>
      </p:sp>
      <p:sp>
        <p:nvSpPr>
          <p:cNvPr id="134" name="CaixaDeTexto 133"/>
          <p:cNvSpPr txBox="1"/>
          <p:nvPr/>
        </p:nvSpPr>
        <p:spPr>
          <a:xfrm>
            <a:off x="314182" y="2170244"/>
            <a:ext cx="11520000" cy="329010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0800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1200" b="1">
                <a:solidFill>
                  <a:srgbClr val="009E0B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 dirty="0" smtClean="0"/>
              <a:t>JURÍDICA</a:t>
            </a:r>
            <a:endParaRPr lang="pt-BR" sz="1050" dirty="0"/>
          </a:p>
        </p:txBody>
      </p:sp>
      <p:sp>
        <p:nvSpPr>
          <p:cNvPr id="135" name="CaixaDeTexto 134"/>
          <p:cNvSpPr txBox="1"/>
          <p:nvPr/>
        </p:nvSpPr>
        <p:spPr>
          <a:xfrm>
            <a:off x="5368012" y="2256625"/>
            <a:ext cx="1336664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Elen Souto</a:t>
            </a:r>
            <a:endParaRPr lang="pt-BR" sz="1200" dirty="0">
              <a:solidFill>
                <a:srgbClr val="4D4D4D"/>
              </a:solidFill>
              <a:ea typeface="Calibri" panose="020F0502020204030204" pitchFamily="34" charset="0"/>
            </a:endParaRPr>
          </a:p>
        </p:txBody>
      </p:sp>
      <p:sp>
        <p:nvSpPr>
          <p:cNvPr id="136" name="CaixaDeTexto 135"/>
          <p:cNvSpPr txBox="1"/>
          <p:nvPr/>
        </p:nvSpPr>
        <p:spPr>
          <a:xfrm>
            <a:off x="9745083" y="2260516"/>
            <a:ext cx="1373686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>
                <a:solidFill>
                  <a:srgbClr val="4D4D4D"/>
                </a:solidFill>
              </a:rPr>
              <a:t>Francisco Anderson</a:t>
            </a:r>
          </a:p>
        </p:txBody>
      </p:sp>
      <p:sp>
        <p:nvSpPr>
          <p:cNvPr id="137" name="CaixaDeTexto 136"/>
          <p:cNvSpPr txBox="1"/>
          <p:nvPr/>
        </p:nvSpPr>
        <p:spPr>
          <a:xfrm>
            <a:off x="1940651" y="2264735"/>
            <a:ext cx="3833759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chemeClr val="tx2"/>
                </a:solidFill>
              </a:rPr>
              <a:t>Passivo e Contingência Jurídica</a:t>
            </a:r>
            <a:endParaRPr lang="pt-BR" sz="1200" dirty="0">
              <a:solidFill>
                <a:schemeClr val="tx2"/>
              </a:solidFill>
            </a:endParaRPr>
          </a:p>
        </p:txBody>
      </p:sp>
      <p:sp>
        <p:nvSpPr>
          <p:cNvPr id="138" name="Elipse 137"/>
          <p:cNvSpPr/>
          <p:nvPr/>
        </p:nvSpPr>
        <p:spPr>
          <a:xfrm>
            <a:off x="11494434" y="2249407"/>
            <a:ext cx="180000" cy="180000"/>
          </a:xfrm>
          <a:prstGeom prst="ellipse">
            <a:avLst/>
          </a:prstGeom>
          <a:solidFill>
            <a:srgbClr val="009E0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9" name="CaixaDeTexto 138"/>
          <p:cNvSpPr txBox="1"/>
          <p:nvPr/>
        </p:nvSpPr>
        <p:spPr>
          <a:xfrm>
            <a:off x="7535598" y="2255255"/>
            <a:ext cx="2238434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 smtClean="0">
                <a:solidFill>
                  <a:srgbClr val="4D4D4D"/>
                </a:solidFill>
                <a:ea typeface="Calibri" panose="020F0502020204030204" pitchFamily="34" charset="0"/>
              </a:rPr>
              <a:t>Luciana de Oliveira Carmo</a:t>
            </a:r>
          </a:p>
        </p:txBody>
      </p:sp>
      <p:sp>
        <p:nvSpPr>
          <p:cNvPr id="5" name="CaixaDeTexto 4"/>
          <p:cNvSpPr txBox="1"/>
          <p:nvPr/>
        </p:nvSpPr>
        <p:spPr>
          <a:xfrm flipH="1">
            <a:off x="-1783081" y="9898743"/>
            <a:ext cx="955767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Kick</a:t>
            </a: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-off - quinta 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9" name="CaixaDeTexto 88"/>
          <p:cNvSpPr txBox="1"/>
          <p:nvPr/>
        </p:nvSpPr>
        <p:spPr>
          <a:xfrm>
            <a:off x="9738974" y="4715317"/>
            <a:ext cx="137368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en-US" sz="1200" dirty="0" smtClean="0">
                <a:solidFill>
                  <a:srgbClr val="4D4D4D"/>
                </a:solidFill>
              </a:rPr>
              <a:t>Alessandro Barbosa</a:t>
            </a:r>
          </a:p>
          <a:p>
            <a:r>
              <a:rPr lang="en-US" sz="1200" dirty="0">
                <a:solidFill>
                  <a:srgbClr val="4D4D4D"/>
                </a:solidFill>
              </a:rPr>
              <a:t>Charlene </a:t>
            </a:r>
            <a:r>
              <a:rPr lang="en-US" sz="1200" dirty="0" smtClean="0">
                <a:solidFill>
                  <a:srgbClr val="4D4D4D"/>
                </a:solidFill>
              </a:rPr>
              <a:t>Santino</a:t>
            </a:r>
          </a:p>
        </p:txBody>
      </p:sp>
      <p:sp>
        <p:nvSpPr>
          <p:cNvPr id="80" name="CaixaDeTexto 79"/>
          <p:cNvSpPr txBox="1"/>
          <p:nvPr/>
        </p:nvSpPr>
        <p:spPr>
          <a:xfrm>
            <a:off x="5375266" y="980813"/>
            <a:ext cx="1955347" cy="738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Marina </a:t>
            </a:r>
            <a:r>
              <a:rPr lang="pt-BR" sz="1200" dirty="0" smtClean="0">
                <a:solidFill>
                  <a:srgbClr val="4D4D4D"/>
                </a:solidFill>
              </a:rPr>
              <a:t>Maciel, Pedro Rique/ 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Alessandra </a:t>
            </a:r>
            <a:r>
              <a:rPr lang="pt-BR" sz="1200" dirty="0" smtClean="0">
                <a:solidFill>
                  <a:srgbClr val="4D4D4D"/>
                </a:solidFill>
              </a:rPr>
              <a:t>Benevides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Adriano </a:t>
            </a:r>
            <a:r>
              <a:rPr lang="pt-BR" sz="1200" dirty="0" smtClean="0">
                <a:solidFill>
                  <a:srgbClr val="4D4D4D"/>
                </a:solidFill>
              </a:rPr>
              <a:t>Andrey</a:t>
            </a:r>
          </a:p>
          <a:p>
            <a:pPr marL="0" marR="0" indent="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rgbClr val="4D4D4D"/>
                </a:solidFill>
              </a:rPr>
              <a:t>Valeria Braga</a:t>
            </a:r>
            <a:endParaRPr lang="en-US" sz="1200" dirty="0">
              <a:solidFill>
                <a:srgbClr val="4D4D4D"/>
              </a:solidFill>
            </a:endParaRPr>
          </a:p>
        </p:txBody>
      </p:sp>
      <p:sp>
        <p:nvSpPr>
          <p:cNvPr id="86" name="CaixaDeTexto 85"/>
          <p:cNvSpPr txBox="1"/>
          <p:nvPr/>
        </p:nvSpPr>
        <p:spPr>
          <a:xfrm>
            <a:off x="7514647" y="905615"/>
            <a:ext cx="2158652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r>
              <a:rPr lang="pt-BR" sz="1200" dirty="0">
                <a:solidFill>
                  <a:srgbClr val="4D4D4D"/>
                </a:solidFill>
              </a:rPr>
              <a:t>Roger Allan Maia </a:t>
            </a:r>
            <a:r>
              <a:rPr lang="pt-BR" sz="1200" dirty="0" smtClean="0">
                <a:solidFill>
                  <a:srgbClr val="4D4D4D"/>
                </a:solidFill>
              </a:rPr>
              <a:t>Malheiros</a:t>
            </a:r>
          </a:p>
          <a:p>
            <a:r>
              <a:rPr lang="pt-BR" sz="1200" dirty="0">
                <a:solidFill>
                  <a:srgbClr val="4D4D4D"/>
                </a:solidFill>
                <a:ea typeface="Calibri" panose="020F0502020204030204" pitchFamily="34" charset="0"/>
              </a:rPr>
              <a:t>Luciana de Oliveira Carmo</a:t>
            </a:r>
          </a:p>
          <a:p>
            <a:r>
              <a:rPr lang="pt-BR" sz="1200" dirty="0" smtClean="0">
                <a:solidFill>
                  <a:srgbClr val="4D4D4D"/>
                </a:solidFill>
              </a:rPr>
              <a:t>Renata Cristina de </a:t>
            </a:r>
            <a:r>
              <a:rPr lang="pt-BR" sz="1200" dirty="0">
                <a:solidFill>
                  <a:srgbClr val="4D4D4D"/>
                </a:solidFill>
              </a:rPr>
              <a:t>Souza/ Glauber Henrique Dos </a:t>
            </a:r>
            <a:r>
              <a:rPr lang="pt-BR" sz="1200" dirty="0" smtClean="0">
                <a:solidFill>
                  <a:srgbClr val="4D4D4D"/>
                </a:solidFill>
              </a:rPr>
              <a:t>Santos</a:t>
            </a:r>
          </a:p>
          <a:p>
            <a:r>
              <a:rPr lang="pt-BR" sz="1200" dirty="0">
                <a:solidFill>
                  <a:srgbClr val="4D4D4D"/>
                </a:solidFill>
              </a:rPr>
              <a:t>Uliana Maria N. Prado </a:t>
            </a:r>
            <a:r>
              <a:rPr lang="pt-BR" sz="1200" dirty="0" smtClean="0">
                <a:solidFill>
                  <a:srgbClr val="4D4D4D"/>
                </a:solidFill>
              </a:rPr>
              <a:t>Peres</a:t>
            </a:r>
            <a:endParaRPr lang="pt-BR" sz="1200" dirty="0">
              <a:solidFill>
                <a:srgbClr val="4D4D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2596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5"/>
          <p:cNvSpPr>
            <a:spLocks noGrp="1"/>
          </p:cNvSpPr>
          <p:nvPr>
            <p:ph type="title"/>
          </p:nvPr>
        </p:nvSpPr>
        <p:spPr>
          <a:xfrm>
            <a:off x="187571" y="119371"/>
            <a:ext cx="10756482" cy="558294"/>
          </a:xfrm>
        </p:spPr>
        <p:txBody>
          <a:bodyPr/>
          <a:lstStyle/>
          <a:p>
            <a:r>
              <a:rPr lang="pt-BR" dirty="0" smtClean="0">
                <a:solidFill>
                  <a:srgbClr val="009E0B"/>
                </a:solidFill>
              </a:rPr>
              <a:t>KAIDÔ: CNPJ E FILIAIS DA TAHTO</a:t>
            </a:r>
            <a:endParaRPr lang="pt-BR" dirty="0">
              <a:solidFill>
                <a:srgbClr val="009E0B"/>
              </a:solidFill>
            </a:endParaRPr>
          </a:p>
        </p:txBody>
      </p:sp>
      <p:sp>
        <p:nvSpPr>
          <p:cNvPr id="32" name="Espaço Reservado para Número de Slide 5"/>
          <p:cNvSpPr txBox="1">
            <a:spLocks/>
          </p:cNvSpPr>
          <p:nvPr/>
        </p:nvSpPr>
        <p:spPr>
          <a:xfrm>
            <a:off x="11819155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fld id="{86CB4B4D-7CA3-9044-876B-883B54F8677D}" type="slidenum">
              <a:rPr lang="pt-BR" smtClean="0"/>
              <a:pPr/>
              <a:t>8</a:t>
            </a:fld>
            <a:endParaRPr lang="pt-BR" dirty="0"/>
          </a:p>
        </p:txBody>
      </p:sp>
      <p:sp>
        <p:nvSpPr>
          <p:cNvPr id="5" name="Botão de ação: Voltar ou Anterior 4">
            <a:hlinkClick r:id="rId4" action="ppaction://hlinksldjump" highlightClick="1"/>
          </p:cNvPr>
          <p:cNvSpPr/>
          <p:nvPr/>
        </p:nvSpPr>
        <p:spPr>
          <a:xfrm>
            <a:off x="10740788" y="286603"/>
            <a:ext cx="329876" cy="218364"/>
          </a:xfrm>
          <a:prstGeom prst="actionButtonBackPrevious">
            <a:avLst/>
          </a:prstGeom>
          <a:solidFill>
            <a:srgbClr val="F5F5F5"/>
          </a:solidFill>
          <a:ln w="25400" cap="flat">
            <a:solidFill>
              <a:srgbClr val="F5F5F5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aphicFrame>
        <p:nvGraphicFramePr>
          <p:cNvPr id="2" name="Objeto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022466"/>
              </p:ext>
            </p:extLst>
          </p:nvPr>
        </p:nvGraphicFramePr>
        <p:xfrm>
          <a:off x="187571" y="795355"/>
          <a:ext cx="11473892" cy="3706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46" name="Planilha" r:id="rId5" imgW="17487996" imgH="5648349" progId="Excel.Sheet.12">
                  <p:embed/>
                </p:oleObj>
              </mc:Choice>
              <mc:Fallback>
                <p:oleObj name="Planilha" r:id="rId5" imgW="17487996" imgH="564834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7571" y="795355"/>
                        <a:ext cx="11473892" cy="3706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tângulo 5"/>
          <p:cNvSpPr/>
          <p:nvPr/>
        </p:nvSpPr>
        <p:spPr>
          <a:xfrm>
            <a:off x="306536" y="4838201"/>
            <a:ext cx="3502856" cy="923330"/>
          </a:xfrm>
          <a:prstGeom prst="rect">
            <a:avLst/>
          </a:prstGeom>
          <a:solidFill>
            <a:srgbClr val="FFFF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Refinar mensagem -- Charlene</a:t>
            </a:r>
            <a:endParaRPr kumimoji="0" lang="pt-BR" sz="20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04076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5"/>
          <p:cNvSpPr>
            <a:spLocks noGrp="1"/>
          </p:cNvSpPr>
          <p:nvPr>
            <p:ph type="title"/>
          </p:nvPr>
        </p:nvSpPr>
        <p:spPr>
          <a:xfrm>
            <a:off x="187571" y="119371"/>
            <a:ext cx="10756482" cy="558294"/>
          </a:xfrm>
        </p:spPr>
        <p:txBody>
          <a:bodyPr/>
          <a:lstStyle/>
          <a:p>
            <a:r>
              <a:rPr lang="pt-BR" dirty="0" smtClean="0">
                <a:solidFill>
                  <a:srgbClr val="009E0B"/>
                </a:solidFill>
              </a:rPr>
              <a:t>KAIDÔ: DEFINIÇÃO DA EMPRESA QUE SERÁ USADA PARA A CRIAÇÃO DA UPI</a:t>
            </a:r>
            <a:endParaRPr lang="pt-BR" dirty="0">
              <a:solidFill>
                <a:srgbClr val="009E0B"/>
              </a:solidFill>
            </a:endParaRPr>
          </a:p>
        </p:txBody>
      </p:sp>
      <p:sp>
        <p:nvSpPr>
          <p:cNvPr id="32" name="Espaço Reservado para Número de Slide 5"/>
          <p:cNvSpPr txBox="1">
            <a:spLocks/>
          </p:cNvSpPr>
          <p:nvPr/>
        </p:nvSpPr>
        <p:spPr>
          <a:xfrm>
            <a:off x="11819155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fld id="{86CB4B4D-7CA3-9044-876B-883B54F8677D}" type="slidenum">
              <a:rPr lang="pt-BR" smtClean="0"/>
              <a:pPr/>
              <a:t>9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187571" y="695363"/>
            <a:ext cx="117722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smtClean="0">
                <a:solidFill>
                  <a:schemeClr val="tx2"/>
                </a:solidFill>
              </a:rPr>
              <a:t>Alternativas:</a:t>
            </a:r>
          </a:p>
          <a:p>
            <a:pPr marL="174625" indent="-174625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+mj-lt"/>
              <a:buAutoNum type="arabicPeriod"/>
            </a:pPr>
            <a:r>
              <a:rPr lang="pt-BR" dirty="0" err="1" smtClean="0">
                <a:solidFill>
                  <a:schemeClr val="tx2"/>
                </a:solidFill>
              </a:rPr>
              <a:t>Marea</a:t>
            </a:r>
            <a:r>
              <a:rPr lang="pt-BR" dirty="0" smtClean="0">
                <a:solidFill>
                  <a:schemeClr val="tx2"/>
                </a:solidFill>
              </a:rPr>
              <a:t>: </a:t>
            </a:r>
            <a:r>
              <a:rPr lang="pt-BR" dirty="0">
                <a:solidFill>
                  <a:schemeClr val="tx2"/>
                </a:solidFill>
              </a:rPr>
              <a:t>Empresa da Oi S/A</a:t>
            </a:r>
            <a:r>
              <a:rPr lang="pt-BR" dirty="0" smtClean="0">
                <a:solidFill>
                  <a:schemeClr val="tx2"/>
                </a:solidFill>
              </a:rPr>
              <a:t>. Não está sendo usada pela tesouraria. </a:t>
            </a:r>
            <a:endParaRPr lang="pt-BR" dirty="0">
              <a:solidFill>
                <a:schemeClr val="tx2"/>
              </a:solidFill>
            </a:endParaRPr>
          </a:p>
          <a:p>
            <a:pPr marL="174625" indent="-174625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+mj-lt"/>
              <a:buAutoNum type="arabicPeriod"/>
            </a:pPr>
            <a:r>
              <a:rPr lang="pt-BR" dirty="0" err="1" smtClean="0">
                <a:solidFill>
                  <a:schemeClr val="tx2"/>
                </a:solidFill>
              </a:rPr>
              <a:t>Chai</a:t>
            </a:r>
            <a:r>
              <a:rPr lang="pt-BR" dirty="0" smtClean="0">
                <a:solidFill>
                  <a:schemeClr val="tx2"/>
                </a:solidFill>
              </a:rPr>
              <a:t>: Empresa da Oi Services.  Administra recursos da Oi S/A e da </a:t>
            </a:r>
            <a:r>
              <a:rPr lang="pt-BR" dirty="0" err="1" smtClean="0">
                <a:solidFill>
                  <a:schemeClr val="tx2"/>
                </a:solidFill>
              </a:rPr>
              <a:t>Serede</a:t>
            </a:r>
            <a:r>
              <a:rPr lang="pt-BR" dirty="0" smtClean="0">
                <a:solidFill>
                  <a:schemeClr val="tx2"/>
                </a:solidFill>
              </a:rPr>
              <a:t>.</a:t>
            </a:r>
          </a:p>
          <a:p>
            <a:pPr marL="174625" indent="-174625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+mj-lt"/>
              <a:buAutoNum type="arabicPeriod"/>
            </a:pPr>
            <a:r>
              <a:rPr lang="pt-BR" b="1" dirty="0" err="1" smtClean="0">
                <a:solidFill>
                  <a:schemeClr val="tx2"/>
                </a:solidFill>
              </a:rPr>
              <a:t>Olimpia</a:t>
            </a:r>
            <a:r>
              <a:rPr lang="pt-BR" b="1" dirty="0">
                <a:solidFill>
                  <a:schemeClr val="tx2"/>
                </a:solidFill>
              </a:rPr>
              <a:t>: Empresa da Oi Services.  Administra recursos da </a:t>
            </a:r>
            <a:r>
              <a:rPr lang="pt-BR" b="1" dirty="0" smtClean="0">
                <a:solidFill>
                  <a:schemeClr val="tx2"/>
                </a:solidFill>
              </a:rPr>
              <a:t>Oi Services e da </a:t>
            </a:r>
            <a:r>
              <a:rPr lang="pt-BR" b="1" dirty="0" err="1" smtClean="0">
                <a:solidFill>
                  <a:schemeClr val="tx2"/>
                </a:solidFill>
              </a:rPr>
              <a:t>Tahto</a:t>
            </a:r>
            <a:r>
              <a:rPr lang="pt-BR" b="1" dirty="0" smtClean="0">
                <a:solidFill>
                  <a:schemeClr val="tx2"/>
                </a:solidFill>
              </a:rPr>
              <a:t>.</a:t>
            </a:r>
          </a:p>
          <a:p>
            <a:pPr marL="174625" indent="-174625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+mj-lt"/>
              <a:buAutoNum type="arabicPeriod"/>
            </a:pPr>
            <a:r>
              <a:rPr lang="pt-BR" dirty="0" smtClean="0">
                <a:solidFill>
                  <a:schemeClr val="tx2"/>
                </a:solidFill>
              </a:rPr>
              <a:t>Novo CNPJ. Compra de novo CNPJ pela </a:t>
            </a:r>
            <a:r>
              <a:rPr lang="pt-BR" dirty="0" err="1" smtClean="0">
                <a:solidFill>
                  <a:schemeClr val="tx2"/>
                </a:solidFill>
              </a:rPr>
              <a:t>Tahto</a:t>
            </a:r>
            <a:r>
              <a:rPr lang="pt-BR" dirty="0" smtClean="0">
                <a:solidFill>
                  <a:schemeClr val="tx2"/>
                </a:solidFill>
              </a:rPr>
              <a:t>.</a:t>
            </a:r>
            <a:endParaRPr lang="pt-BR" dirty="0">
              <a:solidFill>
                <a:schemeClr val="tx2"/>
              </a:solidFill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endParaRPr lang="pt-BR" dirty="0">
              <a:solidFill>
                <a:srgbClr val="4D4D4D"/>
              </a:solidFill>
            </a:endParaRPr>
          </a:p>
        </p:txBody>
      </p:sp>
      <p:sp>
        <p:nvSpPr>
          <p:cNvPr id="5" name="Botão de ação: Voltar ou Anterior 4">
            <a:hlinkClick r:id="rId3" action="ppaction://hlinksldjump" highlightClick="1"/>
          </p:cNvPr>
          <p:cNvSpPr/>
          <p:nvPr/>
        </p:nvSpPr>
        <p:spPr>
          <a:xfrm>
            <a:off x="10740788" y="286603"/>
            <a:ext cx="329876" cy="218364"/>
          </a:xfrm>
          <a:prstGeom prst="actionButtonBackPrevious">
            <a:avLst/>
          </a:prstGeom>
          <a:solidFill>
            <a:srgbClr val="F5F5F5"/>
          </a:solidFill>
          <a:ln w="25400" cap="flat">
            <a:solidFill>
              <a:srgbClr val="F5F5F5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87571" y="2227625"/>
            <a:ext cx="11460478" cy="315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smtClean="0">
                <a:solidFill>
                  <a:schemeClr val="tx2"/>
                </a:solidFill>
              </a:rPr>
              <a:t>Movimentos Societários:</a:t>
            </a:r>
            <a:endParaRPr lang="pt-BR" dirty="0">
              <a:solidFill>
                <a:schemeClr val="tx2"/>
              </a:solidFill>
            </a:endParaRPr>
          </a:p>
          <a:p>
            <a:pPr marL="182563" indent="-182563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+mj-lt"/>
              <a:buAutoNum type="arabicPeriod"/>
            </a:pPr>
            <a:r>
              <a:rPr lang="pt-BR" b="1" dirty="0" smtClean="0">
                <a:solidFill>
                  <a:schemeClr val="tx2"/>
                </a:solidFill>
              </a:rPr>
              <a:t>Oi Services e </a:t>
            </a:r>
            <a:r>
              <a:rPr lang="pt-BR" b="1" dirty="0" err="1" smtClean="0">
                <a:solidFill>
                  <a:schemeClr val="tx2"/>
                </a:solidFill>
              </a:rPr>
              <a:t>Marea</a:t>
            </a:r>
            <a:r>
              <a:rPr lang="pt-BR" b="1" dirty="0" smtClean="0">
                <a:solidFill>
                  <a:schemeClr val="tx2"/>
                </a:solidFill>
              </a:rPr>
              <a:t> serão incorporadas pela Oi S/A.</a:t>
            </a:r>
          </a:p>
          <a:p>
            <a:pPr marL="182563" lvl="1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r>
              <a:rPr lang="pt-BR" dirty="0" smtClean="0">
                <a:solidFill>
                  <a:schemeClr val="tx2"/>
                </a:solidFill>
              </a:rPr>
              <a:t>Consequentemente </a:t>
            </a:r>
            <a:r>
              <a:rPr lang="pt-BR" dirty="0" err="1" smtClean="0">
                <a:solidFill>
                  <a:schemeClr val="tx2"/>
                </a:solidFill>
              </a:rPr>
              <a:t>Chai</a:t>
            </a:r>
            <a:r>
              <a:rPr lang="pt-BR" dirty="0" smtClean="0">
                <a:solidFill>
                  <a:schemeClr val="tx2"/>
                </a:solidFill>
              </a:rPr>
              <a:t> e Olímpia passariam a ser da Oi S/A.</a:t>
            </a:r>
          </a:p>
          <a:p>
            <a:pPr marL="182563" lvl="1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endParaRPr lang="pt-BR" dirty="0">
              <a:solidFill>
                <a:schemeClr val="tx2"/>
              </a:solidFill>
            </a:endParaRPr>
          </a:p>
          <a:p>
            <a:pPr marL="182563" indent="-182563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+mj-lt"/>
              <a:buAutoNum type="arabicPeriod"/>
            </a:pPr>
            <a:r>
              <a:rPr lang="pt-BR" b="1" dirty="0" smtClean="0">
                <a:solidFill>
                  <a:schemeClr val="tx2"/>
                </a:solidFill>
              </a:rPr>
              <a:t>Se optarmos pela opção (2) – uso da Olímpia.</a:t>
            </a:r>
          </a:p>
          <a:p>
            <a:pPr marL="182563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r>
              <a:rPr lang="pt-BR" b="1" dirty="0" smtClean="0">
                <a:solidFill>
                  <a:schemeClr val="tx2"/>
                </a:solidFill>
              </a:rPr>
              <a:t>Venda da Olímpia para a </a:t>
            </a:r>
            <a:r>
              <a:rPr lang="pt-BR" b="1" dirty="0" err="1" smtClean="0">
                <a:solidFill>
                  <a:schemeClr val="tx2"/>
                </a:solidFill>
              </a:rPr>
              <a:t>BtCC</a:t>
            </a:r>
            <a:r>
              <a:rPr lang="pt-BR" b="1" dirty="0">
                <a:solidFill>
                  <a:schemeClr val="tx2"/>
                </a:solidFill>
              </a:rPr>
              <a:t> </a:t>
            </a:r>
            <a:r>
              <a:rPr lang="pt-BR" b="1" dirty="0" smtClean="0">
                <a:solidFill>
                  <a:schemeClr val="tx2"/>
                </a:solidFill>
              </a:rPr>
              <a:t>a partir Mar/26.</a:t>
            </a:r>
          </a:p>
          <a:p>
            <a:pPr marL="182563" indent="-182563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2"/>
                </a:solidFill>
              </a:rPr>
              <a:t>No processo de criação da UPI, não deixar o CNPJ/ empresa Olímpia exposta. E, trabalhar na retirada dos recursos da Oi Services e da </a:t>
            </a:r>
            <a:r>
              <a:rPr lang="pt-BR" dirty="0" err="1" smtClean="0">
                <a:solidFill>
                  <a:schemeClr val="tx2"/>
                </a:solidFill>
              </a:rPr>
              <a:t>BtCC</a:t>
            </a:r>
            <a:r>
              <a:rPr lang="pt-BR" dirty="0" smtClean="0">
                <a:solidFill>
                  <a:schemeClr val="tx2"/>
                </a:solidFill>
              </a:rPr>
              <a:t> de lá.</a:t>
            </a:r>
          </a:p>
          <a:p>
            <a:pPr marL="182563" indent="-182563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2"/>
                </a:solidFill>
              </a:rPr>
              <a:t>Como a Oi Services será incorporada somente em 29/04/2026, necessário mexer com os recursos antes.</a:t>
            </a:r>
          </a:p>
          <a:p>
            <a:pPr marL="182563" indent="-182563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b="1" dirty="0" smtClean="0">
                <a:solidFill>
                  <a:schemeClr val="tx2"/>
                </a:solidFill>
              </a:rPr>
              <a:t>Transferir a gestão dos recursos da </a:t>
            </a:r>
            <a:r>
              <a:rPr lang="pt-BR" b="1" dirty="0" err="1" smtClean="0">
                <a:solidFill>
                  <a:schemeClr val="tx2"/>
                </a:solidFill>
              </a:rPr>
              <a:t>BtCC</a:t>
            </a:r>
            <a:r>
              <a:rPr lang="pt-BR" b="1" dirty="0" smtClean="0">
                <a:solidFill>
                  <a:schemeClr val="tx2"/>
                </a:solidFill>
              </a:rPr>
              <a:t> e da Oi Services para a </a:t>
            </a:r>
            <a:r>
              <a:rPr lang="pt-BR" b="1" dirty="0" err="1" smtClean="0">
                <a:solidFill>
                  <a:schemeClr val="tx2"/>
                </a:solidFill>
              </a:rPr>
              <a:t>Chai</a:t>
            </a:r>
            <a:r>
              <a:rPr lang="pt-BR" b="1" dirty="0" smtClean="0">
                <a:solidFill>
                  <a:schemeClr val="tx2"/>
                </a:solidFill>
              </a:rPr>
              <a:t>.  </a:t>
            </a:r>
            <a:endParaRPr lang="pt-BR" dirty="0">
              <a:solidFill>
                <a:schemeClr val="tx2"/>
              </a:solidFill>
            </a:endParaRPr>
          </a:p>
          <a:p>
            <a:pPr marL="182563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r>
              <a:rPr lang="pt-BR" dirty="0" smtClean="0">
                <a:solidFill>
                  <a:srgbClr val="FF0000"/>
                </a:solidFill>
              </a:rPr>
              <a:t>&gt;&gt; Necessário criar novas contas correntes na </a:t>
            </a:r>
            <a:r>
              <a:rPr lang="pt-BR" dirty="0" err="1" smtClean="0">
                <a:solidFill>
                  <a:srgbClr val="FF0000"/>
                </a:solidFill>
              </a:rPr>
              <a:t>Chai</a:t>
            </a:r>
            <a:r>
              <a:rPr lang="pt-BR" dirty="0" smtClean="0">
                <a:solidFill>
                  <a:srgbClr val="FF0000"/>
                </a:solidFill>
              </a:rPr>
              <a:t> para a administração separada dos recursos da Oi Services e </a:t>
            </a:r>
            <a:r>
              <a:rPr lang="pt-BR" dirty="0" err="1" smtClean="0">
                <a:solidFill>
                  <a:srgbClr val="FF0000"/>
                </a:solidFill>
              </a:rPr>
              <a:t>BtCC</a:t>
            </a:r>
            <a:r>
              <a:rPr lang="pt-BR" dirty="0" smtClean="0">
                <a:solidFill>
                  <a:srgbClr val="FF0000"/>
                </a:solidFill>
              </a:rPr>
              <a:t>. </a:t>
            </a:r>
          </a:p>
          <a:p>
            <a:pPr marL="182563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r>
              <a:rPr lang="pt-BR" dirty="0" smtClean="0">
                <a:solidFill>
                  <a:srgbClr val="FF0000"/>
                </a:solidFill>
              </a:rPr>
              <a:t>&gt;&gt; Pendente ainda resolver a situação do Bruno junto aos bancos, não apresentou o comprovante de residência.</a:t>
            </a:r>
          </a:p>
          <a:p>
            <a:pPr marL="174625" indent="-174625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panose="020B0604020202020204" pitchFamily="34" charset="0"/>
              <a:buChar char="•"/>
            </a:pPr>
            <a:endParaRPr lang="pt-BR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661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5"/>
          <p:cNvSpPr>
            <a:spLocks noGrp="1"/>
          </p:cNvSpPr>
          <p:nvPr>
            <p:ph type="title"/>
          </p:nvPr>
        </p:nvSpPr>
        <p:spPr>
          <a:xfrm>
            <a:off x="187571" y="119371"/>
            <a:ext cx="10756482" cy="558294"/>
          </a:xfrm>
        </p:spPr>
        <p:txBody>
          <a:bodyPr/>
          <a:lstStyle/>
          <a:p>
            <a:r>
              <a:rPr lang="pt-BR" dirty="0" smtClean="0">
                <a:solidFill>
                  <a:srgbClr val="009E0B"/>
                </a:solidFill>
              </a:rPr>
              <a:t>KAIDÔ: CNPJ E FILIAIS ATUAIS DA TAHTO</a:t>
            </a:r>
            <a:endParaRPr lang="pt-BR" dirty="0">
              <a:solidFill>
                <a:srgbClr val="009E0B"/>
              </a:solidFill>
            </a:endParaRPr>
          </a:p>
        </p:txBody>
      </p:sp>
      <p:sp>
        <p:nvSpPr>
          <p:cNvPr id="32" name="Espaço Reservado para Número de Slide 5"/>
          <p:cNvSpPr txBox="1">
            <a:spLocks/>
          </p:cNvSpPr>
          <p:nvPr/>
        </p:nvSpPr>
        <p:spPr>
          <a:xfrm>
            <a:off x="11819155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fld id="{86CB4B4D-7CA3-9044-876B-883B54F8677D}" type="slidenum">
              <a:rPr lang="pt-BR" smtClean="0"/>
              <a:pPr/>
              <a:t>10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187571" y="704218"/>
            <a:ext cx="11812171" cy="5985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smtClean="0">
                <a:solidFill>
                  <a:srgbClr val="4D4D4D"/>
                </a:solidFill>
              </a:rPr>
              <a:t>Filiais: </a:t>
            </a:r>
          </a:p>
          <a:p>
            <a:pPr marL="450850" indent="-1841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Wingdings" panose="05000000000000000000" pitchFamily="2" charset="2"/>
              <a:buChar char="§"/>
              <a:tabLst>
                <a:tab pos="801688" algn="l"/>
              </a:tabLst>
            </a:pPr>
            <a:r>
              <a:rPr lang="pt-BR" dirty="0" smtClean="0">
                <a:solidFill>
                  <a:srgbClr val="4D4D4D"/>
                </a:solidFill>
              </a:rPr>
              <a:t>16 </a:t>
            </a:r>
            <a:r>
              <a:rPr lang="pt-BR" dirty="0" err="1">
                <a:solidFill>
                  <a:srgbClr val="4D4D4D"/>
                </a:solidFill>
              </a:rPr>
              <a:t>Ufs</a:t>
            </a:r>
            <a:r>
              <a:rPr lang="pt-BR" dirty="0">
                <a:solidFill>
                  <a:srgbClr val="4D4D4D"/>
                </a:solidFill>
              </a:rPr>
              <a:t> (GO/MS/RJ/SE - 2 filais; AM/BA/CE/DF/MA/MG/PA/PI/PR/RN/RS/SP - 1 filial cada)</a:t>
            </a:r>
          </a:p>
          <a:p>
            <a:pPr marL="633413" lvl="1" indent="-182563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Wingdings" panose="05000000000000000000" pitchFamily="2" charset="2"/>
              <a:buChar char="§"/>
              <a:tabLst>
                <a:tab pos="801688" algn="l"/>
              </a:tabLst>
            </a:pPr>
            <a:r>
              <a:rPr lang="pt-BR" dirty="0">
                <a:solidFill>
                  <a:srgbClr val="4D4D4D"/>
                </a:solidFill>
              </a:rPr>
              <a:t>2 </a:t>
            </a:r>
            <a:r>
              <a:rPr lang="pt-BR" dirty="0" err="1">
                <a:solidFill>
                  <a:srgbClr val="4D4D4D"/>
                </a:solidFill>
              </a:rPr>
              <a:t>CNPJs</a:t>
            </a:r>
            <a:r>
              <a:rPr lang="pt-BR" dirty="0">
                <a:solidFill>
                  <a:srgbClr val="4D4D4D"/>
                </a:solidFill>
              </a:rPr>
              <a:t> com IE ativa (</a:t>
            </a:r>
            <a:r>
              <a:rPr lang="pt-BR" dirty="0" smtClean="0">
                <a:solidFill>
                  <a:srgbClr val="4D4D4D"/>
                </a:solidFill>
              </a:rPr>
              <a:t>DF- 1 /GO – 1)</a:t>
            </a:r>
            <a:endParaRPr lang="pt-BR" dirty="0">
              <a:solidFill>
                <a:srgbClr val="4D4D4D"/>
              </a:solidFill>
            </a:endParaRPr>
          </a:p>
          <a:p>
            <a:pPr marL="633413" lvl="1" indent="-182563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Wingdings" panose="05000000000000000000" pitchFamily="2" charset="2"/>
              <a:buChar char="§"/>
              <a:tabLst>
                <a:tab pos="801688" algn="l"/>
              </a:tabLst>
            </a:pPr>
            <a:r>
              <a:rPr lang="pt-BR" dirty="0">
                <a:solidFill>
                  <a:srgbClr val="4D4D4D"/>
                </a:solidFill>
              </a:rPr>
              <a:t>18 </a:t>
            </a:r>
            <a:r>
              <a:rPr lang="pt-BR" dirty="0" err="1">
                <a:solidFill>
                  <a:srgbClr val="4D4D4D"/>
                </a:solidFill>
              </a:rPr>
              <a:t>CNPJs</a:t>
            </a:r>
            <a:r>
              <a:rPr lang="pt-BR" dirty="0">
                <a:solidFill>
                  <a:srgbClr val="4D4D4D"/>
                </a:solidFill>
              </a:rPr>
              <a:t> com IM ativa (GO/MS/RJ/SE - 1/AM/BA/CE/DF - 1/MA/MG/PA/PI/PR/RN/RS/SP),  IM N/A (DF-1), IM Pendente (SE - 1</a:t>
            </a:r>
            <a:r>
              <a:rPr lang="pt-BR" dirty="0" smtClean="0">
                <a:solidFill>
                  <a:srgbClr val="4D4D4D"/>
                </a:solidFill>
              </a:rPr>
              <a:t>)</a:t>
            </a:r>
          </a:p>
          <a:p>
            <a:pPr marL="633413" indent="-182563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Wingdings" panose="05000000000000000000" pitchFamily="2" charset="2"/>
              <a:buChar char="§"/>
              <a:tabLst>
                <a:tab pos="801688" algn="l"/>
              </a:tabLst>
            </a:pPr>
            <a:r>
              <a:rPr lang="pt-BR" dirty="0" smtClean="0">
                <a:solidFill>
                  <a:srgbClr val="4D4D4D"/>
                </a:solidFill>
              </a:rPr>
              <a:t>26 contratos de locação (24 contratos no VDR 3.1.4 e 4 aditivos no VDR 2.2.2.1)</a:t>
            </a:r>
          </a:p>
          <a:p>
            <a:pPr marL="261937" lvl="1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endParaRPr lang="pt-BR" dirty="0" smtClean="0">
              <a:solidFill>
                <a:srgbClr val="4D4D4D"/>
              </a:solidFill>
            </a:endParaRPr>
          </a:p>
          <a:p>
            <a:pPr marL="273050" lvl="1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smtClean="0">
                <a:solidFill>
                  <a:srgbClr val="4D4D4D"/>
                </a:solidFill>
              </a:rPr>
              <a:t>Objeto Social:</a:t>
            </a:r>
            <a:r>
              <a:rPr lang="pt-BR" dirty="0"/>
              <a:t> </a:t>
            </a:r>
          </a:p>
          <a:p>
            <a:pPr marL="266700" lvl="1">
              <a:spcAft>
                <a:spcPts val="200"/>
              </a:spcAft>
            </a:pPr>
            <a:r>
              <a:rPr lang="pt-BR" dirty="0">
                <a:solidFill>
                  <a:srgbClr val="4D4D4D"/>
                </a:solidFill>
              </a:rPr>
              <a:t>(i) a prestação de serviços de centrais de atendimento a terceiros, compreendendo, dentre outros, as áreas de atendimento a clientes, telemarketing ativo e passivo e serviços de treinamento, suporte e consultoria e atividades afins;</a:t>
            </a:r>
          </a:p>
          <a:p>
            <a:pPr marL="266700" lvl="1">
              <a:spcAft>
                <a:spcPts val="200"/>
              </a:spcAft>
            </a:pPr>
            <a:r>
              <a:rPr lang="pt-BR" dirty="0">
                <a:solidFill>
                  <a:srgbClr val="4D4D4D"/>
                </a:solidFill>
              </a:rPr>
              <a:t>(</a:t>
            </a:r>
            <a:r>
              <a:rPr lang="pt-BR" dirty="0" err="1">
                <a:solidFill>
                  <a:srgbClr val="4D4D4D"/>
                </a:solidFill>
              </a:rPr>
              <a:t>ii</a:t>
            </a:r>
            <a:r>
              <a:rPr lang="pt-BR" dirty="0">
                <a:solidFill>
                  <a:srgbClr val="4D4D4D"/>
                </a:solidFill>
              </a:rPr>
              <a:t>) contratação, capacitação, administração e fornecimento de mão-de-obra para a prestação de serviços de atendimento a terceiros, compreendendo, dentre outros, as áreas de atendimento a clientes, telemarketing ativo e passivo e atividades afins;</a:t>
            </a:r>
          </a:p>
          <a:p>
            <a:pPr marL="266700" lvl="1">
              <a:spcAft>
                <a:spcPts val="200"/>
              </a:spcAft>
            </a:pPr>
            <a:r>
              <a:rPr lang="pt-BR" dirty="0">
                <a:solidFill>
                  <a:srgbClr val="4D4D4D"/>
                </a:solidFill>
              </a:rPr>
              <a:t>(</a:t>
            </a:r>
            <a:r>
              <a:rPr lang="pt-BR" dirty="0" err="1">
                <a:solidFill>
                  <a:srgbClr val="4D4D4D"/>
                </a:solidFill>
              </a:rPr>
              <a:t>iii</a:t>
            </a:r>
            <a:r>
              <a:rPr lang="pt-BR" dirty="0">
                <a:solidFill>
                  <a:srgbClr val="4D4D4D"/>
                </a:solidFill>
              </a:rPr>
              <a:t>) a criação, administração e manutenção de bancos de dados;</a:t>
            </a:r>
          </a:p>
          <a:p>
            <a:pPr marL="266700" lvl="1">
              <a:spcAft>
                <a:spcPts val="200"/>
              </a:spcAft>
            </a:pPr>
            <a:r>
              <a:rPr lang="pt-BR" dirty="0">
                <a:solidFill>
                  <a:srgbClr val="4D4D4D"/>
                </a:solidFill>
              </a:rPr>
              <a:t>(</a:t>
            </a:r>
            <a:r>
              <a:rPr lang="pt-BR" dirty="0" err="1">
                <a:solidFill>
                  <a:srgbClr val="4D4D4D"/>
                </a:solidFill>
              </a:rPr>
              <a:t>iv</a:t>
            </a:r>
            <a:r>
              <a:rPr lang="pt-BR" dirty="0">
                <a:solidFill>
                  <a:srgbClr val="4D4D4D"/>
                </a:solidFill>
              </a:rPr>
              <a:t>) a criação, desenvolvimento, implantação e manutenção de sistemas</a:t>
            </a:r>
          </a:p>
          <a:p>
            <a:pPr marL="266700" lvl="1">
              <a:spcAft>
                <a:spcPts val="200"/>
              </a:spcAft>
            </a:pPr>
            <a:r>
              <a:rPr lang="pt-BR" dirty="0">
                <a:solidFill>
                  <a:srgbClr val="4D4D4D"/>
                </a:solidFill>
              </a:rPr>
              <a:t>computadorizados;</a:t>
            </a:r>
          </a:p>
          <a:p>
            <a:pPr marL="266700" lvl="1">
              <a:spcAft>
                <a:spcPts val="200"/>
              </a:spcAft>
            </a:pPr>
            <a:r>
              <a:rPr lang="pt-BR" dirty="0">
                <a:solidFill>
                  <a:srgbClr val="4D4D4D"/>
                </a:solidFill>
              </a:rPr>
              <a:t>(v) a intermediação na comercialização de produtos e serviços diversos;</a:t>
            </a:r>
          </a:p>
          <a:p>
            <a:pPr marL="266700" lvl="1">
              <a:spcAft>
                <a:spcPts val="200"/>
              </a:spcAft>
            </a:pPr>
            <a:r>
              <a:rPr lang="pt-BR" dirty="0">
                <a:solidFill>
                  <a:srgbClr val="4D4D4D"/>
                </a:solidFill>
              </a:rPr>
              <a:t>(vi) a participação em outras sociedades, empreendimentos e consórcios, como acionista, quotista, sócia ou consorciada; e</a:t>
            </a:r>
          </a:p>
          <a:p>
            <a:pPr marL="266700" lvl="1">
              <a:spcAft>
                <a:spcPts val="200"/>
              </a:spcAft>
            </a:pPr>
            <a:r>
              <a:rPr lang="pt-BR" dirty="0">
                <a:solidFill>
                  <a:srgbClr val="4D4D4D"/>
                </a:solidFill>
              </a:rPr>
              <a:t>(</a:t>
            </a:r>
            <a:r>
              <a:rPr lang="pt-BR" dirty="0" err="1">
                <a:solidFill>
                  <a:srgbClr val="4D4D4D"/>
                </a:solidFill>
              </a:rPr>
              <a:t>vii</a:t>
            </a:r>
            <a:r>
              <a:rPr lang="pt-BR" dirty="0">
                <a:solidFill>
                  <a:srgbClr val="4D4D4D"/>
                </a:solidFill>
              </a:rPr>
              <a:t>) a prestação de serviços de promoção de vendas, inclusive com distribuição ou entrega de material promocional e publicitário, dentro ou fora dos estabelecimentos.</a:t>
            </a:r>
          </a:p>
          <a:p>
            <a:pPr marL="273050" lvl="1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endParaRPr lang="pt-BR" dirty="0" smtClean="0">
              <a:solidFill>
                <a:srgbClr val="4D4D4D"/>
              </a:solidFill>
            </a:endParaRPr>
          </a:p>
          <a:p>
            <a:pPr marL="273050" lvl="1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err="1" smtClean="0">
                <a:solidFill>
                  <a:srgbClr val="4D4D4D"/>
                </a:solidFill>
              </a:rPr>
              <a:t>CNAEs</a:t>
            </a:r>
            <a:r>
              <a:rPr lang="pt-BR" dirty="0" smtClean="0">
                <a:solidFill>
                  <a:srgbClr val="4D4D4D"/>
                </a:solidFill>
              </a:rPr>
              <a:t>:  Faltam cartões </a:t>
            </a:r>
            <a:r>
              <a:rPr lang="pt-BR" dirty="0" err="1" smtClean="0">
                <a:solidFill>
                  <a:srgbClr val="4D4D4D"/>
                </a:solidFill>
              </a:rPr>
              <a:t>CNPJs</a:t>
            </a:r>
            <a:r>
              <a:rPr lang="pt-BR" dirty="0" smtClean="0">
                <a:solidFill>
                  <a:srgbClr val="4D4D4D"/>
                </a:solidFill>
              </a:rPr>
              <a:t> no VDR 2.2.1.3 </a:t>
            </a:r>
          </a:p>
          <a:p>
            <a:pPr marL="273050" lvl="1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endParaRPr lang="pt-BR" dirty="0" smtClean="0">
              <a:solidFill>
                <a:srgbClr val="4D4D4D"/>
              </a:solidFill>
            </a:endParaRPr>
          </a:p>
          <a:p>
            <a:pPr marL="273050" lvl="1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smtClean="0">
                <a:solidFill>
                  <a:srgbClr val="4D4D4D"/>
                </a:solidFill>
              </a:rPr>
              <a:t>Última ata divulgada no VDR referente ao RCA de 30/09/2024</a:t>
            </a:r>
          </a:p>
          <a:p>
            <a:pPr marL="273050" lvl="1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endParaRPr lang="pt-BR" dirty="0">
              <a:solidFill>
                <a:srgbClr val="4D4D4D"/>
              </a:solidFill>
            </a:endParaRPr>
          </a:p>
          <a:p>
            <a:pPr marL="273050" lvl="1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smtClean="0">
                <a:solidFill>
                  <a:srgbClr val="FF0000"/>
                </a:solidFill>
              </a:rPr>
              <a:t>Verificar onde há emissão de nota de serviço e pessoas (RH) // Verificar por cliente. 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5" name="Botão de ação: Voltar ou Anterior 4">
            <a:hlinkClick r:id="rId3" action="ppaction://hlinksldjump" highlightClick="1"/>
          </p:cNvPr>
          <p:cNvSpPr/>
          <p:nvPr/>
        </p:nvSpPr>
        <p:spPr>
          <a:xfrm>
            <a:off x="10740788" y="286603"/>
            <a:ext cx="329876" cy="218364"/>
          </a:xfrm>
          <a:prstGeom prst="actionButtonBackPrevious">
            <a:avLst/>
          </a:prstGeom>
          <a:solidFill>
            <a:srgbClr val="F5F5F5"/>
          </a:solidFill>
          <a:ln w="25400" cap="flat">
            <a:solidFill>
              <a:srgbClr val="F5F5F5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271408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5"/>
          <p:cNvSpPr>
            <a:spLocks noGrp="1"/>
          </p:cNvSpPr>
          <p:nvPr>
            <p:ph type="title"/>
          </p:nvPr>
        </p:nvSpPr>
        <p:spPr>
          <a:xfrm>
            <a:off x="187571" y="119371"/>
            <a:ext cx="10756482" cy="558294"/>
          </a:xfrm>
        </p:spPr>
        <p:txBody>
          <a:bodyPr/>
          <a:lstStyle/>
          <a:p>
            <a:r>
              <a:rPr lang="pt-BR" dirty="0" smtClean="0">
                <a:solidFill>
                  <a:srgbClr val="009E0B"/>
                </a:solidFill>
              </a:rPr>
              <a:t>KAIDÔ: ATIVO </a:t>
            </a:r>
            <a:r>
              <a:rPr lang="pt-BR" dirty="0">
                <a:solidFill>
                  <a:srgbClr val="009E0B"/>
                </a:solidFill>
              </a:rPr>
              <a:t>CONTÁBIL </a:t>
            </a:r>
            <a:r>
              <a:rPr lang="pt-BR" dirty="0" smtClean="0">
                <a:solidFill>
                  <a:srgbClr val="009E0B"/>
                </a:solidFill>
              </a:rPr>
              <a:t>DO PERIMETRO (BIS </a:t>
            </a:r>
            <a:r>
              <a:rPr lang="pt-BR" dirty="0">
                <a:solidFill>
                  <a:srgbClr val="009E0B"/>
                </a:solidFill>
              </a:rPr>
              <a:t>+ BIA) </a:t>
            </a:r>
            <a:r>
              <a:rPr lang="pt-BR" dirty="0" smtClean="0">
                <a:solidFill>
                  <a:srgbClr val="009E0B"/>
                </a:solidFill>
              </a:rPr>
              <a:t>– JAN/26</a:t>
            </a:r>
            <a:endParaRPr lang="pt-BR" dirty="0">
              <a:solidFill>
                <a:srgbClr val="009E0B"/>
              </a:solidFill>
            </a:endParaRPr>
          </a:p>
        </p:txBody>
      </p:sp>
      <p:sp>
        <p:nvSpPr>
          <p:cNvPr id="32" name="Espaço Reservado para Número de Slide 5"/>
          <p:cNvSpPr txBox="1">
            <a:spLocks/>
          </p:cNvSpPr>
          <p:nvPr/>
        </p:nvSpPr>
        <p:spPr>
          <a:xfrm>
            <a:off x="11819155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fld id="{86CB4B4D-7CA3-9044-876B-883B54F8677D}" type="slidenum">
              <a:rPr lang="pt-BR" smtClean="0"/>
              <a:pPr/>
              <a:t>11</a:t>
            </a:fld>
            <a:endParaRPr lang="pt-BR" dirty="0"/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127032"/>
              </p:ext>
            </p:extLst>
          </p:nvPr>
        </p:nvGraphicFramePr>
        <p:xfrm>
          <a:off x="2477758" y="718266"/>
          <a:ext cx="6429329" cy="3399788"/>
        </p:xfrm>
        <a:graphic>
          <a:graphicData uri="http://schemas.openxmlformats.org/drawingml/2006/table">
            <a:tbl>
              <a:tblPr/>
              <a:tblGrid>
                <a:gridCol w="2034750">
                  <a:extLst>
                    <a:ext uri="{9D8B030D-6E8A-4147-A177-3AD203B41FA5}">
                      <a16:colId xmlns:a16="http://schemas.microsoft.com/office/drawing/2014/main" val="2329955786"/>
                    </a:ext>
                  </a:extLst>
                </a:gridCol>
                <a:gridCol w="2847501">
                  <a:extLst>
                    <a:ext uri="{9D8B030D-6E8A-4147-A177-3AD203B41FA5}">
                      <a16:colId xmlns:a16="http://schemas.microsoft.com/office/drawing/2014/main" val="3937411411"/>
                    </a:ext>
                  </a:extLst>
                </a:gridCol>
                <a:gridCol w="1547078">
                  <a:extLst>
                    <a:ext uri="{9D8B030D-6E8A-4147-A177-3AD203B41FA5}">
                      <a16:colId xmlns:a16="http://schemas.microsoft.com/office/drawing/2014/main" val="1805135512"/>
                    </a:ext>
                  </a:extLst>
                </a:gridCol>
              </a:tblGrid>
              <a:tr h="475968">
                <a:tc>
                  <a:txBody>
                    <a:bodyPr/>
                    <a:lstStyle/>
                    <a:p>
                      <a:pPr algn="ctr" fontAlgn="ctr"/>
                      <a:endParaRPr lang="pt-BR" sz="1400" b="0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Categoria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Valor Contábil </a:t>
                      </a:r>
                    </a:p>
                    <a:p>
                      <a:pPr algn="ctr" fontAlgn="b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(R$ MM)</a:t>
                      </a:r>
                    </a:p>
                  </a:txBody>
                  <a:tcPr marL="9525" marR="108000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360750"/>
                  </a:ext>
                </a:extLst>
              </a:tr>
              <a:tr h="34439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Equipamento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108000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542019"/>
                  </a:ext>
                </a:extLst>
              </a:tr>
              <a:tr h="34439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108000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011391"/>
                  </a:ext>
                </a:extLst>
              </a:tr>
              <a:tr h="344393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Plataforma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108000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6101746"/>
                  </a:ext>
                </a:extLst>
              </a:tr>
              <a:tr h="34439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108000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2846129"/>
                  </a:ext>
                </a:extLst>
              </a:tr>
              <a:tr h="34439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108000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207628"/>
                  </a:ext>
                </a:extLst>
              </a:tr>
              <a:tr h="34439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108000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368604"/>
                  </a:ext>
                </a:extLst>
              </a:tr>
              <a:tr h="51306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Sistemas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108000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6332404"/>
                  </a:ext>
                </a:extLst>
              </a:tr>
              <a:tr h="344393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108000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052063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187571" y="4139532"/>
            <a:ext cx="12022976" cy="259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smtClean="0">
                <a:solidFill>
                  <a:srgbClr val="FF0000"/>
                </a:solidFill>
              </a:rPr>
              <a:t>XX</a:t>
            </a:r>
            <a:r>
              <a:rPr lang="pt-BR" dirty="0" smtClean="0">
                <a:solidFill>
                  <a:srgbClr val="009E0B"/>
                </a:solidFill>
              </a:rPr>
              <a:t> </a:t>
            </a:r>
            <a:r>
              <a:rPr lang="pt-BR" dirty="0" smtClean="0">
                <a:solidFill>
                  <a:srgbClr val="4D4D4D"/>
                </a:solidFill>
              </a:rPr>
              <a:t>Equipamentos </a:t>
            </a:r>
          </a:p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smtClean="0">
                <a:solidFill>
                  <a:srgbClr val="FF0000"/>
                </a:solidFill>
              </a:rPr>
              <a:t>XX</a:t>
            </a:r>
            <a:r>
              <a:rPr lang="pt-BR" dirty="0" smtClean="0">
                <a:solidFill>
                  <a:srgbClr val="4D4D4D"/>
                </a:solidFill>
              </a:rPr>
              <a:t> Plataformas;</a:t>
            </a:r>
          </a:p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>
                <a:solidFill>
                  <a:srgbClr val="FF0000"/>
                </a:solidFill>
              </a:rPr>
              <a:t>XX </a:t>
            </a:r>
            <a:r>
              <a:rPr lang="pt-BR" dirty="0">
                <a:solidFill>
                  <a:schemeClr val="tx2"/>
                </a:solidFill>
              </a:rPr>
              <a:t>Sistemas Exclusivos e  </a:t>
            </a:r>
            <a:r>
              <a:rPr lang="pt-BR" dirty="0">
                <a:solidFill>
                  <a:srgbClr val="FF0000"/>
                </a:solidFill>
              </a:rPr>
              <a:t>XX</a:t>
            </a:r>
            <a:r>
              <a:rPr lang="pt-BR" dirty="0">
                <a:solidFill>
                  <a:schemeClr val="tx2"/>
                </a:solidFill>
              </a:rPr>
              <a:t> sistemas a serem segregados; </a:t>
            </a:r>
            <a:endParaRPr lang="pt-BR" dirty="0" smtClean="0">
              <a:solidFill>
                <a:schemeClr val="tx2"/>
              </a:solidFill>
            </a:endParaRPr>
          </a:p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endParaRPr lang="pt-BR" dirty="0" smtClean="0">
              <a:solidFill>
                <a:schemeClr val="tx2"/>
              </a:solidFill>
            </a:endParaRPr>
          </a:p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smtClean="0">
                <a:solidFill>
                  <a:schemeClr val="tx2"/>
                </a:solidFill>
              </a:rPr>
              <a:t>76 </a:t>
            </a:r>
            <a:r>
              <a:rPr lang="pt-BR" dirty="0">
                <a:solidFill>
                  <a:schemeClr val="tx2"/>
                </a:solidFill>
              </a:rPr>
              <a:t>sistemas com 126.357 licenças envolvidas do tipo: subscrição (58 sistemas/ 121.350 licenças), </a:t>
            </a:r>
            <a:r>
              <a:rPr lang="pt-BR" dirty="0" smtClean="0">
                <a:solidFill>
                  <a:schemeClr val="tx2"/>
                </a:solidFill>
              </a:rPr>
              <a:t>perpétua </a:t>
            </a:r>
            <a:r>
              <a:rPr lang="pt-BR" dirty="0">
                <a:solidFill>
                  <a:schemeClr val="tx2"/>
                </a:solidFill>
              </a:rPr>
              <a:t>(15 sistemas/ 4.934 licenças) , serviço (3 sistemas/ 73 licenças</a:t>
            </a:r>
            <a:r>
              <a:rPr lang="pt-BR" dirty="0" smtClean="0">
                <a:solidFill>
                  <a:schemeClr val="tx2"/>
                </a:solidFill>
              </a:rPr>
              <a:t>) ---</a:t>
            </a:r>
          </a:p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endParaRPr lang="pt-BR" dirty="0" smtClean="0">
              <a:solidFill>
                <a:schemeClr val="tx2"/>
              </a:solidFill>
            </a:endParaRPr>
          </a:p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smtClean="0">
                <a:solidFill>
                  <a:schemeClr val="tx2"/>
                </a:solidFill>
              </a:rPr>
              <a:t>Sinalizado que há equipamentos/plataformas da </a:t>
            </a:r>
            <a:r>
              <a:rPr lang="pt-BR" dirty="0" err="1" smtClean="0">
                <a:solidFill>
                  <a:schemeClr val="tx2"/>
                </a:solidFill>
              </a:rPr>
              <a:t>Tahto</a:t>
            </a:r>
            <a:r>
              <a:rPr lang="pt-BR" dirty="0" smtClean="0">
                <a:solidFill>
                  <a:schemeClr val="tx2"/>
                </a:solidFill>
              </a:rPr>
              <a:t> dentro do ativo da Oi S/A e que precisa ser tratado no SAP.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r>
              <a:rPr lang="pt-BR" dirty="0" smtClean="0">
                <a:solidFill>
                  <a:schemeClr val="tx2"/>
                </a:solidFill>
              </a:rPr>
              <a:t>&gt;&gt; Venda do ativo para </a:t>
            </a:r>
            <a:r>
              <a:rPr lang="pt-BR" dirty="0" err="1" smtClean="0">
                <a:solidFill>
                  <a:schemeClr val="tx2"/>
                </a:solidFill>
              </a:rPr>
              <a:t>Tahto</a:t>
            </a:r>
            <a:r>
              <a:rPr lang="pt-BR" dirty="0" smtClean="0">
                <a:solidFill>
                  <a:schemeClr val="tx2"/>
                </a:solidFill>
              </a:rPr>
              <a:t> ??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r>
              <a:rPr lang="pt-BR" dirty="0" smtClean="0">
                <a:solidFill>
                  <a:schemeClr val="tx2"/>
                </a:solidFill>
              </a:rPr>
              <a:t>&gt;&gt; Conversar com Marina e advogados da RJ</a:t>
            </a:r>
          </a:p>
        </p:txBody>
      </p:sp>
      <p:sp>
        <p:nvSpPr>
          <p:cNvPr id="5" name="Botão de ação: Voltar ou Anterior 4">
            <a:hlinkClick r:id="rId3" action="ppaction://hlinksldjump" highlightClick="1"/>
          </p:cNvPr>
          <p:cNvSpPr/>
          <p:nvPr/>
        </p:nvSpPr>
        <p:spPr>
          <a:xfrm>
            <a:off x="10740788" y="286603"/>
            <a:ext cx="329876" cy="218364"/>
          </a:xfrm>
          <a:prstGeom prst="actionButtonBackPrevious">
            <a:avLst/>
          </a:prstGeom>
          <a:solidFill>
            <a:srgbClr val="F5F5F5"/>
          </a:solidFill>
          <a:ln w="25400" cap="flat">
            <a:solidFill>
              <a:srgbClr val="F5F5F5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1547447" y="1860585"/>
            <a:ext cx="3502856" cy="923330"/>
          </a:xfrm>
          <a:prstGeom prst="rect">
            <a:avLst/>
          </a:prstGeom>
          <a:solidFill>
            <a:srgbClr val="FFFF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Foto sistemas, plataformas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8085970" y="1860585"/>
            <a:ext cx="3502856" cy="923330"/>
          </a:xfrm>
          <a:prstGeom prst="rect">
            <a:avLst/>
          </a:prstGeom>
          <a:solidFill>
            <a:srgbClr val="FFFF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Refinar F. Anderson</a:t>
            </a:r>
            <a:endParaRPr kumimoji="0" lang="pt-BR" sz="20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980969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5"/>
          <p:cNvSpPr>
            <a:spLocks noGrp="1"/>
          </p:cNvSpPr>
          <p:nvPr>
            <p:ph type="title"/>
          </p:nvPr>
        </p:nvSpPr>
        <p:spPr>
          <a:xfrm>
            <a:off x="187570" y="119371"/>
            <a:ext cx="10756482" cy="558294"/>
          </a:xfrm>
        </p:spPr>
        <p:txBody>
          <a:bodyPr/>
          <a:lstStyle/>
          <a:p>
            <a:r>
              <a:rPr lang="pt-BR" dirty="0">
                <a:solidFill>
                  <a:srgbClr val="009E0B"/>
                </a:solidFill>
              </a:rPr>
              <a:t>KAIDÔ : </a:t>
            </a:r>
            <a:r>
              <a:rPr lang="pt-BR" dirty="0" smtClean="0">
                <a:solidFill>
                  <a:srgbClr val="009E0B"/>
                </a:solidFill>
              </a:rPr>
              <a:t>PRINCIPAIS CONTRATOS </a:t>
            </a:r>
            <a:endParaRPr lang="pt-BR" dirty="0">
              <a:solidFill>
                <a:srgbClr val="009E0B"/>
              </a:solidFill>
            </a:endParaRPr>
          </a:p>
        </p:txBody>
      </p:sp>
      <p:sp>
        <p:nvSpPr>
          <p:cNvPr id="32" name="Espaço Reservado para Número de Slide 5"/>
          <p:cNvSpPr txBox="1">
            <a:spLocks/>
          </p:cNvSpPr>
          <p:nvPr/>
        </p:nvSpPr>
        <p:spPr>
          <a:xfrm>
            <a:off x="11819155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fld id="{86CB4B4D-7CA3-9044-876B-883B54F8677D}" type="slidenum">
              <a:rPr lang="pt-BR" smtClean="0"/>
              <a:pPr/>
              <a:t>12</a:t>
            </a:fld>
            <a:endParaRPr lang="pt-BR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053494"/>
              </p:ext>
            </p:extLst>
          </p:nvPr>
        </p:nvGraphicFramePr>
        <p:xfrm>
          <a:off x="300111" y="677665"/>
          <a:ext cx="8238978" cy="333757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01218">
                  <a:extLst>
                    <a:ext uri="{9D8B030D-6E8A-4147-A177-3AD203B41FA5}">
                      <a16:colId xmlns:a16="http://schemas.microsoft.com/office/drawing/2014/main" val="49521678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290961168"/>
                    </a:ext>
                  </a:extLst>
                </a:gridCol>
              </a:tblGrid>
              <a:tr h="38108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Fornecedor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96" marR="35296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Objeto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96" marR="35296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92566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TICKET SERVICOS 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BENEFICIOS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342465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HAPVIDA ASSISTENCIA MEDICA LTDA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BENEFICIOS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992252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CENTRAL NACIONAL UNIMED - COOPERATI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BENEFICIOS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3676835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CURUPIRA S.A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MENSAGERIA WHATSAPP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277582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MEX BENEFICIOS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BENEFICIOS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401241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CENTRO TECNOLOGICO DELTA LTDA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INCENTIVO ISS GO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189440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OI SA  EM RECUPERACAO JUDICIAL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 OI SOLUÇÕES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804221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FLASH TECNOLOGIA E INSTITUIÇÃO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BENEFICIOS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9802118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PTLS SERVICOS DE TECNOLOGIA 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LICENÇAS MICROSOFT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414082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A5 SOLUTIONS SERVIÇOS E COMÉRCIO EM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DESENVOLVIMENTO/MANUT SOLUÇÕES PARA O NEGOCIO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2049487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TICKET SERVICOS 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BENEFICIOS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199311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HAPVIDA ASSISTENCIA MEDICA LTDA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BENEFICIOS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549378"/>
                  </a:ext>
                </a:extLst>
              </a:tr>
            </a:tbl>
          </a:graphicData>
        </a:graphic>
      </p:graphicFrame>
      <p:sp>
        <p:nvSpPr>
          <p:cNvPr id="5" name="Botão de ação: Voltar ou Anterior 4">
            <a:hlinkClick r:id="rId3" action="ppaction://hlinksldjump" highlightClick="1"/>
          </p:cNvPr>
          <p:cNvSpPr/>
          <p:nvPr/>
        </p:nvSpPr>
        <p:spPr>
          <a:xfrm>
            <a:off x="10740788" y="286603"/>
            <a:ext cx="329876" cy="218364"/>
          </a:xfrm>
          <a:prstGeom prst="actionButtonBackPrevious">
            <a:avLst/>
          </a:prstGeom>
          <a:solidFill>
            <a:srgbClr val="F5F5F5"/>
          </a:solidFill>
          <a:ln w="25400" cap="flat">
            <a:solidFill>
              <a:srgbClr val="F5F5F5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187571" y="4260560"/>
            <a:ext cx="12022976" cy="1341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smtClean="0">
                <a:solidFill>
                  <a:srgbClr val="4D4D4D"/>
                </a:solidFill>
              </a:rPr>
              <a:t>95 contratos de fornecedores</a:t>
            </a:r>
          </a:p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>
                <a:solidFill>
                  <a:srgbClr val="4D4D4D"/>
                </a:solidFill>
              </a:rPr>
              <a:t>5 Outros contratos relacionados ao processo da cia </a:t>
            </a:r>
            <a:r>
              <a:rPr lang="pt-BR" dirty="0" smtClean="0">
                <a:solidFill>
                  <a:srgbClr val="4D4D4D"/>
                </a:solidFill>
              </a:rPr>
              <a:t> &gt;&gt; </a:t>
            </a:r>
            <a:r>
              <a:rPr lang="pt-BR" dirty="0" smtClean="0">
                <a:solidFill>
                  <a:srgbClr val="FF0000"/>
                </a:solidFill>
              </a:rPr>
              <a:t>Resgatar segregação de contratos – Bruno </a:t>
            </a:r>
            <a:r>
              <a:rPr lang="pt-BR" dirty="0" err="1" smtClean="0">
                <a:solidFill>
                  <a:srgbClr val="FF0000"/>
                </a:solidFill>
              </a:rPr>
              <a:t>Fantagoso</a:t>
            </a:r>
            <a:endParaRPr lang="pt-BR" dirty="0">
              <a:solidFill>
                <a:srgbClr val="FF0000"/>
              </a:solidFill>
            </a:endParaRPr>
          </a:p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smtClean="0">
                <a:solidFill>
                  <a:srgbClr val="4D4D4D"/>
                </a:solidFill>
              </a:rPr>
              <a:t>15 contratos de seguros </a:t>
            </a:r>
          </a:p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smtClean="0">
                <a:solidFill>
                  <a:srgbClr val="4D4D4D"/>
                </a:solidFill>
              </a:rPr>
              <a:t>26 </a:t>
            </a:r>
            <a:r>
              <a:rPr lang="pt-BR" dirty="0">
                <a:solidFill>
                  <a:srgbClr val="4D4D4D"/>
                </a:solidFill>
              </a:rPr>
              <a:t>contratos de locação (24 contratos no VDR 3.1.4 e 4 aditivos no VDR 2.2.2.1)</a:t>
            </a:r>
          </a:p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endParaRPr lang="pt-BR" dirty="0">
              <a:solidFill>
                <a:srgbClr val="4D4D4D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 flipH="1">
            <a:off x="9105314" y="4698458"/>
            <a:ext cx="2373924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Solicitar </a:t>
            </a:r>
            <a:r>
              <a:rPr kumimoji="0" lang="pt-BR" sz="1400" b="0" i="0" u="none" strike="noStrike" cap="none" spc="0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update</a:t>
            </a: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dos contratos e confirmar se já foram </a:t>
            </a:r>
            <a:r>
              <a:rPr kumimoji="0" lang="pt-BR" sz="1400" b="0" i="0" u="none" strike="noStrike" cap="none" spc="0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segragados</a:t>
            </a: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5430330" y="312621"/>
            <a:ext cx="3502856" cy="923330"/>
          </a:xfrm>
          <a:prstGeom prst="rect">
            <a:avLst/>
          </a:prstGeom>
          <a:solidFill>
            <a:srgbClr val="FFFF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Refinar F. Anderson</a:t>
            </a:r>
            <a:endParaRPr kumimoji="0" lang="pt-BR" sz="20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86400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5"/>
          <p:cNvSpPr>
            <a:spLocks noGrp="1"/>
          </p:cNvSpPr>
          <p:nvPr>
            <p:ph type="title"/>
          </p:nvPr>
        </p:nvSpPr>
        <p:spPr>
          <a:xfrm>
            <a:off x="187570" y="119371"/>
            <a:ext cx="10756482" cy="558294"/>
          </a:xfrm>
        </p:spPr>
        <p:txBody>
          <a:bodyPr/>
          <a:lstStyle/>
          <a:p>
            <a:r>
              <a:rPr lang="pt-BR" dirty="0">
                <a:solidFill>
                  <a:srgbClr val="009E0B"/>
                </a:solidFill>
              </a:rPr>
              <a:t>KAIDÔ : </a:t>
            </a:r>
            <a:r>
              <a:rPr lang="pt-BR" dirty="0" smtClean="0">
                <a:solidFill>
                  <a:srgbClr val="009E0B"/>
                </a:solidFill>
              </a:rPr>
              <a:t>CLIENTES</a:t>
            </a:r>
            <a:endParaRPr lang="pt-BR" dirty="0">
              <a:solidFill>
                <a:srgbClr val="009E0B"/>
              </a:solidFill>
            </a:endParaRPr>
          </a:p>
        </p:txBody>
      </p:sp>
      <p:sp>
        <p:nvSpPr>
          <p:cNvPr id="32" name="Espaço Reservado para Número de Slide 5"/>
          <p:cNvSpPr txBox="1">
            <a:spLocks/>
          </p:cNvSpPr>
          <p:nvPr/>
        </p:nvSpPr>
        <p:spPr>
          <a:xfrm>
            <a:off x="11819155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fld id="{86CB4B4D-7CA3-9044-876B-883B54F8677D}" type="slidenum">
              <a:rPr lang="pt-BR" smtClean="0"/>
              <a:pPr/>
              <a:t>13</a:t>
            </a:fld>
            <a:endParaRPr lang="pt-BR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747220"/>
              </p:ext>
            </p:extLst>
          </p:nvPr>
        </p:nvGraphicFramePr>
        <p:xfrm>
          <a:off x="300111" y="917652"/>
          <a:ext cx="11519044" cy="568831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59550">
                  <a:extLst>
                    <a:ext uri="{9D8B030D-6E8A-4147-A177-3AD203B41FA5}">
                      <a16:colId xmlns:a16="http://schemas.microsoft.com/office/drawing/2014/main" val="49521678"/>
                    </a:ext>
                  </a:extLst>
                </a:gridCol>
                <a:gridCol w="2593361">
                  <a:extLst>
                    <a:ext uri="{9D8B030D-6E8A-4147-A177-3AD203B41FA5}">
                      <a16:colId xmlns:a16="http://schemas.microsoft.com/office/drawing/2014/main" val="2290961168"/>
                    </a:ext>
                  </a:extLst>
                </a:gridCol>
                <a:gridCol w="7866133">
                  <a:extLst>
                    <a:ext uri="{9D8B030D-6E8A-4147-A177-3AD203B41FA5}">
                      <a16:colId xmlns:a16="http://schemas.microsoft.com/office/drawing/2014/main" val="1697270564"/>
                    </a:ext>
                  </a:extLst>
                </a:gridCol>
              </a:tblGrid>
              <a:tr h="38108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VDR</a:t>
                      </a:r>
                      <a:endParaRPr lang="pt-BR" sz="1400" dirty="0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96" marR="35296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600" b="0" i="0" u="none" strike="noStrike" cap="none" spc="0" baseline="0" dirty="0" smtClean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Simplon BP Regular"/>
                        </a:rPr>
                        <a:t>Cliente</a:t>
                      </a:r>
                      <a:endParaRPr lang="pt-BR" sz="1400" b="0" i="0" u="none" strike="noStrike" cap="none" spc="0" baseline="0" dirty="0">
                        <a:solidFill>
                          <a:schemeClr val="bg1"/>
                        </a:solidFill>
                        <a:effectLst/>
                        <a:uFillTx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  <a:sym typeface="Simplon BP Regular"/>
                      </a:endParaRPr>
                    </a:p>
                  </a:txBody>
                  <a:tcPr marL="35296" marR="35296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 smtClean="0"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  <a:sym typeface="Simplon BP Regular"/>
                        </a:rPr>
                        <a:t>Status Contrato</a:t>
                      </a:r>
                      <a:endParaRPr lang="pt-BR" sz="1400" b="0" i="0" u="none" strike="noStrike" cap="none" spc="0" baseline="0" dirty="0">
                        <a:solidFill>
                          <a:schemeClr val="bg1"/>
                        </a:solidFill>
                        <a:effectLst/>
                        <a:uFillTx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  <a:sym typeface="Simplon BP Regular"/>
                      </a:endParaRPr>
                    </a:p>
                  </a:txBody>
                  <a:tcPr marL="35296" marR="35296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92566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ENEL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 CONTRATOS (CE, RJ, SP) – </a:t>
                      </a:r>
                      <a:r>
                        <a:rPr lang="pt-BR" sz="1400" b="0" i="0" u="none" strike="noStrike" dirty="0" smtClean="0">
                          <a:solidFill>
                            <a:srgbClr val="009E0B"/>
                          </a:solidFill>
                          <a:effectLst/>
                          <a:latin typeface="Calibri" panose="020F0502020204030204" pitchFamily="34" charset="0"/>
                        </a:rPr>
                        <a:t>1º ADITIVOS VENCIDOS EM 01/08/2025</a:t>
                      </a:r>
                      <a:endParaRPr lang="pt-BR" sz="1400" b="0" i="0" u="none" strike="noStrike" dirty="0">
                        <a:solidFill>
                          <a:srgbClr val="009E0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342465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FUNDAÇÃO ATLÂNTICO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 CONTRATO – RENOVADO AUTOMATICAMENTE POR 3</a:t>
                      </a:r>
                      <a:r>
                        <a:rPr lang="pt-BR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ANOS (INICIOU EM 13/06/2022 – VENCIMENTO DO 2º CICLO: 13/06/2028)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992252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INTELCIA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 CONTRATO – ASSINADO EM  15/12/2023 POR 12 MESES. VENCIDO EM 15/12/2024. </a:t>
                      </a:r>
                    </a:p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1º ADITIVO – ASSINADO EM 23/02/2024 NÃO TRATA DA PRORROGAÇÃO.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3676835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NAVA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0277582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OLIST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401241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SAM’S CLUB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9189440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SKY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804221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TELESPAZIO NOC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9802118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TELESPAZIO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414082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OI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2049487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3.1.1.11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VTAL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199311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3.1.1.12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CLIENT</a:t>
                      </a:r>
                      <a:r>
                        <a:rPr lang="pt-BR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 NORDESTE - NIO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549378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3.1.1.13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CLIENT CO NORTE</a:t>
                      </a:r>
                      <a:r>
                        <a:rPr lang="pt-BR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– OI SERVICES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6840238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3.1.1.14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AVIVA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374330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FRESHWORKS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5939264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3.1.1.16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ICATU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5935630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3.1.1.17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IFOOD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8810513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3.1.1.18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VERO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103072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3.1.1.19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VIBRA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8593732"/>
                  </a:ext>
                </a:extLst>
              </a:tr>
              <a:tr h="24637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3.1.1.20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MERCADO ELETRONICO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6362257"/>
                  </a:ext>
                </a:extLst>
              </a:tr>
            </a:tbl>
          </a:graphicData>
        </a:graphic>
      </p:graphicFrame>
      <p:sp>
        <p:nvSpPr>
          <p:cNvPr id="5" name="Botão de ação: Voltar ou Anterior 4">
            <a:hlinkClick r:id="rId3" action="ppaction://hlinksldjump" highlightClick="1"/>
          </p:cNvPr>
          <p:cNvSpPr/>
          <p:nvPr/>
        </p:nvSpPr>
        <p:spPr>
          <a:xfrm>
            <a:off x="10740788" y="286603"/>
            <a:ext cx="329876" cy="218364"/>
          </a:xfrm>
          <a:prstGeom prst="actionButtonBackPrevious">
            <a:avLst/>
          </a:prstGeom>
          <a:solidFill>
            <a:srgbClr val="F5F5F5"/>
          </a:solidFill>
          <a:ln w="25400" cap="flat">
            <a:solidFill>
              <a:srgbClr val="F5F5F5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201635" y="563129"/>
            <a:ext cx="1202297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smtClean="0">
                <a:solidFill>
                  <a:srgbClr val="4D4D4D"/>
                </a:solidFill>
              </a:rPr>
              <a:t>20 clientes que correspondem a </a:t>
            </a:r>
            <a:r>
              <a:rPr lang="pt-BR" dirty="0" err="1" smtClean="0">
                <a:solidFill>
                  <a:srgbClr val="4D4D4D"/>
                </a:solidFill>
              </a:rPr>
              <a:t>xx</a:t>
            </a:r>
            <a:r>
              <a:rPr lang="pt-BR" dirty="0" smtClean="0">
                <a:solidFill>
                  <a:srgbClr val="4D4D4D"/>
                </a:solidFill>
              </a:rPr>
              <a:t> contratos.</a:t>
            </a:r>
            <a:endParaRPr lang="pt-BR" dirty="0">
              <a:solidFill>
                <a:srgbClr val="4D4D4D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 flipH="1">
            <a:off x="4167554" y="593165"/>
            <a:ext cx="237392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Solicitar </a:t>
            </a:r>
            <a:r>
              <a:rPr kumimoji="0" lang="pt-BR" sz="14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update</a:t>
            </a: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dos contratos 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5430330" y="312621"/>
            <a:ext cx="3502856" cy="923330"/>
          </a:xfrm>
          <a:prstGeom prst="rect">
            <a:avLst/>
          </a:prstGeom>
          <a:solidFill>
            <a:srgbClr val="FFFF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Refinar F. Anderson</a:t>
            </a:r>
            <a:endParaRPr kumimoji="0" lang="pt-BR" sz="20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58681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5"/>
          <p:cNvSpPr>
            <a:spLocks noGrp="1"/>
          </p:cNvSpPr>
          <p:nvPr>
            <p:ph type="title"/>
          </p:nvPr>
        </p:nvSpPr>
        <p:spPr>
          <a:xfrm>
            <a:off x="187571" y="119371"/>
            <a:ext cx="10756482" cy="558294"/>
          </a:xfrm>
        </p:spPr>
        <p:txBody>
          <a:bodyPr/>
          <a:lstStyle/>
          <a:p>
            <a:r>
              <a:rPr lang="pt-BR" dirty="0" smtClean="0">
                <a:solidFill>
                  <a:srgbClr val="009E0B"/>
                </a:solidFill>
              </a:rPr>
              <a:t>KAIDÔ: JURÍDICA</a:t>
            </a:r>
            <a:endParaRPr lang="pt-BR" dirty="0">
              <a:solidFill>
                <a:srgbClr val="009E0B"/>
              </a:solidFill>
            </a:endParaRPr>
          </a:p>
        </p:txBody>
      </p:sp>
      <p:sp>
        <p:nvSpPr>
          <p:cNvPr id="32" name="Espaço Reservado para Número de Slide 5"/>
          <p:cNvSpPr txBox="1">
            <a:spLocks/>
          </p:cNvSpPr>
          <p:nvPr/>
        </p:nvSpPr>
        <p:spPr>
          <a:xfrm>
            <a:off x="11819155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fld id="{86CB4B4D-7CA3-9044-876B-883B54F8677D}" type="slidenum">
              <a:rPr lang="pt-BR" smtClean="0"/>
              <a:pPr/>
              <a:t>14</a:t>
            </a:fld>
            <a:endParaRPr lang="pt-BR" dirty="0"/>
          </a:p>
        </p:txBody>
      </p:sp>
      <p:sp>
        <p:nvSpPr>
          <p:cNvPr id="3" name="Retângulo 2"/>
          <p:cNvSpPr/>
          <p:nvPr/>
        </p:nvSpPr>
        <p:spPr>
          <a:xfrm>
            <a:off x="187571" y="695363"/>
            <a:ext cx="12022976" cy="4918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endParaRPr lang="pt-BR" dirty="0">
              <a:solidFill>
                <a:schemeClr val="tx2"/>
              </a:solidFill>
            </a:endParaRPr>
          </a:p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smtClean="0">
                <a:solidFill>
                  <a:schemeClr val="tx2"/>
                </a:solidFill>
              </a:rPr>
              <a:t>No processo de criação da UPI deveremos definir o tratamento do passivo/ contingência jurídica.</a:t>
            </a:r>
          </a:p>
          <a:p>
            <a:pPr marL="534988" lvl="1" indent="-268288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2"/>
                </a:solidFill>
              </a:rPr>
              <a:t>Todo o p</a:t>
            </a:r>
            <a:r>
              <a:rPr lang="pt-BR" dirty="0">
                <a:solidFill>
                  <a:schemeClr val="tx2"/>
                </a:solidFill>
              </a:rPr>
              <a:t>assivo de processos concursais (antes de </a:t>
            </a:r>
            <a:r>
              <a:rPr lang="pt-BR" dirty="0" err="1" smtClean="0">
                <a:solidFill>
                  <a:schemeClr val="tx2"/>
                </a:solidFill>
              </a:rPr>
              <a:t>jul</a:t>
            </a:r>
            <a:r>
              <a:rPr lang="pt-BR" dirty="0" smtClean="0">
                <a:solidFill>
                  <a:schemeClr val="tx2"/>
                </a:solidFill>
              </a:rPr>
              <a:t>/25) e processos </a:t>
            </a:r>
            <a:r>
              <a:rPr lang="pt-BR" dirty="0" err="1" smtClean="0">
                <a:solidFill>
                  <a:schemeClr val="tx2"/>
                </a:solidFill>
              </a:rPr>
              <a:t>extraconcursal</a:t>
            </a:r>
            <a:r>
              <a:rPr lang="pt-BR" dirty="0" smtClean="0">
                <a:solidFill>
                  <a:schemeClr val="tx2"/>
                </a:solidFill>
              </a:rPr>
              <a:t> (após </a:t>
            </a:r>
            <a:r>
              <a:rPr lang="pt-BR" dirty="0" err="1" smtClean="0">
                <a:solidFill>
                  <a:schemeClr val="tx2"/>
                </a:solidFill>
              </a:rPr>
              <a:t>jul</a:t>
            </a:r>
            <a:r>
              <a:rPr lang="pt-BR" dirty="0" smtClean="0">
                <a:solidFill>
                  <a:schemeClr val="tx2"/>
                </a:solidFill>
              </a:rPr>
              <a:t>/25 até a data do </a:t>
            </a:r>
            <a:r>
              <a:rPr lang="pt-BR" dirty="0" err="1" smtClean="0">
                <a:solidFill>
                  <a:schemeClr val="tx2"/>
                </a:solidFill>
              </a:rPr>
              <a:t>drop</a:t>
            </a:r>
            <a:r>
              <a:rPr lang="pt-BR" dirty="0" smtClean="0">
                <a:solidFill>
                  <a:schemeClr val="tx2"/>
                </a:solidFill>
              </a:rPr>
              <a:t> para a UPI </a:t>
            </a:r>
            <a:r>
              <a:rPr lang="pt-BR" dirty="0" err="1" smtClean="0">
                <a:solidFill>
                  <a:schemeClr val="tx2"/>
                </a:solidFill>
              </a:rPr>
              <a:t>Tahto</a:t>
            </a:r>
            <a:r>
              <a:rPr lang="pt-BR" dirty="0" smtClean="0">
                <a:solidFill>
                  <a:schemeClr val="tx2"/>
                </a:solidFill>
              </a:rPr>
              <a:t>) pertencem a empresa </a:t>
            </a:r>
            <a:r>
              <a:rPr lang="pt-BR" dirty="0" err="1" smtClean="0">
                <a:solidFill>
                  <a:schemeClr val="tx2"/>
                </a:solidFill>
              </a:rPr>
              <a:t>BtCC</a:t>
            </a:r>
            <a:r>
              <a:rPr lang="pt-BR" dirty="0" smtClean="0">
                <a:solidFill>
                  <a:schemeClr val="tx2"/>
                </a:solidFill>
              </a:rPr>
              <a:t>.</a:t>
            </a:r>
          </a:p>
          <a:p>
            <a:pPr marL="5524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panose="020B0604020202020204" pitchFamily="34" charset="0"/>
              <a:buChar char="•"/>
            </a:pPr>
            <a:r>
              <a:rPr lang="pt-BR" dirty="0" smtClean="0">
                <a:solidFill>
                  <a:schemeClr val="tx2"/>
                </a:solidFill>
              </a:rPr>
              <a:t>A responsabilidade fiduciária da empresa </a:t>
            </a:r>
            <a:r>
              <a:rPr lang="pt-BR" dirty="0" err="1" smtClean="0">
                <a:solidFill>
                  <a:schemeClr val="tx2"/>
                </a:solidFill>
              </a:rPr>
              <a:t>BtCC</a:t>
            </a:r>
            <a:r>
              <a:rPr lang="pt-BR" dirty="0" smtClean="0">
                <a:solidFill>
                  <a:schemeClr val="tx2"/>
                </a:solidFill>
              </a:rPr>
              <a:t> é da Tatiana (</a:t>
            </a:r>
            <a:r>
              <a:rPr lang="pt-BR" dirty="0" err="1" smtClean="0">
                <a:solidFill>
                  <a:schemeClr val="tx2"/>
                </a:solidFill>
              </a:rPr>
              <a:t>Adm</a:t>
            </a:r>
            <a:r>
              <a:rPr lang="pt-BR" dirty="0" smtClean="0">
                <a:solidFill>
                  <a:schemeClr val="tx2"/>
                </a:solidFill>
              </a:rPr>
              <a:t>  Jurídica da BTCC)</a:t>
            </a:r>
          </a:p>
          <a:p>
            <a:pPr marL="5524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panose="020B0604020202020204" pitchFamily="34" charset="0"/>
              <a:buChar char="•"/>
            </a:pPr>
            <a:endParaRPr lang="pt-BR" dirty="0" smtClean="0">
              <a:solidFill>
                <a:schemeClr val="tx2"/>
              </a:solidFill>
            </a:endParaRPr>
          </a:p>
          <a:p>
            <a:pPr marL="273050" indent="-27305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Arial" charset="0"/>
              <a:buChar char="►"/>
            </a:pPr>
            <a:r>
              <a:rPr lang="pt-BR" dirty="0" smtClean="0">
                <a:solidFill>
                  <a:schemeClr val="tx2"/>
                </a:solidFill>
              </a:rPr>
              <a:t>Com a criação da UPI </a:t>
            </a:r>
            <a:r>
              <a:rPr lang="pt-BR" dirty="0" err="1" smtClean="0">
                <a:solidFill>
                  <a:schemeClr val="tx2"/>
                </a:solidFill>
              </a:rPr>
              <a:t>Tahto</a:t>
            </a:r>
            <a:r>
              <a:rPr lang="pt-BR" dirty="0" smtClean="0">
                <a:solidFill>
                  <a:schemeClr val="tx2"/>
                </a:solidFill>
              </a:rPr>
              <a:t>, alguns pontos precisam ser tratados:</a:t>
            </a: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r>
              <a:rPr lang="pt-BR" dirty="0" smtClean="0">
                <a:solidFill>
                  <a:schemeClr val="tx2"/>
                </a:solidFill>
              </a:rPr>
              <a:t>       JURÍDICO:</a:t>
            </a:r>
          </a:p>
          <a:p>
            <a:pPr marL="342900" indent="-7620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+mj-lt"/>
              <a:buAutoNum type="arabicPeriod"/>
            </a:pPr>
            <a:r>
              <a:rPr lang="pt-BR" dirty="0" smtClean="0">
                <a:solidFill>
                  <a:schemeClr val="tx2"/>
                </a:solidFill>
              </a:rPr>
              <a:t> 100% da equipe jurídica que faz a gestão destes processos da BTCC será transferida para a UPI </a:t>
            </a:r>
            <a:r>
              <a:rPr lang="pt-BR" dirty="0" err="1" smtClean="0">
                <a:solidFill>
                  <a:schemeClr val="tx2"/>
                </a:solidFill>
              </a:rPr>
              <a:t>Tahto</a:t>
            </a:r>
            <a:r>
              <a:rPr lang="pt-BR" dirty="0" smtClean="0">
                <a:solidFill>
                  <a:schemeClr val="tx2"/>
                </a:solidFill>
              </a:rPr>
              <a:t>?  </a:t>
            </a:r>
          </a:p>
          <a:p>
            <a:pPr marL="342900" indent="-7620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  <a:buFont typeface="+mj-lt"/>
              <a:buAutoNum type="arabicPeriod"/>
            </a:pPr>
            <a:r>
              <a:rPr lang="pt-BR" dirty="0" smtClean="0">
                <a:solidFill>
                  <a:schemeClr val="tx2"/>
                </a:solidFill>
              </a:rPr>
              <a:t> Os processos da </a:t>
            </a:r>
            <a:r>
              <a:rPr lang="pt-BR" dirty="0" err="1" smtClean="0">
                <a:solidFill>
                  <a:schemeClr val="tx2"/>
                </a:solidFill>
              </a:rPr>
              <a:t>BtCC</a:t>
            </a:r>
            <a:r>
              <a:rPr lang="pt-BR" dirty="0" smtClean="0">
                <a:solidFill>
                  <a:schemeClr val="tx2"/>
                </a:solidFill>
              </a:rPr>
              <a:t> ficarão sobre a gestão do time jurídico da empresa Oi S/A? </a:t>
            </a:r>
            <a:r>
              <a:rPr lang="pt-BR" dirty="0">
                <a:solidFill>
                  <a:schemeClr val="tx2"/>
                </a:solidFill>
              </a:rPr>
              <a:t> </a:t>
            </a:r>
            <a:r>
              <a:rPr lang="pt-BR" dirty="0" smtClean="0">
                <a:solidFill>
                  <a:schemeClr val="tx2"/>
                </a:solidFill>
              </a:rPr>
              <a:t>Algum recurso da BTCC será transferido para a Oi S/A?</a:t>
            </a:r>
          </a:p>
          <a:p>
            <a:pPr marL="26670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r>
              <a:rPr lang="pt-BR" dirty="0" smtClean="0">
                <a:solidFill>
                  <a:schemeClr val="tx2"/>
                </a:solidFill>
              </a:rPr>
              <a:t>Necessário avaliar a  criação de um contrato de serviço compartilhado entre Oi S/A e </a:t>
            </a:r>
            <a:r>
              <a:rPr lang="pt-BR" dirty="0" err="1" smtClean="0">
                <a:solidFill>
                  <a:schemeClr val="tx2"/>
                </a:solidFill>
              </a:rPr>
              <a:t>BtCC</a:t>
            </a:r>
            <a:r>
              <a:rPr lang="pt-BR" dirty="0" smtClean="0">
                <a:solidFill>
                  <a:schemeClr val="tx2"/>
                </a:solidFill>
              </a:rPr>
              <a:t>. </a:t>
            </a:r>
          </a:p>
          <a:p>
            <a:pPr marL="26670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endParaRPr lang="pt-BR" dirty="0" smtClean="0">
              <a:solidFill>
                <a:schemeClr val="tx2"/>
              </a:solidFill>
            </a:endParaRPr>
          </a:p>
          <a:p>
            <a:pPr marL="26670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endParaRPr lang="pt-BR" dirty="0" smtClean="0">
              <a:solidFill>
                <a:schemeClr val="tx2"/>
              </a:solidFill>
            </a:endParaRPr>
          </a:p>
          <a:p>
            <a:pPr marL="26670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r>
              <a:rPr lang="pt-BR" dirty="0" smtClean="0">
                <a:solidFill>
                  <a:schemeClr val="tx2"/>
                </a:solidFill>
              </a:rPr>
              <a:t>3. Como fica a gestão e atividades da empresa </a:t>
            </a:r>
            <a:r>
              <a:rPr lang="pt-BR" dirty="0" err="1" smtClean="0">
                <a:solidFill>
                  <a:schemeClr val="tx2"/>
                </a:solidFill>
              </a:rPr>
              <a:t>BtCC</a:t>
            </a:r>
            <a:r>
              <a:rPr lang="pt-BR" dirty="0" smtClean="0">
                <a:solidFill>
                  <a:schemeClr val="tx2"/>
                </a:solidFill>
              </a:rPr>
              <a:t> até a liquidação da empresa, que não ocorre com a venda da UPI </a:t>
            </a:r>
            <a:r>
              <a:rPr lang="pt-BR" dirty="0" err="1" smtClean="0">
                <a:solidFill>
                  <a:schemeClr val="tx2"/>
                </a:solidFill>
              </a:rPr>
              <a:t>Tahto</a:t>
            </a:r>
            <a:r>
              <a:rPr lang="pt-BR" dirty="0" smtClean="0">
                <a:solidFill>
                  <a:schemeClr val="tx2"/>
                </a:solidFill>
              </a:rPr>
              <a:t>?</a:t>
            </a:r>
          </a:p>
          <a:p>
            <a:pPr marL="26670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r>
              <a:rPr lang="pt-BR" dirty="0" err="1" smtClean="0">
                <a:solidFill>
                  <a:schemeClr val="tx2"/>
                </a:solidFill>
              </a:rPr>
              <a:t>Ex</a:t>
            </a:r>
            <a:r>
              <a:rPr lang="pt-BR" dirty="0" smtClean="0">
                <a:solidFill>
                  <a:schemeClr val="tx2"/>
                </a:solidFill>
              </a:rPr>
              <a:t>: Atividades Administrativas, Contábil, Tributária, Obrigações fiscais,  RH.</a:t>
            </a:r>
          </a:p>
          <a:p>
            <a:pPr marL="26670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endParaRPr lang="pt-BR" dirty="0">
              <a:solidFill>
                <a:schemeClr val="tx2"/>
              </a:solidFill>
            </a:endParaRPr>
          </a:p>
          <a:p>
            <a:pPr marL="266700"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endParaRPr lang="pt-BR" dirty="0" smtClean="0">
              <a:solidFill>
                <a:srgbClr val="4D4D4D"/>
              </a:solidFill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endParaRPr lang="pt-BR" dirty="0">
              <a:solidFill>
                <a:srgbClr val="4D4D4D"/>
              </a:solidFill>
            </a:endParaRPr>
          </a:p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009E0B"/>
              </a:buClr>
              <a:buSzPct val="100000"/>
            </a:pPr>
            <a:endParaRPr lang="pt-BR" dirty="0">
              <a:solidFill>
                <a:srgbClr val="4D4D4D"/>
              </a:solidFill>
            </a:endParaRPr>
          </a:p>
        </p:txBody>
      </p:sp>
      <p:sp>
        <p:nvSpPr>
          <p:cNvPr id="5" name="Botão de ação: Voltar ou Anterior 4">
            <a:hlinkClick r:id="rId3" action="ppaction://hlinksldjump" highlightClick="1"/>
          </p:cNvPr>
          <p:cNvSpPr/>
          <p:nvPr/>
        </p:nvSpPr>
        <p:spPr>
          <a:xfrm>
            <a:off x="10740788" y="286603"/>
            <a:ext cx="329876" cy="218364"/>
          </a:xfrm>
          <a:prstGeom prst="actionButtonBackPrevious">
            <a:avLst/>
          </a:prstGeom>
          <a:solidFill>
            <a:srgbClr val="F5F5F5"/>
          </a:solidFill>
          <a:ln w="25400" cap="flat">
            <a:solidFill>
              <a:srgbClr val="F5F5F5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65061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to 1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9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16" name="Objeto 1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Espaço Reservado para Número de Slide 5"/>
          <p:cNvSpPr>
            <a:spLocks noGrp="1"/>
          </p:cNvSpPr>
          <p:nvPr>
            <p:ph type="sldNum" sz="quarter" idx="4294967295"/>
          </p:nvPr>
        </p:nvSpPr>
        <p:spPr>
          <a:xfrm>
            <a:off x="11055806" y="6598535"/>
            <a:ext cx="1125177" cy="177884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4F21757-CAEC-9B46-BA5E-8BB41E742229}" type="slidenum">
              <a:rPr kumimoji="0" lang="en-US" sz="1050" b="0" i="0" u="none" strike="noStrike" kern="0" cap="none" spc="0" normalizeH="0" baseline="0" noProof="0" smtClean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Simplon BP Regular"/>
                <a:sym typeface="Simplon BP Regular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928449"/>
              </p:ext>
            </p:extLst>
          </p:nvPr>
        </p:nvGraphicFramePr>
        <p:xfrm>
          <a:off x="408183" y="3431420"/>
          <a:ext cx="10933198" cy="2133600"/>
        </p:xfrm>
        <a:graphic>
          <a:graphicData uri="http://schemas.openxmlformats.org/drawingml/2006/table">
            <a:tbl>
              <a:tblPr firstRow="1" firstCol="1" bandRow="1"/>
              <a:tblGrid>
                <a:gridCol w="1770057">
                  <a:extLst>
                    <a:ext uri="{9D8B030D-6E8A-4147-A177-3AD203B41FA5}">
                      <a16:colId xmlns:a16="http://schemas.microsoft.com/office/drawing/2014/main" val="2154649168"/>
                    </a:ext>
                  </a:extLst>
                </a:gridCol>
                <a:gridCol w="2197290">
                  <a:extLst>
                    <a:ext uri="{9D8B030D-6E8A-4147-A177-3AD203B41FA5}">
                      <a16:colId xmlns:a16="http://schemas.microsoft.com/office/drawing/2014/main" val="1695374084"/>
                    </a:ext>
                  </a:extLst>
                </a:gridCol>
                <a:gridCol w="4954137">
                  <a:extLst>
                    <a:ext uri="{9D8B030D-6E8A-4147-A177-3AD203B41FA5}">
                      <a16:colId xmlns:a16="http://schemas.microsoft.com/office/drawing/2014/main" val="3042058799"/>
                    </a:ext>
                  </a:extLst>
                </a:gridCol>
                <a:gridCol w="2011714">
                  <a:extLst>
                    <a:ext uri="{9D8B030D-6E8A-4147-A177-3AD203B41FA5}">
                      <a16:colId xmlns:a16="http://schemas.microsoft.com/office/drawing/2014/main" val="351576704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rgbClr val="F2F2F2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Reunião</a:t>
                      </a:r>
                      <a:endParaRPr lang="pt-BR" sz="14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rgbClr val="F2F2F2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Integrantes</a:t>
                      </a:r>
                      <a:endParaRPr lang="pt-BR" sz="14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dirty="0">
                          <a:solidFill>
                            <a:srgbClr val="F2F2F2"/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Objetivos</a:t>
                      </a:r>
                      <a:endParaRPr lang="pt-BR" sz="14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i="0" u="none" strike="noStrike" cap="none" spc="0" baseline="0" dirty="0">
                          <a:solidFill>
                            <a:srgbClr val="F2F2F2"/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Agenda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17328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Daily meeting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M&amp;A 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Follow</a:t>
                      </a: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 </a:t>
                      </a:r>
                      <a:r>
                        <a:rPr lang="pt-BR" sz="1400" b="0" i="0" u="none" strike="noStrike" cap="none" spc="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up</a:t>
                      </a: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 de pontos críticos e cheque de prioridades.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30 min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39855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Weekly</a:t>
                      </a: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pontos críticos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M&amp;A, N2, Líderes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Endereçamento de pontos críticos com N2 impactados.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60 min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37259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Reunião executiva</a:t>
                      </a:r>
                      <a:r>
                        <a:rPr lang="pt-BR" sz="14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quinzenal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M&amp;A, N2, Líderes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Status </a:t>
                      </a:r>
                      <a:r>
                        <a:rPr lang="pt-BR" sz="1400" b="0" i="0" u="none" strike="noStrike" cap="none" spc="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review</a:t>
                      </a: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, endereçamento dos pontos de decisão </a:t>
                      </a:r>
                      <a:r>
                        <a:rPr lang="pt-BR" sz="1400" b="0" i="0" u="none" strike="noStrike" cap="none" spc="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cross</a:t>
                      </a: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.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60 min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02882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Reunião executiva</a:t>
                      </a:r>
                      <a:r>
                        <a:rPr lang="pt-BR" sz="14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pt-BR" sz="140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mensal - CDG</a:t>
                      </a:r>
                      <a:endParaRPr lang="pt-BR" sz="18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M&amp;A, </a:t>
                      </a:r>
                      <a:r>
                        <a:rPr lang="pt-BR" sz="140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+mj-lt"/>
                          <a:ea typeface="Calibri" panose="020F0502020204030204" pitchFamily="34" charset="0"/>
                        </a:rPr>
                        <a:t>N1, Interventora</a:t>
                      </a:r>
                      <a:endParaRPr lang="pt-B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Status </a:t>
                      </a:r>
                      <a:r>
                        <a:rPr lang="pt-BR" sz="1400" b="0" i="0" u="none" strike="noStrike" cap="none" spc="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projeto, pontos críticos ou de decisão.</a:t>
                      </a:r>
                      <a:endParaRPr lang="pt-BR" sz="1400" b="0" i="0" u="none" strike="noStrike" cap="none" spc="0" baseline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uFillTx/>
                        <a:latin typeface="+mj-lt"/>
                        <a:ea typeface="Calibri" panose="020F0502020204030204" pitchFamily="34" charset="0"/>
                        <a:cs typeface="+mn-cs"/>
                        <a:sym typeface="Simplon BP Regular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0" i="0" u="none" strike="noStrike" cap="none" spc="0" baseline="0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20 </a:t>
                      </a:r>
                      <a:r>
                        <a:rPr lang="pt-BR" sz="1400" b="0" i="0" u="none" strike="noStrike" cap="none" spc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uFillTx/>
                          <a:latin typeface="+mj-lt"/>
                          <a:ea typeface="Calibri" panose="020F0502020204030204" pitchFamily="34" charset="0"/>
                          <a:cs typeface="+mn-cs"/>
                          <a:sym typeface="Simplon BP Regular"/>
                        </a:rPr>
                        <a:t>min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46189"/>
                  </a:ext>
                </a:extLst>
              </a:tr>
            </a:tbl>
          </a:graphicData>
        </a:graphic>
      </p:graphicFrame>
      <p:sp>
        <p:nvSpPr>
          <p:cNvPr id="7" name="Pentagon 70">
            <a:extLst>
              <a:ext uri="{FF2B5EF4-FFF2-40B4-BE49-F238E27FC236}">
                <a16:creationId xmlns:a16="http://schemas.microsoft.com/office/drawing/2014/main" id="{7E12959C-4A9A-4DD6-BF3A-9648A4620508}"/>
              </a:ext>
            </a:extLst>
          </p:cNvPr>
          <p:cNvSpPr/>
          <p:nvPr/>
        </p:nvSpPr>
        <p:spPr>
          <a:xfrm>
            <a:off x="7158002" y="1992510"/>
            <a:ext cx="1800000" cy="396000"/>
          </a:xfrm>
          <a:prstGeom prst="homePlate">
            <a:avLst>
              <a:gd name="adj" fmla="val 0"/>
            </a:avLst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i="1" kern="1200" dirty="0" err="1" smtClean="0">
                <a:solidFill>
                  <a:prstClr val="white"/>
                </a:solidFill>
                <a:latin typeface="Simplon BP Regular" pitchFamily="2" charset="0"/>
                <a:cs typeface="Helvetica"/>
              </a:rPr>
              <a:t>Weekly</a:t>
            </a:r>
            <a:r>
              <a:rPr lang="pt-BR" sz="1050" kern="1200" dirty="0" smtClean="0">
                <a:solidFill>
                  <a:prstClr val="white"/>
                </a:solidFill>
                <a:latin typeface="Simplon BP Regular" pitchFamily="2" charset="0"/>
                <a:cs typeface="Helvetica"/>
              </a:rPr>
              <a:t> </a:t>
            </a:r>
            <a:r>
              <a:rPr kumimoji="0" lang="pt-B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 </a:t>
            </a: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Pontos Críticos</a:t>
            </a:r>
            <a:b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</a:b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M&amp;A</a:t>
            </a:r>
            <a:r>
              <a:rPr kumimoji="0" lang="pt-BR" sz="105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, N2, Líderes [11 </a:t>
            </a:r>
            <a:r>
              <a:rPr kumimoji="0" lang="pt-BR" sz="105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hrs</a:t>
            </a:r>
            <a:r>
              <a:rPr kumimoji="0" lang="pt-BR" sz="105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]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6199B8-9C53-4450-99FA-8EBB43C0F741}"/>
              </a:ext>
            </a:extLst>
          </p:cNvPr>
          <p:cNvSpPr/>
          <p:nvPr/>
        </p:nvSpPr>
        <p:spPr>
          <a:xfrm>
            <a:off x="408185" y="1422391"/>
            <a:ext cx="2160000" cy="1696291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6B59AB-071E-465F-87E8-785D7F4F7402}"/>
              </a:ext>
            </a:extLst>
          </p:cNvPr>
          <p:cNvSpPr/>
          <p:nvPr/>
        </p:nvSpPr>
        <p:spPr>
          <a:xfrm>
            <a:off x="2601484" y="1422391"/>
            <a:ext cx="2160000" cy="1696291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5A828A-EF54-43D1-860D-04FCBEBD0AC2}"/>
              </a:ext>
            </a:extLst>
          </p:cNvPr>
          <p:cNvSpPr/>
          <p:nvPr/>
        </p:nvSpPr>
        <p:spPr>
          <a:xfrm>
            <a:off x="4794783" y="1422390"/>
            <a:ext cx="2160000" cy="1696291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C99E32-3CFE-40DA-8EAE-6CC66650A1BB}"/>
              </a:ext>
            </a:extLst>
          </p:cNvPr>
          <p:cNvSpPr/>
          <p:nvPr/>
        </p:nvSpPr>
        <p:spPr>
          <a:xfrm>
            <a:off x="6988082" y="1422390"/>
            <a:ext cx="2160000" cy="1696291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2CE94F-0EB2-4407-9B36-9BF60CAE9563}"/>
              </a:ext>
            </a:extLst>
          </p:cNvPr>
          <p:cNvSpPr/>
          <p:nvPr/>
        </p:nvSpPr>
        <p:spPr>
          <a:xfrm>
            <a:off x="9181383" y="1410176"/>
            <a:ext cx="2160000" cy="1696291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09CA6C8D-C8C0-49F8-8FAC-B83C55BE3876}"/>
              </a:ext>
            </a:extLst>
          </p:cNvPr>
          <p:cNvSpPr/>
          <p:nvPr/>
        </p:nvSpPr>
        <p:spPr>
          <a:xfrm>
            <a:off x="408185" y="1185064"/>
            <a:ext cx="2160000" cy="189619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2</a:t>
            </a:r>
            <a:r>
              <a:rPr kumimoji="0" lang="pt-BR" sz="1200" b="0" i="0" u="none" strike="noStrike" kern="1200" cap="none" spc="0" normalizeH="0" baseline="3000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a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E6F743D9-E2FF-4214-BB1C-5FAB14A68782}"/>
              </a:ext>
            </a:extLst>
          </p:cNvPr>
          <p:cNvSpPr/>
          <p:nvPr/>
        </p:nvSpPr>
        <p:spPr>
          <a:xfrm>
            <a:off x="2601916" y="1185065"/>
            <a:ext cx="2160000" cy="189619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3</a:t>
            </a:r>
            <a:r>
              <a:rPr kumimoji="0" lang="pt-BR" sz="1200" b="0" i="0" u="none" strike="noStrike" kern="1200" cap="none" spc="0" normalizeH="0" baseline="3000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a</a:t>
            </a: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4DA2F5B3-8C12-48C5-897D-766F583AE029}"/>
              </a:ext>
            </a:extLst>
          </p:cNvPr>
          <p:cNvSpPr/>
          <p:nvPr/>
        </p:nvSpPr>
        <p:spPr>
          <a:xfrm>
            <a:off x="4795647" y="1185064"/>
            <a:ext cx="2160000" cy="189619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4</a:t>
            </a:r>
            <a:r>
              <a:rPr kumimoji="0" lang="pt-BR" sz="1200" b="0" i="0" u="none" strike="noStrike" kern="1200" cap="none" spc="0" normalizeH="0" baseline="3000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E2272C-AF54-458C-B509-0C9E8F9BD7F6}"/>
              </a:ext>
            </a:extLst>
          </p:cNvPr>
          <p:cNvSpPr/>
          <p:nvPr/>
        </p:nvSpPr>
        <p:spPr>
          <a:xfrm>
            <a:off x="6989378" y="1185064"/>
            <a:ext cx="2160000" cy="189619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5</a:t>
            </a:r>
            <a:r>
              <a:rPr kumimoji="0" lang="pt-BR" sz="1200" b="0" i="0" u="none" strike="noStrike" kern="1200" cap="none" spc="0" normalizeH="0" baseline="3000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67A635-8A09-40CE-91A3-BAB1ED228C7A}"/>
              </a:ext>
            </a:extLst>
          </p:cNvPr>
          <p:cNvSpPr/>
          <p:nvPr/>
        </p:nvSpPr>
        <p:spPr>
          <a:xfrm>
            <a:off x="9183108" y="1185064"/>
            <a:ext cx="2160000" cy="189619"/>
          </a:xfrm>
          <a:prstGeom prst="rect">
            <a:avLst/>
          </a:prstGeom>
          <a:noFill/>
          <a:ln w="9525" cap="rnd" cmpd="sng" algn="ctr">
            <a:solidFill>
              <a:srgbClr val="AFAFA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6</a:t>
            </a:r>
            <a:r>
              <a:rPr kumimoji="0" lang="pt-BR" sz="1200" b="0" i="0" u="none" strike="noStrike" kern="1200" cap="none" spc="0" normalizeH="0" baseline="3000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a</a:t>
            </a:r>
          </a:p>
        </p:txBody>
      </p:sp>
      <p:sp>
        <p:nvSpPr>
          <p:cNvPr id="28" name="Pentagon 70">
            <a:extLst>
              <a:ext uri="{FF2B5EF4-FFF2-40B4-BE49-F238E27FC236}">
                <a16:creationId xmlns:a16="http://schemas.microsoft.com/office/drawing/2014/main" id="{7E12959C-4A9A-4DD6-BF3A-9648A4620508}"/>
              </a:ext>
            </a:extLst>
          </p:cNvPr>
          <p:cNvSpPr/>
          <p:nvPr/>
        </p:nvSpPr>
        <p:spPr>
          <a:xfrm>
            <a:off x="9361383" y="1992510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5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Reunião Executiva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N2, M&amp;A</a:t>
            </a:r>
            <a:r>
              <a:rPr kumimoji="0" lang="pt-BR" sz="105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, Líderes [11</a:t>
            </a:r>
            <a:r>
              <a:rPr kumimoji="0" lang="pt-BR" sz="1050" b="0" i="1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 </a:t>
            </a:r>
            <a:r>
              <a:rPr kumimoji="0" lang="pt-BR" sz="1050" b="0" i="1" u="none" strike="noStrike" kern="1200" cap="none" spc="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hrs</a:t>
            </a:r>
            <a:r>
              <a:rPr kumimoji="0" lang="pt-BR" sz="1050" b="0" i="1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]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45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612469" y="1499241"/>
            <a:ext cx="1800000" cy="396000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Daily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M&amp;A [10hrs]</a:t>
            </a:r>
            <a:endParaRPr kumimoji="0" lang="pt-BR" sz="1050" b="0" i="1" u="none" strike="noStrike" kern="1200" cap="none" spc="0" normalizeH="0" baseline="0" noProof="0" dirty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47" name="Pentagon 70">
            <a:extLst>
              <a:ext uri="{FF2B5EF4-FFF2-40B4-BE49-F238E27FC236}">
                <a16:creationId xmlns:a16="http://schemas.microsoft.com/office/drawing/2014/main" id="{E29E9D2A-179A-407B-9DE1-1B34F4C4192D}"/>
              </a:ext>
            </a:extLst>
          </p:cNvPr>
          <p:cNvSpPr/>
          <p:nvPr/>
        </p:nvSpPr>
        <p:spPr>
          <a:xfrm>
            <a:off x="4974782" y="1499241"/>
            <a:ext cx="1800000" cy="396000"/>
          </a:xfrm>
          <a:prstGeom prst="homePlate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Daily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srgbClr val="575757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M&amp;A [10hrs]</a:t>
            </a:r>
            <a:endParaRPr kumimoji="0" lang="pt-BR" sz="1050" b="0" i="1" u="none" strike="noStrike" kern="1200" cap="none" spc="0" normalizeH="0" baseline="0" noProof="0" dirty="0">
              <a:ln>
                <a:noFill/>
              </a:ln>
              <a:solidFill>
                <a:srgbClr val="575757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  <p:sp>
        <p:nvSpPr>
          <p:cNvPr id="23" name="Título 25"/>
          <p:cNvSpPr txBox="1">
            <a:spLocks/>
          </p:cNvSpPr>
          <p:nvPr/>
        </p:nvSpPr>
        <p:spPr>
          <a:xfrm>
            <a:off x="189673" y="134154"/>
            <a:ext cx="10756482" cy="558294"/>
          </a:xfrm>
          <a:prstGeom prst="rect">
            <a:avLst/>
          </a:prstGeom>
        </p:spPr>
        <p:txBody>
          <a:bodyPr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sz="2000" dirty="0" smtClean="0">
                <a:solidFill>
                  <a:srgbClr val="009E0B"/>
                </a:solidFill>
                <a:latin typeface="Simplon BP Bold" pitchFamily="2" charset="0"/>
              </a:rPr>
              <a:t>KAIDÔ: </a:t>
            </a:r>
            <a:r>
              <a:rPr lang="pt-BR" sz="2000" dirty="0">
                <a:solidFill>
                  <a:srgbClr val="009E0B"/>
                </a:solidFill>
                <a:latin typeface="Simplon BP Bold" pitchFamily="2" charset="0"/>
              </a:rPr>
              <a:t>LÍDERES E GOVERNANÇA</a:t>
            </a:r>
          </a:p>
          <a:p>
            <a:pPr hangingPunct="1"/>
            <a:r>
              <a:rPr lang="pt-BR" sz="1800" dirty="0" smtClean="0">
                <a:solidFill>
                  <a:srgbClr val="4D4D4D"/>
                </a:solidFill>
                <a:latin typeface="Simplon BP Bold" pitchFamily="2" charset="0"/>
              </a:rPr>
              <a:t>Agenda </a:t>
            </a:r>
            <a:r>
              <a:rPr lang="pt-BR" sz="1800" dirty="0">
                <a:solidFill>
                  <a:srgbClr val="4D4D4D"/>
                </a:solidFill>
                <a:latin typeface="Simplon BP Bold" pitchFamily="2" charset="0"/>
              </a:rPr>
              <a:t>de </a:t>
            </a:r>
            <a:r>
              <a:rPr lang="pt-BR" sz="1800" dirty="0" smtClean="0">
                <a:solidFill>
                  <a:srgbClr val="4D4D4D"/>
                </a:solidFill>
                <a:latin typeface="Simplon BP Bold" pitchFamily="2" charset="0"/>
              </a:rPr>
              <a:t>reuniões do projeto</a:t>
            </a:r>
            <a:endParaRPr lang="pt-BR" sz="1800" dirty="0">
              <a:solidFill>
                <a:srgbClr val="4D4D4D"/>
              </a:solidFill>
              <a:latin typeface="Simplon BP Bold" pitchFamily="2" charset="0"/>
            </a:endParaRPr>
          </a:p>
        </p:txBody>
      </p:sp>
      <p:sp>
        <p:nvSpPr>
          <p:cNvPr id="24" name="Pentagon 70">
            <a:extLst>
              <a:ext uri="{FF2B5EF4-FFF2-40B4-BE49-F238E27FC236}">
                <a16:creationId xmlns:a16="http://schemas.microsoft.com/office/drawing/2014/main" id="{7E12959C-4A9A-4DD6-BF3A-9648A4620508}"/>
              </a:ext>
            </a:extLst>
          </p:cNvPr>
          <p:cNvSpPr/>
          <p:nvPr/>
        </p:nvSpPr>
        <p:spPr>
          <a:xfrm>
            <a:off x="612469" y="2585647"/>
            <a:ext cx="1800000" cy="396000"/>
          </a:xfrm>
          <a:prstGeom prst="homePlate">
            <a:avLst>
              <a:gd name="adj" fmla="val 0"/>
            </a:avLst>
          </a:prstGeom>
          <a:solidFill>
            <a:schemeClr val="accent5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Reunião Executiva</a:t>
            </a:r>
          </a:p>
          <a:p>
            <a:pPr lvl="0" algn="ctr" hangingPunct="1">
              <a:defRPr/>
            </a:pPr>
            <a:r>
              <a:rPr lang="pt-BR" sz="1050" kern="1200" dirty="0">
                <a:solidFill>
                  <a:prstClr val="white"/>
                </a:solidFill>
                <a:latin typeface="Simplon BP Regular" pitchFamily="2" charset="0"/>
              </a:rPr>
              <a:t>N1</a:t>
            </a:r>
            <a:r>
              <a:rPr lang="pt-BR" sz="1050" kern="1200" dirty="0" smtClean="0">
                <a:solidFill>
                  <a:prstClr val="white"/>
                </a:solidFill>
                <a:latin typeface="Simplon BP Regular" pitchFamily="2" charset="0"/>
              </a:rPr>
              <a:t>, Interventora, </a:t>
            </a:r>
            <a:r>
              <a:rPr kumimoji="0" lang="pt-B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mplon BP Regular" pitchFamily="2" charset="0"/>
                <a:cs typeface="Helvetica"/>
                <a:sym typeface="Simplon BP Regular"/>
              </a:rPr>
              <a:t>M&amp;A</a:t>
            </a:r>
            <a:r>
              <a:rPr lang="pt-BR" sz="1050" i="1" kern="1200" dirty="0" smtClean="0">
                <a:solidFill>
                  <a:prstClr val="white"/>
                </a:solidFill>
                <a:latin typeface="Simplon BP Regular" pitchFamily="2" charset="0"/>
                <a:cs typeface="Helvetica"/>
              </a:rPr>
              <a:t> </a:t>
            </a:r>
            <a:endParaRPr kumimoji="0" lang="pt-BR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mplon BP Regular" pitchFamily="2" charset="0"/>
              <a:cs typeface="Helvetica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84629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850949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97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Tabela 2">
            <a:extLst>
              <a:ext uri="{FF2B5EF4-FFF2-40B4-BE49-F238E27FC236}">
                <a16:creationId xmlns:a16="http://schemas.microsoft.com/office/drawing/2014/main" id="{722984D9-B1D7-3135-695E-2E73B4AF9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718472"/>
              </p:ext>
            </p:extLst>
          </p:nvPr>
        </p:nvGraphicFramePr>
        <p:xfrm>
          <a:off x="437796" y="1820688"/>
          <a:ext cx="10940045" cy="3846186"/>
        </p:xfrm>
        <a:graphic>
          <a:graphicData uri="http://schemas.openxmlformats.org/drawingml/2006/table">
            <a:tbl>
              <a:tblPr firstRow="1" bandRow="1"/>
              <a:tblGrid>
                <a:gridCol w="1139300">
                  <a:extLst>
                    <a:ext uri="{9D8B030D-6E8A-4147-A177-3AD203B41FA5}">
                      <a16:colId xmlns:a16="http://schemas.microsoft.com/office/drawing/2014/main" val="4003627097"/>
                    </a:ext>
                  </a:extLst>
                </a:gridCol>
                <a:gridCol w="270510">
                  <a:extLst>
                    <a:ext uri="{9D8B030D-6E8A-4147-A177-3AD203B41FA5}">
                      <a16:colId xmlns:a16="http://schemas.microsoft.com/office/drawing/2014/main" val="1779203288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3267558522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2885599140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859634187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1495312148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3438236042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933077993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2470415287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3769883836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2363094404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3504243577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2184017975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1164908015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3826812134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3731340846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3594081294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4013290782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2346604870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552247013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3794870794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3240941611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3989097689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2768723501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3193331798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1621351364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4143187340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2196942175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3217780928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3907798137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4100737673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1352736742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1159190083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1058346712"/>
                    </a:ext>
                  </a:extLst>
                </a:gridCol>
                <a:gridCol w="288795">
                  <a:extLst>
                    <a:ext uri="{9D8B030D-6E8A-4147-A177-3AD203B41FA5}">
                      <a16:colId xmlns:a16="http://schemas.microsoft.com/office/drawing/2014/main" val="2638272613"/>
                    </a:ext>
                  </a:extLst>
                </a:gridCol>
              </a:tblGrid>
              <a:tr h="33373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4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400" kern="1200" dirty="0" smtClean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2026</a:t>
                      </a: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05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91916" marR="91916" marT="45958" marB="45958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05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91916" marR="91916" marT="45958" marB="45958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05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91916" marR="91916" marT="45958" marB="45958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05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91916" marR="91916" marT="45958" marB="45958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05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91916" marR="91916" marT="45958" marB="45958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05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91916" marR="91916" marT="45958" marB="45958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05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91916" marR="91916" marT="45958" marB="45958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400" kern="1200" dirty="0" smtClean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2027</a:t>
                      </a: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822209"/>
                  </a:ext>
                </a:extLst>
              </a:tr>
              <a:tr h="171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JAN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800" dirty="0"/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FEV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800" dirty="0"/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MAR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800" dirty="0"/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ABR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800" dirty="0"/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MAI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05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91916" marR="91916" marT="45958" marB="45958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JUN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05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91916" marR="91916" marT="45958" marB="45958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JUL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AGO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SET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OUT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NOV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DEZ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JAN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FEV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MAR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40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ABR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800" dirty="0"/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r>
                        <a:rPr lang="pt-BR" sz="1200" kern="1200" dirty="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</a:rPr>
                        <a:t>MAI</a:t>
                      </a: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defRPr>
                      </a:pPr>
                      <a:endParaRPr lang="pt-BR" sz="1050" kern="1200" dirty="0">
                        <a:solidFill>
                          <a:schemeClr val="accent3">
                            <a:lumOff val="44000"/>
                          </a:schemeClr>
                        </a:solidFill>
                        <a:latin typeface="Simplon BP Bold"/>
                        <a:ea typeface="Simplon BP Bold"/>
                        <a:cs typeface="Simplon BP Bold"/>
                      </a:endParaRPr>
                    </a:p>
                  </a:txBody>
                  <a:tcPr marL="91916" marR="91916" marT="45958" marB="45958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D3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918384"/>
                  </a:ext>
                </a:extLst>
              </a:tr>
              <a:tr h="45783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kern="1200" dirty="0">
                          <a:solidFill>
                            <a:schemeClr val="accent2"/>
                          </a:solidFill>
                          <a:latin typeface="Simplon BP Bold"/>
                          <a:sym typeface="Simplon BP Bold"/>
                        </a:rPr>
                        <a:t>PLANO</a:t>
                      </a:r>
                      <a:r>
                        <a:rPr lang="pt-BR" sz="1100" kern="1200" baseline="0" dirty="0">
                          <a:solidFill>
                            <a:schemeClr val="accent2"/>
                          </a:solidFill>
                          <a:latin typeface="Simplon BP Bold"/>
                          <a:sym typeface="Simplon BP Bold"/>
                        </a:rPr>
                        <a:t> RJ</a:t>
                      </a:r>
                      <a:endParaRPr lang="pt-BR" sz="1200" dirty="0"/>
                    </a:p>
                  </a:txBody>
                  <a:tcPr marL="48000" marR="0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dirty="0"/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890443"/>
                  </a:ext>
                </a:extLst>
              </a:tr>
              <a:tr h="45783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cap="none" spc="0" baseline="0" dirty="0" smtClean="0">
                          <a:solidFill>
                            <a:schemeClr val="accent2"/>
                          </a:solidFill>
                          <a:uFillTx/>
                          <a:latin typeface="Simplon BP Bold"/>
                          <a:ea typeface="Simplon BP Bold"/>
                          <a:cs typeface="Simplon BP Bold"/>
                          <a:sym typeface="Simplon BP Regular"/>
                        </a:rPr>
                        <a:t>M&amp;A</a:t>
                      </a:r>
                      <a:endParaRPr lang="pt-BR" sz="11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48000" marR="0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1833"/>
                  </a:ext>
                </a:extLst>
              </a:tr>
              <a:tr h="45783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cap="none" spc="0" baseline="0" dirty="0" smtClean="0">
                          <a:solidFill>
                            <a:schemeClr val="accent2"/>
                          </a:solidFill>
                          <a:uFillTx/>
                          <a:latin typeface="Simplon BP Bold"/>
                          <a:ea typeface="Simplon BP Bold"/>
                          <a:cs typeface="Simplon BP Bold"/>
                          <a:sym typeface="Simplon BP Regular"/>
                        </a:rPr>
                        <a:t>UPI - SISTEMAS</a:t>
                      </a:r>
                      <a:endParaRPr lang="pt-BR" sz="11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48000" marR="0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856608"/>
                  </a:ext>
                </a:extLst>
              </a:tr>
              <a:tr h="45783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cap="none" spc="0" baseline="0" dirty="0">
                          <a:solidFill>
                            <a:schemeClr val="accent2"/>
                          </a:solidFill>
                          <a:uFillTx/>
                          <a:latin typeface="Simplon BP Bold"/>
                          <a:ea typeface="Simplon BP Bold"/>
                          <a:cs typeface="Simplon BP Bold"/>
                          <a:sym typeface="Simplon BP Regular"/>
                        </a:rPr>
                        <a:t>DROP ATIVOS E </a:t>
                      </a:r>
                      <a:r>
                        <a:rPr lang="pt-BR" sz="1100" b="0" i="0" u="none" strike="noStrike" kern="1200" cap="none" spc="0" baseline="0" dirty="0" smtClean="0">
                          <a:solidFill>
                            <a:schemeClr val="accent2"/>
                          </a:solidFill>
                          <a:uFillTx/>
                          <a:latin typeface="Simplon BP Bold"/>
                          <a:ea typeface="Simplon BP Bold"/>
                          <a:cs typeface="Simplon BP Bold"/>
                          <a:sym typeface="Simplon BP Regular"/>
                        </a:rPr>
                        <a:t>CLIENTES/ RH</a:t>
                      </a:r>
                      <a:endParaRPr lang="pt-BR" sz="11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48000" marR="0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362970"/>
                  </a:ext>
                </a:extLst>
              </a:tr>
              <a:tr h="45783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cap="none" spc="0" baseline="0" dirty="0" smtClean="0">
                          <a:solidFill>
                            <a:schemeClr val="accent2"/>
                          </a:solidFill>
                          <a:uFillTx/>
                          <a:latin typeface="Simplon BP Bold"/>
                          <a:ea typeface="Simplon BP Bold"/>
                          <a:cs typeface="Simplon BP Bold"/>
                          <a:sym typeface="Simplon BP Regular"/>
                        </a:rPr>
                        <a:t>TSA PRÉ-CLOSING</a:t>
                      </a:r>
                      <a:endParaRPr lang="pt-BR" sz="11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48000" marR="0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413115"/>
                  </a:ext>
                </a:extLst>
              </a:tr>
              <a:tr h="45783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cap="none" spc="0" baseline="0" dirty="0" smtClean="0">
                          <a:solidFill>
                            <a:schemeClr val="accent2"/>
                          </a:solidFill>
                          <a:uFillTx/>
                          <a:latin typeface="Simplon BP Bold"/>
                          <a:ea typeface="Simplon BP Bold"/>
                          <a:cs typeface="Simplon BP Bold"/>
                          <a:sym typeface="Simplon BP Regular"/>
                        </a:rPr>
                        <a:t>TSA PÓS-CLOSING</a:t>
                      </a:r>
                      <a:endParaRPr lang="pt-BR" sz="11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48000" marR="0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448721"/>
                  </a:ext>
                </a:extLst>
              </a:tr>
              <a:tr h="45783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0" u="none" strike="noStrike" kern="1200" cap="none" spc="0" baseline="0" dirty="0" smtClean="0">
                          <a:solidFill>
                            <a:schemeClr val="accent2"/>
                          </a:solidFill>
                          <a:uFillTx/>
                          <a:latin typeface="Simplon BP Bold"/>
                          <a:ea typeface="Simplon BP Bold"/>
                          <a:cs typeface="Simplon BP Bold"/>
                          <a:sym typeface="Simplon BP Regular"/>
                        </a:rPr>
                        <a:t>MIGRAÇÃO</a:t>
                      </a:r>
                      <a:endParaRPr lang="pt-BR" sz="11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48000" marR="0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 i="0" u="none" strike="noStrike" kern="1200" cap="none" spc="0" baseline="0" dirty="0">
                        <a:solidFill>
                          <a:schemeClr val="accent2"/>
                        </a:solidFill>
                        <a:uFillTx/>
                        <a:latin typeface="Simplon BP Bold"/>
                        <a:ea typeface="Simplon BP Bold"/>
                        <a:cs typeface="Simplon BP Bold"/>
                        <a:sym typeface="Simplon BP Regular"/>
                      </a:endParaRPr>
                    </a:p>
                  </a:txBody>
                  <a:tcPr marL="122555" marR="122555" marT="61277" marB="61277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233210"/>
                  </a:ext>
                </a:extLst>
              </a:tr>
            </a:tbl>
          </a:graphicData>
        </a:graphic>
      </p:graphicFrame>
      <p:sp>
        <p:nvSpPr>
          <p:cNvPr id="26" name="Título 25"/>
          <p:cNvSpPr>
            <a:spLocks noGrp="1"/>
          </p:cNvSpPr>
          <p:nvPr>
            <p:ph type="title"/>
          </p:nvPr>
        </p:nvSpPr>
        <p:spPr>
          <a:xfrm>
            <a:off x="187571" y="119371"/>
            <a:ext cx="10756482" cy="558294"/>
          </a:xfrm>
        </p:spPr>
        <p:txBody>
          <a:bodyPr vert="horz"/>
          <a:lstStyle/>
          <a:p>
            <a:r>
              <a:rPr lang="pt-BR" dirty="0" smtClean="0">
                <a:solidFill>
                  <a:srgbClr val="009E0B"/>
                </a:solidFill>
              </a:rPr>
              <a:t>KAIDÔ: PRINCIPAIS MARCOS</a:t>
            </a:r>
            <a:endParaRPr lang="pt-BR" dirty="0">
              <a:solidFill>
                <a:srgbClr val="009E0B"/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437796" y="1496972"/>
            <a:ext cx="10939168" cy="314122"/>
          </a:xfrm>
          <a:prstGeom prst="rect">
            <a:avLst/>
          </a:prstGeom>
          <a:solidFill>
            <a:srgbClr val="009E0B"/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fontAlgn="auto" hangingPunct="0"/>
            <a:r>
              <a:rPr lang="pt-BR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MACRO CRONOGRAMA</a:t>
            </a:r>
          </a:p>
        </p:txBody>
      </p:sp>
      <p:sp>
        <p:nvSpPr>
          <p:cNvPr id="45" name="Retângulo 44"/>
          <p:cNvSpPr/>
          <p:nvPr/>
        </p:nvSpPr>
        <p:spPr>
          <a:xfrm>
            <a:off x="437796" y="1824744"/>
            <a:ext cx="10939168" cy="4561542"/>
          </a:xfrm>
          <a:prstGeom prst="rect">
            <a:avLst/>
          </a:prstGeom>
          <a:noFill/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2000" tIns="0" rIns="0" bIns="0" numCol="1" spcCol="38100" rtlCol="0" anchor="ctr">
            <a:noAutofit/>
          </a:bodyPr>
          <a:lstStyle/>
          <a:p>
            <a:pPr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endParaRPr kumimoji="0" lang="pt-BR" sz="1400" b="0" i="0" u="none" strike="noStrike" cap="none" spc="0" normalizeH="0" baseline="0" dirty="0">
              <a:ln>
                <a:noFill/>
              </a:ln>
              <a:solidFill>
                <a:schemeClr val="accent6"/>
              </a:solidFill>
              <a:effectLst/>
              <a:uFillTx/>
              <a:sym typeface="Simplon BP Regular"/>
            </a:endParaRPr>
          </a:p>
        </p:txBody>
      </p:sp>
      <p:sp>
        <p:nvSpPr>
          <p:cNvPr id="82" name="Losango 81"/>
          <p:cNvSpPr/>
          <p:nvPr/>
        </p:nvSpPr>
        <p:spPr>
          <a:xfrm>
            <a:off x="3583855" y="2637460"/>
            <a:ext cx="180000" cy="180000"/>
          </a:xfrm>
          <a:prstGeom prst="diamond">
            <a:avLst/>
          </a:prstGeom>
          <a:solidFill>
            <a:srgbClr val="00D31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83" name="CaixaDeTexto 82"/>
          <p:cNvSpPr txBox="1"/>
          <p:nvPr/>
        </p:nvSpPr>
        <p:spPr>
          <a:xfrm>
            <a:off x="2903859" y="2555026"/>
            <a:ext cx="739327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1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sym typeface="Simplon BP Regular"/>
              </a:rPr>
              <a:t>Aprovação</a:t>
            </a:r>
            <a:r>
              <a:rPr kumimoji="0" lang="pt-BR" sz="1100" b="0" i="0" u="none" strike="noStrike" cap="none" spc="0" normalizeH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sym typeface="Simplon BP Regular"/>
              </a:rPr>
              <a:t> </a:t>
            </a:r>
            <a:r>
              <a:rPr lang="pt-BR" sz="1100" baseline="0" dirty="0" smtClean="0">
                <a:solidFill>
                  <a:schemeClr val="tx2">
                    <a:lumMod val="75000"/>
                  </a:schemeClr>
                </a:solidFill>
              </a:rPr>
              <a:t>(19/</a:t>
            </a:r>
            <a:r>
              <a:rPr lang="pt-BR" sz="1100" baseline="0" dirty="0" err="1" smtClean="0">
                <a:solidFill>
                  <a:schemeClr val="tx2">
                    <a:lumMod val="75000"/>
                  </a:schemeClr>
                </a:solidFill>
              </a:rPr>
              <a:t>ab</a:t>
            </a:r>
            <a:r>
              <a:rPr lang="pt-BR" sz="1100" dirty="0" err="1" smtClean="0">
                <a:solidFill>
                  <a:schemeClr val="tx2">
                    <a:lumMod val="75000"/>
                  </a:schemeClr>
                </a:solidFill>
              </a:rPr>
              <a:t>r</a:t>
            </a:r>
            <a:r>
              <a:rPr lang="pt-BR" sz="1100" baseline="0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kumimoji="0" lang="pt-BR" sz="1100" b="0" i="0" u="none" strike="noStrike" cap="none" spc="0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85" name="CaixaDeTexto 84"/>
          <p:cNvSpPr txBox="1"/>
          <p:nvPr/>
        </p:nvSpPr>
        <p:spPr>
          <a:xfrm>
            <a:off x="4250756" y="2518440"/>
            <a:ext cx="967425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>
                <a:solidFill>
                  <a:schemeClr val="tx2">
                    <a:lumMod val="75000"/>
                  </a:schemeClr>
                </a:solidFill>
              </a:rPr>
              <a:t>Homologação</a:t>
            </a:r>
            <a:r>
              <a:rPr kumimoji="0" lang="pt-BR" sz="1200" b="0" i="0" u="none" strike="noStrike" cap="none" spc="0" normalizeH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lang="pt-BR" sz="1200" baseline="0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pt-BR" sz="1200" dirty="0" smtClean="0">
                <a:solidFill>
                  <a:schemeClr val="tx2">
                    <a:lumMod val="75000"/>
                  </a:schemeClr>
                </a:solidFill>
              </a:rPr>
              <a:t>Mai/24</a:t>
            </a:r>
            <a:r>
              <a:rPr lang="pt-BR" sz="1200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kumimoji="0" lang="pt-BR" sz="1200" b="0" i="0" u="none" strike="noStrike" cap="none" spc="0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3" name="Losango 22"/>
          <p:cNvSpPr/>
          <p:nvPr/>
        </p:nvSpPr>
        <p:spPr>
          <a:xfrm>
            <a:off x="4021987" y="2620545"/>
            <a:ext cx="180000" cy="180000"/>
          </a:xfrm>
          <a:prstGeom prst="diamond">
            <a:avLst/>
          </a:prstGeom>
          <a:solidFill>
            <a:srgbClr val="00D31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10" name="Agrupar 9"/>
          <p:cNvGrpSpPr/>
          <p:nvPr/>
        </p:nvGrpSpPr>
        <p:grpSpPr>
          <a:xfrm>
            <a:off x="2386969" y="3463376"/>
            <a:ext cx="8205181" cy="196645"/>
            <a:chOff x="2411263" y="2997460"/>
            <a:chExt cx="8205181" cy="196645"/>
          </a:xfrm>
        </p:grpSpPr>
        <p:sp>
          <p:nvSpPr>
            <p:cNvPr id="3" name="Retângulo Arredondado 2"/>
            <p:cNvSpPr/>
            <p:nvPr/>
          </p:nvSpPr>
          <p:spPr>
            <a:xfrm>
              <a:off x="2411263" y="3002115"/>
              <a:ext cx="6660000" cy="191069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53" name="CaixaDeTexto 52"/>
            <p:cNvSpPr txBox="1"/>
            <p:nvPr/>
          </p:nvSpPr>
          <p:spPr>
            <a:xfrm>
              <a:off x="9208830" y="3024828"/>
              <a:ext cx="1407614" cy="169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pt-BR" sz="1100" b="0" i="0" u="none" strike="noStrike" cap="none" spc="0" normalizeH="0" baseline="0" dirty="0" smtClean="0">
                  <a:ln>
                    <a:noFill/>
                  </a:ln>
                  <a:solidFill>
                    <a:schemeClr val="tx2">
                      <a:lumMod val="75000"/>
                    </a:schemeClr>
                  </a:solidFill>
                  <a:effectLst/>
                  <a:uFillTx/>
                  <a:sym typeface="Simplon BP Regular"/>
                </a:rPr>
                <a:t>01/</a:t>
              </a:r>
              <a:r>
                <a:rPr lang="pt-BR" sz="1100" dirty="0" err="1" smtClean="0">
                  <a:solidFill>
                    <a:schemeClr val="tx2">
                      <a:lumMod val="75000"/>
                    </a:schemeClr>
                  </a:solidFill>
                </a:rPr>
                <a:t>Fev</a:t>
              </a:r>
              <a:r>
                <a:rPr lang="pt-BR" sz="1100" dirty="0" smtClean="0">
                  <a:solidFill>
                    <a:schemeClr val="tx2">
                      <a:lumMod val="75000"/>
                    </a:schemeClr>
                  </a:solidFill>
                </a:rPr>
                <a:t>/25</a:t>
              </a:r>
              <a:endParaRPr kumimoji="0" lang="pt-BR" sz="11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sym typeface="Simplon BP Regular"/>
              </a:endParaRPr>
            </a:p>
          </p:txBody>
        </p:sp>
        <p:sp>
          <p:nvSpPr>
            <p:cNvPr id="24" name="Losango 23"/>
            <p:cNvSpPr/>
            <p:nvPr/>
          </p:nvSpPr>
          <p:spPr>
            <a:xfrm>
              <a:off x="8988733" y="2997460"/>
              <a:ext cx="180000" cy="180000"/>
            </a:xfrm>
            <a:prstGeom prst="diamond">
              <a:avLst/>
            </a:prstGeom>
            <a:solidFill>
              <a:srgbClr val="00D318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sp>
        <p:nvSpPr>
          <p:cNvPr id="31" name="Espaço Reservado para Número de Slide 5"/>
          <p:cNvSpPr txBox="1">
            <a:spLocks/>
          </p:cNvSpPr>
          <p:nvPr/>
        </p:nvSpPr>
        <p:spPr>
          <a:xfrm>
            <a:off x="11819155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fld id="{86CB4B4D-7CA3-9044-876B-883B54F8677D}" type="slidenum">
              <a:rPr lang="pt-BR" smtClean="0"/>
              <a:pPr/>
              <a:t>16</a:t>
            </a:fld>
            <a:endParaRPr lang="pt-BR" dirty="0"/>
          </a:p>
        </p:txBody>
      </p:sp>
      <p:sp>
        <p:nvSpPr>
          <p:cNvPr id="21" name="Losango 20"/>
          <p:cNvSpPr/>
          <p:nvPr/>
        </p:nvSpPr>
        <p:spPr>
          <a:xfrm>
            <a:off x="2117228" y="2630401"/>
            <a:ext cx="180000" cy="180000"/>
          </a:xfrm>
          <a:prstGeom prst="diamond">
            <a:avLst/>
          </a:prstGeom>
          <a:solidFill>
            <a:srgbClr val="00D31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1611037" y="2542794"/>
            <a:ext cx="739327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100" dirty="0">
                <a:solidFill>
                  <a:schemeClr val="tx2">
                    <a:lumMod val="75000"/>
                  </a:schemeClr>
                </a:solidFill>
              </a:rPr>
              <a:t>Protocolo</a:t>
            </a:r>
            <a:r>
              <a:rPr kumimoji="0" lang="pt-BR" sz="11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sym typeface="Simplon BP Regular"/>
              </a:rPr>
              <a:t> </a:t>
            </a:r>
            <a:r>
              <a:rPr lang="pt-BR" sz="1100" baseline="0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pt-BR" sz="1100" dirty="0">
                <a:solidFill>
                  <a:schemeClr val="tx2">
                    <a:lumMod val="75000"/>
                  </a:schemeClr>
                </a:solidFill>
              </a:rPr>
              <a:t>02</a:t>
            </a:r>
            <a:r>
              <a:rPr lang="pt-BR" sz="1100" baseline="0" dirty="0">
                <a:solidFill>
                  <a:schemeClr val="tx2">
                    <a:lumMod val="75000"/>
                  </a:schemeClr>
                </a:solidFill>
              </a:rPr>
              <a:t>/</a:t>
            </a:r>
            <a:r>
              <a:rPr lang="pt-BR" sz="1100" baseline="0" dirty="0" err="1">
                <a:solidFill>
                  <a:schemeClr val="tx2">
                    <a:lumMod val="75000"/>
                  </a:schemeClr>
                </a:solidFill>
              </a:rPr>
              <a:t>Fev</a:t>
            </a:r>
            <a:r>
              <a:rPr lang="pt-BR" sz="1100" baseline="0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kumimoji="0" lang="pt-BR" sz="1100" b="0" i="0" u="none" strike="noStrike" cap="none" spc="0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FillTx/>
              <a:sym typeface="Simplon BP Regular"/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10272129" y="2998558"/>
            <a:ext cx="602888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100" b="0" i="0" u="none" strike="noStrike" cap="none" spc="0" normalizeH="0" baseline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Closing</a:t>
            </a:r>
            <a:r>
              <a:rPr kumimoji="0" lang="pt-BR" sz="1100" b="0" i="0" u="none" strike="noStrike" cap="none" spc="0" normalizeH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pt-BR" sz="1100" b="0" i="0" u="none" strike="noStrike" cap="none" spc="0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31/Mar/25</a:t>
            </a:r>
            <a:endParaRPr kumimoji="0" lang="pt-BR" sz="1100" b="0" i="0" u="none" strike="noStrike" cap="none" spc="0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2" name="CaixaDeTexto 31"/>
          <p:cNvSpPr txBox="1"/>
          <p:nvPr/>
        </p:nvSpPr>
        <p:spPr>
          <a:xfrm>
            <a:off x="3693846" y="2955016"/>
            <a:ext cx="967425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sz="1200" dirty="0" smtClean="0">
                <a:solidFill>
                  <a:schemeClr val="tx2">
                    <a:lumMod val="75000"/>
                  </a:schemeClr>
                </a:solidFill>
              </a:rPr>
              <a:t>Edital</a:t>
            </a:r>
            <a:endParaRPr lang="pt-BR" sz="1200" baseline="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pt-BR" sz="1200" baseline="0" dirty="0" smtClean="0">
                <a:solidFill>
                  <a:schemeClr val="tx2">
                    <a:lumMod val="75000"/>
                  </a:schemeClr>
                </a:solidFill>
              </a:rPr>
              <a:t>24/</a:t>
            </a:r>
            <a:r>
              <a:rPr lang="pt-BR" sz="1200" dirty="0" smtClean="0">
                <a:solidFill>
                  <a:schemeClr val="tx2">
                    <a:lumMod val="75000"/>
                  </a:schemeClr>
                </a:solidFill>
              </a:rPr>
              <a:t>Mai)</a:t>
            </a:r>
            <a:endParaRPr kumimoji="0" lang="pt-BR" sz="1200" b="0" i="0" u="none" strike="noStrike" cap="none" spc="0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2" name="Agrupar 1"/>
          <p:cNvGrpSpPr/>
          <p:nvPr/>
        </p:nvGrpSpPr>
        <p:grpSpPr>
          <a:xfrm>
            <a:off x="8958157" y="3843007"/>
            <a:ext cx="838128" cy="180000"/>
            <a:chOff x="7913136" y="4827523"/>
            <a:chExt cx="838128" cy="180000"/>
          </a:xfrm>
        </p:grpSpPr>
        <p:sp>
          <p:nvSpPr>
            <p:cNvPr id="40" name="CaixaDeTexto 39"/>
            <p:cNvSpPr txBox="1"/>
            <p:nvPr/>
          </p:nvSpPr>
          <p:spPr>
            <a:xfrm>
              <a:off x="8139515" y="4838246"/>
              <a:ext cx="611749" cy="169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pt-BR" sz="1100" dirty="0" smtClean="0">
                  <a:solidFill>
                    <a:schemeClr val="tx2">
                      <a:lumMod val="75000"/>
                    </a:schemeClr>
                  </a:solidFill>
                </a:rPr>
                <a:t>01/</a:t>
              </a:r>
              <a:r>
                <a:rPr lang="pt-BR" sz="1100" dirty="0" err="1" smtClean="0">
                  <a:solidFill>
                    <a:schemeClr val="tx2">
                      <a:lumMod val="75000"/>
                    </a:schemeClr>
                  </a:solidFill>
                </a:rPr>
                <a:t>Fev</a:t>
              </a:r>
              <a:r>
                <a:rPr kumimoji="0" lang="pt-BR" sz="1100" b="0" i="0" u="none" strike="noStrike" cap="none" spc="0" normalizeH="0" baseline="0" dirty="0" smtClean="0">
                  <a:ln>
                    <a:noFill/>
                  </a:ln>
                  <a:solidFill>
                    <a:schemeClr val="tx2">
                      <a:lumMod val="75000"/>
                    </a:schemeClr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rPr>
                <a:t>/25</a:t>
              </a:r>
              <a:endParaRPr kumimoji="0" lang="pt-BR" sz="1100" b="0" i="0" u="none" strike="noStrike" cap="none" spc="0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  <p:sp>
          <p:nvSpPr>
            <p:cNvPr id="42" name="Losango 41"/>
            <p:cNvSpPr/>
            <p:nvPr/>
          </p:nvSpPr>
          <p:spPr>
            <a:xfrm>
              <a:off x="7913136" y="4827523"/>
              <a:ext cx="180000" cy="180000"/>
            </a:xfrm>
            <a:prstGeom prst="diamond">
              <a:avLst/>
            </a:prstGeom>
            <a:solidFill>
              <a:srgbClr val="00D318"/>
            </a:solidFill>
            <a:ln w="25400" cap="flat">
              <a:noFill/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sp>
        <p:nvSpPr>
          <p:cNvPr id="52" name="CaixaDeTexto 51"/>
          <p:cNvSpPr txBox="1"/>
          <p:nvPr/>
        </p:nvSpPr>
        <p:spPr>
          <a:xfrm>
            <a:off x="437796" y="695916"/>
            <a:ext cx="1661307" cy="744057"/>
          </a:xfrm>
          <a:prstGeom prst="rect">
            <a:avLst/>
          </a:prstGeom>
          <a:solidFill>
            <a:srgbClr val="009E0B"/>
          </a:solidFill>
          <a:ln w="12700" cap="flat">
            <a:solidFill>
              <a:srgbClr val="009E0B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algn="ctr" fontAlgn="auto" hangingPunct="0"/>
            <a:r>
              <a:rPr lang="pt-BR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CONTEXTO</a:t>
            </a:r>
          </a:p>
        </p:txBody>
      </p:sp>
      <p:sp>
        <p:nvSpPr>
          <p:cNvPr id="54" name="Retângulo 53"/>
          <p:cNvSpPr/>
          <p:nvPr/>
        </p:nvSpPr>
        <p:spPr>
          <a:xfrm>
            <a:off x="2163271" y="695916"/>
            <a:ext cx="9213693" cy="740445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bg1">
                <a:lumMod val="50000"/>
              </a:schemeClr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2000" tIns="0" rIns="0" bIns="0" numCol="1" spcCol="38100" rtlCol="0" anchor="ctr">
            <a:no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pt-BR" dirty="0" smtClean="0">
                <a:solidFill>
                  <a:schemeClr val="accent6"/>
                </a:solidFill>
              </a:rPr>
              <a:t>UPI </a:t>
            </a:r>
            <a:r>
              <a:rPr lang="pt-BR" dirty="0" err="1" smtClean="0">
                <a:solidFill>
                  <a:schemeClr val="accent6"/>
                </a:solidFill>
              </a:rPr>
              <a:t>Tahto</a:t>
            </a:r>
            <a:r>
              <a:rPr lang="pt-BR" dirty="0" smtClean="0">
                <a:solidFill>
                  <a:schemeClr val="accent6"/>
                </a:solidFill>
              </a:rPr>
              <a:t>: </a:t>
            </a:r>
            <a:endParaRPr lang="pt-BR" dirty="0">
              <a:solidFill>
                <a:schemeClr val="accent6"/>
              </a:solidFill>
            </a:endParaRPr>
          </a:p>
        </p:txBody>
      </p:sp>
      <p:grpSp>
        <p:nvGrpSpPr>
          <p:cNvPr id="6" name="Agrupar 5"/>
          <p:cNvGrpSpPr/>
          <p:nvPr/>
        </p:nvGrpSpPr>
        <p:grpSpPr>
          <a:xfrm>
            <a:off x="3872569" y="2430741"/>
            <a:ext cx="163773" cy="3816000"/>
            <a:chOff x="2667885" y="2430741"/>
            <a:chExt cx="163773" cy="4318790"/>
          </a:xfrm>
        </p:grpSpPr>
        <p:cxnSp>
          <p:nvCxnSpPr>
            <p:cNvPr id="55" name="Conector reto 54"/>
            <p:cNvCxnSpPr/>
            <p:nvPr/>
          </p:nvCxnSpPr>
          <p:spPr>
            <a:xfrm>
              <a:off x="2713376" y="2430741"/>
              <a:ext cx="26889" cy="4176000"/>
            </a:xfrm>
            <a:prstGeom prst="line">
              <a:avLst/>
            </a:prstGeom>
            <a:noFill/>
            <a:ln w="9525" cap="flat">
              <a:solidFill>
                <a:srgbClr val="C00000"/>
              </a:solidFill>
              <a:prstDash val="dash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6" name="Triângulo isósceles 55"/>
            <p:cNvSpPr/>
            <p:nvPr/>
          </p:nvSpPr>
          <p:spPr>
            <a:xfrm>
              <a:off x="2667885" y="6613081"/>
              <a:ext cx="163773" cy="136450"/>
            </a:xfrm>
            <a:prstGeom prst="triangle">
              <a:avLst/>
            </a:prstGeom>
            <a:solidFill>
              <a:srgbClr val="C00000"/>
            </a:solidFill>
            <a:ln w="25400" cap="flat">
              <a:solidFill>
                <a:srgbClr val="C00000"/>
              </a:solidFill>
              <a:prstDash val="solid"/>
              <a:round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0" tIns="0" rIns="0" bIns="0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endParaRPr>
            </a:p>
          </p:txBody>
        </p:sp>
      </p:grpSp>
      <p:sp>
        <p:nvSpPr>
          <p:cNvPr id="60" name="Retângulo Arredondado 59"/>
          <p:cNvSpPr/>
          <p:nvPr/>
        </p:nvSpPr>
        <p:spPr>
          <a:xfrm>
            <a:off x="4291055" y="3005685"/>
            <a:ext cx="5832000" cy="19106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0" name="Losango 29"/>
          <p:cNvSpPr/>
          <p:nvPr/>
        </p:nvSpPr>
        <p:spPr>
          <a:xfrm>
            <a:off x="10034563" y="3016679"/>
            <a:ext cx="180000" cy="180000"/>
          </a:xfrm>
          <a:prstGeom prst="diamond">
            <a:avLst/>
          </a:prstGeom>
          <a:solidFill>
            <a:srgbClr val="00D31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3" name="Losango 32"/>
          <p:cNvSpPr/>
          <p:nvPr/>
        </p:nvSpPr>
        <p:spPr>
          <a:xfrm>
            <a:off x="4204847" y="3019362"/>
            <a:ext cx="180000" cy="180000"/>
          </a:xfrm>
          <a:prstGeom prst="diamond">
            <a:avLst/>
          </a:prstGeom>
          <a:solidFill>
            <a:srgbClr val="00D31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61" name="CaixaDeTexto 60"/>
          <p:cNvSpPr txBox="1"/>
          <p:nvPr/>
        </p:nvSpPr>
        <p:spPr>
          <a:xfrm>
            <a:off x="9320221" y="4864138"/>
            <a:ext cx="778617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100" dirty="0" smtClean="0">
                <a:solidFill>
                  <a:schemeClr val="tx2">
                    <a:lumMod val="75000"/>
                  </a:schemeClr>
                </a:solidFill>
              </a:rPr>
              <a:t>TSA (01/</a:t>
            </a:r>
            <a:r>
              <a:rPr lang="pt-BR" sz="1100" dirty="0" err="1" smtClean="0">
                <a:solidFill>
                  <a:schemeClr val="tx2">
                    <a:lumMod val="75000"/>
                  </a:schemeClr>
                </a:solidFill>
              </a:rPr>
              <a:t>Abr</a:t>
            </a:r>
            <a:r>
              <a:rPr lang="pt-BR" sz="1100" dirty="0" smtClean="0">
                <a:solidFill>
                  <a:schemeClr val="tx2">
                    <a:lumMod val="75000"/>
                  </a:schemeClr>
                </a:solidFill>
              </a:rPr>
              <a:t>/25)</a:t>
            </a:r>
            <a:endParaRPr kumimoji="0" lang="pt-BR" sz="1100" b="0" i="0" u="none" strike="noStrike" cap="none" spc="0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65" name="Retângulo Arredondado 64"/>
          <p:cNvSpPr/>
          <p:nvPr/>
        </p:nvSpPr>
        <p:spPr>
          <a:xfrm>
            <a:off x="10233047" y="4840282"/>
            <a:ext cx="1152000" cy="19106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62" name="Losango 61"/>
          <p:cNvSpPr/>
          <p:nvPr/>
        </p:nvSpPr>
        <p:spPr>
          <a:xfrm>
            <a:off x="10169154" y="4855815"/>
            <a:ext cx="180000" cy="180000"/>
          </a:xfrm>
          <a:prstGeom prst="diamond">
            <a:avLst/>
          </a:prstGeom>
          <a:solidFill>
            <a:srgbClr val="00D31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5038411" y="2982430"/>
            <a:ext cx="967425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pt-BR" sz="1200" baseline="0" dirty="0" err="1" smtClean="0">
                <a:solidFill>
                  <a:schemeClr val="tx2">
                    <a:lumMod val="75000"/>
                  </a:schemeClr>
                </a:solidFill>
              </a:rPr>
              <a:t>Signing</a:t>
            </a:r>
            <a:endParaRPr lang="pt-BR" sz="1200" baseline="0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200" dirty="0" smtClean="0">
                <a:solidFill>
                  <a:schemeClr val="tx2">
                    <a:lumMod val="75000"/>
                  </a:schemeClr>
                </a:solidFill>
              </a:rPr>
              <a:t>(04</a:t>
            </a:r>
            <a:r>
              <a:rPr lang="pt-BR" sz="1200" baseline="0" dirty="0" smtClean="0">
                <a:solidFill>
                  <a:schemeClr val="tx2">
                    <a:lumMod val="75000"/>
                  </a:schemeClr>
                </a:solidFill>
              </a:rPr>
              <a:t>/</a:t>
            </a:r>
            <a:r>
              <a:rPr lang="pt-BR" sz="1200" baseline="0" dirty="0" err="1" smtClean="0">
                <a:solidFill>
                  <a:schemeClr val="tx2">
                    <a:lumMod val="75000"/>
                  </a:schemeClr>
                </a:solidFill>
              </a:rPr>
              <a:t>Ago</a:t>
            </a:r>
            <a:r>
              <a:rPr lang="pt-BR" sz="1200" dirty="0" smtClean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kumimoji="0" lang="pt-BR" sz="1200" b="0" i="0" u="none" strike="noStrike" cap="none" spc="0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5621983" y="3003234"/>
            <a:ext cx="180000" cy="180000"/>
          </a:xfrm>
          <a:prstGeom prst="diamond">
            <a:avLst/>
          </a:prstGeom>
          <a:solidFill>
            <a:srgbClr val="00D318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64" name="Retângulo 63"/>
          <p:cNvSpPr/>
          <p:nvPr/>
        </p:nvSpPr>
        <p:spPr>
          <a:xfrm>
            <a:off x="2163271" y="2637460"/>
            <a:ext cx="8832402" cy="2954655"/>
          </a:xfrm>
          <a:prstGeom prst="rect">
            <a:avLst/>
          </a:prstGeom>
          <a:solidFill>
            <a:srgbClr val="FFFF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9600" dirty="0" smtClean="0"/>
              <a:t>AJUSTAR CRONOGRAMA</a:t>
            </a:r>
            <a:endParaRPr kumimoji="0" lang="en-US" sz="96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337499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2B74F0C-F441-15E6-80A4-B1E667B19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57" y="1203478"/>
            <a:ext cx="11879072" cy="4706519"/>
          </a:xfrm>
          <a:prstGeom prst="rect">
            <a:avLst/>
          </a:prstGeom>
        </p:spPr>
      </p:pic>
      <p:sp>
        <p:nvSpPr>
          <p:cNvPr id="9" name="Triângulo isósceles 8">
            <a:extLst>
              <a:ext uri="{FF2B5EF4-FFF2-40B4-BE49-F238E27FC236}">
                <a16:creationId xmlns:a16="http://schemas.microsoft.com/office/drawing/2014/main" id="{C6C010FC-0D07-FC60-28FE-920754D1CDBF}"/>
              </a:ext>
            </a:extLst>
          </p:cNvPr>
          <p:cNvSpPr/>
          <p:nvPr/>
        </p:nvSpPr>
        <p:spPr>
          <a:xfrm>
            <a:off x="4584577" y="1810801"/>
            <a:ext cx="120000" cy="12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3AB5BC6-70BB-35A5-731D-78B6C1ADF041}"/>
              </a:ext>
            </a:extLst>
          </p:cNvPr>
          <p:cNvSpPr/>
          <p:nvPr/>
        </p:nvSpPr>
        <p:spPr>
          <a:xfrm>
            <a:off x="4626651" y="2001041"/>
            <a:ext cx="629920" cy="1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13" name="Triângulo isósceles 12">
            <a:extLst>
              <a:ext uri="{FF2B5EF4-FFF2-40B4-BE49-F238E27FC236}">
                <a16:creationId xmlns:a16="http://schemas.microsoft.com/office/drawing/2014/main" id="{F48DDBD0-4FFF-70B5-F020-DD1B3CDE08B0}"/>
              </a:ext>
            </a:extLst>
          </p:cNvPr>
          <p:cNvSpPr/>
          <p:nvPr/>
        </p:nvSpPr>
        <p:spPr>
          <a:xfrm>
            <a:off x="5339284" y="2196881"/>
            <a:ext cx="120000" cy="12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CECEF6F-300F-8463-FC5F-4CFE5E8B9564}"/>
              </a:ext>
            </a:extLst>
          </p:cNvPr>
          <p:cNvSpPr/>
          <p:nvPr/>
        </p:nvSpPr>
        <p:spPr>
          <a:xfrm>
            <a:off x="5400764" y="2385101"/>
            <a:ext cx="599441" cy="1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 dirty="0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062B81F-33F8-DC52-8BA9-9107D2F77439}"/>
              </a:ext>
            </a:extLst>
          </p:cNvPr>
          <p:cNvSpPr/>
          <p:nvPr/>
        </p:nvSpPr>
        <p:spPr>
          <a:xfrm>
            <a:off x="6000205" y="2779751"/>
            <a:ext cx="60959" cy="1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7A8107A-629A-7E33-B49D-E894D0FEDA87}"/>
              </a:ext>
            </a:extLst>
          </p:cNvPr>
          <p:cNvSpPr/>
          <p:nvPr/>
        </p:nvSpPr>
        <p:spPr>
          <a:xfrm>
            <a:off x="6060205" y="2974033"/>
            <a:ext cx="248187" cy="1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30CA5D0F-B68E-3C94-1740-85B643D1AD9B}"/>
              </a:ext>
            </a:extLst>
          </p:cNvPr>
          <p:cNvSpPr/>
          <p:nvPr/>
        </p:nvSpPr>
        <p:spPr>
          <a:xfrm>
            <a:off x="6829204" y="3359144"/>
            <a:ext cx="120000" cy="12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18" name="Triângulo isósceles 17">
            <a:extLst>
              <a:ext uri="{FF2B5EF4-FFF2-40B4-BE49-F238E27FC236}">
                <a16:creationId xmlns:a16="http://schemas.microsoft.com/office/drawing/2014/main" id="{AAB99BB0-81CA-3557-4FDC-3CC441B17244}"/>
              </a:ext>
            </a:extLst>
          </p:cNvPr>
          <p:cNvSpPr/>
          <p:nvPr/>
        </p:nvSpPr>
        <p:spPr>
          <a:xfrm>
            <a:off x="6995997" y="3555909"/>
            <a:ext cx="120000" cy="12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F99C5CC-2863-6254-6127-D4F8324E8F12}"/>
              </a:ext>
            </a:extLst>
          </p:cNvPr>
          <p:cNvSpPr/>
          <p:nvPr/>
        </p:nvSpPr>
        <p:spPr>
          <a:xfrm>
            <a:off x="7053457" y="3759571"/>
            <a:ext cx="907627" cy="1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20" name="Triângulo isósceles 19">
            <a:extLst>
              <a:ext uri="{FF2B5EF4-FFF2-40B4-BE49-F238E27FC236}">
                <a16:creationId xmlns:a16="http://schemas.microsoft.com/office/drawing/2014/main" id="{DEEDF895-38FB-B26C-DB64-713BD725BCAC}"/>
              </a:ext>
            </a:extLst>
          </p:cNvPr>
          <p:cNvSpPr/>
          <p:nvPr/>
        </p:nvSpPr>
        <p:spPr>
          <a:xfrm>
            <a:off x="9402563" y="3952149"/>
            <a:ext cx="120000" cy="12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21" name="Triângulo isósceles 20">
            <a:extLst>
              <a:ext uri="{FF2B5EF4-FFF2-40B4-BE49-F238E27FC236}">
                <a16:creationId xmlns:a16="http://schemas.microsoft.com/office/drawing/2014/main" id="{D26E6768-F35D-2F87-AE10-4329E13ED6FA}"/>
              </a:ext>
            </a:extLst>
          </p:cNvPr>
          <p:cNvSpPr/>
          <p:nvPr/>
        </p:nvSpPr>
        <p:spPr>
          <a:xfrm>
            <a:off x="4128393" y="4742595"/>
            <a:ext cx="120000" cy="12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31413CE-3EA5-CCF8-7D5E-F5B77B07CF0F}"/>
              </a:ext>
            </a:extLst>
          </p:cNvPr>
          <p:cNvSpPr/>
          <p:nvPr/>
        </p:nvSpPr>
        <p:spPr>
          <a:xfrm>
            <a:off x="4180265" y="4932621"/>
            <a:ext cx="1977600" cy="1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60808E8-9397-7EE1-7245-17F7D51DCF8C}"/>
              </a:ext>
            </a:extLst>
          </p:cNvPr>
          <p:cNvSpPr/>
          <p:nvPr/>
        </p:nvSpPr>
        <p:spPr>
          <a:xfrm>
            <a:off x="3594824" y="5135721"/>
            <a:ext cx="5564293" cy="1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2E87217-A516-B38F-A389-6DBE67E76E3A}"/>
              </a:ext>
            </a:extLst>
          </p:cNvPr>
          <p:cNvSpPr/>
          <p:nvPr/>
        </p:nvSpPr>
        <p:spPr>
          <a:xfrm>
            <a:off x="5558668" y="5328100"/>
            <a:ext cx="3600451" cy="1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9A41F86-29B4-06D2-0DCC-052C020D61D5}"/>
              </a:ext>
            </a:extLst>
          </p:cNvPr>
          <p:cNvSpPr/>
          <p:nvPr/>
        </p:nvSpPr>
        <p:spPr>
          <a:xfrm>
            <a:off x="9159964" y="5521964"/>
            <a:ext cx="308525" cy="1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26" name="Triângulo isósceles 25">
            <a:extLst>
              <a:ext uri="{FF2B5EF4-FFF2-40B4-BE49-F238E27FC236}">
                <a16:creationId xmlns:a16="http://schemas.microsoft.com/office/drawing/2014/main" id="{4B185471-2EED-0A73-0E9E-AEDD88664A3B}"/>
              </a:ext>
            </a:extLst>
          </p:cNvPr>
          <p:cNvSpPr/>
          <p:nvPr/>
        </p:nvSpPr>
        <p:spPr>
          <a:xfrm>
            <a:off x="9403409" y="5724127"/>
            <a:ext cx="120000" cy="12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31" name="Triângulo isósceles 30">
            <a:extLst>
              <a:ext uri="{FF2B5EF4-FFF2-40B4-BE49-F238E27FC236}">
                <a16:creationId xmlns:a16="http://schemas.microsoft.com/office/drawing/2014/main" id="{5B2BF9F2-33DF-8F9C-AFD4-AE068CA0F132}"/>
              </a:ext>
            </a:extLst>
          </p:cNvPr>
          <p:cNvSpPr/>
          <p:nvPr/>
        </p:nvSpPr>
        <p:spPr>
          <a:xfrm>
            <a:off x="10757849" y="4335796"/>
            <a:ext cx="120000" cy="12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ADE5161D-1B53-5509-CEAD-1D7D1B9C54F5}"/>
              </a:ext>
            </a:extLst>
          </p:cNvPr>
          <p:cNvSpPr/>
          <p:nvPr/>
        </p:nvSpPr>
        <p:spPr>
          <a:xfrm>
            <a:off x="9467305" y="4153437"/>
            <a:ext cx="1343772" cy="1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33" name="Triângulo isósceles 32">
            <a:extLst>
              <a:ext uri="{FF2B5EF4-FFF2-40B4-BE49-F238E27FC236}">
                <a16:creationId xmlns:a16="http://schemas.microsoft.com/office/drawing/2014/main" id="{C36A4153-89D9-47C6-990A-CB7A8FCE87FF}"/>
              </a:ext>
            </a:extLst>
          </p:cNvPr>
          <p:cNvSpPr/>
          <p:nvPr/>
        </p:nvSpPr>
        <p:spPr>
          <a:xfrm>
            <a:off x="5940204" y="2585468"/>
            <a:ext cx="120000" cy="1200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8A90936-1671-0C5E-E390-0695276E9CF2}"/>
              </a:ext>
            </a:extLst>
          </p:cNvPr>
          <p:cNvSpPr/>
          <p:nvPr/>
        </p:nvSpPr>
        <p:spPr>
          <a:xfrm>
            <a:off x="7961085" y="3759571"/>
            <a:ext cx="1511300" cy="120000"/>
          </a:xfrm>
          <a:prstGeom prst="rect">
            <a:avLst/>
          </a:prstGeom>
          <a:pattFill prst="dkDnDiag">
            <a:fgClr>
              <a:schemeClr val="accent2"/>
            </a:fgClr>
            <a:bgClr>
              <a:schemeClr val="accent3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B92D5A7-AF03-0735-B563-E4F15424FEEB}"/>
              </a:ext>
            </a:extLst>
          </p:cNvPr>
          <p:cNvSpPr txBox="1"/>
          <p:nvPr/>
        </p:nvSpPr>
        <p:spPr>
          <a:xfrm>
            <a:off x="4704577" y="1775763"/>
            <a:ext cx="38311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defTabSz="1219170" hangingPunct="1">
              <a:buClr>
                <a:srgbClr val="000000"/>
              </a:buClr>
            </a:pPr>
            <a:r>
              <a:rPr lang="pt-BR" sz="1200" dirty="0">
                <a:solidFill>
                  <a:srgbClr val="000000"/>
                </a:solidFill>
                <a:latin typeface="Aptos Narrow" panose="020B0004020202020204" pitchFamily="34" charset="0"/>
                <a:cs typeface="Arial"/>
                <a:sym typeface="Arial"/>
              </a:rPr>
              <a:t>19/04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33E1E90-DBCC-80FC-2E58-03CB177D4B86}"/>
              </a:ext>
            </a:extLst>
          </p:cNvPr>
          <p:cNvSpPr txBox="1"/>
          <p:nvPr/>
        </p:nvSpPr>
        <p:spPr>
          <a:xfrm>
            <a:off x="5475317" y="2166827"/>
            <a:ext cx="38311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defTabSz="1219170" hangingPunct="1">
              <a:buClr>
                <a:srgbClr val="000000"/>
              </a:buClr>
            </a:pPr>
            <a:r>
              <a:rPr lang="pt-BR" sz="1200" dirty="0">
                <a:solidFill>
                  <a:srgbClr val="000000"/>
                </a:solidFill>
                <a:latin typeface="Aptos Narrow" panose="020B0004020202020204" pitchFamily="34" charset="0"/>
                <a:cs typeface="Arial"/>
                <a:sym typeface="Arial"/>
              </a:rPr>
              <a:t>24/05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A4E1332-BE00-E0E8-8005-D8F6F8F0E03D}"/>
              </a:ext>
            </a:extLst>
          </p:cNvPr>
          <p:cNvSpPr txBox="1"/>
          <p:nvPr/>
        </p:nvSpPr>
        <p:spPr>
          <a:xfrm>
            <a:off x="6080320" y="2550093"/>
            <a:ext cx="38311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defTabSz="1219170" hangingPunct="1">
              <a:buClr>
                <a:srgbClr val="000000"/>
              </a:buClr>
            </a:pPr>
            <a:r>
              <a:rPr lang="pt-BR" sz="1200" b="1" dirty="0">
                <a:solidFill>
                  <a:srgbClr val="FF0000"/>
                </a:solidFill>
                <a:latin typeface="Aptos Narrow" panose="020B0004020202020204" pitchFamily="34" charset="0"/>
                <a:cs typeface="Arial"/>
                <a:sym typeface="Arial"/>
              </a:rPr>
              <a:t>24/06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4E5215B-B4E8-CE9D-218D-48FA67AC5F13}"/>
              </a:ext>
            </a:extLst>
          </p:cNvPr>
          <p:cNvSpPr txBox="1"/>
          <p:nvPr/>
        </p:nvSpPr>
        <p:spPr>
          <a:xfrm>
            <a:off x="6337707" y="2941700"/>
            <a:ext cx="38311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defTabSz="1219170" hangingPunct="1">
              <a:buClr>
                <a:srgbClr val="000000"/>
              </a:buClr>
            </a:pPr>
            <a:r>
              <a:rPr lang="pt-BR" sz="1200" dirty="0">
                <a:solidFill>
                  <a:srgbClr val="000000"/>
                </a:solidFill>
                <a:latin typeface="Aptos Narrow" panose="020B0004020202020204" pitchFamily="34" charset="0"/>
                <a:cs typeface="Arial"/>
                <a:sym typeface="Arial"/>
              </a:rPr>
              <a:t>05/07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16910DD-A1C0-C716-8C9B-A96428BE5E95}"/>
              </a:ext>
            </a:extLst>
          </p:cNvPr>
          <p:cNvSpPr/>
          <p:nvPr/>
        </p:nvSpPr>
        <p:spPr>
          <a:xfrm>
            <a:off x="6308392" y="3174532"/>
            <a:ext cx="583353" cy="1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 hangingPunct="1">
              <a:buClr>
                <a:srgbClr val="000000"/>
              </a:buClr>
            </a:pPr>
            <a:endParaRPr lang="pt-BR">
              <a:solidFill>
                <a:srgbClr val="10BB7C"/>
              </a:solidFill>
              <a:latin typeface="Arial"/>
              <a:sym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5959F74-0EFA-DBEC-93C5-E19D979C0147}"/>
              </a:ext>
            </a:extLst>
          </p:cNvPr>
          <p:cNvSpPr txBox="1"/>
          <p:nvPr/>
        </p:nvSpPr>
        <p:spPr>
          <a:xfrm>
            <a:off x="6965469" y="3336603"/>
            <a:ext cx="38311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defTabSz="1219170" hangingPunct="1">
              <a:buClr>
                <a:srgbClr val="000000"/>
              </a:buClr>
            </a:pPr>
            <a:r>
              <a:rPr lang="pt-BR" sz="1200" b="1" dirty="0">
                <a:solidFill>
                  <a:srgbClr val="FF0000"/>
                </a:solidFill>
                <a:latin typeface="Aptos Narrow" panose="020B0004020202020204" pitchFamily="34" charset="0"/>
                <a:cs typeface="Arial"/>
                <a:sym typeface="Arial"/>
              </a:rPr>
              <a:t>04/08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2B2E534-7663-8A5A-A90C-4B8663460AE5}"/>
              </a:ext>
            </a:extLst>
          </p:cNvPr>
          <p:cNvSpPr txBox="1"/>
          <p:nvPr/>
        </p:nvSpPr>
        <p:spPr>
          <a:xfrm>
            <a:off x="7786397" y="3881669"/>
            <a:ext cx="38311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defTabSz="1219170" hangingPunct="1">
              <a:buClr>
                <a:srgbClr val="000000"/>
              </a:buClr>
            </a:pPr>
            <a:r>
              <a:rPr lang="pt-BR" sz="1200" dirty="0">
                <a:solidFill>
                  <a:srgbClr val="000000"/>
                </a:solidFill>
                <a:latin typeface="Aptos Narrow" panose="020B0004020202020204" pitchFamily="34" charset="0"/>
                <a:cs typeface="Arial"/>
                <a:sym typeface="Arial"/>
              </a:rPr>
              <a:t>23/09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97AAC6B-AEF9-EF9A-6932-DABFCD88BE6A}"/>
              </a:ext>
            </a:extLst>
          </p:cNvPr>
          <p:cNvSpPr txBox="1"/>
          <p:nvPr/>
        </p:nvSpPr>
        <p:spPr>
          <a:xfrm>
            <a:off x="9554657" y="3927267"/>
            <a:ext cx="38311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defTabSz="1219170" hangingPunct="1">
              <a:buClr>
                <a:srgbClr val="000000"/>
              </a:buClr>
            </a:pPr>
            <a:r>
              <a:rPr lang="pt-BR" sz="1200" dirty="0">
                <a:solidFill>
                  <a:srgbClr val="000000"/>
                </a:solidFill>
                <a:latin typeface="Aptos Narrow" panose="020B0004020202020204" pitchFamily="34" charset="0"/>
                <a:cs typeface="Arial"/>
                <a:sym typeface="Arial"/>
              </a:rPr>
              <a:t>30/11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7A734ED-ED0F-A760-5617-0A9DEA431F8C}"/>
              </a:ext>
            </a:extLst>
          </p:cNvPr>
          <p:cNvSpPr txBox="1"/>
          <p:nvPr/>
        </p:nvSpPr>
        <p:spPr>
          <a:xfrm>
            <a:off x="10916835" y="4310236"/>
            <a:ext cx="38311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defTabSz="1219170" hangingPunct="1">
              <a:buClr>
                <a:srgbClr val="000000"/>
              </a:buClr>
            </a:pPr>
            <a:r>
              <a:rPr lang="pt-BR" sz="1200" b="1" dirty="0">
                <a:solidFill>
                  <a:srgbClr val="FF0000"/>
                </a:solidFill>
                <a:latin typeface="Aptos Narrow" panose="020B0004020202020204" pitchFamily="34" charset="0"/>
                <a:cs typeface="Arial"/>
                <a:sym typeface="Arial"/>
              </a:rPr>
              <a:t>31/01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5146FB02-784E-D673-4214-68CD9B6A0625}"/>
              </a:ext>
            </a:extLst>
          </p:cNvPr>
          <p:cNvSpPr txBox="1"/>
          <p:nvPr/>
        </p:nvSpPr>
        <p:spPr>
          <a:xfrm>
            <a:off x="9552117" y="5681955"/>
            <a:ext cx="383118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defTabSz="1219170" hangingPunct="1">
              <a:buClr>
                <a:srgbClr val="000000"/>
              </a:buClr>
            </a:pPr>
            <a:r>
              <a:rPr lang="pt-BR" sz="1200" dirty="0">
                <a:solidFill>
                  <a:srgbClr val="000000"/>
                </a:solidFill>
                <a:latin typeface="Aptos Narrow" panose="020B0004020202020204" pitchFamily="34" charset="0"/>
                <a:cs typeface="Arial"/>
                <a:sym typeface="Arial"/>
              </a:rPr>
              <a:t>30/11</a:t>
            </a: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CFC8C16C-C902-4C69-F0C1-806E1DC8A773}"/>
              </a:ext>
            </a:extLst>
          </p:cNvPr>
          <p:cNvCxnSpPr>
            <a:cxnSpLocks/>
          </p:cNvCxnSpPr>
          <p:nvPr/>
        </p:nvCxnSpPr>
        <p:spPr>
          <a:xfrm>
            <a:off x="9458329" y="3987801"/>
            <a:ext cx="0" cy="174140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6C389EC-FCE6-B523-8B5A-37A353D36163}"/>
              </a:ext>
            </a:extLst>
          </p:cNvPr>
          <p:cNvSpPr txBox="1"/>
          <p:nvPr/>
        </p:nvSpPr>
        <p:spPr>
          <a:xfrm>
            <a:off x="9547038" y="3732688"/>
            <a:ext cx="561051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defTabSz="1219170" hangingPunct="1">
              <a:buClr>
                <a:srgbClr val="000000"/>
              </a:buClr>
            </a:pPr>
            <a:r>
              <a:rPr lang="pt-BR" sz="1200" dirty="0">
                <a:solidFill>
                  <a:srgbClr val="000000"/>
                </a:solidFill>
                <a:latin typeface="Aptos Narrow" panose="020B0004020202020204" pitchFamily="34" charset="0"/>
                <a:cs typeface="Arial"/>
                <a:sym typeface="Arial"/>
              </a:rPr>
              <a:t>45-113d</a:t>
            </a:r>
          </a:p>
        </p:txBody>
      </p:sp>
      <p:sp>
        <p:nvSpPr>
          <p:cNvPr id="38" name="Título 25"/>
          <p:cNvSpPr>
            <a:spLocks noGrp="1"/>
          </p:cNvSpPr>
          <p:nvPr>
            <p:ph type="title"/>
          </p:nvPr>
        </p:nvSpPr>
        <p:spPr>
          <a:xfrm>
            <a:off x="173505" y="119371"/>
            <a:ext cx="10756482" cy="558294"/>
          </a:xfrm>
        </p:spPr>
        <p:txBody>
          <a:bodyPr vert="horz"/>
          <a:lstStyle/>
          <a:p>
            <a:r>
              <a:rPr lang="pt-BR" dirty="0" smtClean="0">
                <a:solidFill>
                  <a:srgbClr val="009E0B"/>
                </a:solidFill>
              </a:rPr>
              <a:t>KAIDÔ: CRONOGRAMA</a:t>
            </a:r>
            <a:endParaRPr lang="pt-BR" dirty="0">
              <a:solidFill>
                <a:srgbClr val="009E0B"/>
              </a:solidFill>
            </a:endParaRPr>
          </a:p>
        </p:txBody>
      </p:sp>
      <p:sp>
        <p:nvSpPr>
          <p:cNvPr id="39" name="Retângulo 38"/>
          <p:cNvSpPr/>
          <p:nvPr/>
        </p:nvSpPr>
        <p:spPr>
          <a:xfrm>
            <a:off x="3753314" y="1676998"/>
            <a:ext cx="8273315" cy="4247317"/>
          </a:xfrm>
          <a:prstGeom prst="rect">
            <a:avLst/>
          </a:prstGeom>
          <a:solidFill>
            <a:srgbClr val="FFFF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3800" strike="sngStrike" dirty="0" err="1" smtClean="0"/>
              <a:t>Elaborar</a:t>
            </a:r>
            <a:r>
              <a:rPr kumimoji="0" lang="en-US" sz="138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 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38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proposta</a:t>
            </a:r>
            <a:r>
              <a:rPr kumimoji="0" lang="en-US" sz="138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 </a:t>
            </a:r>
          </a:p>
        </p:txBody>
      </p:sp>
      <p:cxnSp>
        <p:nvCxnSpPr>
          <p:cNvPr id="35" name="Conector reto 34"/>
          <p:cNvCxnSpPr/>
          <p:nvPr/>
        </p:nvCxnSpPr>
        <p:spPr>
          <a:xfrm>
            <a:off x="0" y="3819571"/>
            <a:ext cx="1913206" cy="0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Conector reto 39"/>
          <p:cNvCxnSpPr/>
          <p:nvPr/>
        </p:nvCxnSpPr>
        <p:spPr>
          <a:xfrm>
            <a:off x="0" y="3652655"/>
            <a:ext cx="1913206" cy="0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276760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506437" y="1575582"/>
            <a:ext cx="8778240" cy="258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UPI </a:t>
            </a:r>
            <a:r>
              <a:rPr kumimoji="0" lang="pt-BR" sz="14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Tahto</a:t>
            </a:r>
            <a:r>
              <a:rPr kumimoji="0" lang="pt-BR" sz="14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e recurso resolve</a:t>
            </a:r>
            <a:r>
              <a:rPr kumimoji="0" lang="pt-BR" sz="1400" b="0" i="0" u="none" strike="noStrike" cap="none" spc="0" normalizeH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plano de recuperação da </a:t>
            </a:r>
            <a:r>
              <a:rPr kumimoji="0" lang="pt-BR" sz="1400" b="0" i="0" u="none" strike="noStrike" cap="none" spc="0" normalizeH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Tahto</a:t>
            </a:r>
            <a:r>
              <a:rPr kumimoji="0" lang="pt-BR" sz="1400" b="0" i="0" u="none" strike="noStrike" cap="none" spc="0" normalizeH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–  Credores da </a:t>
            </a:r>
            <a:r>
              <a:rPr kumimoji="0" lang="pt-BR" sz="1400" b="0" i="0" u="none" strike="noStrike" cap="none" spc="0" normalizeH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Tahto</a:t>
            </a:r>
            <a:r>
              <a:rPr kumimoji="0" lang="pt-BR" sz="1400" b="0" i="0" u="none" strike="noStrike" cap="none" spc="0" normalizeH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, Oi, Credores </a:t>
            </a:r>
            <a:r>
              <a:rPr kumimoji="0" lang="pt-BR" sz="1400" b="0" i="0" u="none" strike="noStrike" cap="none" spc="0" normalizeH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Serede</a:t>
            </a:r>
            <a:r>
              <a:rPr kumimoji="0" lang="pt-BR" sz="1400" b="0" i="0" u="none" strike="noStrike" cap="none" spc="0" normalizeH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(solidária)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baseline="0" dirty="0" err="1" smtClean="0"/>
              <a:t>Bidder</a:t>
            </a:r>
            <a:r>
              <a:rPr lang="pt-BR" baseline="0" dirty="0" smtClean="0"/>
              <a:t> </a:t>
            </a:r>
            <a:r>
              <a:rPr lang="pt-BR" baseline="0" dirty="0" err="1" smtClean="0"/>
              <a:t>offer</a:t>
            </a:r>
            <a:r>
              <a:rPr lang="pt-BR" baseline="0" dirty="0" smtClean="0"/>
              <a:t> &gt; stock </a:t>
            </a:r>
            <a:r>
              <a:rPr lang="pt-BR" baseline="0" dirty="0" err="1" smtClean="0"/>
              <a:t>horse</a:t>
            </a:r>
            <a:r>
              <a:rPr lang="pt-BR" dirty="0" smtClean="0"/>
              <a:t> &gt;&gt; 2 a 3 semanas leilão &gt;&gt; preparação para o </a:t>
            </a:r>
            <a:r>
              <a:rPr lang="pt-BR" dirty="0" err="1" smtClean="0"/>
              <a:t>Closing</a:t>
            </a:r>
            <a:r>
              <a:rPr lang="pt-BR" dirty="0" smtClean="0"/>
              <a:t>.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dirty="0" smtClean="0"/>
              <a:t>Pessoas serão transferidas – </a:t>
            </a:r>
            <a:r>
              <a:rPr lang="pt-BR" dirty="0" err="1" smtClean="0"/>
              <a:t>FPw</a:t>
            </a:r>
            <a:r>
              <a:rPr lang="pt-BR" dirty="0" smtClean="0"/>
              <a:t>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dirty="0" smtClean="0"/>
              <a:t>Subsidiária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dirty="0" smtClean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Chai</a:t>
            </a:r>
            <a:r>
              <a:rPr kumimoji="0" lang="pt-BR" sz="1400" b="0" i="0" u="none" strike="noStrike" cap="none" spc="0" normalizeH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e </a:t>
            </a:r>
            <a:r>
              <a:rPr kumimoji="0" lang="pt-BR" sz="1400" b="0" i="0" u="none" strike="noStrike" cap="none" spc="0" normalizeH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Olimpia</a:t>
            </a:r>
            <a:r>
              <a:rPr kumimoji="0" lang="pt-BR" sz="1400" b="0" i="0" u="none" strike="noStrike" cap="none" spc="0" normalizeH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&gt;&gt; Oi Services  -- venda da empresa depende de aprovação do juízo.  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baseline="0" dirty="0" smtClean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baseline="0" dirty="0" smtClean="0"/>
              <a:t>- </a:t>
            </a:r>
            <a:r>
              <a:rPr lang="pt-BR" dirty="0" smtClean="0"/>
              <a:t>Assinatura da SPA  // Contratos com clientes na Europa</a:t>
            </a:r>
            <a:endParaRPr kumimoji="0" lang="pt-BR" sz="1400" b="0" i="0" u="none" strike="noStrike" cap="none" spc="0" normalizeH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50719849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4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ítulo 25"/>
          <p:cNvSpPr txBox="1">
            <a:spLocks/>
          </p:cNvSpPr>
          <p:nvPr/>
        </p:nvSpPr>
        <p:spPr>
          <a:xfrm>
            <a:off x="188521" y="119371"/>
            <a:ext cx="10756482" cy="558294"/>
          </a:xfrm>
          <a:prstGeom prst="rect">
            <a:avLst/>
          </a:prstGeom>
        </p:spPr>
        <p:txBody>
          <a:bodyPr/>
          <a:lstStyle>
            <a:lvl1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sz="2000" dirty="0" smtClean="0">
                <a:solidFill>
                  <a:srgbClr val="009E0B"/>
                </a:solidFill>
                <a:latin typeface="Simplon BP Bold" pitchFamily="2" charset="0"/>
              </a:rPr>
              <a:t>KAIDÔ: MACRO </a:t>
            </a:r>
            <a:r>
              <a:rPr lang="pt-BR" sz="2000" dirty="0">
                <a:solidFill>
                  <a:srgbClr val="009E0B"/>
                </a:solidFill>
                <a:latin typeface="Simplon BP Bold" pitchFamily="2" charset="0"/>
              </a:rPr>
              <a:t>SOLUÇÃO DE TI</a:t>
            </a:r>
          </a:p>
        </p:txBody>
      </p:sp>
      <p:sp>
        <p:nvSpPr>
          <p:cNvPr id="28" name="Retângulo 27"/>
          <p:cNvSpPr/>
          <p:nvPr/>
        </p:nvSpPr>
        <p:spPr>
          <a:xfrm>
            <a:off x="77741" y="542089"/>
            <a:ext cx="117550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90" indent="-380990" defTabSz="1219170">
              <a:buFont typeface="Wingdings" panose="05000000000000000000" pitchFamily="2" charset="2"/>
              <a:buChar char="q"/>
            </a:pPr>
            <a:r>
              <a:rPr lang="pt-BR" sz="1600" kern="1200" dirty="0">
                <a:solidFill>
                  <a:srgbClr val="2B2B2B"/>
                </a:solidFill>
                <a:latin typeface="Helvetica"/>
                <a:cs typeface="Helvetica"/>
              </a:rPr>
              <a:t>Criação e operacionalização das </a:t>
            </a:r>
            <a:r>
              <a:rPr lang="pt-BR" sz="1600" kern="1200" dirty="0" smtClean="0">
                <a:solidFill>
                  <a:srgbClr val="2B2B2B"/>
                </a:solidFill>
                <a:latin typeface="Helvetica"/>
                <a:cs typeface="Helvetica"/>
              </a:rPr>
              <a:t>UPI </a:t>
            </a:r>
            <a:r>
              <a:rPr lang="pt-BR" sz="1600" kern="1200" dirty="0" err="1">
                <a:solidFill>
                  <a:srgbClr val="2B2B2B"/>
                </a:solidFill>
                <a:latin typeface="Helvetica"/>
                <a:cs typeface="Helvetica"/>
              </a:rPr>
              <a:t>ClientCo</a:t>
            </a:r>
            <a:r>
              <a:rPr lang="pt-BR" sz="1600" kern="1200" dirty="0">
                <a:solidFill>
                  <a:srgbClr val="2B2B2B"/>
                </a:solidFill>
                <a:latin typeface="Helvetica"/>
                <a:cs typeface="Helvetica"/>
              </a:rPr>
              <a:t> apresentada no plano de Recuperação Judicial.</a:t>
            </a:r>
          </a:p>
          <a:p>
            <a:pPr marL="380990" indent="-380990" defTabSz="609585" hangingPunct="1">
              <a:buFont typeface="Wingdings" panose="05000000000000000000" pitchFamily="2" charset="2"/>
              <a:buChar char="q"/>
            </a:pPr>
            <a:r>
              <a:rPr lang="pt-BR" sz="1600" kern="1200" dirty="0" err="1" smtClean="0">
                <a:solidFill>
                  <a:srgbClr val="00D318"/>
                </a:solidFill>
                <a:latin typeface="Helvetica"/>
                <a:cs typeface="Helvetica"/>
              </a:rPr>
              <a:t>ClientCo</a:t>
            </a:r>
            <a:r>
              <a:rPr lang="pt-BR" sz="1600" kern="1200" dirty="0" smtClean="0">
                <a:solidFill>
                  <a:srgbClr val="2B2B2B"/>
                </a:solidFill>
                <a:latin typeface="Helvetica"/>
                <a:cs typeface="Helvetica"/>
              </a:rPr>
              <a:t> terá </a:t>
            </a:r>
            <a:r>
              <a:rPr lang="pt-BR" sz="1600" kern="1200" dirty="0">
                <a:solidFill>
                  <a:srgbClr val="2B2B2B"/>
                </a:solidFill>
                <a:latin typeface="Helvetica"/>
                <a:cs typeface="Helvetica"/>
              </a:rPr>
              <a:t>a base dos clientes FIBRA do Varejo e Empresarial (segregação por UF).</a:t>
            </a:r>
          </a:p>
          <a:p>
            <a:pPr marL="380990" indent="-380990" defTabSz="609585" hangingPunct="1">
              <a:buFont typeface="Wingdings" panose="05000000000000000000" pitchFamily="2" charset="2"/>
              <a:buChar char="q"/>
            </a:pPr>
            <a:r>
              <a:rPr lang="pt-BR" sz="1600" kern="1200" dirty="0">
                <a:solidFill>
                  <a:srgbClr val="2B2B2B"/>
                </a:solidFill>
                <a:latin typeface="Helvetica"/>
                <a:cs typeface="Helvetica"/>
              </a:rPr>
              <a:t>Necessário realizar marcação da UPI nos sistemas de CRM, Billing, Contábil, Fiscal, Ativos, Contratos, RH, Jurídico, etc.</a:t>
            </a:r>
            <a:endParaRPr lang="pt-BR" kern="1200" dirty="0">
              <a:solidFill>
                <a:prstClr val="black"/>
              </a:solidFill>
              <a:latin typeface="Simplon BP Regular"/>
              <a:cs typeface="Helvetica"/>
              <a:sym typeface="Arial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13" y="1489265"/>
            <a:ext cx="11728637" cy="4813993"/>
          </a:xfrm>
          <a:prstGeom prst="rect">
            <a:avLst/>
          </a:prstGeom>
        </p:spPr>
      </p:pic>
      <p:sp>
        <p:nvSpPr>
          <p:cNvPr id="6" name="Espaço Reservado para Número de Slide 2"/>
          <p:cNvSpPr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19</a:t>
            </a:fld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534538" y="1777629"/>
            <a:ext cx="11101283" cy="2954655"/>
          </a:xfrm>
          <a:prstGeom prst="rect">
            <a:avLst/>
          </a:prstGeom>
          <a:solidFill>
            <a:srgbClr val="FFFF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6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Receber</a:t>
            </a:r>
            <a:r>
              <a:rPr kumimoji="0" lang="en-US" sz="96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96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proposta</a:t>
            </a:r>
            <a:r>
              <a:rPr kumimoji="0" lang="en-US" sz="96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6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da TI</a:t>
            </a:r>
            <a:endParaRPr kumimoji="0" lang="en-US" sz="9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116025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07991612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70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Título 25"/>
          <p:cNvSpPr txBox="1">
            <a:spLocks/>
          </p:cNvSpPr>
          <p:nvPr/>
        </p:nvSpPr>
        <p:spPr>
          <a:xfrm>
            <a:off x="188521" y="119371"/>
            <a:ext cx="10756482" cy="558294"/>
          </a:xfrm>
          <a:prstGeom prst="rect">
            <a:avLst/>
          </a:prstGeom>
        </p:spPr>
        <p:txBody>
          <a:bodyPr/>
          <a:lstStyle>
            <a:lvl1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sz="2000" dirty="0" smtClean="0">
                <a:solidFill>
                  <a:srgbClr val="009E0B"/>
                </a:solidFill>
                <a:latin typeface="Simplon BP Bold" pitchFamily="2" charset="0"/>
              </a:rPr>
              <a:t>KAIDÔ: VISÃO MACRO DA SOLUÇÃO </a:t>
            </a:r>
            <a:r>
              <a:rPr lang="pt-BR" sz="2000" dirty="0">
                <a:solidFill>
                  <a:srgbClr val="009E0B"/>
                </a:solidFill>
                <a:latin typeface="Simplon BP Bold" pitchFamily="2" charset="0"/>
              </a:rPr>
              <a:t>DE TI</a:t>
            </a:r>
          </a:p>
        </p:txBody>
      </p:sp>
      <p:sp>
        <p:nvSpPr>
          <p:cNvPr id="156" name="CaixaDeTexto 155"/>
          <p:cNvSpPr txBox="1"/>
          <p:nvPr/>
        </p:nvSpPr>
        <p:spPr>
          <a:xfrm>
            <a:off x="7838224" y="720261"/>
            <a:ext cx="3565369" cy="2762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       </a:t>
            </a:r>
            <a:r>
              <a:rPr kumimoji="0" lang="pt-BR" sz="1100" b="0" i="0" u="none" strike="noStrike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Frentes prioritárias</a:t>
            </a:r>
            <a:r>
              <a:rPr kumimoji="0" lang="pt-BR" sz="11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para iniciar na </a:t>
            </a:r>
            <a:r>
              <a:rPr lang="pt-BR" sz="1100" dirty="0" smtClean="0">
                <a:solidFill>
                  <a:schemeClr val="tx2"/>
                </a:solidFill>
                <a:latin typeface="+mj-lt"/>
                <a:ea typeface="+mj-ea"/>
                <a:cs typeface="+mj-cs"/>
                <a:sym typeface="Simplon BP Regular"/>
              </a:rPr>
              <a:t>Fase 1 do</a:t>
            </a:r>
            <a:r>
              <a:rPr kumimoji="0" lang="pt-BR" sz="1100" b="0" i="0" u="none" strike="noStrike" cap="none" spc="0" normalizeH="0" dirty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projeto</a:t>
            </a:r>
            <a:endParaRPr kumimoji="0" lang="pt-BR" sz="1100" b="0" i="0" u="none" strike="noStrike" cap="none" spc="0" normalizeH="0" baseline="0" dirty="0">
              <a:ln>
                <a:noFill/>
              </a:ln>
              <a:solidFill>
                <a:schemeClr val="tx2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CaixaDeTexto 156"/>
              <p:cNvSpPr txBox="1"/>
              <p:nvPr/>
            </p:nvSpPr>
            <p:spPr>
              <a:xfrm>
                <a:off x="7870096" y="744227"/>
                <a:ext cx="232435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t">
                <a:spAutoFit/>
              </a:bodyPr>
              <a:lstStyle/>
              <a:p>
                <a:pPr marL="0" marR="0" indent="0" algn="l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pt-BR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j-ea"/>
                          <a:cs typeface="+mj-cs"/>
                          <a:sym typeface="Wingdings" panose="05000000000000000000" pitchFamily="2" charset="2"/>
                        </a:rPr>
                        <m:t></m:t>
                      </m:r>
                    </m:oMath>
                  </m:oMathPara>
                </a14:m>
                <a:endParaRPr kumimoji="0" lang="pt-BR" b="0" i="0" u="none" strike="noStrike" cap="none" spc="0" normalizeH="0" baseline="0" dirty="0">
                  <a:ln>
                    <a:noFill/>
                  </a:ln>
                  <a:solidFill>
                    <a:schemeClr val="accent1"/>
                  </a:solidFill>
                  <a:effectLst/>
                  <a:uFillTx/>
                  <a:latin typeface="+mj-lt"/>
                  <a:ea typeface="+mj-ea"/>
                  <a:cs typeface="+mj-cs"/>
                  <a:sym typeface="Simplon BP Regular"/>
                </a:endParaRPr>
              </a:p>
            </p:txBody>
          </p:sp>
        </mc:Choice>
        <mc:Fallback xmlns="">
          <p:sp>
            <p:nvSpPr>
              <p:cNvPr id="157" name="CaixaDeTexto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0096" y="744227"/>
                <a:ext cx="232435" cy="276999"/>
              </a:xfrm>
              <a:prstGeom prst="rect">
                <a:avLst/>
              </a:prstGeom>
              <a:blipFill>
                <a:blip r:embed="rId8"/>
                <a:stretch>
                  <a:fillRect l="-10526" t="-2174" r="-1315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Espaço Reservado para Número de Slide 2"/>
          <p:cNvSpPr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20</a:t>
            </a:fld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9"/>
          <a:srcRect t="3338"/>
          <a:stretch/>
        </p:blipFill>
        <p:spPr>
          <a:xfrm>
            <a:off x="235405" y="1190171"/>
            <a:ext cx="11400416" cy="5246937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534538" y="1777629"/>
            <a:ext cx="11101283" cy="2954655"/>
          </a:xfrm>
          <a:prstGeom prst="rect">
            <a:avLst/>
          </a:prstGeom>
          <a:solidFill>
            <a:srgbClr val="FFFF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6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Receber</a:t>
            </a:r>
            <a:r>
              <a:rPr kumimoji="0" lang="en-US" sz="96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96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proposta</a:t>
            </a:r>
            <a:r>
              <a:rPr kumimoji="0" lang="en-US" sz="96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6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da TI</a:t>
            </a:r>
            <a:endParaRPr kumimoji="0" lang="en-US" sz="9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579704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Agrupar 23"/>
          <p:cNvGrpSpPr/>
          <p:nvPr/>
        </p:nvGrpSpPr>
        <p:grpSpPr>
          <a:xfrm>
            <a:off x="1747167" y="836713"/>
            <a:ext cx="1872000" cy="5600140"/>
            <a:chOff x="4706321" y="936168"/>
            <a:chExt cx="953621" cy="3836529"/>
          </a:xfrm>
          <a:solidFill>
            <a:srgbClr val="00D318"/>
          </a:solidFill>
        </p:grpSpPr>
        <p:sp>
          <p:nvSpPr>
            <p:cNvPr id="30" name="Retângulo Arredondado 45">
              <a:extLst>
                <a:ext uri="{FF2B5EF4-FFF2-40B4-BE49-F238E27FC236}">
                  <a16:creationId xmlns:a16="http://schemas.microsoft.com/office/drawing/2014/main" id="{41B21E91-011D-4626-BF6C-5618F77ECF3E}"/>
                </a:ext>
              </a:extLst>
            </p:cNvPr>
            <p:cNvSpPr/>
            <p:nvPr/>
          </p:nvSpPr>
          <p:spPr>
            <a:xfrm>
              <a:off x="4706321" y="936170"/>
              <a:ext cx="953621" cy="383652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tIns="108000" rIns="36000" rtlCol="0" anchor="t"/>
            <a:lstStyle/>
            <a:p>
              <a:pPr algn="ctr" defTabSz="914354" hangingPunct="1">
                <a:defRPr/>
              </a:pPr>
              <a:endParaRPr lang="en-US" sz="1333" b="1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en-US" sz="1333" b="1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en-US" sz="1333" b="1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en-US" sz="1333" b="1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pt-BR" sz="1333" b="1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</p:txBody>
        </p:sp>
        <p:sp>
          <p:nvSpPr>
            <p:cNvPr id="31" name="Rectangle 297">
              <a:extLst>
                <a:ext uri="{FF2B5EF4-FFF2-40B4-BE49-F238E27FC236}">
                  <a16:creationId xmlns:a16="http://schemas.microsoft.com/office/drawing/2014/main" id="{D1660CF8-8AA2-48C0-8FD3-73463F98A821}"/>
                </a:ext>
              </a:extLst>
            </p:cNvPr>
            <p:cNvSpPr/>
            <p:nvPr/>
          </p:nvSpPr>
          <p:spPr>
            <a:xfrm>
              <a:off x="4738232" y="936168"/>
              <a:ext cx="912754" cy="34430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 defTabSz="914354" hangingPunct="1">
                <a:defRPr/>
              </a:pPr>
              <a:r>
                <a:rPr lang="pt-BR" sz="1333" b="1" kern="1200" dirty="0">
                  <a:solidFill>
                    <a:prstClr val="white"/>
                  </a:solidFill>
                  <a:latin typeface="Simplon BP Regular" pitchFamily="2" charset="0"/>
                  <a:cs typeface="Helvetica"/>
                </a:rPr>
                <a:t>VENDAS E</a:t>
              </a:r>
            </a:p>
            <a:p>
              <a:pPr algn="ctr" defTabSz="914354" hangingPunct="1">
                <a:defRPr/>
              </a:pPr>
              <a:r>
                <a:rPr lang="pt-BR" sz="1333" b="1" kern="1200" dirty="0">
                  <a:solidFill>
                    <a:prstClr val="white"/>
                  </a:solidFill>
                  <a:latin typeface="Simplon BP Regular" pitchFamily="2" charset="0"/>
                  <a:cs typeface="Helvetica"/>
                </a:rPr>
                <a:t>ATENDIMENTO</a:t>
              </a:r>
            </a:p>
          </p:txBody>
        </p:sp>
      </p:grpSp>
      <p:grpSp>
        <p:nvGrpSpPr>
          <p:cNvPr id="39" name="Agrupar 38"/>
          <p:cNvGrpSpPr/>
          <p:nvPr/>
        </p:nvGrpSpPr>
        <p:grpSpPr>
          <a:xfrm>
            <a:off x="9979982" y="836713"/>
            <a:ext cx="2020444" cy="5600140"/>
            <a:chOff x="6748190" y="936170"/>
            <a:chExt cx="953622" cy="3836526"/>
          </a:xfrm>
          <a:solidFill>
            <a:srgbClr val="00D318"/>
          </a:solidFill>
        </p:grpSpPr>
        <p:sp>
          <p:nvSpPr>
            <p:cNvPr id="40" name="Retângulo Arredondado 45">
              <a:extLst>
                <a:ext uri="{FF2B5EF4-FFF2-40B4-BE49-F238E27FC236}">
                  <a16:creationId xmlns:a16="http://schemas.microsoft.com/office/drawing/2014/main" id="{9C38F5FA-DB82-41AC-B01D-8565C090C931}"/>
                </a:ext>
              </a:extLst>
            </p:cNvPr>
            <p:cNvSpPr/>
            <p:nvPr/>
          </p:nvSpPr>
          <p:spPr>
            <a:xfrm>
              <a:off x="6748190" y="936170"/>
              <a:ext cx="953621" cy="3836526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tIns="108000" rIns="36000" rtlCol="0" anchor="t"/>
            <a:lstStyle/>
            <a:p>
              <a:pPr algn="ctr" defTabSz="914354" hangingPunct="1">
                <a:defRPr/>
              </a:pPr>
              <a:endParaRPr lang="en-US" sz="1333" b="1" dirty="0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en-US" sz="1333" b="1" dirty="0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en-US" sz="1333" b="1" dirty="0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en-US" sz="1333" b="1" dirty="0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pt-BR" sz="1333" b="1" dirty="0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</p:txBody>
        </p:sp>
        <p:sp>
          <p:nvSpPr>
            <p:cNvPr id="41" name="Rectangle 306">
              <a:extLst>
                <a:ext uri="{FF2B5EF4-FFF2-40B4-BE49-F238E27FC236}">
                  <a16:creationId xmlns:a16="http://schemas.microsoft.com/office/drawing/2014/main" id="{6189454C-F241-4619-A4AE-4739DF2DA4FB}"/>
                </a:ext>
              </a:extLst>
            </p:cNvPr>
            <p:cNvSpPr/>
            <p:nvPr/>
          </p:nvSpPr>
          <p:spPr>
            <a:xfrm>
              <a:off x="6768314" y="936170"/>
              <a:ext cx="933498" cy="20377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 defTabSz="914354" hangingPunct="1">
                <a:defRPr/>
              </a:pPr>
              <a:r>
                <a:rPr lang="en-US" sz="1333" b="1" kern="1200" dirty="0">
                  <a:solidFill>
                    <a:prstClr val="white"/>
                  </a:solidFill>
                  <a:latin typeface="Simplon BP Regular" pitchFamily="2" charset="0"/>
                  <a:cs typeface="Helvetica"/>
                </a:rPr>
                <a:t>ADMINISTRATIVO</a:t>
              </a:r>
            </a:p>
          </p:txBody>
        </p:sp>
      </p:grpSp>
      <p:grpSp>
        <p:nvGrpSpPr>
          <p:cNvPr id="13" name="Agrupar 12"/>
          <p:cNvGrpSpPr/>
          <p:nvPr/>
        </p:nvGrpSpPr>
        <p:grpSpPr>
          <a:xfrm>
            <a:off x="3746251" y="836713"/>
            <a:ext cx="1919999" cy="5600140"/>
            <a:chOff x="4729618" y="936168"/>
            <a:chExt cx="953621" cy="3836529"/>
          </a:xfrm>
          <a:solidFill>
            <a:srgbClr val="00D318"/>
          </a:solidFill>
        </p:grpSpPr>
        <p:sp>
          <p:nvSpPr>
            <p:cNvPr id="14" name="Retângulo Arredondado 45">
              <a:extLst>
                <a:ext uri="{FF2B5EF4-FFF2-40B4-BE49-F238E27FC236}">
                  <a16:creationId xmlns:a16="http://schemas.microsoft.com/office/drawing/2014/main" id="{41B21E91-011D-4626-BF6C-5618F77ECF3E}"/>
                </a:ext>
              </a:extLst>
            </p:cNvPr>
            <p:cNvSpPr/>
            <p:nvPr/>
          </p:nvSpPr>
          <p:spPr>
            <a:xfrm>
              <a:off x="4729618" y="936170"/>
              <a:ext cx="953621" cy="383652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tIns="108000" rIns="36000" rtlCol="0" anchor="t"/>
            <a:lstStyle/>
            <a:p>
              <a:pPr algn="ctr" defTabSz="914354" hangingPunct="1">
                <a:defRPr/>
              </a:pPr>
              <a:endParaRPr lang="en-US" sz="1333" b="1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en-US" sz="1333" b="1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en-US" sz="1333" b="1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en-US" sz="1333" b="1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pt-BR" sz="1333" b="1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</p:txBody>
        </p:sp>
        <p:sp>
          <p:nvSpPr>
            <p:cNvPr id="15" name="Rectangle 297">
              <a:extLst>
                <a:ext uri="{FF2B5EF4-FFF2-40B4-BE49-F238E27FC236}">
                  <a16:creationId xmlns:a16="http://schemas.microsoft.com/office/drawing/2014/main" id="{D1660CF8-8AA2-48C0-8FD3-73463F98A821}"/>
                </a:ext>
              </a:extLst>
            </p:cNvPr>
            <p:cNvSpPr/>
            <p:nvPr/>
          </p:nvSpPr>
          <p:spPr>
            <a:xfrm>
              <a:off x="4738232" y="936168"/>
              <a:ext cx="912754" cy="20377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 defTabSz="914354" hangingPunct="1">
                <a:defRPr/>
              </a:pPr>
              <a:r>
                <a:rPr lang="pt-BR" sz="1333" b="1" kern="1200" dirty="0">
                  <a:solidFill>
                    <a:prstClr val="white"/>
                  </a:solidFill>
                  <a:latin typeface="Simplon BP Regular" pitchFamily="2" charset="0"/>
                  <a:cs typeface="Helvetica"/>
                </a:rPr>
                <a:t>FATURAMENTO</a:t>
              </a:r>
            </a:p>
          </p:txBody>
        </p:sp>
      </p:grpSp>
      <p:grpSp>
        <p:nvGrpSpPr>
          <p:cNvPr id="16" name="Agrupar 15"/>
          <p:cNvGrpSpPr/>
          <p:nvPr/>
        </p:nvGrpSpPr>
        <p:grpSpPr>
          <a:xfrm>
            <a:off x="5788703" y="836713"/>
            <a:ext cx="2016000" cy="5600140"/>
            <a:chOff x="5722575" y="936168"/>
            <a:chExt cx="953621" cy="3836529"/>
          </a:xfrm>
          <a:solidFill>
            <a:srgbClr val="00D318"/>
          </a:solidFill>
        </p:grpSpPr>
        <p:sp>
          <p:nvSpPr>
            <p:cNvPr id="17" name="Retângulo Arredondado 45">
              <a:extLst>
                <a:ext uri="{FF2B5EF4-FFF2-40B4-BE49-F238E27FC236}">
                  <a16:creationId xmlns:a16="http://schemas.microsoft.com/office/drawing/2014/main" id="{41B21E91-011D-4626-BF6C-5618F77ECF3E}"/>
                </a:ext>
              </a:extLst>
            </p:cNvPr>
            <p:cNvSpPr/>
            <p:nvPr/>
          </p:nvSpPr>
          <p:spPr>
            <a:xfrm>
              <a:off x="5722575" y="936170"/>
              <a:ext cx="953621" cy="383652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tIns="108000" rIns="36000" rtlCol="0" anchor="t"/>
            <a:lstStyle/>
            <a:p>
              <a:pPr algn="ctr" defTabSz="914354" hangingPunct="1">
                <a:defRPr/>
              </a:pPr>
              <a:endParaRPr lang="en-US" sz="1333" b="1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en-US" sz="1333" b="1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en-US" sz="1333" b="1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en-US" sz="1333" b="1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pt-BR" sz="1333" b="1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</p:txBody>
        </p:sp>
        <p:sp>
          <p:nvSpPr>
            <p:cNvPr id="18" name="Rectangle 303">
              <a:extLst>
                <a:ext uri="{FF2B5EF4-FFF2-40B4-BE49-F238E27FC236}">
                  <a16:creationId xmlns:a16="http://schemas.microsoft.com/office/drawing/2014/main" id="{7D269EC6-7F62-4AB1-974E-4F2188148B45}"/>
                </a:ext>
              </a:extLst>
            </p:cNvPr>
            <p:cNvSpPr/>
            <p:nvPr/>
          </p:nvSpPr>
          <p:spPr>
            <a:xfrm>
              <a:off x="5740062" y="936168"/>
              <a:ext cx="900073" cy="62534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 defTabSz="914354" hangingPunct="1">
                <a:defRPr/>
              </a:pPr>
              <a:r>
                <a:rPr lang="en-US" sz="1333" b="1" kern="1200" dirty="0">
                  <a:solidFill>
                    <a:prstClr val="white"/>
                  </a:solidFill>
                  <a:latin typeface="Simplon BP Regular" pitchFamily="2" charset="0"/>
                  <a:cs typeface="Helvetica"/>
                </a:rPr>
                <a:t>ARRECADAÇÃO,</a:t>
              </a:r>
            </a:p>
            <a:p>
              <a:pPr algn="ctr" defTabSz="914354" hangingPunct="1">
                <a:defRPr/>
              </a:pPr>
              <a:r>
                <a:rPr lang="en-US" sz="1333" b="1" kern="1200" dirty="0">
                  <a:solidFill>
                    <a:prstClr val="white"/>
                  </a:solidFill>
                  <a:latin typeface="Simplon BP Regular" pitchFamily="2" charset="0"/>
                  <a:cs typeface="Helvetica"/>
                </a:rPr>
                <a:t>COBRANÇA E</a:t>
              </a:r>
            </a:p>
            <a:p>
              <a:pPr algn="ctr" defTabSz="914354" hangingPunct="1">
                <a:defRPr/>
              </a:pPr>
              <a:r>
                <a:rPr lang="en-US" sz="1333" b="1" kern="1200" dirty="0">
                  <a:solidFill>
                    <a:prstClr val="white"/>
                  </a:solidFill>
                  <a:latin typeface="Simplon BP Regular" pitchFamily="2" charset="0"/>
                  <a:cs typeface="Helvetica"/>
                </a:rPr>
                <a:t>REPASSE</a:t>
              </a:r>
            </a:p>
            <a:p>
              <a:pPr algn="ctr" defTabSz="914354" hangingPunct="1">
                <a:defRPr/>
              </a:pPr>
              <a:endParaRPr lang="en-US" sz="1333" b="1" kern="1200" dirty="0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</p:txBody>
        </p:sp>
      </p:grpSp>
      <p:grpSp>
        <p:nvGrpSpPr>
          <p:cNvPr id="19" name="Agrupar 18"/>
          <p:cNvGrpSpPr/>
          <p:nvPr/>
        </p:nvGrpSpPr>
        <p:grpSpPr>
          <a:xfrm>
            <a:off x="7892073" y="836713"/>
            <a:ext cx="2016000" cy="5600140"/>
            <a:chOff x="6748190" y="936168"/>
            <a:chExt cx="953621" cy="3836528"/>
          </a:xfrm>
          <a:solidFill>
            <a:srgbClr val="00D318"/>
          </a:solidFill>
        </p:grpSpPr>
        <p:sp>
          <p:nvSpPr>
            <p:cNvPr id="20" name="Retângulo Arredondado 45">
              <a:extLst>
                <a:ext uri="{FF2B5EF4-FFF2-40B4-BE49-F238E27FC236}">
                  <a16:creationId xmlns:a16="http://schemas.microsoft.com/office/drawing/2014/main" id="{9C38F5FA-DB82-41AC-B01D-8565C090C931}"/>
                </a:ext>
              </a:extLst>
            </p:cNvPr>
            <p:cNvSpPr/>
            <p:nvPr/>
          </p:nvSpPr>
          <p:spPr>
            <a:xfrm>
              <a:off x="6748190" y="936170"/>
              <a:ext cx="953621" cy="3836526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tIns="108000" rIns="36000" rtlCol="0" anchor="t"/>
            <a:lstStyle/>
            <a:p>
              <a:pPr algn="ctr" defTabSz="914354" hangingPunct="1">
                <a:defRPr/>
              </a:pPr>
              <a:endParaRPr lang="en-US" sz="1333" b="1" dirty="0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en-US" sz="1333" b="1" dirty="0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en-US" sz="1333" b="1" dirty="0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en-US" sz="1333" b="1" dirty="0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  <a:p>
              <a:pPr algn="ctr" defTabSz="914354" hangingPunct="1">
                <a:defRPr/>
              </a:pPr>
              <a:endParaRPr lang="pt-BR" sz="1333" b="1" dirty="0">
                <a:solidFill>
                  <a:prstClr val="white"/>
                </a:solidFill>
                <a:latin typeface="Simplon BP Regular" pitchFamily="2" charset="0"/>
                <a:cs typeface="Helvetica"/>
              </a:endParaRPr>
            </a:p>
          </p:txBody>
        </p:sp>
        <p:sp>
          <p:nvSpPr>
            <p:cNvPr id="21" name="Rectangle 306">
              <a:extLst>
                <a:ext uri="{FF2B5EF4-FFF2-40B4-BE49-F238E27FC236}">
                  <a16:creationId xmlns:a16="http://schemas.microsoft.com/office/drawing/2014/main" id="{6189454C-F241-4619-A4AE-4739DF2DA4FB}"/>
                </a:ext>
              </a:extLst>
            </p:cNvPr>
            <p:cNvSpPr/>
            <p:nvPr/>
          </p:nvSpPr>
          <p:spPr>
            <a:xfrm>
              <a:off x="6764670" y="936168"/>
              <a:ext cx="937141" cy="34430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 defTabSz="914354" hangingPunct="1">
                <a:defRPr/>
              </a:pPr>
              <a:r>
                <a:rPr lang="en-US" sz="1333" b="1" kern="1200" dirty="0">
                  <a:solidFill>
                    <a:prstClr val="white"/>
                  </a:solidFill>
                  <a:latin typeface="Simplon BP Regular" pitchFamily="2" charset="0"/>
                  <a:cs typeface="Helvetica"/>
                </a:rPr>
                <a:t>CONTÁBIL E</a:t>
              </a:r>
            </a:p>
            <a:p>
              <a:pPr algn="ctr" defTabSz="914354" hangingPunct="1">
                <a:defRPr/>
              </a:pPr>
              <a:r>
                <a:rPr lang="en-US" sz="1333" b="1" kern="1200" dirty="0">
                  <a:solidFill>
                    <a:prstClr val="white"/>
                  </a:solidFill>
                  <a:latin typeface="Simplon BP Regular" pitchFamily="2" charset="0"/>
                  <a:cs typeface="Helvetica"/>
                </a:rPr>
                <a:t>FISCAL</a:t>
              </a:r>
            </a:p>
          </p:txBody>
        </p:sp>
      </p:grpSp>
      <p:sp>
        <p:nvSpPr>
          <p:cNvPr id="25" name="Retângulo Arredondado 45">
            <a:extLst>
              <a:ext uri="{FF2B5EF4-FFF2-40B4-BE49-F238E27FC236}">
                <a16:creationId xmlns:a16="http://schemas.microsoft.com/office/drawing/2014/main" id="{F4F99505-B4FD-4A62-9EB3-D6A4A8A51817}"/>
              </a:ext>
            </a:extLst>
          </p:cNvPr>
          <p:cNvSpPr/>
          <p:nvPr/>
        </p:nvSpPr>
        <p:spPr>
          <a:xfrm>
            <a:off x="1578463" y="1542899"/>
            <a:ext cx="10559583" cy="4766421"/>
          </a:xfrm>
          <a:prstGeom prst="rect">
            <a:avLst/>
          </a:prstGeom>
          <a:solidFill>
            <a:sysClr val="window" lastClr="FFFFFF"/>
          </a:solidFill>
          <a:ln w="285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vert="horz" tIns="108000" rtlCol="0" anchor="ctr"/>
          <a:lstStyle/>
          <a:p>
            <a:pPr algn="ctr" defTabSz="914354" hangingPunct="1">
              <a:defRPr/>
            </a:pPr>
            <a:endParaRPr lang="pt-BR" sz="1467" b="1" noProof="1">
              <a:solidFill>
                <a:prstClr val="black"/>
              </a:solidFill>
              <a:latin typeface="Simplon BP Regular" pitchFamily="2" charset="0"/>
              <a:cs typeface="Helvetica"/>
            </a:endParaRPr>
          </a:p>
        </p:txBody>
      </p:sp>
      <p:grpSp>
        <p:nvGrpSpPr>
          <p:cNvPr id="26" name="Agrupar 25"/>
          <p:cNvGrpSpPr/>
          <p:nvPr/>
        </p:nvGrpSpPr>
        <p:grpSpPr>
          <a:xfrm>
            <a:off x="56192" y="1535006"/>
            <a:ext cx="1439253" cy="4773865"/>
            <a:chOff x="274194" y="1468941"/>
            <a:chExt cx="957725" cy="3217047"/>
          </a:xfrm>
        </p:grpSpPr>
        <p:sp>
          <p:nvSpPr>
            <p:cNvPr id="27" name="Retângulo Arredondado 45">
              <a:extLst>
                <a:ext uri="{FF2B5EF4-FFF2-40B4-BE49-F238E27FC236}">
                  <a16:creationId xmlns:a16="http://schemas.microsoft.com/office/drawing/2014/main" id="{6490EB57-A8E4-4C1E-BD74-5287F36C2510}"/>
                </a:ext>
              </a:extLst>
            </p:cNvPr>
            <p:cNvSpPr/>
            <p:nvPr/>
          </p:nvSpPr>
          <p:spPr>
            <a:xfrm>
              <a:off x="301352" y="1474862"/>
              <a:ext cx="909774" cy="3211126"/>
            </a:xfrm>
            <a:prstGeom prst="rect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miter lim="800000"/>
            </a:ln>
            <a:effectLst/>
          </p:spPr>
          <p:txBody>
            <a:bodyPr vert="horz" tIns="108000" rtlCol="0" anchor="ctr"/>
            <a:lstStyle/>
            <a:p>
              <a:pPr algn="ctr" defTabSz="914354" hangingPunct="1">
                <a:defRPr/>
              </a:pPr>
              <a:endParaRPr lang="pt-BR" sz="1467" b="1">
                <a:solidFill>
                  <a:prstClr val="black"/>
                </a:solidFill>
                <a:latin typeface="Simplon BP Regular"/>
                <a:cs typeface="Helvetica"/>
              </a:endParaRPr>
            </a:p>
          </p:txBody>
        </p:sp>
        <p:sp>
          <p:nvSpPr>
            <p:cNvPr id="28" name="Rectangle 1">
              <a:extLst>
                <a:ext uri="{FF2B5EF4-FFF2-40B4-BE49-F238E27FC236}">
                  <a16:creationId xmlns:a16="http://schemas.microsoft.com/office/drawing/2014/main" id="{7B26E7EB-4BD0-41EC-A61D-A9241B9A853A}"/>
                </a:ext>
              </a:extLst>
            </p:cNvPr>
            <p:cNvSpPr/>
            <p:nvPr/>
          </p:nvSpPr>
          <p:spPr>
            <a:xfrm>
              <a:off x="274194" y="1468941"/>
              <a:ext cx="957725" cy="3386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354" hangingPunct="1">
                <a:defRPr/>
              </a:pPr>
              <a:r>
                <a:rPr lang="en-US" sz="1333" b="1" kern="12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Simplon BP Regular" pitchFamily="2" charset="0"/>
                  <a:cs typeface="Helvetica"/>
                </a:rPr>
                <a:t> SISTEMAS IMPACTADOS </a:t>
              </a:r>
            </a:p>
          </p:txBody>
        </p:sp>
      </p:grpSp>
      <p:sp>
        <p:nvSpPr>
          <p:cNvPr id="29" name="Rectangle 1">
            <a:extLst>
              <a:ext uri="{FF2B5EF4-FFF2-40B4-BE49-F238E27FC236}">
                <a16:creationId xmlns:a16="http://schemas.microsoft.com/office/drawing/2014/main" id="{7B26E7EB-4BD0-41EC-A61D-A9241B9A853A}"/>
              </a:ext>
            </a:extLst>
          </p:cNvPr>
          <p:cNvSpPr/>
          <p:nvPr/>
        </p:nvSpPr>
        <p:spPr>
          <a:xfrm>
            <a:off x="14257" y="2084851"/>
            <a:ext cx="1490484" cy="2486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354" hangingPunct="1">
              <a:spcAft>
                <a:spcPts val="267"/>
              </a:spcAft>
              <a:defRPr/>
            </a:pPr>
            <a:r>
              <a:rPr lang="en-US" sz="1067" b="1" kern="1200" dirty="0" smtClean="0">
                <a:solidFill>
                  <a:srgbClr val="009E0B"/>
                </a:solidFill>
                <a:latin typeface="Simplon BP Regular" pitchFamily="2" charset="0"/>
                <a:cs typeface="Helvetica"/>
              </a:rPr>
              <a:t>SAP</a:t>
            </a:r>
            <a:r>
              <a:rPr lang="en-US" sz="1067" b="1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 </a:t>
            </a:r>
          </a:p>
          <a:p>
            <a:pPr algn="ctr" defTabSz="914354" hangingPunct="1">
              <a:spcAft>
                <a:spcPts val="267"/>
              </a:spcAft>
              <a:defRPr/>
            </a:pPr>
            <a:r>
              <a:rPr lang="en-US" sz="1067" b="1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SOA</a:t>
            </a:r>
          </a:p>
          <a:p>
            <a:pPr algn="ctr" defTabSz="914354" hangingPunct="1">
              <a:spcAft>
                <a:spcPts val="267"/>
              </a:spcAft>
              <a:defRPr/>
            </a:pPr>
            <a:r>
              <a:rPr lang="en-US" sz="1067" b="1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NEOGRID</a:t>
            </a:r>
            <a:endParaRPr lang="en-US" sz="1067" b="1" kern="1200" dirty="0">
              <a:solidFill>
                <a:srgbClr val="FF0000"/>
              </a:solidFill>
              <a:latin typeface="Simplon BP Regular" pitchFamily="2" charset="0"/>
              <a:cs typeface="Helvetica"/>
            </a:endParaRPr>
          </a:p>
          <a:p>
            <a:pPr algn="ctr" defTabSz="914354" hangingPunct="1">
              <a:spcAft>
                <a:spcPts val="267"/>
              </a:spcAft>
              <a:defRPr/>
            </a:pPr>
            <a:r>
              <a:rPr lang="en-US" sz="1067" b="1" kern="1200" dirty="0" smtClean="0">
                <a:solidFill>
                  <a:srgbClr val="009E0B"/>
                </a:solidFill>
                <a:latin typeface="Simplon BP Regular" pitchFamily="2" charset="0"/>
                <a:cs typeface="Helvetica"/>
              </a:rPr>
              <a:t>GED 360 – </a:t>
            </a:r>
            <a:r>
              <a:rPr lang="en-US" sz="1067" b="1" kern="1200" dirty="0" err="1" smtClean="0">
                <a:solidFill>
                  <a:srgbClr val="009E0B"/>
                </a:solidFill>
                <a:latin typeface="Simplon BP Regular" pitchFamily="2" charset="0"/>
                <a:cs typeface="Helvetica"/>
              </a:rPr>
              <a:t>BR_Notas</a:t>
            </a:r>
            <a:endParaRPr lang="en-US" sz="1067" b="1" kern="1200" dirty="0">
              <a:solidFill>
                <a:srgbClr val="009E0B"/>
              </a:solidFill>
              <a:latin typeface="Simplon BP Regular" pitchFamily="2" charset="0"/>
              <a:cs typeface="Helvetica"/>
            </a:endParaRPr>
          </a:p>
          <a:p>
            <a:pPr algn="ctr" defTabSz="914354" hangingPunct="1">
              <a:spcAft>
                <a:spcPts val="267"/>
              </a:spcAft>
              <a:defRPr/>
            </a:pPr>
            <a:r>
              <a:rPr lang="en-US" sz="1067" b="1" kern="1200" dirty="0" smtClean="0">
                <a:solidFill>
                  <a:srgbClr val="009E0B"/>
                </a:solidFill>
                <a:latin typeface="Simplon BP Regular" pitchFamily="2" charset="0"/>
                <a:cs typeface="Helvetica"/>
              </a:rPr>
              <a:t>COMPLY</a:t>
            </a:r>
            <a:endParaRPr lang="en-US" sz="1067" b="1" kern="1200" dirty="0">
              <a:solidFill>
                <a:srgbClr val="009E0B"/>
              </a:solidFill>
              <a:latin typeface="Simplon BP Regular" pitchFamily="2" charset="0"/>
              <a:cs typeface="Helvetica"/>
            </a:endParaRPr>
          </a:p>
          <a:p>
            <a:pPr algn="ctr" defTabSz="914354" hangingPunct="1">
              <a:spcAft>
                <a:spcPts val="267"/>
              </a:spcAft>
              <a:defRPr/>
            </a:pPr>
            <a:r>
              <a:rPr lang="en-US" sz="1067" b="1" kern="1200" dirty="0">
                <a:solidFill>
                  <a:srgbClr val="009E0B"/>
                </a:solidFill>
                <a:latin typeface="Simplon BP Regular" pitchFamily="2" charset="0"/>
                <a:cs typeface="Helvetica"/>
              </a:rPr>
              <a:t>FPW</a:t>
            </a:r>
          </a:p>
          <a:p>
            <a:pPr algn="ctr" defTabSz="914354" hangingPunct="1">
              <a:spcAft>
                <a:spcPts val="267"/>
              </a:spcAft>
              <a:defRPr/>
            </a:pPr>
            <a:r>
              <a:rPr lang="en-US" sz="1067" b="1" kern="1200" dirty="0">
                <a:solidFill>
                  <a:srgbClr val="009E0B"/>
                </a:solidFill>
                <a:latin typeface="Simplon BP Regular" pitchFamily="2" charset="0"/>
                <a:cs typeface="Helvetica"/>
              </a:rPr>
              <a:t>SISJUR</a:t>
            </a:r>
          </a:p>
          <a:p>
            <a:pPr algn="ctr" defTabSz="914354" hangingPunct="1">
              <a:spcAft>
                <a:spcPts val="267"/>
              </a:spcAft>
              <a:defRPr/>
            </a:pPr>
            <a:r>
              <a:rPr lang="en-US" sz="1067" b="1" kern="1200" dirty="0">
                <a:solidFill>
                  <a:srgbClr val="009E0B"/>
                </a:solidFill>
                <a:latin typeface="Simplon BP Regular" pitchFamily="2" charset="0"/>
                <a:cs typeface="Helvetica"/>
              </a:rPr>
              <a:t>FCCS</a:t>
            </a:r>
          </a:p>
          <a:p>
            <a:pPr algn="ctr" defTabSz="914354" hangingPunct="1">
              <a:spcAft>
                <a:spcPts val="267"/>
              </a:spcAft>
              <a:defRPr/>
            </a:pPr>
            <a:r>
              <a:rPr lang="en-US" sz="1067" b="1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SPART</a:t>
            </a:r>
          </a:p>
          <a:p>
            <a:pPr algn="ctr" defTabSz="914354" hangingPunct="1">
              <a:spcAft>
                <a:spcPts val="267"/>
              </a:spcAft>
              <a:defRPr/>
            </a:pPr>
            <a:r>
              <a:rPr lang="en-US" sz="1067" b="1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ODS</a:t>
            </a:r>
          </a:p>
          <a:p>
            <a:pPr algn="ctr" defTabSz="914354" hangingPunct="1">
              <a:spcAft>
                <a:spcPts val="267"/>
              </a:spcAft>
              <a:defRPr/>
            </a:pPr>
            <a:r>
              <a:rPr lang="en-US" sz="1067" b="1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BIG DATA</a:t>
            </a:r>
          </a:p>
          <a:p>
            <a:pPr algn="ctr" defTabSz="914354" hangingPunct="1">
              <a:spcAft>
                <a:spcPts val="267"/>
              </a:spcAft>
              <a:defRPr/>
            </a:pPr>
            <a:r>
              <a:rPr lang="en-US" sz="1067" b="1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DW</a:t>
            </a:r>
          </a:p>
        </p:txBody>
      </p:sp>
      <p:sp>
        <p:nvSpPr>
          <p:cNvPr id="33" name="Rectangle 1">
            <a:extLst>
              <a:ext uri="{FF2B5EF4-FFF2-40B4-BE49-F238E27FC236}">
                <a16:creationId xmlns:a16="http://schemas.microsoft.com/office/drawing/2014/main" id="{7B26E7EB-4BD0-41EC-A61D-A9241B9A853A}"/>
              </a:ext>
            </a:extLst>
          </p:cNvPr>
          <p:cNvSpPr/>
          <p:nvPr/>
        </p:nvSpPr>
        <p:spPr>
          <a:xfrm>
            <a:off x="3619167" y="1577616"/>
            <a:ext cx="2014135" cy="3457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Configurar </a:t>
            </a:r>
            <a:r>
              <a:rPr lang="pt-BR" sz="1200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a </a:t>
            </a:r>
            <a:r>
              <a:rPr lang="pt-BR" sz="1200" kern="1200" dirty="0" err="1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ClientCo</a:t>
            </a:r>
            <a:r>
              <a:rPr lang="pt-BR" sz="1200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 no </a:t>
            </a:r>
            <a:r>
              <a:rPr lang="pt-BR" sz="1200" kern="1200" dirty="0" err="1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billing</a:t>
            </a:r>
            <a:r>
              <a:rPr lang="pt-BR" sz="1200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 </a:t>
            </a: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para os planos existentes</a:t>
            </a: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Implementar Cofaturamento com emissão pela OI S.A na esteira da Fibra Legada e Nova Fibra.</a:t>
            </a: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Possibilitar a segregação de faturas de clientes FIBRA no fluxo do E-Contas.</a:t>
            </a: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Tratar fluxo de </a:t>
            </a:r>
            <a:r>
              <a:rPr lang="pt-BR" sz="1200" kern="1200" dirty="0" err="1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Cobilling</a:t>
            </a: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 devido ao uso do </a:t>
            </a:r>
            <a:r>
              <a:rPr lang="pt-BR" sz="1200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CSP </a:t>
            </a: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31 e 14 no contexto VOIP.</a:t>
            </a: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BR" sz="1200" kern="1200" dirty="0">
              <a:solidFill>
                <a:srgbClr val="FF0000"/>
              </a:solidFill>
              <a:latin typeface="Simplon BP Regular" pitchFamily="2" charset="0"/>
              <a:cs typeface="Helvetica"/>
            </a:endParaRP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7B26E7EB-4BD0-41EC-A61D-A9241B9A853A}"/>
              </a:ext>
            </a:extLst>
          </p:cNvPr>
          <p:cNvSpPr/>
          <p:nvPr/>
        </p:nvSpPr>
        <p:spPr>
          <a:xfrm>
            <a:off x="5615947" y="1577616"/>
            <a:ext cx="2154339" cy="4726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Contemplar </a:t>
            </a:r>
            <a:r>
              <a:rPr lang="pt-BR" sz="1200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a nova empresa </a:t>
            </a: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nos relatórios e processos de Repasse e </a:t>
            </a:r>
            <a:r>
              <a:rPr lang="pt-BR" sz="1200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Arrecadação</a:t>
            </a: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Ajustar </a:t>
            </a: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controles do CAR, PDD e Repasse com visão ClientCo</a:t>
            </a:r>
          </a:p>
          <a:p>
            <a:pPr marL="191990" indent="-191990" defTabSz="1219108" hangingPunct="1">
              <a:spcAft>
                <a:spcPts val="1067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Manter as dívidas e faturas em aberto anteriores a “DATA DO DROP” em nome da OI S/A.</a:t>
            </a:r>
          </a:p>
          <a:p>
            <a:pPr marL="143996" indent="-143996" defTabSz="914354" fontAlgn="ctr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Manter os convênios Bancários de Arrecadação atuais da OI S.A</a:t>
            </a:r>
          </a:p>
          <a:p>
            <a:pPr marL="143996" indent="-143996" defTabSz="914354" fontAlgn="ctr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Manter as regras da régua de cobrança, parcelamentos e ofertas vigentes </a:t>
            </a:r>
            <a:r>
              <a:rPr lang="pt-BR" sz="1200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da </a:t>
            </a: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OI S.A</a:t>
            </a:r>
          </a:p>
          <a:p>
            <a:pPr marL="143996" indent="-143996" defTabSz="914354" fontAlgn="ctr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BR" sz="1200" kern="1200" dirty="0">
              <a:solidFill>
                <a:srgbClr val="FF0000"/>
              </a:solidFill>
              <a:latin typeface="Simplon BP Regular" pitchFamily="2" charset="0"/>
              <a:cs typeface="Helvetica"/>
            </a:endParaRP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BR" sz="1200" kern="1200" dirty="0">
              <a:solidFill>
                <a:srgbClr val="FF0000"/>
              </a:solidFill>
              <a:latin typeface="Simplon BP Regular" pitchFamily="2" charset="0"/>
              <a:cs typeface="Helvetica"/>
            </a:endParaRP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pt-BR" sz="1200" kern="1200" dirty="0">
              <a:solidFill>
                <a:srgbClr val="FF0000"/>
              </a:solidFill>
              <a:latin typeface="Simplon BP Regular" pitchFamily="2" charset="0"/>
              <a:cs typeface="Helvetica"/>
            </a:endParaRPr>
          </a:p>
        </p:txBody>
      </p:sp>
      <p:sp>
        <p:nvSpPr>
          <p:cNvPr id="35" name="Rectangle 1">
            <a:extLst>
              <a:ext uri="{FF2B5EF4-FFF2-40B4-BE49-F238E27FC236}">
                <a16:creationId xmlns:a16="http://schemas.microsoft.com/office/drawing/2014/main" id="{7B26E7EB-4BD0-41EC-A61D-A9241B9A853A}"/>
              </a:ext>
            </a:extLst>
          </p:cNvPr>
          <p:cNvSpPr/>
          <p:nvPr/>
        </p:nvSpPr>
        <p:spPr>
          <a:xfrm>
            <a:off x="7778982" y="1573047"/>
            <a:ext cx="22436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Criar </a:t>
            </a:r>
            <a:r>
              <a:rPr lang="pt-BR" sz="1200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a empresa </a:t>
            </a: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ClientCo para receber movimentos da Fibra com as 27 filiais.</a:t>
            </a: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Configurar novas contas contábeis, centros de custo e centros de lucro, depósitos, etc</a:t>
            </a: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Expandir plano de contas, compras, orçamento e controladoria</a:t>
            </a: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Tratar movimentações e Drop de ativos</a:t>
            </a: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Tratar processos de Pedidos, Requisições, Orçamentos, Pagamentos</a:t>
            </a: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Apurar as obrigações Tributárias e Fiscais da ClientCo</a:t>
            </a: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Internalizar as Notas Fiscais dos Fornecedores.</a:t>
            </a:r>
          </a:p>
        </p:txBody>
      </p:sp>
      <p:sp>
        <p:nvSpPr>
          <p:cNvPr id="42" name="Rectangle 1">
            <a:extLst>
              <a:ext uri="{FF2B5EF4-FFF2-40B4-BE49-F238E27FC236}">
                <a16:creationId xmlns:a16="http://schemas.microsoft.com/office/drawing/2014/main" id="{7B26E7EB-4BD0-41EC-A61D-A9241B9A853A}"/>
              </a:ext>
            </a:extLst>
          </p:cNvPr>
          <p:cNvSpPr/>
          <p:nvPr/>
        </p:nvSpPr>
        <p:spPr>
          <a:xfrm>
            <a:off x="9960171" y="1552361"/>
            <a:ext cx="2158283" cy="2718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chemeClr val="accent6"/>
                </a:solidFill>
                <a:latin typeface="Simplon BP Regular" pitchFamily="2" charset="0"/>
                <a:cs typeface="Helvetica"/>
              </a:rPr>
              <a:t>Criar </a:t>
            </a:r>
            <a:r>
              <a:rPr lang="pt-BR" sz="1200" kern="1200" dirty="0" smtClean="0">
                <a:solidFill>
                  <a:schemeClr val="accent6"/>
                </a:solidFill>
                <a:latin typeface="Simplon BP Regular" pitchFamily="2" charset="0"/>
                <a:cs typeface="Helvetica"/>
              </a:rPr>
              <a:t>a empresa </a:t>
            </a:r>
            <a:r>
              <a:rPr lang="pt-BR" sz="1200" kern="1200" dirty="0" err="1" smtClean="0">
                <a:solidFill>
                  <a:schemeClr val="accent6"/>
                </a:solidFill>
                <a:latin typeface="Simplon BP Regular" pitchFamily="2" charset="0"/>
                <a:cs typeface="Helvetica"/>
              </a:rPr>
              <a:t>Tahto</a:t>
            </a:r>
            <a:r>
              <a:rPr lang="pt-BR" sz="1200" kern="1200" dirty="0" smtClean="0">
                <a:solidFill>
                  <a:schemeClr val="accent6"/>
                </a:solidFill>
                <a:latin typeface="Simplon BP Regular" pitchFamily="2" charset="0"/>
                <a:cs typeface="Helvetica"/>
              </a:rPr>
              <a:t> </a:t>
            </a:r>
            <a:r>
              <a:rPr lang="pt-BR" sz="1200" kern="1200" dirty="0">
                <a:solidFill>
                  <a:schemeClr val="accent6"/>
                </a:solidFill>
                <a:latin typeface="Simplon BP Regular" pitchFamily="2" charset="0"/>
                <a:cs typeface="Helvetica"/>
              </a:rPr>
              <a:t>nos sistemas que tratam RH, </a:t>
            </a: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chemeClr val="accent6"/>
                </a:solidFill>
                <a:latin typeface="Simplon BP Regular" pitchFamily="2" charset="0"/>
                <a:cs typeface="Helvetica"/>
              </a:rPr>
              <a:t>Prever processo para movimentação de colaboradores </a:t>
            </a:r>
            <a:r>
              <a:rPr lang="pt-BR" sz="1200" kern="1200" dirty="0" smtClean="0">
                <a:solidFill>
                  <a:schemeClr val="accent6"/>
                </a:solidFill>
                <a:latin typeface="Simplon BP Regular" pitchFamily="2" charset="0"/>
                <a:cs typeface="Helvetica"/>
              </a:rPr>
              <a:t>da </a:t>
            </a:r>
            <a:r>
              <a:rPr lang="pt-BR" sz="1200" kern="1200" dirty="0" err="1" smtClean="0">
                <a:solidFill>
                  <a:schemeClr val="accent6"/>
                </a:solidFill>
                <a:latin typeface="Simplon BP Regular" pitchFamily="2" charset="0"/>
                <a:cs typeface="Helvetica"/>
              </a:rPr>
              <a:t>BtCC</a:t>
            </a:r>
            <a:r>
              <a:rPr lang="pt-BR" sz="1200" kern="1200" dirty="0" smtClean="0">
                <a:solidFill>
                  <a:schemeClr val="accent6"/>
                </a:solidFill>
                <a:latin typeface="Simplon BP Regular" pitchFamily="2" charset="0"/>
                <a:cs typeface="Helvetica"/>
              </a:rPr>
              <a:t> para a empresa </a:t>
            </a:r>
            <a:r>
              <a:rPr lang="pt-BR" sz="1200" kern="1200" dirty="0" err="1" smtClean="0">
                <a:solidFill>
                  <a:schemeClr val="accent6"/>
                </a:solidFill>
                <a:latin typeface="Simplon BP Regular" pitchFamily="2" charset="0"/>
                <a:cs typeface="Helvetica"/>
              </a:rPr>
              <a:t>Tahto</a:t>
            </a:r>
            <a:r>
              <a:rPr lang="pt-BR" sz="1200" kern="1200" dirty="0" smtClean="0">
                <a:solidFill>
                  <a:schemeClr val="accent6"/>
                </a:solidFill>
                <a:latin typeface="Simplon BP Regular" pitchFamily="2" charset="0"/>
                <a:cs typeface="Helvetica"/>
              </a:rPr>
              <a:t>.</a:t>
            </a:r>
            <a:endParaRPr lang="pt-BR" sz="1200" kern="1200" dirty="0">
              <a:solidFill>
                <a:schemeClr val="accent6"/>
              </a:solidFill>
              <a:latin typeface="Simplon BP Regular" pitchFamily="2" charset="0"/>
              <a:cs typeface="Helvetica"/>
            </a:endParaRP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chemeClr val="accent6"/>
                </a:solidFill>
                <a:latin typeface="Simplon BP Regular" pitchFamily="2" charset="0"/>
                <a:cs typeface="Helvetica"/>
              </a:rPr>
              <a:t>Tratar a segregação dos processos Jurídicos para </a:t>
            </a:r>
            <a:r>
              <a:rPr lang="pt-BR" sz="1200" kern="1200" dirty="0" smtClean="0">
                <a:solidFill>
                  <a:schemeClr val="accent6"/>
                </a:solidFill>
                <a:latin typeface="Simplon BP Regular" pitchFamily="2" charset="0"/>
                <a:cs typeface="Helvetica"/>
              </a:rPr>
              <a:t>a empresa </a:t>
            </a:r>
            <a:r>
              <a:rPr lang="pt-BR" sz="1200" kern="1200" dirty="0" err="1" smtClean="0">
                <a:solidFill>
                  <a:schemeClr val="accent6"/>
                </a:solidFill>
                <a:latin typeface="Simplon BP Regular" pitchFamily="2" charset="0"/>
                <a:cs typeface="Helvetica"/>
              </a:rPr>
              <a:t>Tahto</a:t>
            </a:r>
            <a:r>
              <a:rPr lang="pt-BR" sz="1200" kern="1200" dirty="0" smtClean="0">
                <a:solidFill>
                  <a:schemeClr val="accent6"/>
                </a:solidFill>
                <a:latin typeface="Simplon BP Regular" pitchFamily="2" charset="0"/>
                <a:cs typeface="Helvetica"/>
              </a:rPr>
              <a:t>. </a:t>
            </a: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UPI </a:t>
            </a:r>
            <a:r>
              <a:rPr lang="pt-BR" sz="1200" kern="1200" dirty="0" err="1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Tahto</a:t>
            </a:r>
            <a:r>
              <a:rPr lang="pt-BR" sz="1200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 está com RFP pra novo sistema ERP Jurídico.</a:t>
            </a:r>
            <a:endParaRPr lang="pt-BR" sz="1200" kern="1200" dirty="0">
              <a:solidFill>
                <a:srgbClr val="FF0000"/>
              </a:solidFill>
              <a:latin typeface="Simplon BP Regular" pitchFamily="2" charset="0"/>
              <a:cs typeface="Helvetica"/>
            </a:endParaRPr>
          </a:p>
          <a:p>
            <a:pPr defTabSz="914354" hangingPunct="1">
              <a:spcAft>
                <a:spcPts val="800"/>
              </a:spcAft>
            </a:pPr>
            <a:endParaRPr lang="pt-BR" sz="1200" kern="1200" dirty="0">
              <a:solidFill>
                <a:schemeClr val="accent6"/>
              </a:solidFill>
              <a:latin typeface="Simplon BP Regular" pitchFamily="2" charset="0"/>
              <a:cs typeface="Helvetica"/>
            </a:endParaRPr>
          </a:p>
        </p:txBody>
      </p:sp>
      <p:sp>
        <p:nvSpPr>
          <p:cNvPr id="32" name="Rectangle 1">
            <a:extLst>
              <a:ext uri="{FF2B5EF4-FFF2-40B4-BE49-F238E27FC236}">
                <a16:creationId xmlns:a16="http://schemas.microsoft.com/office/drawing/2014/main" id="{7B26E7EB-4BD0-41EC-A61D-A9241B9A853A}"/>
              </a:ext>
            </a:extLst>
          </p:cNvPr>
          <p:cNvSpPr/>
          <p:nvPr/>
        </p:nvSpPr>
        <p:spPr>
          <a:xfrm>
            <a:off x="1551101" y="1604798"/>
            <a:ext cx="204862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Segregar </a:t>
            </a: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VOIP e SVA’s da FIBRA pra ClientCo.</a:t>
            </a: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Segregar os clientes da FIBRA nos </a:t>
            </a:r>
            <a:r>
              <a:rPr lang="pt-BR" sz="1200" kern="1200" dirty="0" err="1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CRM’s</a:t>
            </a: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.</a:t>
            </a: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Permitir </a:t>
            </a: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visualização </a:t>
            </a:r>
            <a:r>
              <a:rPr lang="pt-BR" sz="1200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do  </a:t>
            </a: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cliente </a:t>
            </a:r>
            <a:r>
              <a:rPr lang="pt-BR" sz="1200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segregado</a:t>
            </a: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 </a:t>
            </a:r>
            <a:r>
              <a:rPr lang="pt-BR" sz="1200" kern="1200" dirty="0" smtClean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na UPI</a:t>
            </a:r>
            <a:endParaRPr lang="pt-BR" sz="1200" kern="1200" dirty="0">
              <a:solidFill>
                <a:srgbClr val="FF0000"/>
              </a:solidFill>
              <a:latin typeface="Simplon BP Regular" pitchFamily="2" charset="0"/>
              <a:cs typeface="Helvetica"/>
            </a:endParaRPr>
          </a:p>
          <a:p>
            <a:pPr marL="143996" indent="-143996" defTabSz="914354" hangingPunct="1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pt-BR" sz="1200" kern="1200" dirty="0">
                <a:solidFill>
                  <a:srgbClr val="FF0000"/>
                </a:solidFill>
                <a:latin typeface="Simplon BP Regular" pitchFamily="2" charset="0"/>
                <a:cs typeface="Helvetica"/>
              </a:rPr>
              <a:t>Tratar segregação da ClientCo nas plataformas de antifraude.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7344139" y="245169"/>
            <a:ext cx="3419206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>
            <a:spAutoFit/>
          </a:bodyPr>
          <a:lstStyle/>
          <a:p>
            <a:pPr defTabSz="1219170"/>
            <a:r>
              <a:rPr lang="pt-BR" b="1" u="sng" kern="1200" dirty="0">
                <a:solidFill>
                  <a:srgbClr val="4D4D4D"/>
                </a:solidFill>
                <a:latin typeface="Simplon BP Regular"/>
              </a:rPr>
              <a:t>Legenda</a:t>
            </a:r>
            <a:r>
              <a:rPr lang="pt-BR" kern="1200" dirty="0">
                <a:solidFill>
                  <a:srgbClr val="4D4D4D"/>
                </a:solidFill>
                <a:latin typeface="Simplon BP Regular"/>
              </a:rPr>
              <a:t>:  </a:t>
            </a:r>
            <a:r>
              <a:rPr lang="pt-BR" kern="1200" dirty="0">
                <a:solidFill>
                  <a:srgbClr val="009E0B"/>
                </a:solidFill>
                <a:latin typeface="Simplon BP Regular"/>
              </a:rPr>
              <a:t>Fase 1 </a:t>
            </a:r>
            <a:r>
              <a:rPr lang="pt-BR" kern="1200" dirty="0">
                <a:solidFill>
                  <a:srgbClr val="4D4D4D"/>
                </a:solidFill>
                <a:latin typeface="Simplon BP Regular"/>
              </a:rPr>
              <a:t>  /    </a:t>
            </a:r>
            <a:r>
              <a:rPr lang="pt-BR" b="1" kern="1200" dirty="0">
                <a:solidFill>
                  <a:schemeClr val="accent6"/>
                </a:solidFill>
                <a:latin typeface="Simplon BP Regular"/>
              </a:rPr>
              <a:t>Fase 2    </a:t>
            </a:r>
            <a:r>
              <a:rPr lang="pt-BR" kern="1200" dirty="0">
                <a:solidFill>
                  <a:srgbClr val="4D4D4D"/>
                </a:solidFill>
                <a:latin typeface="Simplon BP Regular"/>
              </a:rPr>
              <a:t>/  </a:t>
            </a:r>
            <a:r>
              <a:rPr lang="pt-BR" kern="1200" dirty="0">
                <a:solidFill>
                  <a:schemeClr val="bg1">
                    <a:lumMod val="50000"/>
                  </a:schemeClr>
                </a:solidFill>
                <a:latin typeface="Simplon BP Regular"/>
              </a:rPr>
              <a:t>Sem Impacto</a:t>
            </a:r>
          </a:p>
        </p:txBody>
      </p:sp>
      <p:sp>
        <p:nvSpPr>
          <p:cNvPr id="37" name="Título 25"/>
          <p:cNvSpPr txBox="1">
            <a:spLocks/>
          </p:cNvSpPr>
          <p:nvPr/>
        </p:nvSpPr>
        <p:spPr>
          <a:xfrm>
            <a:off x="182804" y="74805"/>
            <a:ext cx="10756482" cy="558294"/>
          </a:xfrm>
          <a:prstGeom prst="rect">
            <a:avLst/>
          </a:prstGeom>
        </p:spPr>
        <p:txBody>
          <a:bodyPr/>
          <a:lstStyle>
            <a:lvl1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sz="2000" dirty="0" smtClean="0">
                <a:solidFill>
                  <a:srgbClr val="009E0B"/>
                </a:solidFill>
                <a:latin typeface="Simplon BP Bold" pitchFamily="2" charset="0"/>
              </a:rPr>
              <a:t>KAIDÔ: PRINCIPAIS PREMISSAS E  SISTEMAS IMPACTADOS</a:t>
            </a:r>
            <a:endParaRPr lang="pt-BR" sz="2000" dirty="0">
              <a:solidFill>
                <a:srgbClr val="009E0B"/>
              </a:solidFill>
              <a:latin typeface="Simplon BP Bold" pitchFamily="2" charset="0"/>
            </a:endParaRPr>
          </a:p>
        </p:txBody>
      </p:sp>
      <p:sp>
        <p:nvSpPr>
          <p:cNvPr id="36" name="Espaço Reservado para Número de Slide 2"/>
          <p:cNvSpPr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21</a:t>
            </a:fld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 flipH="1">
            <a:off x="-1487660" y="1953176"/>
            <a:ext cx="1529784" cy="27992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07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GP Lia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07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Gabriel Vidal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1070" dirty="0" smtClean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1070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 sz="1070" dirty="0" smtClean="0"/>
              <a:t>Francis</a:t>
            </a:r>
            <a:endParaRPr kumimoji="0" lang="pt-BR" sz="107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1070" dirty="0" smtClean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1070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07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PC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07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sym typeface="Simplon BP Regular"/>
              </a:rPr>
              <a:t>Guilherme Páscoa</a:t>
            </a:r>
          </a:p>
          <a:p>
            <a:r>
              <a:rPr lang="pt-BR" sz="1070" dirty="0"/>
              <a:t>Gabriel Vidal</a:t>
            </a: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7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1070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7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1070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7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sym typeface="Simplon BP Regular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pt-BR" sz="1070" dirty="0"/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07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659320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36" name="Slide do think-cell" r:id="rId5" imgW="421" imgH="423" progId="TCLayout.ActiveDocument.1">
                  <p:embed/>
                </p:oleObj>
              </mc:Choice>
              <mc:Fallback>
                <p:oleObj name="Slide do think-cell" r:id="rId5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aixaDeTexto 22"/>
          <p:cNvSpPr txBox="1"/>
          <p:nvPr/>
        </p:nvSpPr>
        <p:spPr>
          <a:xfrm>
            <a:off x="473751" y="5170893"/>
            <a:ext cx="10997520" cy="161351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fontAlgn="ctr"/>
            <a:r>
              <a:rPr lang="pt-BR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Pontos de Atenção:</a:t>
            </a:r>
          </a:p>
          <a:p>
            <a:pPr marL="228600" indent="-228600" fontAlgn="ctr">
              <a:buFont typeface="+mj-lt"/>
              <a:buAutoNum type="arabicPeriod"/>
            </a:pPr>
            <a:endParaRPr lang="pt-BR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228600" indent="-228600" fontAlgn="ctr">
              <a:buFont typeface="+mj-lt"/>
              <a:buAutoNum type="arabicPeriod"/>
            </a:pPr>
            <a:r>
              <a:rPr lang="pt-BR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Necessário </a:t>
            </a:r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</a:rPr>
              <a:t>alinhamento com áreas de negocio impactadas para a Mobilização do time do Projeto OI</a:t>
            </a:r>
          </a:p>
          <a:p>
            <a:pPr marL="228600" indent="-228600" fontAlgn="ctr">
              <a:buFont typeface="+mj-lt"/>
              <a:buAutoNum type="arabicPeriod"/>
            </a:pPr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</a:rPr>
              <a:t>Alinhamento interno para fechar as premissas adotadas para o projeto (escopo, prazo e OG)</a:t>
            </a:r>
          </a:p>
          <a:p>
            <a:pPr marL="228600" indent="-228600" fontAlgn="ctr">
              <a:buFont typeface="+mj-lt"/>
              <a:buAutoNum type="arabicPeriod"/>
            </a:pPr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</a:rPr>
              <a:t>Time de Sistemas apoiará na escrita de </a:t>
            </a:r>
            <a:r>
              <a:rPr lang="pt-BR" dirty="0" err="1">
                <a:solidFill>
                  <a:prstClr val="black">
                    <a:lumMod val="65000"/>
                    <a:lumOff val="35000"/>
                  </a:prstClr>
                </a:solidFill>
              </a:rPr>
              <a:t>Features</a:t>
            </a:r>
            <a:r>
              <a:rPr lang="pt-BR" dirty="0">
                <a:solidFill>
                  <a:prstClr val="black">
                    <a:lumMod val="65000"/>
                    <a:lumOff val="35000"/>
                  </a:prstClr>
                </a:solidFill>
              </a:rPr>
              <a:t> e US</a:t>
            </a:r>
            <a:endParaRPr lang="pt-BR" sz="700" dirty="0">
              <a:solidFill>
                <a:prstClr val="black">
                  <a:lumMod val="65000"/>
                  <a:lumOff val="35000"/>
                </a:prstClr>
              </a:solidFill>
              <a:latin typeface="Georgia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369306" y="5056211"/>
            <a:ext cx="11240709" cy="13680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ysDash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defTabSz="1219170"/>
            <a:endParaRPr lang="pt-BR" sz="1867" kern="1200">
              <a:solidFill>
                <a:srgbClr val="00D318"/>
              </a:solidFill>
              <a:latin typeface="Simplon BP Regular"/>
            </a:endParaRPr>
          </a:p>
        </p:txBody>
      </p:sp>
      <p:sp>
        <p:nvSpPr>
          <p:cNvPr id="8" name="Título 25"/>
          <p:cNvSpPr txBox="1">
            <a:spLocks/>
          </p:cNvSpPr>
          <p:nvPr/>
        </p:nvSpPr>
        <p:spPr>
          <a:xfrm>
            <a:off x="165796" y="74805"/>
            <a:ext cx="10756482" cy="558294"/>
          </a:xfrm>
          <a:prstGeom prst="rect">
            <a:avLst/>
          </a:prstGeom>
        </p:spPr>
        <p:txBody>
          <a:bodyPr/>
          <a:lstStyle>
            <a:lvl1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1pPr>
            <a:lvl2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37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 sz="2000" dirty="0" smtClean="0">
                <a:solidFill>
                  <a:srgbClr val="009E0B"/>
                </a:solidFill>
                <a:latin typeface="Simplon BP Bold" pitchFamily="2" charset="0"/>
              </a:rPr>
              <a:t>KAIDÔ: PLANEJAMENTO SISTEMAS - TIMELINE</a:t>
            </a:r>
            <a:endParaRPr lang="pt-BR" sz="2000" dirty="0">
              <a:solidFill>
                <a:srgbClr val="009E0B"/>
              </a:solidFill>
              <a:latin typeface="Simplon BP Bold" pitchFamily="2" charset="0"/>
            </a:endParaRPr>
          </a:p>
        </p:txBody>
      </p:sp>
      <p:sp>
        <p:nvSpPr>
          <p:cNvPr id="9" name="Espaço Reservado para Número de Slide 2"/>
          <p:cNvSpPr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</p:spPr>
        <p:txBody>
          <a:bodyPr/>
          <a:lstStyle/>
          <a:p>
            <a:fld id="{86CB4B4D-7CA3-9044-876B-883B54F8677D}" type="slidenum">
              <a:rPr lang="pt-BR" smtClean="0"/>
              <a:t>22</a:t>
            </a:fld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306" y="979287"/>
            <a:ext cx="11101965" cy="3922173"/>
          </a:xfrm>
          <a:prstGeom prst="rect">
            <a:avLst/>
          </a:prstGeom>
        </p:spPr>
      </p:pic>
      <p:sp>
        <p:nvSpPr>
          <p:cNvPr id="10" name="Google Shape;1380;p39"/>
          <p:cNvSpPr/>
          <p:nvPr/>
        </p:nvSpPr>
        <p:spPr>
          <a:xfrm>
            <a:off x="11407752" y="1363368"/>
            <a:ext cx="410537" cy="51241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 sz="1050"/>
          </a:p>
        </p:txBody>
      </p:sp>
      <p:sp>
        <p:nvSpPr>
          <p:cNvPr id="11" name="Retângulo 10"/>
          <p:cNvSpPr/>
          <p:nvPr/>
        </p:nvSpPr>
        <p:spPr>
          <a:xfrm>
            <a:off x="534538" y="1777629"/>
            <a:ext cx="11101283" cy="2954655"/>
          </a:xfrm>
          <a:prstGeom prst="rect">
            <a:avLst/>
          </a:prstGeom>
          <a:solidFill>
            <a:srgbClr val="FFFF00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6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Receber</a:t>
            </a:r>
            <a:r>
              <a:rPr kumimoji="0" lang="en-US" sz="96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9600" b="0" i="0" u="none" strike="noStrike" cap="none" spc="0" normalizeH="0" baseline="0" dirty="0" err="1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proposta</a:t>
            </a:r>
            <a:r>
              <a:rPr kumimoji="0" lang="en-US" sz="96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 </a:t>
            </a:r>
          </a:p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600" b="0" i="0" u="none" strike="noStrike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da TI</a:t>
            </a:r>
            <a:endParaRPr kumimoji="0" lang="en-US" sz="96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2664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45289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9"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183655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4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1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5.xml><?xml version="1.0" encoding="utf-8"?>
<a:theme xmlns:a="http://schemas.openxmlformats.org/drawingml/2006/main" name="1_Tema do Office">
  <a:themeElements>
    <a:clrScheme name="1_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D37A97C3DEE4A8D4788FE4DCCDEAD" ma:contentTypeVersion="11" ma:contentTypeDescription="Create a new document." ma:contentTypeScope="" ma:versionID="d00ac72e450a6c88aa5868c6273ce3b9">
  <xsd:schema xmlns:xsd="http://www.w3.org/2001/XMLSchema" xmlns:xs="http://www.w3.org/2001/XMLSchema" xmlns:p="http://schemas.microsoft.com/office/2006/metadata/properties" xmlns:ns3="e66c1a7a-ec89-4dc5-b393-5362fae8c521" xmlns:ns4="b78623e7-b84d-4b4d-83f6-340f315802d9" targetNamespace="http://schemas.microsoft.com/office/2006/metadata/properties" ma:root="true" ma:fieldsID="6b08f65e03026fc37bf5bc94aa7787c2" ns3:_="" ns4:_="">
    <xsd:import namespace="e66c1a7a-ec89-4dc5-b393-5362fae8c521"/>
    <xsd:import namespace="b78623e7-b84d-4b4d-83f6-340f315802d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ObjectDetectorVersion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6c1a7a-ec89-4dc5-b393-5362fae8c52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8623e7-b84d-4b4d-83f6-340f315802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78623e7-b84d-4b4d-83f6-340f315802d9" xsi:nil="true"/>
  </documentManagement>
</p:properties>
</file>

<file path=customXml/itemProps1.xml><?xml version="1.0" encoding="utf-8"?>
<ds:datastoreItem xmlns:ds="http://schemas.openxmlformats.org/officeDocument/2006/customXml" ds:itemID="{419A9F47-C9EF-42BE-9858-1516FC3DD2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F0A6D2-0F1D-44F2-8EFD-D62C407E3C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6c1a7a-ec89-4dc5-b393-5362fae8c521"/>
    <ds:schemaRef ds:uri="b78623e7-b84d-4b4d-83f6-340f315802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B9093C-052E-4A0D-9F7E-80AE13FD2621}">
  <ds:schemaRefs>
    <ds:schemaRef ds:uri="http://purl.org/dc/dcmitype/"/>
    <ds:schemaRef ds:uri="http://schemas.openxmlformats.org/package/2006/metadata/core-properties"/>
    <ds:schemaRef ds:uri="b78623e7-b84d-4b4d-83f6-340f315802d9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e66c1a7a-ec89-4dc5-b393-5362fae8c521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97180</TotalTime>
  <Words>3583</Words>
  <Application>Microsoft Office PowerPoint</Application>
  <PresentationFormat>Widescreen</PresentationFormat>
  <Paragraphs>684</Paragraphs>
  <Slides>23</Slides>
  <Notes>20</Notes>
  <HiddenSlides>9</HiddenSlides>
  <MMClips>0</MMClips>
  <ScaleCrop>false</ScaleCrop>
  <HeadingPairs>
    <vt:vector size="8" baseType="variant">
      <vt:variant>
        <vt:lpstr>Fontes usadas</vt:lpstr>
      </vt:variant>
      <vt:variant>
        <vt:i4>13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23</vt:i4>
      </vt:variant>
    </vt:vector>
  </HeadingPairs>
  <TitlesOfParts>
    <vt:vector size="42" baseType="lpstr">
      <vt:lpstr>Aptos Narrow</vt:lpstr>
      <vt:lpstr>Arial</vt:lpstr>
      <vt:lpstr>Calibri</vt:lpstr>
      <vt:lpstr>Cambria Math</vt:lpstr>
      <vt:lpstr>Georgia</vt:lpstr>
      <vt:lpstr>Helvetica</vt:lpstr>
      <vt:lpstr>Roboto</vt:lpstr>
      <vt:lpstr>Simplon BP</vt:lpstr>
      <vt:lpstr>Simplon BP Bold</vt:lpstr>
      <vt:lpstr>Simplon BP Light</vt:lpstr>
      <vt:lpstr>Simplon BP Regular</vt:lpstr>
      <vt:lpstr>Times New Roman</vt:lpstr>
      <vt:lpstr>Wingdings</vt:lpstr>
      <vt:lpstr>2_Tema do Office</vt:lpstr>
      <vt:lpstr>3_Tema do Office</vt:lpstr>
      <vt:lpstr>4_Tema do Office</vt:lpstr>
      <vt:lpstr>1_Tema do Office</vt:lpstr>
      <vt:lpstr>Slide do think-cell</vt:lpstr>
      <vt:lpstr>Planilha</vt:lpstr>
      <vt:lpstr>Kaidô</vt:lpstr>
      <vt:lpstr>CONTEXTO</vt:lpstr>
      <vt:lpstr>AGENDA</vt:lpstr>
      <vt:lpstr>KAIDÔ: IMPLANTAÇÃO UPI TAHTO (1 de 2)</vt:lpstr>
      <vt:lpstr>KAIDÔ: IMPLANTAÇÃO UPI TAHTO (2 de 2)</vt:lpstr>
      <vt:lpstr>KAIDÔ: IMPLANTAÇÃO UPI TAHTO</vt:lpstr>
      <vt:lpstr>KAIDÔ: IMPLANTAÇÃO UPI TAHTO</vt:lpstr>
      <vt:lpstr>KAIDÔ: CNPJ E FILIAIS DA TAHTO</vt:lpstr>
      <vt:lpstr>KAIDÔ: DEFINIÇÃO DA EMPRESA QUE SERÁ USADA PARA A CRIAÇÃO DA UPI</vt:lpstr>
      <vt:lpstr>KAIDÔ: CNPJ E FILIAIS ATUAIS DA TAHTO</vt:lpstr>
      <vt:lpstr>KAIDÔ: ATIVO CONTÁBIL DO PERIMETRO (BIS + BIA) – JAN/26</vt:lpstr>
      <vt:lpstr>KAIDÔ : PRINCIPAIS CONTRATOS </vt:lpstr>
      <vt:lpstr>KAIDÔ : CLIENTES</vt:lpstr>
      <vt:lpstr>KAIDÔ: JURÍDICA</vt:lpstr>
      <vt:lpstr>Apresentação do PowerPoint</vt:lpstr>
      <vt:lpstr>KAIDÔ: PRINCIPAIS MARCOS</vt:lpstr>
      <vt:lpstr>KAIDÔ: CRONOGRAMA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Raissa De Mello Paes</dc:creator>
  <cp:lastModifiedBy>Charlene Santino Da Silva</cp:lastModifiedBy>
  <cp:revision>662</cp:revision>
  <dcterms:modified xsi:type="dcterms:W3CDTF">2026-02-04T15:45:43Z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0x010100723D37A97C3DEE4A8D4788FE4DCCDEAD</vt:lpwstr>
  </property>
</Properties>
</file>