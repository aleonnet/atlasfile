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6.xml" ContentType="application/vnd.openxmlformats-officedocument.presentationml.notesSlide+xml"/>
  <Override PartName="/ppt/tags/tag72.xml" ContentType="application/vnd.openxmlformats-officedocument.presentationml.tags+xml"/>
  <Override PartName="/ppt/notesSlides/notesSlide7.xml" ContentType="application/vnd.openxmlformats-officedocument.presentationml.notesSlide+xml"/>
  <Override PartName="/ppt/tags/tag73.xml" ContentType="application/vnd.openxmlformats-officedocument.presentationml.tags+xml"/>
  <Override PartName="/ppt/notesSlides/notesSlide8.xml" ContentType="application/vnd.openxmlformats-officedocument.presentationml.notesSlide+xml"/>
  <Override PartName="/ppt/tags/tag74.xml" ContentType="application/vnd.openxmlformats-officedocument.presentationml.tags+xml"/>
  <Override PartName="/ppt/notesSlides/notesSlide9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4"/>
  </p:sldMasterIdLst>
  <p:notesMasterIdLst>
    <p:notesMasterId r:id="rId18"/>
  </p:notesMasterIdLst>
  <p:sldIdLst>
    <p:sldId id="260" r:id="rId5"/>
    <p:sldId id="307" r:id="rId6"/>
    <p:sldId id="306" r:id="rId7"/>
    <p:sldId id="308" r:id="rId8"/>
    <p:sldId id="298" r:id="rId9"/>
    <p:sldId id="302" r:id="rId10"/>
    <p:sldId id="297" r:id="rId11"/>
    <p:sldId id="300" r:id="rId12"/>
    <p:sldId id="305" r:id="rId13"/>
    <p:sldId id="291" r:id="rId14"/>
    <p:sldId id="301" r:id="rId15"/>
    <p:sldId id="304" r:id="rId16"/>
    <p:sldId id="299" r:id="rId17"/>
  </p:sldIdLst>
  <p:sldSz cx="12192000" cy="6858000"/>
  <p:notesSz cx="6858000" cy="9144000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01D31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8" autoAdjust="0"/>
    <p:restoredTop sz="94966"/>
  </p:normalViewPr>
  <p:slideViewPr>
    <p:cSldViewPr snapToGrid="0" snapToObjects="1">
      <p:cViewPr varScale="1">
        <p:scale>
          <a:sx n="121" d="100"/>
          <a:sy n="121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655524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40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337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6500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706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329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342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8735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887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890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7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266;p8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368" name="Google Shape;267;p8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Google Shape;268;p8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Google Shape;269;p8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1" name="Google Shape;270;p8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Google Shape;271;p8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Google Shape;272;p8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Google Shape;273;p8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Google Shape;274;p8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Google Shape;275;p8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7" name="Google Shape;276;p8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8" name="Google Shape;277;p8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Google Shape;278;p8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0" name="Google Shape;279;p8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1" name="Google Shape;280;p8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Google Shape;281;p8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3" name="Google Shape;282;p8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4" name="Google Shape;283;p8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5" name="Google Shape;284;p8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6" name="Google Shape;285;p8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7" name="Google Shape;286;p8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Google Shape;287;p8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Google Shape;288;p8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0" name="Google Shape;289;p8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Google Shape;290;p8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2" name="Google Shape;291;p8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94" name="Google Shape;292;p85" descr="Google Shape;292;p8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Google Shape;293;p85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96" name="Google Shape;294;p85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296;p8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404" name="Google Shape;297;p8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Google Shape;298;p8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Google Shape;299;p8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Google Shape;300;p8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Google Shape;301;p8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Google Shape;302;p8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Google Shape;303;p8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Google Shape;304;p8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Google Shape;305;p8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Google Shape;306;p8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Google Shape;307;p8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Google Shape;308;p8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Google Shape;309;p8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Google Shape;310;p8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Google Shape;311;p8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Google Shape;312;p8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Google Shape;313;p8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Google Shape;314;p8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Google Shape;315;p8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Google Shape;316;p8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Google Shape;317;p8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Google Shape;318;p8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Google Shape;319;p8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Google Shape;320;p8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Google Shape;321;p8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0" name="Google Shape;322;p86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31" name="Google Shape;323;p86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432" name="Google Shape;324;p86" descr="Google Shape;324;p8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67" name="Google Shape;353;p87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676" name="Google Shape;477;p98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713;p2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944" name="Google Shape;714;p2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5" name="Google Shape;715;p2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6" name="Google Shape;716;p2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7" name="Google Shape;717;p2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8" name="Google Shape;718;p2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9" name="Google Shape;719;p2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0" name="Google Shape;720;p2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1" name="Google Shape;721;p2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2" name="Google Shape;722;p2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3" name="Google Shape;723;p2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4" name="Google Shape;724;p2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5" name="Google Shape;725;p2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6" name="Google Shape;726;p2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7" name="Google Shape;727;p2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8" name="Google Shape;728;p2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9" name="Google Shape;729;p2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0" name="Google Shape;730;p2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1" name="Google Shape;731;p2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2" name="Google Shape;732;p2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3" name="Google Shape;733;p2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4" name="Google Shape;734;p2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5" name="Google Shape;735;p2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6" name="Google Shape;736;p2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7" name="Google Shape;737;p2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8" name="Google Shape;738;p2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70" name="Google Shape;739;p20" descr="Google Shape;739;p2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Google Shape;740;p20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972" name="Google Shape;741;p20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08" name="Google Shape;771;p21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773;p8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016" name="Google Shape;774;p8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7" name="Google Shape;775;p8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8" name="Google Shape;776;p8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9" name="Google Shape;777;p8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0" name="Google Shape;778;p8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1" name="Google Shape;779;p8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2" name="Google Shape;780;p8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3" name="Google Shape;781;p8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4" name="Google Shape;782;p8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5" name="Google Shape;783;p8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6" name="Google Shape;784;p8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7" name="Google Shape;785;p8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8" name="Google Shape;786;p8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9" name="Google Shape;787;p8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0" name="Google Shape;788;p8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1" name="Google Shape;789;p8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2" name="Google Shape;790;p8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3" name="Google Shape;791;p8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4" name="Google Shape;792;p8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5" name="Google Shape;793;p8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6" name="Google Shape;794;p8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7" name="Google Shape;795;p8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8" name="Google Shape;796;p8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9" name="Google Shape;797;p8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40" name="Google Shape;798;p8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42" name="Google Shape;799;p81" descr="Google Shape;799;p8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6" name="Google Shape;831;p8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836;p122" descr="Google Shape;836;p1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7416" y="226692"/>
            <a:ext cx="1216567" cy="20753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5" name="Google Shape;837;p122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10" name="Google Shape;838;p12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1" name="Google Shape;839;p12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2" name="Google Shape;840;p12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3" name="Google Shape;841;p12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4" name="Google Shape;842;p12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5" name="Google Shape;843;p12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6" name="Google Shape;844;p12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7" name="Google Shape;845;p12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8" name="Google Shape;846;p12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9" name="Google Shape;847;p12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0" name="Google Shape;848;p12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1" name="Google Shape;849;p12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2" name="Google Shape;850;p12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3" name="Google Shape;851;p12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4" name="Google Shape;852;p12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5" name="Google Shape;853;p12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6" name="Google Shape;854;p12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7" name="Google Shape;855;p12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8" name="Google Shape;856;p12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9" name="Google Shape;857;p12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0" name="Google Shape;858;p12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1" name="Google Shape;859;p12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2" name="Google Shape;860;p12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3" name="Google Shape;861;p12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4" name="Google Shape;862;p12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36" name="Google Shape;863;p122"/>
          <p:cNvSpPr/>
          <p:nvPr/>
        </p:nvSpPr>
        <p:spPr>
          <a:xfrm>
            <a:off x="674913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137" name="Google Shape;864;p122" descr="Google Shape;864;p12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38" name="Google Shape;865;p122"/>
          <p:cNvSpPr/>
          <p:nvPr/>
        </p:nvSpPr>
        <p:spPr>
          <a:xfrm>
            <a:off x="149395" y="150442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674913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74" name="Google Shape;895;p25"/>
          <p:cNvSpPr/>
          <p:nvPr/>
        </p:nvSpPr>
        <p:spPr>
          <a:xfrm>
            <a:off x="149395" y="150442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925;p29" descr="Google Shape;925;p2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927;p30" descr="Google Shape;927;p3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929;p31" descr="Google Shape;929;p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52"/>
            </p:custDataLst>
            <p:extLst>
              <p:ext uri="{D42A27DB-BD31-4B8C-83A1-F6EECF244321}">
                <p14:modId xmlns:p14="http://schemas.microsoft.com/office/powerpoint/2010/main" val="377408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421" imgH="423" progId="TCLayout.ActiveDocument.1">
                  <p:embed/>
                </p:oleObj>
              </mc:Choice>
              <mc:Fallback>
                <p:oleObj name="think-cell Slide" r:id="rId53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0" r:id="rId2"/>
    <p:sldLayoutId id="2147483666" r:id="rId3"/>
    <p:sldLayoutId id="2147483667" r:id="rId4"/>
    <p:sldLayoutId id="2147483668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  <p:sldLayoutId id="2147483704" r:id="rId38"/>
    <p:sldLayoutId id="2147483705" r:id="rId39"/>
    <p:sldLayoutId id="2147483706" r:id="rId40"/>
    <p:sldLayoutId id="2147483707" r:id="rId41"/>
    <p:sldLayoutId id="2147483708" r:id="rId42"/>
    <p:sldLayoutId id="2147483709" r:id="rId43"/>
    <p:sldLayoutId id="2147483710" r:id="rId44"/>
    <p:sldLayoutId id="2147483711" r:id="rId45"/>
    <p:sldLayoutId id="2147483712" r:id="rId46"/>
    <p:sldLayoutId id="2147483713" r:id="rId47"/>
    <p:sldLayoutId id="2147483714" r:id="rId48"/>
    <p:sldLayoutId id="2147483715" r:id="rId49"/>
    <p:sldLayoutId id="2147483716" r:id="rId50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6.xml"/><Relationship Id="rId7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slide" Target="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slide" Target="slide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35.xml"/><Relationship Id="rId21" Type="http://schemas.openxmlformats.org/officeDocument/2006/relationships/tags" Target="../tags/tag30.xml"/><Relationship Id="rId34" Type="http://schemas.openxmlformats.org/officeDocument/2006/relationships/tags" Target="../tags/tag43.xml"/><Relationship Id="rId42" Type="http://schemas.openxmlformats.org/officeDocument/2006/relationships/tags" Target="../tags/tag51.xml"/><Relationship Id="rId47" Type="http://schemas.openxmlformats.org/officeDocument/2006/relationships/tags" Target="../tags/tag56.xml"/><Relationship Id="rId50" Type="http://schemas.openxmlformats.org/officeDocument/2006/relationships/tags" Target="../tags/tag59.xml"/><Relationship Id="rId55" Type="http://schemas.openxmlformats.org/officeDocument/2006/relationships/tags" Target="../tags/tag64.xml"/><Relationship Id="rId63" Type="http://schemas.openxmlformats.org/officeDocument/2006/relationships/slideLayout" Target="../slideLayouts/slideLayout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9" Type="http://schemas.openxmlformats.org/officeDocument/2006/relationships/tags" Target="../tags/tag38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tags" Target="../tags/tag41.xml"/><Relationship Id="rId37" Type="http://schemas.openxmlformats.org/officeDocument/2006/relationships/tags" Target="../tags/tag46.xml"/><Relationship Id="rId40" Type="http://schemas.openxmlformats.org/officeDocument/2006/relationships/tags" Target="../tags/tag49.xml"/><Relationship Id="rId45" Type="http://schemas.openxmlformats.org/officeDocument/2006/relationships/tags" Target="../tags/tag54.xml"/><Relationship Id="rId53" Type="http://schemas.openxmlformats.org/officeDocument/2006/relationships/tags" Target="../tags/tag62.xml"/><Relationship Id="rId58" Type="http://schemas.openxmlformats.org/officeDocument/2006/relationships/tags" Target="../tags/tag67.xml"/><Relationship Id="rId66" Type="http://schemas.openxmlformats.org/officeDocument/2006/relationships/image" Target="../media/image1.emf"/><Relationship Id="rId5" Type="http://schemas.openxmlformats.org/officeDocument/2006/relationships/tags" Target="../tags/tag14.xml"/><Relationship Id="rId61" Type="http://schemas.openxmlformats.org/officeDocument/2006/relationships/tags" Target="../tags/tag70.xml"/><Relationship Id="rId19" Type="http://schemas.openxmlformats.org/officeDocument/2006/relationships/tags" Target="../tags/tag2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tags" Target="../tags/tag39.xml"/><Relationship Id="rId35" Type="http://schemas.openxmlformats.org/officeDocument/2006/relationships/tags" Target="../tags/tag44.xml"/><Relationship Id="rId43" Type="http://schemas.openxmlformats.org/officeDocument/2006/relationships/tags" Target="../tags/tag52.xml"/><Relationship Id="rId48" Type="http://schemas.openxmlformats.org/officeDocument/2006/relationships/tags" Target="../tags/tag57.xml"/><Relationship Id="rId56" Type="http://schemas.openxmlformats.org/officeDocument/2006/relationships/tags" Target="../tags/tag65.xml"/><Relationship Id="rId64" Type="http://schemas.openxmlformats.org/officeDocument/2006/relationships/notesSlide" Target="../notesSlides/notesSlide6.xml"/><Relationship Id="rId8" Type="http://schemas.openxmlformats.org/officeDocument/2006/relationships/tags" Target="../tags/tag17.xml"/><Relationship Id="rId51" Type="http://schemas.openxmlformats.org/officeDocument/2006/relationships/tags" Target="../tags/tag60.xml"/><Relationship Id="rId3" Type="http://schemas.openxmlformats.org/officeDocument/2006/relationships/tags" Target="../tags/tag12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tags" Target="../tags/tag42.xml"/><Relationship Id="rId38" Type="http://schemas.openxmlformats.org/officeDocument/2006/relationships/tags" Target="../tags/tag47.xml"/><Relationship Id="rId46" Type="http://schemas.openxmlformats.org/officeDocument/2006/relationships/tags" Target="../tags/tag55.xml"/><Relationship Id="rId59" Type="http://schemas.openxmlformats.org/officeDocument/2006/relationships/tags" Target="../tags/tag68.xml"/><Relationship Id="rId67" Type="http://schemas.openxmlformats.org/officeDocument/2006/relationships/slide" Target="slide8.xml"/><Relationship Id="rId20" Type="http://schemas.openxmlformats.org/officeDocument/2006/relationships/tags" Target="../tags/tag29.xml"/><Relationship Id="rId41" Type="http://schemas.openxmlformats.org/officeDocument/2006/relationships/tags" Target="../tags/tag50.xml"/><Relationship Id="rId54" Type="http://schemas.openxmlformats.org/officeDocument/2006/relationships/tags" Target="../tags/tag63.xml"/><Relationship Id="rId62" Type="http://schemas.openxmlformats.org/officeDocument/2006/relationships/tags" Target="../tags/tag7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36" Type="http://schemas.openxmlformats.org/officeDocument/2006/relationships/tags" Target="../tags/tag45.xml"/><Relationship Id="rId49" Type="http://schemas.openxmlformats.org/officeDocument/2006/relationships/tags" Target="../tags/tag58.xml"/><Relationship Id="rId57" Type="http://schemas.openxmlformats.org/officeDocument/2006/relationships/tags" Target="../tags/tag66.xml"/><Relationship Id="rId10" Type="http://schemas.openxmlformats.org/officeDocument/2006/relationships/tags" Target="../tags/tag19.xml"/><Relationship Id="rId31" Type="http://schemas.openxmlformats.org/officeDocument/2006/relationships/tags" Target="../tags/tag40.xml"/><Relationship Id="rId44" Type="http://schemas.openxmlformats.org/officeDocument/2006/relationships/tags" Target="../tags/tag53.xml"/><Relationship Id="rId52" Type="http://schemas.openxmlformats.org/officeDocument/2006/relationships/tags" Target="../tags/tag61.xml"/><Relationship Id="rId60" Type="http://schemas.openxmlformats.org/officeDocument/2006/relationships/tags" Target="../tags/tag69.xml"/><Relationship Id="rId65" Type="http://schemas.openxmlformats.org/officeDocument/2006/relationships/oleObject" Target="../embeddings/oleObject6.bin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9" Type="http://schemas.openxmlformats.org/officeDocument/2006/relationships/tags" Target="../tags/tag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Relationship Id="rId6" Type="http://schemas.openxmlformats.org/officeDocument/2006/relationships/slide" Target="slide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160;p51"/>
          <p:cNvSpPr txBox="1"/>
          <p:nvPr/>
        </p:nvSpPr>
        <p:spPr>
          <a:xfrm>
            <a:off x="1084329" y="943835"/>
            <a:ext cx="6664823" cy="193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lnSpc>
                <a:spcPts val="7200"/>
              </a:lnSpc>
              <a:defRPr sz="72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5400" dirty="0"/>
              <a:t>Neptune</a:t>
            </a:r>
            <a:br>
              <a:rPr sz="5400" dirty="0"/>
            </a:br>
            <a:endParaRPr sz="5400" dirty="0">
              <a:solidFill>
                <a:srgbClr val="000000"/>
              </a:solidFill>
            </a:endParaRPr>
          </a:p>
        </p:txBody>
      </p:sp>
      <p:sp>
        <p:nvSpPr>
          <p:cNvPr id="1553" name="Google Shape;1161;p51"/>
          <p:cNvSpPr txBox="1"/>
          <p:nvPr/>
        </p:nvSpPr>
        <p:spPr>
          <a:xfrm>
            <a:off x="1166099" y="5737531"/>
            <a:ext cx="6135416" cy="400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/>
            </a:lvl1pPr>
          </a:lstStyle>
          <a:p>
            <a:r>
              <a:rPr lang="pt-BR" dirty="0"/>
              <a:t>Reunião de </a:t>
            </a:r>
            <a:r>
              <a:rPr lang="pt-BR" dirty="0" err="1"/>
              <a:t>Kickoff</a:t>
            </a:r>
            <a:endParaRPr dirty="0"/>
          </a:p>
        </p:txBody>
      </p:sp>
      <p:sp>
        <p:nvSpPr>
          <p:cNvPr id="1554" name="Google Shape;1162;p51"/>
          <p:cNvSpPr txBox="1"/>
          <p:nvPr/>
        </p:nvSpPr>
        <p:spPr>
          <a:xfrm>
            <a:off x="1169294" y="6151846"/>
            <a:ext cx="1542008" cy="2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lnSpc>
                <a:spcPct val="850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pt-BR" dirty="0"/>
              <a:t>24 de Agosto</a:t>
            </a:r>
            <a:r>
              <a:rPr dirty="0"/>
              <a:t> 202</a:t>
            </a:r>
            <a:r>
              <a:rPr lang="pt-BR" dirty="0"/>
              <a:t>2</a:t>
            </a:r>
            <a:endParaRPr dirty="0"/>
          </a:p>
        </p:txBody>
      </p:sp>
      <p:sp>
        <p:nvSpPr>
          <p:cNvPr id="2" name="Retângulo 1"/>
          <p:cNvSpPr/>
          <p:nvPr/>
        </p:nvSpPr>
        <p:spPr>
          <a:xfrm>
            <a:off x="1084329" y="19750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72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>
                <a:solidFill>
                  <a:srgbClr val="000000"/>
                </a:solidFill>
                <a:latin typeface="Simplon BP Bold"/>
                <a:ea typeface="Simplon BP Bold"/>
                <a:cs typeface="Simplon BP Bold"/>
              </a:rPr>
              <a:t>Torres da Fixa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Agenda</a:t>
            </a:r>
            <a:br>
              <a:rPr lang="pt-BR" dirty="0"/>
            </a:b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2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Retângulo Arredondado 2"/>
          <p:cNvSpPr/>
          <p:nvPr/>
        </p:nvSpPr>
        <p:spPr>
          <a:xfrm>
            <a:off x="1010566" y="1017125"/>
            <a:ext cx="8768865" cy="684000"/>
          </a:xfrm>
          <a:prstGeom prst="roundRect">
            <a:avLst/>
          </a:prstGeom>
          <a:solidFill>
            <a:schemeClr val="accent6">
              <a:lumMod val="90000"/>
              <a:lumOff val="10000"/>
              <a:alpha val="82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265299" y="1128293"/>
            <a:ext cx="3716082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1- Visão geral da transação</a:t>
            </a:r>
          </a:p>
        </p:txBody>
      </p:sp>
      <p:sp>
        <p:nvSpPr>
          <p:cNvPr id="17" name="Retângulo Arredondado 16"/>
          <p:cNvSpPr/>
          <p:nvPr/>
        </p:nvSpPr>
        <p:spPr>
          <a:xfrm>
            <a:off x="1010566" y="2091707"/>
            <a:ext cx="8768865" cy="684000"/>
          </a:xfrm>
          <a:prstGeom prst="roundRect">
            <a:avLst/>
          </a:prstGeom>
          <a:solidFill>
            <a:schemeClr val="accent2">
              <a:alpha val="72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265299" y="2202875"/>
            <a:ext cx="5327099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2 - Escopo e premissas de implantação</a:t>
            </a:r>
          </a:p>
        </p:txBody>
      </p:sp>
      <p:sp>
        <p:nvSpPr>
          <p:cNvPr id="19" name="Retângulo Arredondado 18"/>
          <p:cNvSpPr/>
          <p:nvPr/>
        </p:nvSpPr>
        <p:spPr>
          <a:xfrm>
            <a:off x="1010566" y="3166289"/>
            <a:ext cx="8768865" cy="684000"/>
          </a:xfrm>
          <a:prstGeom prst="roundRect">
            <a:avLst/>
          </a:prstGeom>
          <a:solidFill>
            <a:schemeClr val="accent2">
              <a:alpha val="62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1265299" y="3277457"/>
            <a:ext cx="3765774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3 - Principais áreas e ações</a:t>
            </a:r>
          </a:p>
        </p:txBody>
      </p:sp>
      <p:sp>
        <p:nvSpPr>
          <p:cNvPr id="21" name="Retângulo Arredondado 20"/>
          <p:cNvSpPr/>
          <p:nvPr/>
        </p:nvSpPr>
        <p:spPr>
          <a:xfrm>
            <a:off x="1010566" y="4240871"/>
            <a:ext cx="8768865" cy="684000"/>
          </a:xfrm>
          <a:prstGeom prst="roundRect">
            <a:avLst/>
          </a:prstGeom>
          <a:solidFill>
            <a:schemeClr val="accent2">
              <a:alpha val="5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1265299" y="4352039"/>
            <a:ext cx="3555782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4 - Governança do projeto</a:t>
            </a:r>
          </a:p>
        </p:txBody>
      </p:sp>
      <p:sp>
        <p:nvSpPr>
          <p:cNvPr id="23" name="Retângulo Arredondado 22"/>
          <p:cNvSpPr/>
          <p:nvPr/>
        </p:nvSpPr>
        <p:spPr>
          <a:xfrm>
            <a:off x="1010566" y="5315452"/>
            <a:ext cx="8768865" cy="684000"/>
          </a:xfrm>
          <a:prstGeom prst="roundRect">
            <a:avLst/>
          </a:prstGeom>
          <a:solidFill>
            <a:schemeClr val="accent2">
              <a:alpha val="44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1265299" y="5426620"/>
            <a:ext cx="3943708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5 - Status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388282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1" imgH="423" progId="TCLayout.ActiveDocument.1">
                  <p:embed/>
                </p:oleObj>
              </mc:Choice>
              <mc:Fallback>
                <p:oleObj name="think-cell Slide" r:id="rId7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602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Projeto Neptune</a:t>
            </a:r>
            <a:br>
              <a:rPr lang="pt-BR" dirty="0"/>
            </a:br>
            <a:r>
              <a:rPr lang="pt-BR" dirty="0">
                <a:latin typeface="Simplon BP Regular" pitchFamily="2" charset="0"/>
              </a:rPr>
              <a:t>Visão geral da transação</a:t>
            </a:r>
            <a:endParaRPr lang="pt-BR" dirty="0"/>
          </a:p>
        </p:txBody>
      </p:sp>
      <p:sp>
        <p:nvSpPr>
          <p:cNvPr id="17" name="CaixaDeTexto 16"/>
          <p:cNvSpPr txBox="1"/>
          <p:nvPr>
            <p:custDataLst>
              <p:tags r:id="rId2"/>
            </p:custDataLst>
          </p:nvPr>
        </p:nvSpPr>
        <p:spPr>
          <a:xfrm>
            <a:off x="1876256" y="1525823"/>
            <a:ext cx="9396002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Transação envolve um portfolio de 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8 mil torres da fixa, pertencentes à Oi S.A.. </a:t>
            </a:r>
          </a:p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As torres serão 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aportadas em um veículo subsidiária da Oi (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Lemvig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) 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e 100% das ações da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Lemvig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serão alienadas à 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Highline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(modelo 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indêntico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ao de Vênus)</a:t>
            </a:r>
          </a:p>
        </p:txBody>
      </p:sp>
      <p:sp>
        <p:nvSpPr>
          <p:cNvPr id="18" name="CaixaDeTexto 17"/>
          <p:cNvSpPr txBox="1"/>
          <p:nvPr>
            <p:custDataLst>
              <p:tags r:id="rId3"/>
            </p:custDataLst>
          </p:nvPr>
        </p:nvSpPr>
        <p:spPr>
          <a:xfrm>
            <a:off x="1876257" y="2590839"/>
            <a:ext cx="9396002" cy="19543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08000" lvl="1">
              <a:spcBef>
                <a:spcPts val="600"/>
              </a:spcBef>
              <a:buClr>
                <a:schemeClr val="tx2"/>
              </a:buClr>
              <a:buSzPct val="100000"/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- 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Highline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pagará R$ 1.088 milhões 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(descontada uma parcela de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escrow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e de custos de vistoria/regularização) no fechamento</a:t>
            </a:r>
          </a:p>
          <a:p>
            <a:pPr marL="108000" lvl="1">
              <a:spcBef>
                <a:spcPts val="600"/>
              </a:spcBef>
              <a:buClr>
                <a:schemeClr val="tx2"/>
              </a:buClr>
              <a:buSzPct val="100000"/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- Fechamento depende de anuência da Anatel e 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objetivo é garantir o fechamento até o fim de 2022</a:t>
            </a:r>
          </a:p>
          <a:p>
            <a:pPr marL="108000" lvl="1">
              <a:spcBef>
                <a:spcPts val="600"/>
              </a:spcBef>
              <a:buClr>
                <a:schemeClr val="tx2"/>
              </a:buClr>
              <a:buSzPct val="100000"/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- A Oi alugará as 8 mil torres da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Lemvig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(com compromisso até 31/12/2025), pagando R$ 3 mil/torre/mês (líquido)</a:t>
            </a:r>
          </a:p>
          <a:p>
            <a:pPr marL="108000" lvl="1">
              <a:spcBef>
                <a:spcPts val="600"/>
              </a:spcBef>
              <a:buClr>
                <a:schemeClr val="tx2"/>
              </a:buClr>
              <a:buSzPct val="100000"/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- O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portifolio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 tem também receita de compartilhamento com as outras operadoras. Os contratos de compartilhamento referentes às 8 mil torres serão cedidos para a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ea typeface="+mn-ea"/>
                <a:cs typeface="+mn-cs"/>
                <a:sym typeface="Arial"/>
              </a:rPr>
              <a:t>Lemvig</a:t>
            </a:r>
            <a:endParaRPr lang="pt-BR" sz="1600" dirty="0">
              <a:solidFill>
                <a:schemeClr val="tx2">
                  <a:lumMod val="75000"/>
                </a:schemeClr>
              </a:solidFill>
              <a:ea typeface="+mn-ea"/>
              <a:cs typeface="+mn-cs"/>
              <a:sym typeface="Arial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384462" y="1525823"/>
            <a:ext cx="1491795" cy="815608"/>
          </a:xfrm>
          <a:prstGeom prst="rect">
            <a:avLst/>
          </a:prstGeom>
          <a:solidFill>
            <a:srgbClr val="4D4D4D"/>
          </a:solidFill>
          <a:ln w="9525" cap="rnd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 algn="ctr"/>
            <a:r>
              <a:rPr lang="pt-BR" sz="1600" dirty="0">
                <a:solidFill>
                  <a:schemeClr val="bg1"/>
                </a:solidFill>
                <a:latin typeface="+mj-lt"/>
                <a:ea typeface="+mn-ea"/>
                <a:cs typeface="+mn-cs"/>
                <a:sym typeface="Arial"/>
              </a:rPr>
              <a:t>Objeto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384462" y="2590839"/>
            <a:ext cx="1491795" cy="1954381"/>
          </a:xfrm>
          <a:prstGeom prst="rect">
            <a:avLst/>
          </a:prstGeom>
          <a:solidFill>
            <a:srgbClr val="4D4D4D"/>
          </a:solidFill>
          <a:ln w="9525" cap="rnd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 algn="ctr"/>
            <a:r>
              <a:rPr lang="pt-BR" sz="1600" dirty="0">
                <a:solidFill>
                  <a:schemeClr val="bg1"/>
                </a:solidFill>
                <a:latin typeface="+mj-lt"/>
                <a:ea typeface="+mn-ea"/>
                <a:cs typeface="+mn-cs"/>
                <a:sym typeface="Arial"/>
              </a:rPr>
              <a:t>Condições gerais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84462" y="4794628"/>
            <a:ext cx="1491795" cy="1548442"/>
          </a:xfrm>
          <a:prstGeom prst="rect">
            <a:avLst/>
          </a:prstGeom>
          <a:solidFill>
            <a:srgbClr val="4D4D4D"/>
          </a:solidFill>
          <a:ln w="9525" cap="rnd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 algn="ctr"/>
            <a:r>
              <a:rPr lang="pt-BR" sz="1600" dirty="0">
                <a:solidFill>
                  <a:schemeClr val="bg1"/>
                </a:solidFill>
                <a:latin typeface="+mj-lt"/>
                <a:ea typeface="+mn-ea"/>
                <a:cs typeface="+mn-cs"/>
                <a:sym typeface="Arial"/>
              </a:rPr>
              <a:t>Situação geral</a:t>
            </a:r>
          </a:p>
        </p:txBody>
      </p:sp>
      <p:sp>
        <p:nvSpPr>
          <p:cNvPr id="22" name="CaixaDeTexto 21"/>
          <p:cNvSpPr txBox="1"/>
          <p:nvPr>
            <p:custDataLst>
              <p:tags r:id="rId4"/>
            </p:custDataLst>
          </p:nvPr>
        </p:nvSpPr>
        <p:spPr>
          <a:xfrm>
            <a:off x="1876257" y="4804187"/>
            <a:ext cx="9396002" cy="1538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Proposta vinculante 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com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Term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Sheet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assinada pelas duas partes</a:t>
            </a:r>
          </a:p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Processo competitivo finalizado, 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aguardando homologação pelo juízo</a:t>
            </a:r>
          </a:p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Contrato de compra e venda 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em negociação,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a ser assinado em 2-3 semanas</a:t>
            </a:r>
          </a:p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Após assinatura do SPA se iniciará formalmente o pedido de anuência à Anatel e CADE</a:t>
            </a:r>
          </a:p>
          <a:p>
            <a:pPr marL="108000" lvl="1" defTabSz="814333" hangingPunct="1">
              <a:spcBef>
                <a:spcPts val="600"/>
              </a:spcBef>
              <a:buClr>
                <a:srgbClr val="000000"/>
              </a:buClr>
              <a:tabLst>
                <a:tab pos="1163638" algn="l"/>
              </a:tabLst>
              <a:defRPr/>
            </a:pPr>
            <a:r>
              <a:rPr lang="pt-BR" sz="1600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- </a:t>
            </a:r>
            <a:r>
              <a:rPr lang="pt-BR" sz="1600" b="1" u="sng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A iniciar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: implantação operacional / preparação para 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carve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-out e para demais </a:t>
            </a:r>
            <a:r>
              <a:rPr lang="pt-BR" sz="1600" b="1" dirty="0" err="1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CPs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 (</a:t>
            </a:r>
            <a:r>
              <a:rPr lang="pt-BR" sz="1600" b="1" u="sng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objeto dessa reunião</a:t>
            </a:r>
            <a:r>
              <a:rPr lang="pt-BR" sz="1600" b="1" dirty="0">
                <a:solidFill>
                  <a:schemeClr val="tx2">
                    <a:lumMod val="75000"/>
                  </a:schemeClr>
                </a:solidFill>
                <a:cs typeface="Arial"/>
                <a:sym typeface="Arial"/>
              </a:rPr>
              <a:t>)</a:t>
            </a:r>
            <a:endParaRPr lang="pt-BR" sz="1600" dirty="0">
              <a:solidFill>
                <a:schemeClr val="tx2">
                  <a:lumMod val="75000"/>
                </a:schemeClr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950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Projeto Neptune</a:t>
            </a:r>
            <a:br>
              <a:rPr lang="pt-BR" dirty="0"/>
            </a:br>
            <a:r>
              <a:rPr lang="pt-BR" dirty="0">
                <a:latin typeface="Simplon BP Regular" pitchFamily="2" charset="0"/>
              </a:rPr>
              <a:t>Implantação operacional</a:t>
            </a: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4</a:t>
            </a:fld>
            <a:endParaRPr lang="en-US" sz="1050" dirty="0">
              <a:solidFill>
                <a:schemeClr val="tx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473" y="1409774"/>
            <a:ext cx="713245" cy="713245"/>
          </a:xfrm>
          <a:prstGeom prst="rect">
            <a:avLst/>
          </a:prstGeom>
        </p:spPr>
      </p:pic>
      <p:sp>
        <p:nvSpPr>
          <p:cNvPr id="38" name="Rectangle 52">
            <a:extLst>
              <a:ext uri="{FF2B5EF4-FFF2-40B4-BE49-F238E27FC236}">
                <a16:creationId xmlns:a16="http://schemas.microsoft.com/office/drawing/2014/main" id="{DA6A4637-3B3A-4621-9E31-5D8A1EB06204}"/>
              </a:ext>
            </a:extLst>
          </p:cNvPr>
          <p:cNvSpPr/>
          <p:nvPr/>
        </p:nvSpPr>
        <p:spPr>
          <a:xfrm>
            <a:off x="2136343" y="1325497"/>
            <a:ext cx="8443912" cy="928898"/>
          </a:xfrm>
          <a:prstGeom prst="rect">
            <a:avLst/>
          </a:prstGeom>
          <a:solidFill>
            <a:schemeClr val="tx1"/>
          </a:solidFill>
          <a:ln w="9525" cap="rnd" cmpd="sng" algn="ctr">
            <a:solidFill>
              <a:srgbClr val="01D318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pt-BR" sz="2000" dirty="0">
                <a:solidFill>
                  <a:srgbClr val="FFFFFF"/>
                </a:solidFill>
                <a:latin typeface="+mj-lt"/>
              </a:rPr>
              <a:t>Principal Objetivo </a:t>
            </a:r>
          </a:p>
        </p:txBody>
      </p:sp>
      <p:sp>
        <p:nvSpPr>
          <p:cNvPr id="39" name="ee4pContent1">
            <a:extLst>
              <a:ext uri="{FF2B5EF4-FFF2-40B4-BE49-F238E27FC236}">
                <a16:creationId xmlns:a16="http://schemas.microsoft.com/office/drawing/2014/main" id="{F64CCDEE-DC0F-4295-BA43-8023E78EA3B6}"/>
              </a:ext>
            </a:extLst>
          </p:cNvPr>
          <p:cNvSpPr txBox="1"/>
          <p:nvPr/>
        </p:nvSpPr>
        <p:spPr>
          <a:xfrm>
            <a:off x="4231522" y="1471531"/>
            <a:ext cx="6205857" cy="646331"/>
          </a:xfrm>
          <a:prstGeom prst="rect">
            <a:avLst/>
          </a:prstGeom>
          <a:solidFill>
            <a:srgbClr val="F2F2F2"/>
          </a:solidFill>
          <a:ln w="9525" cap="flat" cmpd="sng" algn="ctr">
            <a:solidFill>
              <a:srgbClr val="01D318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t" anchorCtr="0">
            <a:spAutoFit/>
          </a:bodyPr>
          <a:lstStyle>
            <a:defPPr>
              <a:defRPr lang="en-US"/>
            </a:defPPr>
            <a:lvl1pPr>
              <a:buSzPct val="100000"/>
              <a:buFont typeface="Trebuchet MS" panose="020B0603020202020204" pitchFamily="34" charset="0"/>
              <a:buChar char="​"/>
              <a:defRPr sz="2000">
                <a:solidFill>
                  <a:srgbClr val="575757"/>
                </a:solidFill>
              </a:defRPr>
            </a:lvl1pPr>
            <a:lvl2pPr marL="324000" lvl="1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•"/>
              <a:defRPr sz="2000">
                <a:solidFill>
                  <a:srgbClr val="575757"/>
                </a:solidFill>
              </a:defRPr>
            </a:lvl2pPr>
            <a:lvl3pPr marL="648000" lvl="2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–"/>
              <a:defRPr sz="2000">
                <a:solidFill>
                  <a:srgbClr val="575757"/>
                </a:solidFill>
              </a:defRPr>
            </a:lvl3pPr>
            <a:lvl4pPr marL="0" lvl="3">
              <a:buSzPct val="100000"/>
              <a:buFont typeface="Trebuchet MS" panose="020B0603020202020204" pitchFamily="34" charset="0"/>
              <a:buChar char="​"/>
              <a:defRPr sz="2400">
                <a:solidFill>
                  <a:srgbClr val="CC5200"/>
                </a:solidFill>
              </a:defRPr>
            </a:lvl4pPr>
            <a:lvl5pPr marL="0" lvl="4">
              <a:buSzPct val="100000"/>
              <a:buFont typeface="Trebuchet MS" panose="020B0603020202020204" pitchFamily="34" charset="0"/>
              <a:buChar char="​"/>
              <a:defRPr sz="2400" b="1">
                <a:solidFill>
                  <a:srgbClr val="575757"/>
                </a:solidFill>
              </a:defRPr>
            </a:lvl5pPr>
            <a:lvl6pPr marL="324000" lvl="5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•"/>
              <a:defRPr sz="2400">
                <a:solidFill>
                  <a:srgbClr val="575757"/>
                </a:solidFill>
              </a:defRPr>
            </a:lvl6pPr>
            <a:lvl7pPr marL="0" lvl="6">
              <a:buSzPct val="100000"/>
              <a:buFont typeface="Trebuchet MS" panose="020B0603020202020204" pitchFamily="34" charset="0"/>
              <a:buChar char="​"/>
              <a:defRPr sz="5400">
                <a:solidFill>
                  <a:srgbClr val="575757"/>
                </a:solidFill>
              </a:defRPr>
            </a:lvl7pPr>
            <a:lvl8pPr marL="0" lvl="7">
              <a:buSzPct val="100000"/>
              <a:buFont typeface="Trebuchet MS" panose="020B0603020202020204" pitchFamily="34" charset="0"/>
              <a:buChar char="​"/>
              <a:defRPr sz="6600">
                <a:solidFill>
                  <a:srgbClr val="CC5200"/>
                </a:solidFill>
              </a:defRPr>
            </a:lvl8pPr>
            <a:lvl9pPr marL="0" lvl="8">
              <a:buSzPct val="100000"/>
              <a:buFont typeface="Trebuchet MS" panose="020B0603020202020204" pitchFamily="34" charset="0"/>
              <a:buChar char="​"/>
              <a:defRPr sz="4400">
                <a:solidFill>
                  <a:srgbClr val="CC5200"/>
                </a:solidFill>
              </a:defRPr>
            </a:lvl9pPr>
          </a:lstStyle>
          <a:p>
            <a:pPr lvl="1">
              <a:spcBef>
                <a:spcPts val="600"/>
              </a:spcBef>
              <a:buClr>
                <a:schemeClr val="tx2"/>
              </a:buClr>
            </a:pPr>
            <a:r>
              <a:rPr lang="pt-BR" sz="1800" dirty="0">
                <a:solidFill>
                  <a:schemeClr val="tx2"/>
                </a:solidFill>
                <a:latin typeface="+mj-lt"/>
              </a:rPr>
              <a:t>Receber o valor de ~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R$1 Bi</a:t>
            </a:r>
            <a:r>
              <a:rPr lang="pt-BR" sz="1800" dirty="0">
                <a:solidFill>
                  <a:schemeClr val="tx2"/>
                </a:solidFill>
                <a:latin typeface="+mj-lt"/>
              </a:rPr>
              <a:t> no fechamento do negócio até dez/22.</a:t>
            </a:r>
          </a:p>
        </p:txBody>
      </p:sp>
      <p:sp>
        <p:nvSpPr>
          <p:cNvPr id="14" name="Rectangle 51">
            <a:extLst>
              <a:ext uri="{FF2B5EF4-FFF2-40B4-BE49-F238E27FC236}">
                <a16:creationId xmlns:a16="http://schemas.microsoft.com/office/drawing/2014/main" id="{1C0C49DA-792E-4861-A9FD-6ECA057C71FB}"/>
              </a:ext>
            </a:extLst>
          </p:cNvPr>
          <p:cNvSpPr/>
          <p:nvPr/>
        </p:nvSpPr>
        <p:spPr>
          <a:xfrm>
            <a:off x="384462" y="4962863"/>
            <a:ext cx="1472915" cy="984886"/>
          </a:xfrm>
          <a:prstGeom prst="rect">
            <a:avLst/>
          </a:prstGeom>
          <a:solidFill>
            <a:srgbClr val="4D4D4D"/>
          </a:solidFill>
          <a:ln w="9525" cap="rnd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600" dirty="0">
                <a:solidFill>
                  <a:srgbClr val="FFFFFF"/>
                </a:solidFill>
                <a:latin typeface="+mj-lt"/>
              </a:rPr>
              <a:t>Premissas</a:t>
            </a:r>
          </a:p>
        </p:txBody>
      </p:sp>
      <p:sp>
        <p:nvSpPr>
          <p:cNvPr id="15" name="ee4pContent1">
            <a:extLst>
              <a:ext uri="{FF2B5EF4-FFF2-40B4-BE49-F238E27FC236}">
                <a16:creationId xmlns:a16="http://schemas.microsoft.com/office/drawing/2014/main" id="{FF83AD28-1D39-4D0A-AAC1-0A0E8A014632}"/>
              </a:ext>
            </a:extLst>
          </p:cNvPr>
          <p:cNvSpPr txBox="1">
            <a:spLocks/>
          </p:cNvSpPr>
          <p:nvPr/>
        </p:nvSpPr>
        <p:spPr>
          <a:xfrm>
            <a:off x="1875600" y="4962863"/>
            <a:ext cx="9328555" cy="955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buSzPct val="100000"/>
              <a:buFont typeface="Trebuchet MS" panose="020B0603020202020204" pitchFamily="34" charset="0"/>
              <a:buChar char="​"/>
              <a:defRPr sz="2000">
                <a:solidFill>
                  <a:srgbClr val="575757"/>
                </a:solidFill>
              </a:defRPr>
            </a:lvl1pPr>
            <a:lvl2pPr marL="108000" lvl="1">
              <a:spcBef>
                <a:spcPts val="600"/>
              </a:spcBef>
              <a:buClr>
                <a:schemeClr val="tx2"/>
              </a:buClr>
              <a:buSzPct val="100000"/>
              <a:buFont typeface="Trebuchet MS" panose="020B0603020202020204" pitchFamily="34" charset="0"/>
              <a:defRPr>
                <a:solidFill>
                  <a:schemeClr val="tx2"/>
                </a:solidFill>
                <a:latin typeface="+mj-lt"/>
              </a:defRPr>
            </a:lvl2pPr>
            <a:lvl3pPr marL="648000" lvl="2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–"/>
              <a:defRPr sz="2000">
                <a:solidFill>
                  <a:srgbClr val="575757"/>
                </a:solidFill>
              </a:defRPr>
            </a:lvl3pPr>
            <a:lvl4pPr lvl="3">
              <a:buSzPct val="100000"/>
              <a:buFont typeface="Trebuchet MS" panose="020B0603020202020204" pitchFamily="34" charset="0"/>
              <a:buChar char="​"/>
              <a:defRPr sz="2400">
                <a:solidFill>
                  <a:srgbClr val="CC5200"/>
                </a:solidFill>
              </a:defRPr>
            </a:lvl4pPr>
            <a:lvl5pPr lvl="4">
              <a:buSzPct val="100000"/>
              <a:buFont typeface="Trebuchet MS" panose="020B0603020202020204" pitchFamily="34" charset="0"/>
              <a:buChar char="​"/>
              <a:defRPr sz="2400" b="1">
                <a:solidFill>
                  <a:srgbClr val="575757"/>
                </a:solidFill>
              </a:defRPr>
            </a:lvl5pPr>
            <a:lvl6pPr marL="324000" lvl="5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•"/>
              <a:defRPr sz="2400">
                <a:solidFill>
                  <a:srgbClr val="575757"/>
                </a:solidFill>
              </a:defRPr>
            </a:lvl6pPr>
            <a:lvl7pPr lvl="6">
              <a:buSzPct val="100000"/>
              <a:buFont typeface="Trebuchet MS" panose="020B0603020202020204" pitchFamily="34" charset="0"/>
              <a:buChar char="​"/>
              <a:defRPr sz="5400">
                <a:solidFill>
                  <a:srgbClr val="575757"/>
                </a:solidFill>
              </a:defRPr>
            </a:lvl7pPr>
            <a:lvl8pPr lvl="7">
              <a:buSzPct val="100000"/>
              <a:buFont typeface="Trebuchet MS" panose="020B0603020202020204" pitchFamily="34" charset="0"/>
              <a:buChar char="​"/>
              <a:defRPr sz="6600">
                <a:solidFill>
                  <a:srgbClr val="CC5200"/>
                </a:solidFill>
              </a:defRPr>
            </a:lvl8pPr>
            <a:lvl9pPr lvl="8">
              <a:buSzPct val="100000"/>
              <a:buFont typeface="Trebuchet MS" panose="020B0603020202020204" pitchFamily="34" charset="0"/>
              <a:buChar char="​"/>
              <a:defRPr sz="4400">
                <a:solidFill>
                  <a:srgbClr val="CC5200"/>
                </a:solidFill>
              </a:defRPr>
            </a:lvl9pPr>
          </a:lstStyle>
          <a:p>
            <a:pPr lvl="1"/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Simplicidade da soluções e máximo reuso do projeto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</a:rPr>
              <a:t>Venus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lvl="1"/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pt-BR" sz="1600" dirty="0"/>
              <a:t>Entrega de um faturamento full/sistêmico da LEMVIG até dez/22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9" name="ee4pContent1">
            <a:extLst>
              <a:ext uri="{FF2B5EF4-FFF2-40B4-BE49-F238E27FC236}">
                <a16:creationId xmlns:a16="http://schemas.microsoft.com/office/drawing/2014/main" id="{FF83AD28-1D39-4D0A-AAC1-0A0E8A014632}"/>
              </a:ext>
            </a:extLst>
          </p:cNvPr>
          <p:cNvSpPr txBox="1"/>
          <p:nvPr/>
        </p:nvSpPr>
        <p:spPr>
          <a:xfrm>
            <a:off x="1876257" y="2674815"/>
            <a:ext cx="9328555" cy="18774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5720" rIns="45720" bIns="45720" rtlCol="0" anchor="ctr" anchorCtr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buSzPct val="100000"/>
              <a:buFont typeface="Trebuchet MS" panose="020B0603020202020204" pitchFamily="34" charset="0"/>
              <a:buChar char="​"/>
              <a:defRPr sz="2000">
                <a:solidFill>
                  <a:srgbClr val="575757"/>
                </a:solidFill>
              </a:defRPr>
            </a:lvl1pPr>
            <a:lvl2pPr marL="108000" lvl="1">
              <a:spcBef>
                <a:spcPts val="600"/>
              </a:spcBef>
              <a:buClr>
                <a:schemeClr val="tx2"/>
              </a:buClr>
              <a:buSzPct val="100000"/>
              <a:buFont typeface="Trebuchet MS" panose="020B0603020202020204" pitchFamily="34" charset="0"/>
              <a:defRPr>
                <a:solidFill>
                  <a:schemeClr val="tx2"/>
                </a:solidFill>
                <a:latin typeface="+mj-lt"/>
              </a:defRPr>
            </a:lvl2pPr>
            <a:lvl3pPr marL="648000" lvl="2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–"/>
              <a:defRPr sz="2000">
                <a:solidFill>
                  <a:srgbClr val="575757"/>
                </a:solidFill>
              </a:defRPr>
            </a:lvl3pPr>
            <a:lvl4pPr lvl="3">
              <a:buSzPct val="100000"/>
              <a:buFont typeface="Trebuchet MS" panose="020B0603020202020204" pitchFamily="34" charset="0"/>
              <a:buChar char="​"/>
              <a:defRPr sz="2400">
                <a:solidFill>
                  <a:srgbClr val="CC5200"/>
                </a:solidFill>
              </a:defRPr>
            </a:lvl4pPr>
            <a:lvl5pPr lvl="4">
              <a:buSzPct val="100000"/>
              <a:buFont typeface="Trebuchet MS" panose="020B0603020202020204" pitchFamily="34" charset="0"/>
              <a:buChar char="​"/>
              <a:defRPr sz="2400" b="1">
                <a:solidFill>
                  <a:srgbClr val="575757"/>
                </a:solidFill>
              </a:defRPr>
            </a:lvl5pPr>
            <a:lvl6pPr marL="324000" lvl="5" indent="-216000">
              <a:buClr>
                <a:srgbClr val="CC5200"/>
              </a:buClr>
              <a:buSzPct val="100000"/>
              <a:buFont typeface="Trebuchet MS" panose="020B0603020202020204" pitchFamily="34" charset="0"/>
              <a:buChar char="•"/>
              <a:defRPr sz="2400">
                <a:solidFill>
                  <a:srgbClr val="575757"/>
                </a:solidFill>
              </a:defRPr>
            </a:lvl6pPr>
            <a:lvl7pPr lvl="6">
              <a:buSzPct val="100000"/>
              <a:buFont typeface="Trebuchet MS" panose="020B0603020202020204" pitchFamily="34" charset="0"/>
              <a:buChar char="​"/>
              <a:defRPr sz="5400">
                <a:solidFill>
                  <a:srgbClr val="575757"/>
                </a:solidFill>
              </a:defRPr>
            </a:lvl7pPr>
            <a:lvl8pPr lvl="7">
              <a:buSzPct val="100000"/>
              <a:buFont typeface="Trebuchet MS" panose="020B0603020202020204" pitchFamily="34" charset="0"/>
              <a:buChar char="​"/>
              <a:defRPr sz="6600">
                <a:solidFill>
                  <a:srgbClr val="CC5200"/>
                </a:solidFill>
              </a:defRPr>
            </a:lvl8pPr>
            <a:lvl9pPr lvl="8">
              <a:buSzPct val="100000"/>
              <a:buFont typeface="Trebuchet MS" panose="020B0603020202020204" pitchFamily="34" charset="0"/>
              <a:buChar char="​"/>
              <a:defRPr sz="4400">
                <a:solidFill>
                  <a:srgbClr val="CC5200"/>
                </a:solidFill>
              </a:defRPr>
            </a:lvl9pPr>
          </a:lstStyle>
          <a:p>
            <a:pPr lvl="1"/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- Obtenção de anuências, aprovações necessárias e elaboração de instrumentos jurídicos para o fechamento do negócio.</a:t>
            </a:r>
          </a:p>
          <a:p>
            <a:pPr lvl="1"/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- Reorganização Societária LEMVIG com </a:t>
            </a:r>
            <a:r>
              <a:rPr lang="pt-BR" sz="1600" dirty="0" err="1">
                <a:solidFill>
                  <a:schemeClr val="tx2">
                    <a:lumMod val="75000"/>
                  </a:schemeClr>
                </a:solidFill>
              </a:rPr>
              <a:t>drop-down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 ativos de infra estrutura.</a:t>
            </a:r>
          </a:p>
          <a:p>
            <a:pPr lvl="1"/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- Revisão e ajuste de licenças e das relações contratuais entre Oi, LEMVIG, fornecedores, clientes.</a:t>
            </a:r>
          </a:p>
          <a:p>
            <a:pPr lvl="1"/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- Ter a LEMVIG com independência operacional e financeira.</a:t>
            </a:r>
          </a:p>
          <a:p>
            <a:pPr lvl="1"/>
            <a:r>
              <a:rPr lang="pt-BR" sz="1600" dirty="0">
                <a:solidFill>
                  <a:schemeClr val="tx2">
                    <a:lumMod val="75000"/>
                  </a:schemeClr>
                </a:solidFill>
              </a:rPr>
              <a:t>- Cumprimento das demais as condições precedentes até o fechamento em dez/22.</a:t>
            </a:r>
          </a:p>
        </p:txBody>
      </p:sp>
      <p:sp>
        <p:nvSpPr>
          <p:cNvPr id="12" name="Seta para a Direita 11">
            <a:hlinkClick r:id="rId7" action="ppaction://hlinksldjump"/>
          </p:cNvPr>
          <p:cNvSpPr/>
          <p:nvPr/>
        </p:nvSpPr>
        <p:spPr>
          <a:xfrm>
            <a:off x="9415297" y="4286875"/>
            <a:ext cx="238137" cy="154591"/>
          </a:xfrm>
          <a:prstGeom prst="rightArrow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" name="Retângulo 19">
            <a:extLst>
              <a:ext uri="{FF2B5EF4-FFF2-40B4-BE49-F238E27FC236}">
                <a16:creationId xmlns:a16="http://schemas.microsoft.com/office/drawing/2014/main" id="{DC905382-1167-C05B-E717-3140E0FED0A3}"/>
              </a:ext>
            </a:extLst>
          </p:cNvPr>
          <p:cNvSpPr/>
          <p:nvPr/>
        </p:nvSpPr>
        <p:spPr>
          <a:xfrm>
            <a:off x="384462" y="2590839"/>
            <a:ext cx="1491795" cy="1954381"/>
          </a:xfrm>
          <a:prstGeom prst="rect">
            <a:avLst/>
          </a:prstGeom>
          <a:solidFill>
            <a:srgbClr val="4D4D4D"/>
          </a:solidFill>
          <a:ln w="9525" cap="rnd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 algn="ctr"/>
            <a:r>
              <a:rPr lang="pt-BR" sz="1600" dirty="0">
                <a:solidFill>
                  <a:schemeClr val="bg1"/>
                </a:solidFill>
                <a:latin typeface="+mj-lt"/>
                <a:ea typeface="+mn-ea"/>
                <a:cs typeface="+mn-cs"/>
                <a:sym typeface="Arial"/>
              </a:rPr>
              <a:t>Escop</a:t>
            </a:r>
            <a:r>
              <a:rPr lang="pt-BR" sz="1600" dirty="0">
                <a:solidFill>
                  <a:schemeClr val="bg1"/>
                </a:solidFill>
                <a:latin typeface="+mj-lt"/>
                <a:sym typeface="Arial"/>
              </a:rPr>
              <a:t>o</a:t>
            </a:r>
            <a:endParaRPr lang="pt-BR" sz="1600" dirty="0">
              <a:solidFill>
                <a:schemeClr val="bg1"/>
              </a:solidFill>
              <a:latin typeface="+mj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230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lnSpc>
                <a:spcPct val="80000"/>
              </a:lnSpc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>
                <a:solidFill>
                  <a:srgbClr val="4D4D4D"/>
                </a:solidFill>
                <a:latin typeface="Simplon BP Bold"/>
                <a:sym typeface="Simplon BP Bold"/>
              </a:rPr>
              <a:t>Condições Precedentes </a:t>
            </a:r>
            <a:br>
              <a:rPr lang="pt-BR" sz="2000" dirty="0">
                <a:solidFill>
                  <a:srgbClr val="4D4D4D"/>
                </a:solidFill>
                <a:latin typeface="Simplon BP Bold"/>
                <a:sym typeface="Simplon BP Bold"/>
              </a:rPr>
            </a:br>
            <a:r>
              <a:rPr lang="pt-BR" sz="2000" dirty="0">
                <a:solidFill>
                  <a:srgbClr val="4D4D4D"/>
                </a:solidFill>
                <a:latin typeface="Simplon BP Regular" pitchFamily="2" charset="0"/>
                <a:sym typeface="Simplon BP Bold"/>
              </a:rPr>
              <a:t>Pontos críticos do projeto</a:t>
            </a:r>
            <a:endParaRPr lang="pt-BR" sz="2000" dirty="0">
              <a:solidFill>
                <a:srgbClr val="4D4D4D"/>
              </a:solidFill>
              <a:latin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5</a:t>
            </a:fld>
            <a:endParaRPr lang="en-US" sz="1050" dirty="0">
              <a:solidFill>
                <a:schemeClr val="tx2"/>
              </a:solidFill>
            </a:endParaRPr>
          </a:p>
        </p:txBody>
      </p:sp>
      <p:graphicFrame>
        <p:nvGraphicFramePr>
          <p:cNvPr id="5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892137"/>
              </p:ext>
            </p:extLst>
          </p:nvPr>
        </p:nvGraphicFramePr>
        <p:xfrm>
          <a:off x="914399" y="1082897"/>
          <a:ext cx="10456985" cy="542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7114">
                  <a:extLst>
                    <a:ext uri="{9D8B030D-6E8A-4147-A177-3AD203B41FA5}">
                      <a16:colId xmlns:a16="http://schemas.microsoft.com/office/drawing/2014/main" val="1912167186"/>
                    </a:ext>
                  </a:extLst>
                </a:gridCol>
              </a:tblGrid>
              <a:tr h="222526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1" i="0" u="none" strike="noStrike" cap="none" spc="0" baseline="0" noProof="0" dirty="0">
                          <a:solidFill>
                            <a:schemeClr val="bg1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CP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1" i="0" u="none" strike="noStrike" cap="none" spc="0" baseline="0" noProof="0" dirty="0">
                          <a:solidFill>
                            <a:schemeClr val="bg1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Resumo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Aprovação CADE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2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Validação das declarações e garantias das partes nos documentos definitivos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3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chemeClr val="bg2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Idem CP 11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4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Obtenção de consentimento de terceiros necessários ao fechamento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56762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5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Efetivação da reorganização Societária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0060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6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chemeClr val="bg2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Idem</a:t>
                      </a:r>
                      <a:r>
                        <a:rPr lang="pt-BR" sz="1200" b="0" i="0" u="none" strike="noStrike" cap="none" spc="0" baseline="0" noProof="0" dirty="0">
                          <a:solidFill>
                            <a:schemeClr val="bg2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 </a:t>
                      </a:r>
                      <a:r>
                        <a:rPr lang="pt-BR" sz="1200" b="0" i="0" u="none" strike="noStrike" cap="none" spc="0" baseline="0" noProof="0" dirty="0">
                          <a:solidFill>
                            <a:schemeClr val="bg2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CP 14 e CP 15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38311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7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Obtenção de anuência da ANATEL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65157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8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Obtenção pelo Comprador ou suas Afiliadas de financiamento para realizar o pagamento da Parcela do Fechamento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437222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9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Garantia do Direito de Última Oferta e Confidencialidade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564202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10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Conclusão satisfatória da negociação dos Documentos Definitivos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401844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11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Ausência de efeito relevante adverso até a data de fechamento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51269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12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Forma de apresentação do pedido de autorização de alienação judicial dos Itens de Infraestrutura e da totalidade do capital social da SPE após a Reorganização Societária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47071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13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 Regras do Procedimento Competitivo do edital público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02335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14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Deferimento do pedido de autorização de alienação pelo Juízo da RJ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973173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15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Inexistência de decisão com efeito suspensivo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330878"/>
                  </a:ext>
                </a:extLst>
              </a:tr>
              <a:tr h="322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16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4000" algn="l" rtl="0" fontAlgn="ctr"/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Parâmetros financeiros de Endividamento e Capital de Giro da SPE antes do fechamento</a:t>
                      </a:r>
                    </a:p>
                  </a:txBody>
                  <a:tcPr marL="5454" marR="5454" marT="545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16025"/>
                  </a:ext>
                </a:extLst>
              </a:tr>
            </a:tbl>
          </a:graphicData>
        </a:graphic>
      </p:graphicFrame>
      <p:sp>
        <p:nvSpPr>
          <p:cNvPr id="7" name="Seta para a Direita 6">
            <a:hlinkClick r:id="rId6" action="ppaction://hlinksldjump"/>
          </p:cNvPr>
          <p:cNvSpPr/>
          <p:nvPr/>
        </p:nvSpPr>
        <p:spPr>
          <a:xfrm flipH="1">
            <a:off x="10755313" y="250221"/>
            <a:ext cx="238137" cy="154591"/>
          </a:xfrm>
          <a:prstGeom prst="rightArrow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2973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7258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5" imgW="421" imgH="423" progId="TCLayout.ActiveDocument.1">
                  <p:embed/>
                </p:oleObj>
              </mc:Choice>
              <mc:Fallback>
                <p:oleObj name="think-cell Slide" r:id="rId6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198835"/>
              </p:ext>
            </p:extLst>
          </p:nvPr>
        </p:nvGraphicFramePr>
        <p:xfrm>
          <a:off x="314182" y="991674"/>
          <a:ext cx="2704190" cy="5593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805">
                  <a:extLst>
                    <a:ext uri="{9D8B030D-6E8A-4147-A177-3AD203B41FA5}">
                      <a16:colId xmlns:a16="http://schemas.microsoft.com/office/drawing/2014/main" val="1912167186"/>
                    </a:ext>
                  </a:extLst>
                </a:gridCol>
                <a:gridCol w="1689385">
                  <a:extLst>
                    <a:ext uri="{9D8B030D-6E8A-4147-A177-3AD203B41FA5}">
                      <a16:colId xmlns:a16="http://schemas.microsoft.com/office/drawing/2014/main" val="3196360218"/>
                    </a:ext>
                  </a:extLst>
                </a:gridCol>
              </a:tblGrid>
              <a:tr h="50479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1" i="0" u="none" strike="noStrike" cap="none" spc="0" baseline="0" noProof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Frente</a:t>
                      </a:r>
                      <a:endParaRPr lang="pt-BR" sz="12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2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Líder N2</a:t>
                      </a: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080">
                <a:tc>
                  <a:txBody>
                    <a:bodyPr/>
                    <a:lstStyle/>
                    <a:p>
                      <a:pPr marL="7200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Societário</a:t>
                      </a:r>
                    </a:p>
                  </a:txBody>
                  <a:tcPr marL="81000" marR="81000" marT="27000" marB="27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 David Nunes</a:t>
                      </a:r>
                    </a:p>
                  </a:txBody>
                  <a:tcPr marL="81000" marR="81000" marT="27000" marB="27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004414"/>
                  </a:ext>
                </a:extLst>
              </a:tr>
              <a:tr h="848080">
                <a:tc>
                  <a:txBody>
                    <a:bodyPr/>
                    <a:lstStyle/>
                    <a:p>
                      <a:pPr marL="7200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Regulatório</a:t>
                      </a:r>
                    </a:p>
                  </a:txBody>
                  <a:tcPr marL="81000" marR="81000" marT="27000" marB="27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Viviane Perdigão</a:t>
                      </a:r>
                      <a:endParaRPr lang="pt-BR" sz="1200" b="0" i="0" u="none" strike="noStrike" cap="none" spc="0" baseline="0" noProof="0" dirty="0">
                        <a:solidFill>
                          <a:srgbClr val="000000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81000" marR="81000" marT="27000" marB="27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080">
                <a:tc>
                  <a:txBody>
                    <a:bodyPr/>
                    <a:lstStyle/>
                    <a:p>
                      <a:pPr marL="7200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Contábil</a:t>
                      </a:r>
                    </a:p>
                  </a:txBody>
                  <a:tcPr marL="51435" marR="51435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 David Nunes</a:t>
                      </a:r>
                    </a:p>
                  </a:txBody>
                  <a:tcPr marL="81000" marR="81000" marT="27000" marB="27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080">
                <a:tc>
                  <a:txBody>
                    <a:bodyPr/>
                    <a:lstStyle/>
                    <a:p>
                      <a:pPr marL="7200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Patrimônio</a:t>
                      </a:r>
                    </a:p>
                  </a:txBody>
                  <a:tcPr marL="51435" marR="51435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 Dulcio Junior</a:t>
                      </a:r>
                    </a:p>
                  </a:txBody>
                  <a:tcPr marL="44450" marR="4445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390133"/>
                  </a:ext>
                </a:extLst>
              </a:tr>
              <a:tr h="848080">
                <a:tc>
                  <a:txBody>
                    <a:bodyPr/>
                    <a:lstStyle/>
                    <a:p>
                      <a:pPr marL="7200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Atacado</a:t>
                      </a:r>
                    </a:p>
                  </a:txBody>
                  <a:tcPr marL="51435" marR="51435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 André Telles</a:t>
                      </a:r>
                    </a:p>
                  </a:txBody>
                  <a:tcPr marL="44450" marR="4445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009820"/>
                  </a:ext>
                </a:extLst>
              </a:tr>
              <a:tr h="848080">
                <a:tc>
                  <a:txBody>
                    <a:bodyPr/>
                    <a:lstStyle/>
                    <a:p>
                      <a:pPr marL="7200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Sistemas</a:t>
                      </a:r>
                    </a:p>
                  </a:txBody>
                  <a:tcPr marL="51435" marR="51435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 Sergio Barros</a:t>
                      </a:r>
                    </a:p>
                  </a:txBody>
                  <a:tcPr marL="81000" marR="81000" marT="27000" marB="27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492656"/>
                  </a:ext>
                </a:extLst>
              </a:tr>
            </a:tbl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Frentes de trabalho</a:t>
            </a:r>
          </a:p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dirty="0">
                <a:latin typeface="Simplon BP Regular" pitchFamily="2" charset="0"/>
              </a:rPr>
              <a:t>Principais áreas e ações</a:t>
            </a: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6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527" name="Retângulo 526"/>
          <p:cNvSpPr/>
          <p:nvPr>
            <p:custDataLst>
              <p:tags r:id="rId2"/>
            </p:custDataLst>
          </p:nvPr>
        </p:nvSpPr>
        <p:spPr bwMode="auto">
          <a:xfrm>
            <a:off x="3017837" y="3160713"/>
            <a:ext cx="8923338" cy="849313"/>
          </a:xfrm>
          <a:prstGeom prst="rect">
            <a:avLst/>
          </a:prstGeom>
          <a:solidFill>
            <a:srgbClr val="F2F2F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9" name="Retângulo 58"/>
          <p:cNvSpPr/>
          <p:nvPr>
            <p:custDataLst>
              <p:tags r:id="rId3"/>
            </p:custDataLst>
          </p:nvPr>
        </p:nvSpPr>
        <p:spPr bwMode="auto">
          <a:xfrm>
            <a:off x="3017837" y="1458913"/>
            <a:ext cx="8923338" cy="85090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chemeClr val="accent1"/>
                </a:solidFill>
              </a14:hiddenLine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1200" dirty="0">
              <a:solidFill>
                <a:schemeClr val="bg1"/>
              </a:solidFill>
              <a:latin typeface="Simplon BP Light" pitchFamily="2" charset="0"/>
            </a:endParaRPr>
          </a:p>
        </p:txBody>
      </p:sp>
      <p:sp>
        <p:nvSpPr>
          <p:cNvPr id="528" name="Retângulo 527"/>
          <p:cNvSpPr/>
          <p:nvPr>
            <p:custDataLst>
              <p:tags r:id="rId4"/>
            </p:custDataLst>
          </p:nvPr>
        </p:nvSpPr>
        <p:spPr bwMode="auto">
          <a:xfrm>
            <a:off x="3017837" y="4860925"/>
            <a:ext cx="8923338" cy="850900"/>
          </a:xfrm>
          <a:prstGeom prst="rect">
            <a:avLst/>
          </a:prstGeom>
          <a:solidFill>
            <a:srgbClr val="F2F2F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1" name="Retângulo 60"/>
          <p:cNvSpPr/>
          <p:nvPr>
            <p:custDataLst>
              <p:tags r:id="rId5"/>
            </p:custDataLst>
          </p:nvPr>
        </p:nvSpPr>
        <p:spPr bwMode="auto">
          <a:xfrm>
            <a:off x="3017837" y="2309813"/>
            <a:ext cx="8923338" cy="850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chemeClr val="accent1"/>
                </a:solidFill>
              </a14:hiddenLine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pt-BR" sz="1200" dirty="0">
              <a:solidFill>
                <a:schemeClr val="bg1"/>
              </a:solidFill>
              <a:latin typeface="Simplon BP Light" pitchFamily="2" charset="0"/>
            </a:endParaRPr>
          </a:p>
        </p:txBody>
      </p:sp>
      <p:sp>
        <p:nvSpPr>
          <p:cNvPr id="476" name="Body Level One…"/>
          <p:cNvSpPr txBox="1"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017837" y="992188"/>
            <a:ext cx="8923338" cy="2603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  <a:ext uri="{C572A759-6A51-4108-AA02-DFA0A04FC94B}">
              <ma14:wrappingTextBoxFlag xmlns:lc="http://schemas.openxmlformats.org/drawingml/2006/lockedCanvas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wrap="none" lIns="0" tIns="23813" rIns="0" bIns="23813" numCol="1" spcCol="0" anchor="ctr" anchorCtr="0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AAE248F-5B7B-4FC0-AE7C-2F1E2D704E43}" type="datetime'2''''''''''''''''''0''2''''2'''''''''''''''''">
              <a:rPr lang="pt-BR" altLang="en-US" b="1" kern="1200" smtClean="0">
                <a:latin typeface="+mn-lt"/>
                <a:ea typeface="+mn-ea"/>
                <a:cs typeface="+mn-cs"/>
              </a:rPr>
              <a:pPr/>
              <a:t>2022</a:t>
            </a:fld>
            <a:endParaRPr lang="pt-BR" b="1" kern="120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59" name="Espaço Reservado para Texto 2"/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3017838" y="1252538"/>
            <a:ext cx="1865313" cy="206375"/>
          </a:xfrm>
          <a:prstGeom prst="rect">
            <a:avLst/>
          </a:prstGeom>
          <a:solidFill>
            <a:srgbClr val="D6D7D9"/>
          </a:solidFill>
          <a:ln w="9525">
            <a:solidFill>
              <a:schemeClr val="tx1"/>
            </a:solidFill>
          </a:ln>
        </p:spPr>
        <p:txBody>
          <a:bodyPr vert="horz" wrap="none" lIns="0" tIns="20638" rIns="0" bIns="206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27B2BBC-3251-4045-86E6-C17E73594260}" type="datetime'''''''''''''''''ag''o''''''''''''''''''''''/''''''22'">
              <a:rPr lang="pt-BR" altLang="en-US" sz="1200" smtClean="0">
                <a:solidFill>
                  <a:srgbClr val="000000"/>
                </a:solidFill>
              </a:rPr>
              <a:pPr/>
              <a:t>ago/22</a:t>
            </a:fld>
            <a:endParaRPr lang="pt-BR" sz="1200" dirty="0">
              <a:solidFill>
                <a:srgbClr val="000000"/>
              </a:solidFill>
              <a:sym typeface="+mn-lt"/>
            </a:endParaRPr>
          </a:p>
        </p:txBody>
      </p:sp>
      <p:sp>
        <p:nvSpPr>
          <p:cNvPr id="460" name="Espaço Reservado para Texto 2"/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4883149" y="1252538"/>
            <a:ext cx="1785938" cy="206375"/>
          </a:xfrm>
          <a:prstGeom prst="rect">
            <a:avLst/>
          </a:prstGeom>
          <a:solidFill>
            <a:srgbClr val="D6D7D9"/>
          </a:solidFill>
          <a:ln w="9525">
            <a:solidFill>
              <a:schemeClr val="tx1"/>
            </a:solidFill>
          </a:ln>
        </p:spPr>
        <p:txBody>
          <a:bodyPr vert="horz" wrap="none" lIns="0" tIns="20638" rIns="0" bIns="206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6311C42-7993-4B27-BB40-C971566DDF74}" type="datetime'''''''''''s''e''''''t/''''''''2''''''''''''''''2'''''''''">
              <a:rPr lang="pt-BR" altLang="en-US" sz="1200" smtClean="0">
                <a:solidFill>
                  <a:srgbClr val="000000"/>
                </a:solidFill>
              </a:rPr>
              <a:pPr/>
              <a:t>set/22</a:t>
            </a:fld>
            <a:endParaRPr lang="pt-BR" sz="1200" dirty="0">
              <a:solidFill>
                <a:srgbClr val="000000"/>
              </a:solidFill>
              <a:sym typeface="+mn-lt"/>
            </a:endParaRPr>
          </a:p>
        </p:txBody>
      </p:sp>
      <p:sp>
        <p:nvSpPr>
          <p:cNvPr id="461" name="Espaço Reservado para Texto 2"/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6669088" y="1252538"/>
            <a:ext cx="1703388" cy="206375"/>
          </a:xfrm>
          <a:prstGeom prst="rect">
            <a:avLst/>
          </a:prstGeom>
          <a:solidFill>
            <a:srgbClr val="D6D7D9"/>
          </a:solidFill>
          <a:ln w="9525">
            <a:solidFill>
              <a:schemeClr val="tx1"/>
            </a:solidFill>
          </a:ln>
        </p:spPr>
        <p:txBody>
          <a:bodyPr vert="horz" wrap="none" lIns="0" tIns="20638" rIns="0" bIns="206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2EFEE95-60F1-4321-B58A-FE98714091E1}" type="datetime'''''''o''''ut/''''''''''2''''''''''''''''''''2'''''''''''''''">
              <a:rPr lang="pt-BR" altLang="en-US" sz="1200" smtClean="0">
                <a:solidFill>
                  <a:srgbClr val="000000"/>
                </a:solidFill>
              </a:rPr>
              <a:pPr/>
              <a:t>out/22</a:t>
            </a:fld>
            <a:endParaRPr lang="pt-BR" sz="1200" dirty="0">
              <a:solidFill>
                <a:srgbClr val="000000"/>
              </a:solidFill>
              <a:sym typeface="+mn-lt"/>
            </a:endParaRPr>
          </a:p>
        </p:txBody>
      </p:sp>
      <p:sp>
        <p:nvSpPr>
          <p:cNvPr id="462" name="Espaço Reservado para Texto 2"/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8372474" y="1252538"/>
            <a:ext cx="1784350" cy="206375"/>
          </a:xfrm>
          <a:prstGeom prst="rect">
            <a:avLst/>
          </a:prstGeom>
          <a:solidFill>
            <a:srgbClr val="D6D7D9"/>
          </a:solidFill>
          <a:ln w="9525">
            <a:solidFill>
              <a:schemeClr val="tx1"/>
            </a:solidFill>
          </a:ln>
        </p:spPr>
        <p:txBody>
          <a:bodyPr vert="horz" wrap="none" lIns="0" tIns="20638" rIns="0" bIns="206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8344641-E460-4A3C-A8E9-8C74B83F7C5F}" type="datetime'''''''''''''''''''''n''''''''o''''v/''''''''''''''''''2''2'">
              <a:rPr lang="pt-BR" altLang="en-US" sz="1200" smtClean="0">
                <a:solidFill>
                  <a:srgbClr val="000000"/>
                </a:solidFill>
              </a:rPr>
              <a:pPr/>
              <a:t>nov/22</a:t>
            </a:fld>
            <a:endParaRPr lang="pt-BR" sz="1200" dirty="0">
              <a:solidFill>
                <a:srgbClr val="000000"/>
              </a:solidFill>
              <a:sym typeface="+mn-lt"/>
            </a:endParaRPr>
          </a:p>
        </p:txBody>
      </p:sp>
      <p:sp>
        <p:nvSpPr>
          <p:cNvPr id="463" name="Espaço Reservado para Texto 2"/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10156824" y="1252538"/>
            <a:ext cx="1784350" cy="206375"/>
          </a:xfrm>
          <a:prstGeom prst="rect">
            <a:avLst/>
          </a:prstGeom>
          <a:solidFill>
            <a:srgbClr val="D6D7D9"/>
          </a:solidFill>
          <a:ln w="9525">
            <a:solidFill>
              <a:schemeClr val="tx1"/>
            </a:solidFill>
          </a:ln>
        </p:spPr>
        <p:txBody>
          <a:bodyPr vert="horz" wrap="none" lIns="0" tIns="20638" rIns="0" bIns="206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A6DEE56-C995-45DE-9E1E-3AD63CA725F1}" type="datetime'''''d''''''''''''e''''''z''''/''''''''''''''''''''''''''22'''">
              <a:rPr lang="pt-BR" altLang="en-US" sz="1200" smtClean="0">
                <a:solidFill>
                  <a:srgbClr val="000000"/>
                </a:solidFill>
              </a:rPr>
              <a:pPr/>
              <a:t>dez/22</a:t>
            </a:fld>
            <a:endParaRPr lang="pt-BR" sz="1200" dirty="0">
              <a:solidFill>
                <a:srgbClr val="000000"/>
              </a:solidFill>
              <a:sym typeface="+mn-lt"/>
            </a:endParaRPr>
          </a:p>
        </p:txBody>
      </p:sp>
      <p:cxnSp>
        <p:nvCxnSpPr>
          <p:cNvPr id="97" name="Conector reto 96"/>
          <p:cNvCxnSpPr/>
          <p:nvPr>
            <p:custDataLst>
              <p:tags r:id="rId12"/>
            </p:custDataLst>
          </p:nvPr>
        </p:nvCxnSpPr>
        <p:spPr bwMode="auto">
          <a:xfrm>
            <a:off x="3017838" y="1458913"/>
            <a:ext cx="0" cy="510381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/>
          <p:cNvCxnSpPr/>
          <p:nvPr>
            <p:custDataLst>
              <p:tags r:id="rId13"/>
            </p:custDataLst>
          </p:nvPr>
        </p:nvCxnSpPr>
        <p:spPr bwMode="auto">
          <a:xfrm>
            <a:off x="4883150" y="1458913"/>
            <a:ext cx="0" cy="510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>
            <p:custDataLst>
              <p:tags r:id="rId14"/>
            </p:custDataLst>
          </p:nvPr>
        </p:nvCxnSpPr>
        <p:spPr bwMode="auto">
          <a:xfrm>
            <a:off x="6669088" y="1458913"/>
            <a:ext cx="0" cy="510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>
            <p:custDataLst>
              <p:tags r:id="rId15"/>
            </p:custDataLst>
          </p:nvPr>
        </p:nvCxnSpPr>
        <p:spPr bwMode="auto">
          <a:xfrm>
            <a:off x="8372475" y="1458913"/>
            <a:ext cx="0" cy="510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>
            <p:custDataLst>
              <p:tags r:id="rId16"/>
            </p:custDataLst>
          </p:nvPr>
        </p:nvCxnSpPr>
        <p:spPr bwMode="auto">
          <a:xfrm>
            <a:off x="10156825" y="1458913"/>
            <a:ext cx="0" cy="510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ector reto 94"/>
          <p:cNvCxnSpPr/>
          <p:nvPr>
            <p:custDataLst>
              <p:tags r:id="rId17"/>
            </p:custDataLst>
          </p:nvPr>
        </p:nvCxnSpPr>
        <p:spPr bwMode="auto">
          <a:xfrm>
            <a:off x="11941175" y="1458913"/>
            <a:ext cx="0" cy="510381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onector reto 488"/>
          <p:cNvCxnSpPr/>
          <p:nvPr>
            <p:custDataLst>
              <p:tags r:id="rId18"/>
            </p:custDataLst>
          </p:nvPr>
        </p:nvCxnSpPr>
        <p:spPr bwMode="grayWhite">
          <a:xfrm>
            <a:off x="3017837" y="4010025"/>
            <a:ext cx="8923338" cy="0"/>
          </a:xfrm>
          <a:prstGeom prst="line">
            <a:avLst/>
          </a:prstGeom>
          <a:ln w="31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Conector reto 490"/>
          <p:cNvCxnSpPr/>
          <p:nvPr>
            <p:custDataLst>
              <p:tags r:id="rId19"/>
            </p:custDataLst>
          </p:nvPr>
        </p:nvCxnSpPr>
        <p:spPr bwMode="grayWhite">
          <a:xfrm>
            <a:off x="3017837" y="5711825"/>
            <a:ext cx="8923338" cy="0"/>
          </a:xfrm>
          <a:prstGeom prst="line">
            <a:avLst/>
          </a:prstGeom>
          <a:ln w="31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Conector reto 489"/>
          <p:cNvCxnSpPr/>
          <p:nvPr>
            <p:custDataLst>
              <p:tags r:id="rId20"/>
            </p:custDataLst>
          </p:nvPr>
        </p:nvCxnSpPr>
        <p:spPr bwMode="grayWhite">
          <a:xfrm>
            <a:off x="3017837" y="4860925"/>
            <a:ext cx="8923338" cy="0"/>
          </a:xfrm>
          <a:prstGeom prst="line">
            <a:avLst/>
          </a:prstGeom>
          <a:ln w="31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Conector reto 487"/>
          <p:cNvCxnSpPr/>
          <p:nvPr>
            <p:custDataLst>
              <p:tags r:id="rId21"/>
            </p:custDataLst>
          </p:nvPr>
        </p:nvCxnSpPr>
        <p:spPr bwMode="grayWhite">
          <a:xfrm>
            <a:off x="3017837" y="3160713"/>
            <a:ext cx="8923338" cy="0"/>
          </a:xfrm>
          <a:prstGeom prst="line">
            <a:avLst/>
          </a:prstGeom>
          <a:ln w="31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Conector reto 486"/>
          <p:cNvCxnSpPr/>
          <p:nvPr>
            <p:custDataLst>
              <p:tags r:id="rId22"/>
            </p:custDataLst>
          </p:nvPr>
        </p:nvCxnSpPr>
        <p:spPr bwMode="grayWhite">
          <a:xfrm>
            <a:off x="3017837" y="2309813"/>
            <a:ext cx="8923338" cy="0"/>
          </a:xfrm>
          <a:prstGeom prst="line">
            <a:avLst/>
          </a:prstGeom>
          <a:ln w="31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ector reto 98"/>
          <p:cNvCxnSpPr/>
          <p:nvPr>
            <p:custDataLst>
              <p:tags r:id="rId23"/>
            </p:custDataLst>
          </p:nvPr>
        </p:nvCxnSpPr>
        <p:spPr bwMode="auto">
          <a:xfrm>
            <a:off x="3017837" y="6562725"/>
            <a:ext cx="89233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/>
          <p:nvPr>
            <p:custDataLst>
              <p:tags r:id="rId24"/>
            </p:custDataLst>
          </p:nvPr>
        </p:nvCxnSpPr>
        <p:spPr bwMode="auto">
          <a:xfrm>
            <a:off x="3017837" y="1458913"/>
            <a:ext cx="89233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Retângulo 455"/>
          <p:cNvSpPr/>
          <p:nvPr>
            <p:custDataLst>
              <p:tags r:id="rId25"/>
            </p:custDataLst>
          </p:nvPr>
        </p:nvSpPr>
        <p:spPr bwMode="auto">
          <a:xfrm>
            <a:off x="3990976" y="4387850"/>
            <a:ext cx="4543425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C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7" name="Retângulo 26"/>
          <p:cNvSpPr/>
          <p:nvPr>
            <p:custDataLst>
              <p:tags r:id="rId26"/>
            </p:custDataLst>
          </p:nvPr>
        </p:nvSpPr>
        <p:spPr bwMode="auto">
          <a:xfrm>
            <a:off x="3910013" y="2687638"/>
            <a:ext cx="6084888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C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5" name="Retângulo 24"/>
          <p:cNvSpPr/>
          <p:nvPr>
            <p:custDataLst>
              <p:tags r:id="rId27"/>
            </p:custDataLst>
          </p:nvPr>
        </p:nvSpPr>
        <p:spPr bwMode="auto">
          <a:xfrm>
            <a:off x="4559300" y="1836738"/>
            <a:ext cx="2271713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C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64" name="Retângulo 463"/>
          <p:cNvSpPr/>
          <p:nvPr>
            <p:custDataLst>
              <p:tags r:id="rId28"/>
            </p:custDataLst>
          </p:nvPr>
        </p:nvSpPr>
        <p:spPr bwMode="auto">
          <a:xfrm>
            <a:off x="4316413" y="6089650"/>
            <a:ext cx="3975100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C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2" name="Retângulo 451"/>
          <p:cNvSpPr/>
          <p:nvPr>
            <p:custDataLst>
              <p:tags r:id="rId29"/>
            </p:custDataLst>
          </p:nvPr>
        </p:nvSpPr>
        <p:spPr bwMode="auto">
          <a:xfrm>
            <a:off x="3990975" y="3538538"/>
            <a:ext cx="6003925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C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7" name="Retângulo 456"/>
          <p:cNvSpPr/>
          <p:nvPr>
            <p:custDataLst>
              <p:tags r:id="rId30"/>
            </p:custDataLst>
          </p:nvPr>
        </p:nvSpPr>
        <p:spPr bwMode="auto">
          <a:xfrm>
            <a:off x="4964113" y="5238750"/>
            <a:ext cx="4786313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C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75" name="Triângulo isósceles 474"/>
          <p:cNvSpPr/>
          <p:nvPr>
            <p:custDataLst>
              <p:tags r:id="rId31"/>
            </p:custDataLst>
          </p:nvPr>
        </p:nvSpPr>
        <p:spPr bwMode="gray">
          <a:xfrm>
            <a:off x="9693275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0" name="Triângulo isósceles 39"/>
          <p:cNvSpPr/>
          <p:nvPr>
            <p:custDataLst>
              <p:tags r:id="rId32"/>
            </p:custDataLst>
          </p:nvPr>
        </p:nvSpPr>
        <p:spPr bwMode="gray">
          <a:xfrm>
            <a:off x="8477250" y="43703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0" name="Triângulo isósceles 449"/>
          <p:cNvSpPr/>
          <p:nvPr>
            <p:custDataLst>
              <p:tags r:id="rId33"/>
            </p:custDataLst>
          </p:nvPr>
        </p:nvSpPr>
        <p:spPr bwMode="gray">
          <a:xfrm>
            <a:off x="8234363" y="60721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Triângulo isósceles 34"/>
          <p:cNvSpPr/>
          <p:nvPr>
            <p:custDataLst>
              <p:tags r:id="rId34"/>
            </p:custDataLst>
          </p:nvPr>
        </p:nvSpPr>
        <p:spPr bwMode="gray">
          <a:xfrm>
            <a:off x="7504113" y="43703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72" name="Triângulo isósceles 471"/>
          <p:cNvSpPr/>
          <p:nvPr>
            <p:custDataLst>
              <p:tags r:id="rId35"/>
            </p:custDataLst>
          </p:nvPr>
        </p:nvSpPr>
        <p:spPr bwMode="gray">
          <a:xfrm>
            <a:off x="8801100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65" name="Triângulo isósceles 464"/>
          <p:cNvSpPr/>
          <p:nvPr>
            <p:custDataLst>
              <p:tags r:id="rId36"/>
            </p:custDataLst>
          </p:nvPr>
        </p:nvSpPr>
        <p:spPr bwMode="gray">
          <a:xfrm>
            <a:off x="7423150" y="60721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" name="Triângulo isósceles 2"/>
          <p:cNvSpPr/>
          <p:nvPr>
            <p:custDataLst>
              <p:tags r:id="rId37"/>
            </p:custDataLst>
          </p:nvPr>
        </p:nvSpPr>
        <p:spPr bwMode="gray">
          <a:xfrm>
            <a:off x="7016750" y="43703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5" name="Triângulo isósceles 454"/>
          <p:cNvSpPr/>
          <p:nvPr>
            <p:custDataLst>
              <p:tags r:id="rId38"/>
            </p:custDataLst>
          </p:nvPr>
        </p:nvSpPr>
        <p:spPr bwMode="gray">
          <a:xfrm>
            <a:off x="9937750" y="35210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66" name="Triângulo isósceles 465"/>
          <p:cNvSpPr/>
          <p:nvPr>
            <p:custDataLst>
              <p:tags r:id="rId39"/>
            </p:custDataLst>
          </p:nvPr>
        </p:nvSpPr>
        <p:spPr bwMode="gray">
          <a:xfrm>
            <a:off x="6611938" y="60721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8" name="Triângulo isósceles 457"/>
          <p:cNvSpPr/>
          <p:nvPr>
            <p:custDataLst>
              <p:tags r:id="rId40"/>
            </p:custDataLst>
          </p:nvPr>
        </p:nvSpPr>
        <p:spPr bwMode="gray">
          <a:xfrm>
            <a:off x="7585075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" name="Triângulo isósceles 8"/>
          <p:cNvSpPr/>
          <p:nvPr>
            <p:custDataLst>
              <p:tags r:id="rId41"/>
            </p:custDataLst>
          </p:nvPr>
        </p:nvSpPr>
        <p:spPr bwMode="gray">
          <a:xfrm>
            <a:off x="6935788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6" name="Triângulo isósceles 25"/>
          <p:cNvSpPr/>
          <p:nvPr>
            <p:custDataLst>
              <p:tags r:id="rId42"/>
            </p:custDataLst>
          </p:nvPr>
        </p:nvSpPr>
        <p:spPr bwMode="gray">
          <a:xfrm>
            <a:off x="9937750" y="26701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3" name="Triângulo isósceles 32"/>
          <p:cNvSpPr/>
          <p:nvPr>
            <p:custDataLst>
              <p:tags r:id="rId43"/>
            </p:custDataLst>
          </p:nvPr>
        </p:nvSpPr>
        <p:spPr bwMode="gray">
          <a:xfrm>
            <a:off x="6611938" y="43703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68" name="Triângulo isósceles 467"/>
          <p:cNvSpPr/>
          <p:nvPr>
            <p:custDataLst>
              <p:tags r:id="rId44"/>
            </p:custDataLst>
          </p:nvPr>
        </p:nvSpPr>
        <p:spPr bwMode="gray">
          <a:xfrm>
            <a:off x="6205538" y="60721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3" name="Triângulo isósceles 452"/>
          <p:cNvSpPr/>
          <p:nvPr>
            <p:custDataLst>
              <p:tags r:id="rId45"/>
            </p:custDataLst>
          </p:nvPr>
        </p:nvSpPr>
        <p:spPr bwMode="gray">
          <a:xfrm>
            <a:off x="9207500" y="35210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E7184B24-8DDA-049B-C99F-3124BF25EB34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5718175" y="60721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1" name="Triângulo isósceles 30"/>
          <p:cNvSpPr/>
          <p:nvPr>
            <p:custDataLst>
              <p:tags r:id="rId47"/>
            </p:custDataLst>
          </p:nvPr>
        </p:nvSpPr>
        <p:spPr bwMode="gray">
          <a:xfrm>
            <a:off x="8070850" y="26701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79" name="Triângulo isósceles 478"/>
          <p:cNvSpPr/>
          <p:nvPr>
            <p:custDataLst>
              <p:tags r:id="rId48"/>
            </p:custDataLst>
          </p:nvPr>
        </p:nvSpPr>
        <p:spPr bwMode="gray">
          <a:xfrm>
            <a:off x="5556250" y="43703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4" name="Triângulo isósceles 453"/>
          <p:cNvSpPr/>
          <p:nvPr>
            <p:custDataLst>
              <p:tags r:id="rId49"/>
            </p:custDataLst>
          </p:nvPr>
        </p:nvSpPr>
        <p:spPr bwMode="gray">
          <a:xfrm>
            <a:off x="6367463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8" name="Triângulo isósceles 27"/>
          <p:cNvSpPr/>
          <p:nvPr>
            <p:custDataLst>
              <p:tags r:id="rId50"/>
            </p:custDataLst>
          </p:nvPr>
        </p:nvSpPr>
        <p:spPr bwMode="gray">
          <a:xfrm>
            <a:off x="8315325" y="35210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9" name="Triângulo isósceles 18"/>
          <p:cNvSpPr/>
          <p:nvPr>
            <p:custDataLst>
              <p:tags r:id="rId51"/>
            </p:custDataLst>
          </p:nvPr>
        </p:nvSpPr>
        <p:spPr bwMode="gray">
          <a:xfrm>
            <a:off x="6773863" y="18192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0" name="Triângulo isósceles 29"/>
          <p:cNvSpPr/>
          <p:nvPr>
            <p:custDataLst>
              <p:tags r:id="rId52"/>
            </p:custDataLst>
          </p:nvPr>
        </p:nvSpPr>
        <p:spPr bwMode="gray">
          <a:xfrm>
            <a:off x="4826000" y="43703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67" name="Triângulo isósceles 466"/>
          <p:cNvSpPr/>
          <p:nvPr>
            <p:custDataLst>
              <p:tags r:id="rId53"/>
            </p:custDataLst>
          </p:nvPr>
        </p:nvSpPr>
        <p:spPr bwMode="gray">
          <a:xfrm>
            <a:off x="5151438" y="60721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49" name="Triângulo isósceles 448"/>
          <p:cNvSpPr/>
          <p:nvPr>
            <p:custDataLst>
              <p:tags r:id="rId54"/>
            </p:custDataLst>
          </p:nvPr>
        </p:nvSpPr>
        <p:spPr bwMode="gray">
          <a:xfrm>
            <a:off x="5070475" y="35210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9" name="Triângulo isósceles 28"/>
          <p:cNvSpPr/>
          <p:nvPr>
            <p:custDataLst>
              <p:tags r:id="rId55"/>
            </p:custDataLst>
          </p:nvPr>
        </p:nvSpPr>
        <p:spPr bwMode="gray">
          <a:xfrm>
            <a:off x="5313363" y="26701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74" name="Triângulo isósceles 473"/>
          <p:cNvSpPr/>
          <p:nvPr>
            <p:custDataLst>
              <p:tags r:id="rId56"/>
            </p:custDataLst>
          </p:nvPr>
        </p:nvSpPr>
        <p:spPr bwMode="gray">
          <a:xfrm>
            <a:off x="5637213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" name="Triângulo isósceles 9"/>
          <p:cNvSpPr/>
          <p:nvPr>
            <p:custDataLst>
              <p:tags r:id="rId57"/>
            </p:custDataLst>
          </p:nvPr>
        </p:nvSpPr>
        <p:spPr bwMode="gray">
          <a:xfrm>
            <a:off x="4502150" y="18192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48" name="Triângulo isósceles 447"/>
          <p:cNvSpPr/>
          <p:nvPr>
            <p:custDataLst>
              <p:tags r:id="rId58"/>
            </p:custDataLst>
          </p:nvPr>
        </p:nvSpPr>
        <p:spPr bwMode="gray">
          <a:xfrm>
            <a:off x="4906963" y="5221288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0FDDF4CE-01D6-E7D9-B9DB-BE8EA97E882B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4583113" y="6072188"/>
            <a:ext cx="114300" cy="114300"/>
          </a:xfrm>
          <a:prstGeom prst="diamond">
            <a:avLst/>
          </a:prstGeom>
          <a:solidFill>
            <a:srgbClr val="008210"/>
          </a:solidFill>
          <a:ln w="9525" cap="flat" cmpd="sng" algn="ctr">
            <a:solidFill>
              <a:srgbClr val="00821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73" name="Triângulo isósceles 472"/>
          <p:cNvSpPr/>
          <p:nvPr>
            <p:custDataLst>
              <p:tags r:id="rId60"/>
            </p:custDataLst>
          </p:nvPr>
        </p:nvSpPr>
        <p:spPr bwMode="gray">
          <a:xfrm>
            <a:off x="3933825" y="3521075"/>
            <a:ext cx="114300" cy="114300"/>
          </a:xfrm>
          <a:prstGeom prst="diamond">
            <a:avLst/>
          </a:prstGeom>
          <a:solidFill>
            <a:srgbClr val="008210"/>
          </a:solidFill>
          <a:ln w="9525" cap="flat" cmpd="sng" algn="ctr">
            <a:solidFill>
              <a:srgbClr val="00821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2BDB7B35-1A35-89EC-5BDD-AA32BEC7A0C1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4502150" y="4370388"/>
            <a:ext cx="114300" cy="114300"/>
          </a:xfrm>
          <a:prstGeom prst="diamond">
            <a:avLst/>
          </a:prstGeom>
          <a:solidFill>
            <a:srgbClr val="008210"/>
          </a:solidFill>
          <a:ln w="9525" cap="flat" cmpd="sng" algn="ctr">
            <a:solidFill>
              <a:srgbClr val="00821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4" name="Triângulo isósceles 23"/>
          <p:cNvSpPr/>
          <p:nvPr>
            <p:custDataLst>
              <p:tags r:id="rId62"/>
            </p:custDataLst>
          </p:nvPr>
        </p:nvSpPr>
        <p:spPr bwMode="gray">
          <a:xfrm>
            <a:off x="4178300" y="2670175"/>
            <a:ext cx="114300" cy="114300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E45631CC-5BF2-4C18-A39C-3461C7D3F71A}">
              <a14:hiddenSp3d xmlns:a14="http://schemas.microsoft.com/office/drawing/2010/main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" name="Seta para a Direita 11">
            <a:hlinkClick r:id="rId67" action="ppaction://hlinksldjump"/>
          </p:cNvPr>
          <p:cNvSpPr/>
          <p:nvPr/>
        </p:nvSpPr>
        <p:spPr>
          <a:xfrm>
            <a:off x="10755313" y="250221"/>
            <a:ext cx="238137" cy="154591"/>
          </a:xfrm>
          <a:prstGeom prst="rightArrow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257983" y="217836"/>
            <a:ext cx="428002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Líderes</a:t>
            </a:r>
            <a:r>
              <a:rPr kumimoji="0" lang="pt-BR" sz="8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br>
              <a:rPr kumimoji="0" lang="pt-BR" sz="8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</a:br>
            <a:r>
              <a:rPr kumimoji="0" lang="pt-BR" sz="800" b="0" i="0" u="none" strike="noStrike" cap="none" spc="0" normalizeH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das Áreas</a:t>
            </a:r>
            <a:endParaRPr kumimoji="0" lang="pt-BR" sz="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3932345" y="1971259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Adequar LEMVIG ao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escopo do projeto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5804694" y="1933575"/>
            <a:ext cx="20526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Aprovar aumento de capital em CDG/REDIR/</a:t>
            </a:r>
            <a:r>
              <a:rPr lang="pt-BR" sz="800" dirty="0">
                <a:solidFill>
                  <a:srgbClr val="000000"/>
                </a:solidFill>
              </a:rPr>
              <a:t>CA</a:t>
            </a: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/AG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3606384" y="2792164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Minuta para o pleito de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anuência Anatel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8012758" y="3674385"/>
            <a:ext cx="71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 err="1">
                <a:solidFill>
                  <a:srgbClr val="000000"/>
                </a:solidFill>
                <a:ea typeface="+mn-ea"/>
                <a:cs typeface="+mn-cs"/>
              </a:rPr>
              <a:t>Drop</a:t>
            </a: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 de ativos</a:t>
            </a:r>
          </a:p>
        </p:txBody>
      </p:sp>
      <p:sp>
        <p:nvSpPr>
          <p:cNvPr id="144" name="Retângulo 143"/>
          <p:cNvSpPr/>
          <p:nvPr/>
        </p:nvSpPr>
        <p:spPr>
          <a:xfrm>
            <a:off x="4330604" y="4030312"/>
            <a:ext cx="20526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Qualificação Terrenos – próprios, 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terceiros, locação, comodato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5" name="Retângulo 144"/>
          <p:cNvSpPr/>
          <p:nvPr/>
        </p:nvSpPr>
        <p:spPr>
          <a:xfrm>
            <a:off x="4722804" y="4476746"/>
            <a:ext cx="18660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Análise do tipo 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(simples/notificação oneroso/anuência)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8" name="Retângulo 147"/>
          <p:cNvSpPr/>
          <p:nvPr/>
        </p:nvSpPr>
        <p:spPr>
          <a:xfrm>
            <a:off x="7175014" y="4522394"/>
            <a:ext cx="7913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Aditamentos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assinado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53" name="Retângulo 152"/>
          <p:cNvSpPr/>
          <p:nvPr/>
        </p:nvSpPr>
        <p:spPr>
          <a:xfrm>
            <a:off x="8141059" y="4554120"/>
            <a:ext cx="87051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Carga dos contratos</a:t>
            </a:r>
          </a:p>
        </p:txBody>
      </p:sp>
      <p:sp>
        <p:nvSpPr>
          <p:cNvPr id="154" name="Retângulo 153"/>
          <p:cNvSpPr/>
          <p:nvPr/>
        </p:nvSpPr>
        <p:spPr>
          <a:xfrm>
            <a:off x="6097510" y="4555205"/>
            <a:ext cx="11586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Notificações e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Anuências</a:t>
            </a:r>
          </a:p>
        </p:txBody>
      </p:sp>
      <p:sp>
        <p:nvSpPr>
          <p:cNvPr id="155" name="Retângulo 154"/>
          <p:cNvSpPr/>
          <p:nvPr/>
        </p:nvSpPr>
        <p:spPr>
          <a:xfrm>
            <a:off x="7625149" y="2816648"/>
            <a:ext cx="10533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Anuência ANATEL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56" name="Retângulo 155"/>
          <p:cNvSpPr/>
          <p:nvPr/>
        </p:nvSpPr>
        <p:spPr>
          <a:xfrm>
            <a:off x="7646143" y="6178550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Sistemas em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produção</a:t>
            </a:r>
          </a:p>
        </p:txBody>
      </p:sp>
      <p:sp>
        <p:nvSpPr>
          <p:cNvPr id="157" name="Retângulo 156"/>
          <p:cNvSpPr/>
          <p:nvPr/>
        </p:nvSpPr>
        <p:spPr>
          <a:xfrm>
            <a:off x="4327741" y="5357396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Validação</a:t>
            </a:r>
            <a:r>
              <a:rPr lang="pt-BR" sz="800" dirty="0">
                <a:solidFill>
                  <a:srgbClr val="FF0000"/>
                </a:solidFill>
              </a:rPr>
              <a:t> </a:t>
            </a:r>
            <a:r>
              <a:rPr lang="pt-BR" sz="800" dirty="0">
                <a:solidFill>
                  <a:schemeClr val="accent6"/>
                </a:solidFill>
              </a:rPr>
              <a:t>do 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cruzamento de DEINFS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58" name="Retângulo 157"/>
          <p:cNvSpPr/>
          <p:nvPr/>
        </p:nvSpPr>
        <p:spPr>
          <a:xfrm>
            <a:off x="5730123" y="5354068"/>
            <a:ext cx="14019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Aditamentos e anexos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preparados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59" name="Retângulo 158"/>
          <p:cNvSpPr/>
          <p:nvPr/>
        </p:nvSpPr>
        <p:spPr>
          <a:xfrm>
            <a:off x="7016555" y="5357396"/>
            <a:ext cx="12745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Notificações enviadas e aditamentos assinados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61" name="Retângulo 160"/>
          <p:cNvSpPr/>
          <p:nvPr/>
        </p:nvSpPr>
        <p:spPr>
          <a:xfrm>
            <a:off x="8236633" y="5333713"/>
            <a:ext cx="12745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Envio do </a:t>
            </a:r>
            <a:r>
              <a:rPr lang="pt-BR" sz="800" dirty="0" err="1">
                <a:solidFill>
                  <a:schemeClr val="accent6"/>
                </a:solidFill>
              </a:rPr>
              <a:t>pré</a:t>
            </a:r>
            <a:r>
              <a:rPr lang="pt-BR" sz="800" dirty="0">
                <a:solidFill>
                  <a:schemeClr val="accent6"/>
                </a:solidFill>
              </a:rPr>
              <a:t> 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faturamento segregado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375595" y="5335588"/>
            <a:ext cx="7913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Envio do 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faturamento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cxnSp>
        <p:nvCxnSpPr>
          <p:cNvPr id="15" name="Conector reto 14"/>
          <p:cNvCxnSpPr/>
          <p:nvPr/>
        </p:nvCxnSpPr>
        <p:spPr>
          <a:xfrm>
            <a:off x="4307407" y="1549879"/>
            <a:ext cx="0" cy="5016201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1" name="Conector reto 80"/>
          <p:cNvCxnSpPr/>
          <p:nvPr/>
        </p:nvCxnSpPr>
        <p:spPr>
          <a:xfrm>
            <a:off x="11270918" y="1546524"/>
            <a:ext cx="0" cy="5016201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4" name="Rectangle 196">
            <a:extLst>
              <a:ext uri="{FF2B5EF4-FFF2-40B4-BE49-F238E27FC236}">
                <a16:creationId xmlns:a16="http://schemas.microsoft.com/office/drawing/2014/main" id="{72184983-655D-0555-B61D-D06B87CE4C04}"/>
              </a:ext>
            </a:extLst>
          </p:cNvPr>
          <p:cNvSpPr/>
          <p:nvPr/>
        </p:nvSpPr>
        <p:spPr>
          <a:xfrm>
            <a:off x="10660601" y="6637516"/>
            <a:ext cx="324000" cy="39600"/>
          </a:xfrm>
          <a:prstGeom prst="rect">
            <a:avLst/>
          </a:prstGeom>
          <a:solidFill>
            <a:srgbClr val="FF0000"/>
          </a:solidFill>
          <a:ln w="9525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5" name="TextBox 197">
            <a:extLst>
              <a:ext uri="{FF2B5EF4-FFF2-40B4-BE49-F238E27FC236}">
                <a16:creationId xmlns:a16="http://schemas.microsoft.com/office/drawing/2014/main" id="{B1C13B27-89CB-E9F5-DB92-5D5C41AD1512}"/>
              </a:ext>
            </a:extLst>
          </p:cNvPr>
          <p:cNvSpPr txBox="1"/>
          <p:nvPr/>
        </p:nvSpPr>
        <p:spPr>
          <a:xfrm>
            <a:off x="10970361" y="6629929"/>
            <a:ext cx="1152000" cy="10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700" dirty="0" err="1">
                <a:solidFill>
                  <a:srgbClr val="4D4D4D"/>
                </a:solidFill>
              </a:rPr>
              <a:t>Closing</a:t>
            </a:r>
            <a:endParaRPr lang="en-BR" sz="700" dirty="0">
              <a:solidFill>
                <a:srgbClr val="4D4D4D"/>
              </a:solidFill>
            </a:endParaRPr>
          </a:p>
        </p:txBody>
      </p:sp>
      <p:sp>
        <p:nvSpPr>
          <p:cNvPr id="89" name="Retângulo 88"/>
          <p:cNvSpPr/>
          <p:nvPr/>
        </p:nvSpPr>
        <p:spPr>
          <a:xfrm>
            <a:off x="4352760" y="2792164"/>
            <a:ext cx="20526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Minuta para o pleito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 de anuência CADE</a:t>
            </a:r>
          </a:p>
        </p:txBody>
      </p:sp>
      <p:sp>
        <p:nvSpPr>
          <p:cNvPr id="92" name="Retângulo 91"/>
          <p:cNvSpPr/>
          <p:nvPr/>
        </p:nvSpPr>
        <p:spPr>
          <a:xfrm>
            <a:off x="4653735" y="3645164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Revisar perímetro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dos ativos</a:t>
            </a:r>
          </a:p>
        </p:txBody>
      </p:sp>
      <p:sp>
        <p:nvSpPr>
          <p:cNvPr id="96" name="Retângulo 95"/>
          <p:cNvSpPr/>
          <p:nvPr/>
        </p:nvSpPr>
        <p:spPr>
          <a:xfrm>
            <a:off x="9468237" y="2816648"/>
            <a:ext cx="10533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Anuência CADE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98" name="Retângulo 97"/>
          <p:cNvSpPr/>
          <p:nvPr/>
        </p:nvSpPr>
        <p:spPr>
          <a:xfrm>
            <a:off x="9529180" y="3674385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Fechamento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contábil</a:t>
            </a:r>
          </a:p>
        </p:txBody>
      </p:sp>
      <p:sp>
        <p:nvSpPr>
          <p:cNvPr id="101" name="Retângulo 100"/>
          <p:cNvSpPr/>
          <p:nvPr/>
        </p:nvSpPr>
        <p:spPr>
          <a:xfrm>
            <a:off x="8937632" y="3663752"/>
            <a:ext cx="6540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Laudo 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Contábil</a:t>
            </a:r>
          </a:p>
        </p:txBody>
      </p:sp>
      <p:sp>
        <p:nvSpPr>
          <p:cNvPr id="104" name="Retângulo 103"/>
          <p:cNvSpPr/>
          <p:nvPr/>
        </p:nvSpPr>
        <p:spPr>
          <a:xfrm>
            <a:off x="6853475" y="6178550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Homologação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Concluída</a:t>
            </a:r>
          </a:p>
        </p:txBody>
      </p:sp>
      <p:sp>
        <p:nvSpPr>
          <p:cNvPr id="106" name="Retângulo 105"/>
          <p:cNvSpPr/>
          <p:nvPr/>
        </p:nvSpPr>
        <p:spPr>
          <a:xfrm>
            <a:off x="6088934" y="5757450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SAP B1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Parametrizado</a:t>
            </a:r>
          </a:p>
        </p:txBody>
      </p:sp>
      <p:sp>
        <p:nvSpPr>
          <p:cNvPr id="108" name="Retângulo 107"/>
          <p:cNvSpPr/>
          <p:nvPr/>
        </p:nvSpPr>
        <p:spPr>
          <a:xfrm>
            <a:off x="4711901" y="5790783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Contratação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da G2</a:t>
            </a:r>
          </a:p>
        </p:txBody>
      </p:sp>
      <p:sp>
        <p:nvSpPr>
          <p:cNvPr id="109" name="Retângulo 108"/>
          <p:cNvSpPr/>
          <p:nvPr/>
        </p:nvSpPr>
        <p:spPr>
          <a:xfrm>
            <a:off x="5861703" y="6167311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Infra e ambiente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SAP B1</a:t>
            </a:r>
          </a:p>
        </p:txBody>
      </p:sp>
      <p:sp>
        <p:nvSpPr>
          <p:cNvPr id="115" name="Retângulo 114"/>
          <p:cNvSpPr/>
          <p:nvPr/>
        </p:nvSpPr>
        <p:spPr>
          <a:xfrm>
            <a:off x="3518453" y="3645164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Base 8k </a:t>
            </a:r>
            <a:b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</a:b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torres</a:t>
            </a:r>
          </a:p>
        </p:txBody>
      </p:sp>
      <p:sp>
        <p:nvSpPr>
          <p:cNvPr id="117" name="Retângulo 116"/>
          <p:cNvSpPr/>
          <p:nvPr/>
        </p:nvSpPr>
        <p:spPr>
          <a:xfrm>
            <a:off x="5073600" y="4914067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Regras de reembolso de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>
                <a:solidFill>
                  <a:schemeClr val="accent6"/>
                </a:solidFill>
              </a:rPr>
              <a:t>energia</a:t>
            </a:r>
            <a:endParaRPr lang="pt-BR" sz="8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03" name="Retângulo 102"/>
          <p:cNvSpPr/>
          <p:nvPr/>
        </p:nvSpPr>
        <p:spPr>
          <a:xfrm>
            <a:off x="6383242" y="4049137"/>
            <a:ext cx="14019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Definição contratos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 err="1">
                <a:solidFill>
                  <a:schemeClr val="accent6"/>
                </a:solidFill>
              </a:rPr>
              <a:t>intercompany</a:t>
            </a:r>
            <a:r>
              <a:rPr lang="pt-BR" sz="800" dirty="0">
                <a:solidFill>
                  <a:schemeClr val="accent6"/>
                </a:solidFill>
              </a:rPr>
              <a:t> de terrenos</a:t>
            </a:r>
          </a:p>
        </p:txBody>
      </p:sp>
      <p:sp>
        <p:nvSpPr>
          <p:cNvPr id="105" name="Retângulo 104"/>
          <p:cNvSpPr/>
          <p:nvPr/>
        </p:nvSpPr>
        <p:spPr>
          <a:xfrm>
            <a:off x="6296438" y="4892131"/>
            <a:ext cx="14019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chemeClr val="accent6"/>
                </a:solidFill>
              </a:rPr>
              <a:t>Definição contratos</a:t>
            </a:r>
            <a:br>
              <a:rPr lang="pt-BR" sz="800" dirty="0">
                <a:solidFill>
                  <a:schemeClr val="accent6"/>
                </a:solidFill>
              </a:rPr>
            </a:br>
            <a:r>
              <a:rPr lang="pt-BR" sz="800" dirty="0" err="1">
                <a:solidFill>
                  <a:schemeClr val="accent6"/>
                </a:solidFill>
              </a:rPr>
              <a:t>intercompany</a:t>
            </a:r>
            <a:r>
              <a:rPr lang="pt-BR" sz="800" dirty="0">
                <a:solidFill>
                  <a:schemeClr val="accent6"/>
                </a:solidFill>
              </a:rPr>
              <a:t> de AEV</a:t>
            </a:r>
          </a:p>
        </p:txBody>
      </p:sp>
      <p:sp>
        <p:nvSpPr>
          <p:cNvPr id="20" name="Retângulo 107">
            <a:extLst>
              <a:ext uri="{FF2B5EF4-FFF2-40B4-BE49-F238E27FC236}">
                <a16:creationId xmlns:a16="http://schemas.microsoft.com/office/drawing/2014/main" id="{80C98BA3-0287-11D5-2C4A-29B74D46B01A}"/>
              </a:ext>
            </a:extLst>
          </p:cNvPr>
          <p:cNvSpPr/>
          <p:nvPr/>
        </p:nvSpPr>
        <p:spPr>
          <a:xfrm>
            <a:off x="4116844" y="6167311"/>
            <a:ext cx="10695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Escopo funcional e técnico alinhado</a:t>
            </a:r>
          </a:p>
        </p:txBody>
      </p:sp>
      <p:sp>
        <p:nvSpPr>
          <p:cNvPr id="22" name="Retângulo 107">
            <a:extLst>
              <a:ext uri="{FF2B5EF4-FFF2-40B4-BE49-F238E27FC236}">
                <a16:creationId xmlns:a16="http://schemas.microsoft.com/office/drawing/2014/main" id="{86F39283-BF0D-B82B-6AAA-888EAA206A3A}"/>
              </a:ext>
            </a:extLst>
          </p:cNvPr>
          <p:cNvSpPr/>
          <p:nvPr/>
        </p:nvSpPr>
        <p:spPr>
          <a:xfrm>
            <a:off x="4024992" y="4482156"/>
            <a:ext cx="10695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Base/análise </a:t>
            </a:r>
            <a:r>
              <a:rPr lang="pt-BR" sz="800" dirty="0" err="1">
                <a:solidFill>
                  <a:srgbClr val="000000"/>
                </a:solidFill>
                <a:ea typeface="+mn-ea"/>
                <a:cs typeface="+mn-cs"/>
              </a:rPr>
              <a:t>prop</a:t>
            </a: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. terrenos das torres</a:t>
            </a:r>
          </a:p>
        </p:txBody>
      </p:sp>
      <p:sp>
        <p:nvSpPr>
          <p:cNvPr id="32" name="Retângulo 107">
            <a:extLst>
              <a:ext uri="{FF2B5EF4-FFF2-40B4-BE49-F238E27FC236}">
                <a16:creationId xmlns:a16="http://schemas.microsoft.com/office/drawing/2014/main" id="{A9B90D91-7425-09F8-BEBA-444267A39F90}"/>
              </a:ext>
            </a:extLst>
          </p:cNvPr>
          <p:cNvSpPr/>
          <p:nvPr/>
        </p:nvSpPr>
        <p:spPr>
          <a:xfrm>
            <a:off x="5331228" y="5757450"/>
            <a:ext cx="10695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pt-BR" sz="800" dirty="0">
                <a:solidFill>
                  <a:srgbClr val="000000"/>
                </a:solidFill>
                <a:ea typeface="+mn-ea"/>
                <a:cs typeface="+mn-cs"/>
              </a:rPr>
              <a:t>Dados mestres revisados</a:t>
            </a:r>
          </a:p>
        </p:txBody>
      </p:sp>
    </p:spTree>
    <p:extLst>
      <p:ext uri="{BB962C8B-B14F-4D97-AF65-F5344CB8AC3E}">
        <p14:creationId xmlns:p14="http://schemas.microsoft.com/office/powerpoint/2010/main" val="181597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602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Governança e Líderes</a:t>
            </a:r>
            <a:br>
              <a:rPr lang="pt-BR" dirty="0"/>
            </a:br>
            <a:r>
              <a:rPr lang="pt-BR" sz="2000" dirty="0">
                <a:solidFill>
                  <a:schemeClr val="accent2"/>
                </a:solidFill>
                <a:latin typeface="Simplon BP Regular" pitchFamily="2" charset="0"/>
                <a:ea typeface="Simplon BP Bold"/>
                <a:cs typeface="Simplon BP Bold"/>
              </a:rPr>
              <a:t>Cronograma de reuniões e </a:t>
            </a:r>
            <a:r>
              <a:rPr lang="pt-BR" dirty="0">
                <a:latin typeface="Simplon BP Regular" pitchFamily="2" charset="0"/>
              </a:rPr>
              <a:t>líderes das áreas</a:t>
            </a: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7</a:t>
            </a:fld>
            <a:endParaRPr lang="en-US" sz="1050" dirty="0">
              <a:solidFill>
                <a:schemeClr val="tx2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8621"/>
              </p:ext>
            </p:extLst>
          </p:nvPr>
        </p:nvGraphicFramePr>
        <p:xfrm>
          <a:off x="440880" y="3169207"/>
          <a:ext cx="10933198" cy="2454337"/>
        </p:xfrm>
        <a:graphic>
          <a:graphicData uri="http://schemas.openxmlformats.org/drawingml/2006/table">
            <a:tbl>
              <a:tblPr firstRow="1" firstCol="1" bandRow="1"/>
              <a:tblGrid>
                <a:gridCol w="1770057">
                  <a:extLst>
                    <a:ext uri="{9D8B030D-6E8A-4147-A177-3AD203B41FA5}">
                      <a16:colId xmlns:a16="http://schemas.microsoft.com/office/drawing/2014/main" val="2154649168"/>
                    </a:ext>
                  </a:extLst>
                </a:gridCol>
                <a:gridCol w="2197290">
                  <a:extLst>
                    <a:ext uri="{9D8B030D-6E8A-4147-A177-3AD203B41FA5}">
                      <a16:colId xmlns:a16="http://schemas.microsoft.com/office/drawing/2014/main" val="1695374084"/>
                    </a:ext>
                  </a:extLst>
                </a:gridCol>
                <a:gridCol w="4954137">
                  <a:extLst>
                    <a:ext uri="{9D8B030D-6E8A-4147-A177-3AD203B41FA5}">
                      <a16:colId xmlns:a16="http://schemas.microsoft.com/office/drawing/2014/main" val="3042058799"/>
                    </a:ext>
                  </a:extLst>
                </a:gridCol>
                <a:gridCol w="2011714">
                  <a:extLst>
                    <a:ext uri="{9D8B030D-6E8A-4147-A177-3AD203B41FA5}">
                      <a16:colId xmlns:a16="http://schemas.microsoft.com/office/drawing/2014/main" val="3515767042"/>
                    </a:ext>
                  </a:extLst>
                </a:gridCol>
              </a:tblGrid>
              <a:tr h="2943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Integrantes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Objetivos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i="0" u="none" strike="noStrike" cap="none" spc="0" baseline="0" dirty="0">
                          <a:solidFill>
                            <a:srgbClr val="F2F2F2"/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Agenda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17328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Daily meeting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 , EY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Follow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up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de pontos críticos e cheque de prioridades.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30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85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Weekly</a:t>
                      </a: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pontos críticos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 M&amp;A, N2, Líderes, EY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Endereçamento de pontos críticos com N2 impactados.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60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25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 executiva</a:t>
                      </a:r>
                      <a:r>
                        <a:rPr lang="pt-BR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quinzenal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N2, Líderes, M&amp;A, EY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Status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review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, endereçamento dos pontos de decisão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cross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60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028824"/>
                  </a:ext>
                </a:extLst>
              </a:tr>
            </a:tbl>
          </a:graphicData>
        </a:graphic>
      </p:graphicFrame>
      <p:sp>
        <p:nvSpPr>
          <p:cNvPr id="7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9574078" y="2238174"/>
            <a:ext cx="1800000" cy="396000"/>
          </a:xfrm>
          <a:prstGeom prst="homePlate">
            <a:avLst>
              <a:gd name="adj" fmla="val 0"/>
            </a:avLst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prstClr val="white"/>
                </a:solidFill>
                <a:latin typeface="Simplon BP Regular" pitchFamily="2" charset="0"/>
              </a:rPr>
              <a:t>Reunião de Pontos Críticos</a:t>
            </a:r>
            <a:br>
              <a:rPr lang="pt-BR" sz="1050" kern="1200" dirty="0">
                <a:solidFill>
                  <a:prstClr val="white"/>
                </a:solidFill>
                <a:latin typeface="Simplon BP Regular" pitchFamily="2" charset="0"/>
              </a:rPr>
            </a:br>
            <a:r>
              <a:rPr lang="pt-BR" sz="1050" kern="1200" dirty="0">
                <a:solidFill>
                  <a:prstClr val="white"/>
                </a:solidFill>
                <a:latin typeface="Simplon BP Regular" pitchFamily="2" charset="0"/>
              </a:rPr>
              <a:t>M&amp;A</a:t>
            </a:r>
            <a:r>
              <a:rPr lang="pt-BR" sz="1050" i="1" kern="1200" dirty="0">
                <a:solidFill>
                  <a:prstClr val="white"/>
                </a:solidFill>
                <a:latin typeface="Simplon BP Regular" pitchFamily="2" charset="0"/>
              </a:rPr>
              <a:t>, N2, Líderes e EY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199B8-9C53-4450-99FA-8EBB43C0F741}"/>
              </a:ext>
            </a:extLst>
          </p:cNvPr>
          <p:cNvSpPr/>
          <p:nvPr/>
        </p:nvSpPr>
        <p:spPr>
          <a:xfrm>
            <a:off x="626550" y="1668056"/>
            <a:ext cx="2160000" cy="104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B59AB-071E-465F-87E8-785D7F4F7402}"/>
              </a:ext>
            </a:extLst>
          </p:cNvPr>
          <p:cNvSpPr/>
          <p:nvPr/>
        </p:nvSpPr>
        <p:spPr>
          <a:xfrm>
            <a:off x="2819849" y="1668056"/>
            <a:ext cx="2160000" cy="104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A828A-EF54-43D1-860D-04FCBEBD0AC2}"/>
              </a:ext>
            </a:extLst>
          </p:cNvPr>
          <p:cNvSpPr/>
          <p:nvPr/>
        </p:nvSpPr>
        <p:spPr>
          <a:xfrm>
            <a:off x="5013148" y="1668055"/>
            <a:ext cx="2160000" cy="104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99E32-3CFE-40DA-8EAE-6CC66650A1BB}"/>
              </a:ext>
            </a:extLst>
          </p:cNvPr>
          <p:cNvSpPr/>
          <p:nvPr/>
        </p:nvSpPr>
        <p:spPr>
          <a:xfrm>
            <a:off x="7206447" y="1668055"/>
            <a:ext cx="2160000" cy="104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CE94F-0EB2-4407-9B36-9BF60CAE9563}"/>
              </a:ext>
            </a:extLst>
          </p:cNvPr>
          <p:cNvSpPr/>
          <p:nvPr/>
        </p:nvSpPr>
        <p:spPr>
          <a:xfrm>
            <a:off x="9399748" y="1655841"/>
            <a:ext cx="2160000" cy="104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9CA6C8D-C8C0-49F8-8FAC-B83C55BE3876}"/>
              </a:ext>
            </a:extLst>
          </p:cNvPr>
          <p:cNvSpPr/>
          <p:nvPr/>
        </p:nvSpPr>
        <p:spPr>
          <a:xfrm>
            <a:off x="626550" y="1430728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2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a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6F743D9-E2FF-4214-BB1C-5FAB14A68782}"/>
              </a:ext>
            </a:extLst>
          </p:cNvPr>
          <p:cNvSpPr/>
          <p:nvPr/>
        </p:nvSpPr>
        <p:spPr>
          <a:xfrm>
            <a:off x="2820281" y="1430729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3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a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DA2F5B3-8C12-48C5-897D-766F583AE029}"/>
              </a:ext>
            </a:extLst>
          </p:cNvPr>
          <p:cNvSpPr/>
          <p:nvPr/>
        </p:nvSpPr>
        <p:spPr>
          <a:xfrm>
            <a:off x="5014012" y="1430728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4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E2272C-AF54-458C-B509-0C9E8F9BD7F6}"/>
              </a:ext>
            </a:extLst>
          </p:cNvPr>
          <p:cNvSpPr/>
          <p:nvPr/>
        </p:nvSpPr>
        <p:spPr>
          <a:xfrm>
            <a:off x="7207743" y="1430728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5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67A635-8A09-40CE-91A3-BAB1ED228C7A}"/>
              </a:ext>
            </a:extLst>
          </p:cNvPr>
          <p:cNvSpPr/>
          <p:nvPr/>
        </p:nvSpPr>
        <p:spPr>
          <a:xfrm>
            <a:off x="9401473" y="1430728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6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a</a:t>
            </a:r>
          </a:p>
        </p:txBody>
      </p:sp>
      <p:sp>
        <p:nvSpPr>
          <p:cNvPr id="28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5193147" y="2240470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1200" dirty="0">
                <a:solidFill>
                  <a:prstClr val="white"/>
                </a:solidFill>
                <a:latin typeface="Simplon BP Regular" pitchFamily="2" charset="0"/>
              </a:rPr>
              <a:t>Reunião Executiva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</a:endParaRPr>
          </a:p>
          <a:p>
            <a:pPr lvl="0" algn="ctr" hangingPunct="1">
              <a:defRPr/>
            </a:pPr>
            <a:r>
              <a:rPr lang="pt-BR" sz="1050" kern="1200" dirty="0">
                <a:solidFill>
                  <a:prstClr val="white"/>
                </a:solidFill>
                <a:latin typeface="Simplon BP Regular" pitchFamily="2" charset="0"/>
              </a:rPr>
              <a:t>N2, M&amp;A</a:t>
            </a:r>
            <a:r>
              <a:rPr lang="pt-BR" sz="1050" i="1" kern="1200" dirty="0">
                <a:solidFill>
                  <a:prstClr val="white"/>
                </a:solidFill>
                <a:latin typeface="Simplon BP Regular" pitchFamily="2" charset="0"/>
              </a:rPr>
              <a:t>, Líderes e EY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1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3014476" y="1744905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M&amp;A e EY</a:t>
            </a:r>
            <a:endParaRPr lang="pt-BR" sz="1050" i="1" kern="1200" dirty="0">
              <a:solidFill>
                <a:srgbClr val="575757"/>
              </a:solidFill>
              <a:latin typeface="Simplon BP Regular" pitchFamily="2" charset="0"/>
            </a:endParaRPr>
          </a:p>
        </p:txBody>
      </p:sp>
      <p:sp>
        <p:nvSpPr>
          <p:cNvPr id="45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830834" y="1744905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M&amp;A e EY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6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7376789" y="1744905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M&amp;A e EY</a:t>
            </a:r>
            <a:endParaRPr lang="pt-BR" sz="1050" i="1" kern="1200" dirty="0">
              <a:solidFill>
                <a:srgbClr val="575757"/>
              </a:solidFill>
              <a:latin typeface="Simplon BP Regular" pitchFamily="2" charset="0"/>
            </a:endParaRPr>
          </a:p>
        </p:txBody>
      </p:sp>
      <p:sp>
        <p:nvSpPr>
          <p:cNvPr id="47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5193147" y="1744905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M&amp;A e EY</a:t>
            </a:r>
            <a:endParaRPr lang="pt-BR" sz="1050" i="1" kern="1200" dirty="0">
              <a:solidFill>
                <a:srgbClr val="575757"/>
              </a:solidFill>
              <a:latin typeface="Simplon BP Regular" pitchFamily="2" charset="0"/>
            </a:endParaRPr>
          </a:p>
        </p:txBody>
      </p:sp>
      <p:sp>
        <p:nvSpPr>
          <p:cNvPr id="48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9574078" y="1744905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rgbClr val="575757"/>
                </a:solidFill>
                <a:latin typeface="Simplon BP Regular" pitchFamily="2" charset="0"/>
              </a:rPr>
              <a:t>M&amp;A e EY</a:t>
            </a:r>
            <a:endParaRPr lang="pt-BR" sz="1050" i="1" kern="1200" dirty="0">
              <a:solidFill>
                <a:srgbClr val="575757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9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602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Governança e Líderes</a:t>
            </a:r>
            <a:br>
              <a:rPr lang="pt-BR" dirty="0"/>
            </a:br>
            <a:r>
              <a:rPr lang="pt-BR" sz="2000" dirty="0">
                <a:solidFill>
                  <a:schemeClr val="accent2"/>
                </a:solidFill>
                <a:latin typeface="Simplon BP Regular" pitchFamily="2" charset="0"/>
                <a:ea typeface="Simplon BP Bold"/>
                <a:cs typeface="Simplon BP Bold"/>
              </a:rPr>
              <a:t>Cronograma de reuniões e </a:t>
            </a:r>
            <a:r>
              <a:rPr lang="pt-BR" dirty="0">
                <a:latin typeface="Simplon BP Regular" pitchFamily="2" charset="0"/>
              </a:rPr>
              <a:t>líderes das áreas</a:t>
            </a: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8</a:t>
            </a:fld>
            <a:endParaRPr lang="en-US" sz="1050" dirty="0">
              <a:solidFill>
                <a:schemeClr val="tx2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2928"/>
              </p:ext>
            </p:extLst>
          </p:nvPr>
        </p:nvGraphicFramePr>
        <p:xfrm>
          <a:off x="480118" y="1293742"/>
          <a:ext cx="11231765" cy="4872928"/>
        </p:xfrm>
        <a:graphic>
          <a:graphicData uri="http://schemas.openxmlformats.org/drawingml/2006/table">
            <a:tbl>
              <a:tblPr firstRow="1" firstCol="1" bandRow="1"/>
              <a:tblGrid>
                <a:gridCol w="1497563">
                  <a:extLst>
                    <a:ext uri="{9D8B030D-6E8A-4147-A177-3AD203B41FA5}">
                      <a16:colId xmlns:a16="http://schemas.microsoft.com/office/drawing/2014/main" val="2154649168"/>
                    </a:ext>
                  </a:extLst>
                </a:gridCol>
                <a:gridCol w="2358909">
                  <a:extLst>
                    <a:ext uri="{9D8B030D-6E8A-4147-A177-3AD203B41FA5}">
                      <a16:colId xmlns:a16="http://schemas.microsoft.com/office/drawing/2014/main" val="1695374084"/>
                    </a:ext>
                  </a:extLst>
                </a:gridCol>
                <a:gridCol w="2358909">
                  <a:extLst>
                    <a:ext uri="{9D8B030D-6E8A-4147-A177-3AD203B41FA5}">
                      <a16:colId xmlns:a16="http://schemas.microsoft.com/office/drawing/2014/main" val="3042058799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397606765"/>
                    </a:ext>
                  </a:extLst>
                </a:gridCol>
                <a:gridCol w="2358909">
                  <a:extLst>
                    <a:ext uri="{9D8B030D-6E8A-4147-A177-3AD203B41FA5}">
                      <a16:colId xmlns:a16="http://schemas.microsoft.com/office/drawing/2014/main" val="2141693669"/>
                    </a:ext>
                  </a:extLst>
                </a:gridCol>
              </a:tblGrid>
              <a:tr h="3702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Área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N2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Líder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i="0" u="none" strike="noStrike" cap="none" spc="0" baseline="0" dirty="0">
                          <a:solidFill>
                            <a:srgbClr val="F2F2F2"/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E-mail Líder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i="0" u="none" strike="noStrike" cap="none" spc="0" baseline="0" dirty="0" err="1">
                          <a:solidFill>
                            <a:srgbClr val="F2F2F2"/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Tel</a:t>
                      </a:r>
                      <a:r>
                        <a:rPr lang="pt-BR" sz="1400" b="1" i="0" u="none" strike="noStrike" cap="none" spc="0" baseline="0" dirty="0">
                          <a:solidFill>
                            <a:srgbClr val="F2F2F2"/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Líder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173282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Contabilidade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David Nunes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Marcelo Gomes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marcelo.gomes@oi.net.br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98858-4199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8558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Societário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David Nunes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Antonio Carlos 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antonio.correa@oi.net.br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98406-1046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2598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Energia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Ana Miguelote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Carolina Arlotta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carolina.arlotta@oi.net.br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98552-7784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028824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Patrimônio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Dulcio Junior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Rodrigo Godinho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rodrigo.godinho@oi.net.br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98794-4451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2895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Suprimentos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Luiz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Fillipe</a:t>
                      </a:r>
                      <a:endParaRPr lang="pt-BR" sz="1400" b="0" i="0" u="none" strike="noStrike" cap="none" spc="0" baseline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Calibri" panose="020F0502020204030204" pitchFamily="34" charset="0"/>
                        <a:cs typeface="+mn-cs"/>
                        <a:sym typeface="Simplon BP Regular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Rafael Muniz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rafael.muniz@oi.net.br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98769-8400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30052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Atacado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Andre Telles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Carolina Esteves 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carolina.esteves@oi.net.br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98703-0854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755779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 &amp; A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Luiz Rosa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Alessandro Barbosa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alessandro.magalhaes@oi.net.br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98518-2915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486385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Jurídico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Arthur Lavatori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Eduardo Jandre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eduardo_martins@oi.net.br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98801-0376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00069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Operações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Alexandre Rangel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Andre Alvim 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andre.alvim@oi.net.br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(31) 98616-0031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12018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Tributário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Fernando Raposo 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Pedro Rique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pedro.nepomuceno@oi.net.br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99948-9806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51434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Sistema TI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Sergio Barros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Marcelo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Novarini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marcelo.novarini@oi.net.br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98872-0309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913992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Regulatório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Viviane Perdigão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Mariana Doher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mariana.doher@oi.net.br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98601-5734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29216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Contas a pagar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Pedro França 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Gisele Silva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gisele.silva@oi.net.br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98904-9273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62380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Contas a receber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Bruno Macedo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Daniel Cattete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daniel.sanguedo@oi.net.br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98626-3983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446355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Faturamento</a:t>
                      </a:r>
                      <a:endParaRPr lang="pt-BR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 Bruno Macedo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Iara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Kelli</a:t>
                      </a:r>
                      <a:endParaRPr lang="pt-BR" sz="1400" b="0" i="0" u="none" strike="noStrike" cap="none" spc="0" baseline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Calibri" panose="020F0502020204030204" pitchFamily="34" charset="0"/>
                        <a:cs typeface="+mn-cs"/>
                        <a:sym typeface="Simplon BP Regular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iara.braga@oi.net.br</a:t>
                      </a:r>
                      <a:endParaRPr lang="pt-BR" sz="1400" b="0" i="0" u="none" strike="noStrike" cap="none" spc="0" baseline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Calibri" panose="020F0502020204030204" pitchFamily="34" charset="0"/>
                        <a:cs typeface="+mn-cs"/>
                        <a:sym typeface="Simplon BP Regular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(21) 98705-8778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04684"/>
                  </a:ext>
                </a:extLst>
              </a:tr>
            </a:tbl>
          </a:graphicData>
        </a:graphic>
      </p:graphicFrame>
      <p:sp>
        <p:nvSpPr>
          <p:cNvPr id="6" name="Seta para a Direita 5">
            <a:hlinkClick r:id="rId6" action="ppaction://hlinksldjump"/>
          </p:cNvPr>
          <p:cNvSpPr/>
          <p:nvPr/>
        </p:nvSpPr>
        <p:spPr>
          <a:xfrm flipH="1">
            <a:off x="10755313" y="250221"/>
            <a:ext cx="238137" cy="154591"/>
          </a:xfrm>
          <a:prstGeom prst="rightArrow">
            <a:avLst/>
          </a:prstGeom>
          <a:solidFill>
            <a:schemeClr val="tx1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8735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Status e Próximos Passos</a:t>
            </a:r>
            <a:br>
              <a:rPr lang="pt-BR" dirty="0"/>
            </a:b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9</a:t>
            </a:fld>
            <a:endParaRPr lang="en-US" sz="1050" dirty="0">
              <a:solidFill>
                <a:schemeClr val="tx2"/>
              </a:solidFill>
            </a:endParaRPr>
          </a:p>
        </p:txBody>
      </p:sp>
      <p:graphicFrame>
        <p:nvGraphicFramePr>
          <p:cNvPr id="5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400661"/>
              </p:ext>
            </p:extLst>
          </p:nvPr>
        </p:nvGraphicFramePr>
        <p:xfrm>
          <a:off x="438111" y="1043355"/>
          <a:ext cx="11315778" cy="51347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1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26">
                  <a:extLst>
                    <a:ext uri="{9D8B030D-6E8A-4147-A177-3AD203B41FA5}">
                      <a16:colId xmlns:a16="http://schemas.microsoft.com/office/drawing/2014/main" val="1912167186"/>
                    </a:ext>
                  </a:extLst>
                </a:gridCol>
                <a:gridCol w="3771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645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Progresso</a:t>
                      </a:r>
                      <a:endParaRPr lang="pt-BR" sz="16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Pontos de</a:t>
                      </a:r>
                      <a:r>
                        <a:rPr lang="pt-BR" sz="1600" b="1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Atenção / Risco</a:t>
                      </a:r>
                      <a:endParaRPr lang="pt-BR" sz="16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Próximos Passos</a:t>
                      </a:r>
                      <a:endParaRPr lang="pt-BR" sz="16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062">
                <a:tc>
                  <a:txBody>
                    <a:bodyPr/>
                    <a:lstStyle/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Disponibilizada a base de 8k torres – 12/08 (Resp.: M&amp;A);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Iniciada a verificação física e contábil – 19/08 (Resp.: Regulatório e Contabilidade);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Recuperados os </a:t>
                      </a:r>
                      <a:r>
                        <a:rPr lang="pt-BR" sz="1200" b="0" i="0" u="none" strike="noStrike" cap="none" spc="0" baseline="0" noProof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templates</a:t>
                      </a: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 SAP B1 Vênus preenchidos pelas áreas – 23/08 (Resp.: Análise Societária);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Disponibilizado o modelo de pedido de anuência prévia para ANATEL – 23/08 (Resp.: Regulatório).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81000" marR="81000" marT="27000" marB="270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Segregação dos Contratos e SPE faturando até 01/11 (= 1 faturamento full sistêmico até o </a:t>
                      </a:r>
                      <a:r>
                        <a:rPr lang="pt-BR" sz="1200" b="0" i="0" u="none" strike="noStrike" cap="none" spc="0" baseline="0" noProof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closing</a:t>
                      </a: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).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Uso do SAP B1 como solução ERP e reuso dos parâmetros de </a:t>
                      </a:r>
                      <a:r>
                        <a:rPr lang="pt-BR" sz="1200" b="0" i="0" u="none" strike="noStrike" cap="none" spc="0" baseline="0" noProof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Venus</a:t>
                      </a: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 revisados pelas áreas.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Contratação da G2  para acelerar o </a:t>
                      </a:r>
                      <a:r>
                        <a:rPr lang="pt-BR" sz="1200" b="0" i="0" u="none" strike="noStrike" cap="none" spc="0" baseline="0" noProof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deployment</a:t>
                      </a: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.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Alinhamento de budget para atividades/parceiros em Patrimônio.</a:t>
                      </a:r>
                    </a:p>
                  </a:txBody>
                  <a:tcPr marL="81000" marR="81000" marT="27000" marB="270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Confirmação da Agenda de Reuniões – </a:t>
                      </a:r>
                      <a:r>
                        <a:rPr lang="pt-BR" sz="1200" b="1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24/08;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Confirmação dos líderes de cada frente – </a:t>
                      </a:r>
                      <a:r>
                        <a:rPr lang="pt-BR" sz="1200" b="1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25/08;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200" b="1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Refinamento do cronograma com as áreas – </a:t>
                      </a:r>
                      <a:r>
                        <a:rPr lang="pt-BR" sz="1200" b="1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26/08.</a:t>
                      </a:r>
                    </a:p>
                  </a:txBody>
                  <a:tcPr marL="81000" marR="81000" marT="27000" marB="270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32918" y="3429000"/>
            <a:ext cx="416365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72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6000" dirty="0">
                <a:solidFill>
                  <a:srgbClr val="000000"/>
                </a:solidFill>
                <a:latin typeface="Simplon BP Bold"/>
                <a:ea typeface="Simplon BP Bold"/>
                <a:cs typeface="Simplon BP Bold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40768586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42930" y="326475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72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dirty="0">
                <a:solidFill>
                  <a:schemeClr val="bg1"/>
                </a:solidFill>
                <a:latin typeface="Simplon BP Bold"/>
                <a:ea typeface="Simplon BP Bold"/>
                <a:cs typeface="Simplon BP Bold"/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271236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Object 117" hidden="1">
            <a:extLst>
              <a:ext uri="{FF2B5EF4-FFF2-40B4-BE49-F238E27FC236}">
                <a16:creationId xmlns:a16="http://schemas.microsoft.com/office/drawing/2014/main" id="{16F29CFF-0E2B-AE12-36E6-6EDC2905F27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89741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18" name="Object 117" hidden="1">
                        <a:extLst>
                          <a:ext uri="{FF2B5EF4-FFF2-40B4-BE49-F238E27FC236}">
                            <a16:creationId xmlns:a16="http://schemas.microsoft.com/office/drawing/2014/main" id="{16F29CFF-0E2B-AE12-36E6-6EDC2905F2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Rectangle 190">
            <a:extLst>
              <a:ext uri="{FF2B5EF4-FFF2-40B4-BE49-F238E27FC236}">
                <a16:creationId xmlns:a16="http://schemas.microsoft.com/office/drawing/2014/main" id="{DE622944-1BAF-EA0D-AC7A-947E0489F8C3}"/>
              </a:ext>
            </a:extLst>
          </p:cNvPr>
          <p:cNvSpPr/>
          <p:nvPr/>
        </p:nvSpPr>
        <p:spPr>
          <a:xfrm>
            <a:off x="3676318" y="4934656"/>
            <a:ext cx="3312000" cy="108000"/>
          </a:xfrm>
          <a:prstGeom prst="rect">
            <a:avLst/>
          </a:prstGeom>
          <a:solidFill>
            <a:srgbClr val="FF0000">
              <a:alpha val="44786"/>
            </a:srgbClr>
          </a:solidFill>
          <a:ln w="9525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A0FEC5-3BD4-C3C1-9A9D-72231D85A42A}"/>
              </a:ext>
            </a:extLst>
          </p:cNvPr>
          <p:cNvCxnSpPr>
            <a:cxnSpLocks/>
          </p:cNvCxnSpPr>
          <p:nvPr/>
        </p:nvCxnSpPr>
        <p:spPr>
          <a:xfrm>
            <a:off x="5522348" y="1358208"/>
            <a:ext cx="0" cy="4896000"/>
          </a:xfrm>
          <a:prstGeom prst="line">
            <a:avLst/>
          </a:pr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4FFBB0-3695-3053-AF64-3973DB8B5489}"/>
              </a:ext>
            </a:extLst>
          </p:cNvPr>
          <p:cNvCxnSpPr>
            <a:cxnSpLocks/>
          </p:cNvCxnSpPr>
          <p:nvPr/>
        </p:nvCxnSpPr>
        <p:spPr>
          <a:xfrm>
            <a:off x="10295349" y="1358208"/>
            <a:ext cx="0" cy="4896000"/>
          </a:xfrm>
          <a:prstGeom prst="line">
            <a:avLst/>
          </a:pr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6F5F78-3113-2442-E2F8-8275EFD70558}"/>
              </a:ext>
            </a:extLst>
          </p:cNvPr>
          <p:cNvCxnSpPr>
            <a:cxnSpLocks/>
          </p:cNvCxnSpPr>
          <p:nvPr/>
        </p:nvCxnSpPr>
        <p:spPr>
          <a:xfrm>
            <a:off x="7097317" y="1358208"/>
            <a:ext cx="0" cy="4896000"/>
          </a:xfrm>
          <a:prstGeom prst="line">
            <a:avLst/>
          </a:pr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8FF3A6-D9A2-2CA2-AB96-8D74023F2FF5}"/>
              </a:ext>
            </a:extLst>
          </p:cNvPr>
          <p:cNvCxnSpPr>
            <a:cxnSpLocks/>
          </p:cNvCxnSpPr>
          <p:nvPr/>
        </p:nvCxnSpPr>
        <p:spPr>
          <a:xfrm>
            <a:off x="8699537" y="1358208"/>
            <a:ext cx="0" cy="4896000"/>
          </a:xfrm>
          <a:prstGeom prst="line">
            <a:avLst/>
          </a:pr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382068-B330-928A-78CA-79C1FAFBD565}"/>
              </a:ext>
            </a:extLst>
          </p:cNvPr>
          <p:cNvCxnSpPr>
            <a:cxnSpLocks/>
          </p:cNvCxnSpPr>
          <p:nvPr/>
        </p:nvCxnSpPr>
        <p:spPr>
          <a:xfrm>
            <a:off x="3961806" y="1358208"/>
            <a:ext cx="0" cy="4896000"/>
          </a:xfrm>
          <a:prstGeom prst="line">
            <a:avLst/>
          </a:pr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87CBBA-7CBD-0C06-ACA2-0EEDB65674DF}"/>
              </a:ext>
            </a:extLst>
          </p:cNvPr>
          <p:cNvSpPr txBox="1"/>
          <p:nvPr/>
        </p:nvSpPr>
        <p:spPr>
          <a:xfrm>
            <a:off x="9233747" y="1188386"/>
            <a:ext cx="527388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</a:t>
            </a:r>
            <a:r>
              <a:rPr kumimoji="0" lang="en-BR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ez/22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F52F59-2F21-6A74-7576-48DD915B0A94}"/>
              </a:ext>
            </a:extLst>
          </p:cNvPr>
          <p:cNvSpPr txBox="1"/>
          <p:nvPr/>
        </p:nvSpPr>
        <p:spPr>
          <a:xfrm>
            <a:off x="7631527" y="1188386"/>
            <a:ext cx="53380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Nov</a:t>
            </a:r>
            <a:r>
              <a:rPr kumimoji="0" lang="en-BR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331E5C-FFB5-F6C0-F364-F2664D0339A6}"/>
              </a:ext>
            </a:extLst>
          </p:cNvPr>
          <p:cNvSpPr txBox="1"/>
          <p:nvPr/>
        </p:nvSpPr>
        <p:spPr>
          <a:xfrm>
            <a:off x="6056558" y="1188386"/>
            <a:ext cx="506549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>
                <a:solidFill>
                  <a:schemeClr val="tx2"/>
                </a:solidFill>
              </a:rPr>
              <a:t>Out</a:t>
            </a:r>
            <a:r>
              <a:rPr kumimoji="0" lang="en-BR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/22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6E0A9-4183-BFC6-A16A-20370F4EDFA3}"/>
              </a:ext>
            </a:extLst>
          </p:cNvPr>
          <p:cNvSpPr txBox="1"/>
          <p:nvPr/>
        </p:nvSpPr>
        <p:spPr>
          <a:xfrm>
            <a:off x="4496016" y="1195011"/>
            <a:ext cx="492122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Set</a:t>
            </a:r>
            <a:r>
              <a:rPr kumimoji="0" lang="en-BR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/22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7764D723-9965-0830-95C3-E48DD9BC7252}"/>
              </a:ext>
            </a:extLst>
          </p:cNvPr>
          <p:cNvCxnSpPr>
            <a:cxnSpLocks/>
            <a:stCxn id="68" idx="3"/>
            <a:endCxn id="88" idx="0"/>
          </p:cNvCxnSpPr>
          <p:nvPr/>
        </p:nvCxnSpPr>
        <p:spPr>
          <a:xfrm>
            <a:off x="6983350" y="3339414"/>
            <a:ext cx="346706" cy="2145041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E646F51D-3648-2FE1-4022-903EB1AE972A}"/>
              </a:ext>
            </a:extLst>
          </p:cNvPr>
          <p:cNvCxnSpPr>
            <a:cxnSpLocks/>
            <a:stCxn id="79" idx="3"/>
            <a:endCxn id="88" idx="0"/>
          </p:cNvCxnSpPr>
          <p:nvPr/>
        </p:nvCxnSpPr>
        <p:spPr>
          <a:xfrm>
            <a:off x="6998900" y="4988656"/>
            <a:ext cx="331156" cy="495799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1737FAF6-A3C3-EAE7-B834-D9A82EFFDC5D}"/>
              </a:ext>
            </a:extLst>
          </p:cNvPr>
          <p:cNvCxnSpPr>
            <a:cxnSpLocks/>
            <a:stCxn id="88" idx="3"/>
            <a:endCxn id="85" idx="0"/>
          </p:cNvCxnSpPr>
          <p:nvPr/>
        </p:nvCxnSpPr>
        <p:spPr>
          <a:xfrm>
            <a:off x="7402056" y="5556455"/>
            <a:ext cx="485460" cy="444352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2500A88-E88D-2DFB-AFED-042AFD494D30}"/>
              </a:ext>
            </a:extLst>
          </p:cNvPr>
          <p:cNvSpPr txBox="1"/>
          <p:nvPr/>
        </p:nvSpPr>
        <p:spPr>
          <a:xfrm>
            <a:off x="2935474" y="1195011"/>
            <a:ext cx="53700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Ago</a:t>
            </a:r>
            <a:r>
              <a:rPr kumimoji="0" lang="en-BR" sz="14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/22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F59261-1D9C-10F1-FE18-BDAEA8799B88}"/>
              </a:ext>
            </a:extLst>
          </p:cNvPr>
          <p:cNvSpPr txBox="1"/>
          <p:nvPr/>
        </p:nvSpPr>
        <p:spPr>
          <a:xfrm>
            <a:off x="6368564" y="3432266"/>
            <a:ext cx="1182031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 Contratos segregados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Ativos 8k revisados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6" name="Diamond 75">
            <a:extLst>
              <a:ext uri="{FF2B5EF4-FFF2-40B4-BE49-F238E27FC236}">
                <a16:creationId xmlns:a16="http://schemas.microsoft.com/office/drawing/2014/main" id="{EC78A178-89D2-A3BC-BADC-D331E6ED4F93}"/>
              </a:ext>
            </a:extLst>
          </p:cNvPr>
          <p:cNvSpPr>
            <a:spLocks noChangeAspect="1"/>
          </p:cNvSpPr>
          <p:nvPr/>
        </p:nvSpPr>
        <p:spPr>
          <a:xfrm>
            <a:off x="9435129" y="6000807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B60A8D7-3BD9-7C5A-C389-50D8800681D9}"/>
              </a:ext>
            </a:extLst>
          </p:cNvPr>
          <p:cNvSpPr txBox="1"/>
          <p:nvPr/>
        </p:nvSpPr>
        <p:spPr>
          <a:xfrm>
            <a:off x="9070813" y="6180807"/>
            <a:ext cx="957429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2</a:t>
            </a:r>
            <a:r>
              <a:rPr lang="en-BR" sz="800" baseline="30000" dirty="0">
                <a:solidFill>
                  <a:srgbClr val="FF0000"/>
                </a:solidFill>
              </a:rPr>
              <a:t>o</a:t>
            </a:r>
            <a:r>
              <a:rPr lang="en-BR" sz="800" dirty="0">
                <a:solidFill>
                  <a:srgbClr val="FF0000"/>
                </a:solidFill>
              </a:rPr>
              <a:t>.  </a:t>
            </a:r>
            <a:r>
              <a:rPr lang="en-US" sz="800" dirty="0">
                <a:solidFill>
                  <a:srgbClr val="FF0000"/>
                </a:solidFill>
              </a:rPr>
              <a:t>F</a:t>
            </a:r>
            <a:r>
              <a:rPr lang="en-BR" sz="800" dirty="0">
                <a:solidFill>
                  <a:srgbClr val="FF0000"/>
                </a:solidFill>
              </a:rPr>
              <a:t>aturamento gerado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9" name="Diamond 78">
            <a:extLst>
              <a:ext uri="{FF2B5EF4-FFF2-40B4-BE49-F238E27FC236}">
                <a16:creationId xmlns:a16="http://schemas.microsoft.com/office/drawing/2014/main" id="{96C85B42-DEDC-326B-4F93-05732E41E198}"/>
              </a:ext>
            </a:extLst>
          </p:cNvPr>
          <p:cNvSpPr>
            <a:spLocks noChangeAspect="1"/>
          </p:cNvSpPr>
          <p:nvPr/>
        </p:nvSpPr>
        <p:spPr>
          <a:xfrm>
            <a:off x="6854900" y="4916656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6DB5DE-FC69-ECF1-55C1-FEC93038FA06}"/>
              </a:ext>
            </a:extLst>
          </p:cNvPr>
          <p:cNvSpPr txBox="1"/>
          <p:nvPr/>
        </p:nvSpPr>
        <p:spPr>
          <a:xfrm>
            <a:off x="6563236" y="5073008"/>
            <a:ext cx="763328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SAP B1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BR" sz="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produção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5C4D641-A741-8DDD-55CA-F323E62C938B}"/>
              </a:ext>
            </a:extLst>
          </p:cNvPr>
          <p:cNvSpPr txBox="1"/>
          <p:nvPr/>
        </p:nvSpPr>
        <p:spPr>
          <a:xfrm>
            <a:off x="2854533" y="2251238"/>
            <a:ext cx="926006" cy="3222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Ativos 8k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disponibilizados</a:t>
            </a:r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64FA7668-0253-8415-02F2-9BBBF21F443F}"/>
              </a:ext>
            </a:extLst>
          </p:cNvPr>
          <p:cNvSpPr>
            <a:spLocks noChangeAspect="1"/>
          </p:cNvSpPr>
          <p:nvPr/>
        </p:nvSpPr>
        <p:spPr>
          <a:xfrm>
            <a:off x="7815516" y="6000807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494A0B-35F2-88F9-4CB3-B521212D7425}"/>
              </a:ext>
            </a:extLst>
          </p:cNvPr>
          <p:cNvSpPr txBox="1"/>
          <p:nvPr/>
        </p:nvSpPr>
        <p:spPr>
          <a:xfrm>
            <a:off x="7433748" y="6180807"/>
            <a:ext cx="957429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1</a:t>
            </a:r>
            <a:r>
              <a:rPr lang="en-BR" sz="800" baseline="30000" dirty="0">
                <a:solidFill>
                  <a:srgbClr val="FF0000"/>
                </a:solidFill>
              </a:rPr>
              <a:t>o</a:t>
            </a:r>
            <a:r>
              <a:rPr lang="en-BR" sz="800" dirty="0">
                <a:solidFill>
                  <a:srgbClr val="FF0000"/>
                </a:solidFill>
              </a:rPr>
              <a:t>.  </a:t>
            </a:r>
            <a:r>
              <a:rPr lang="en-US" sz="800" dirty="0">
                <a:solidFill>
                  <a:srgbClr val="FF0000"/>
                </a:solidFill>
              </a:rPr>
              <a:t>F</a:t>
            </a:r>
            <a:r>
              <a:rPr lang="en-BR" sz="800" dirty="0">
                <a:solidFill>
                  <a:srgbClr val="FF0000"/>
                </a:solidFill>
              </a:rPr>
              <a:t>aturamento gerado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8" name="Diamond 87">
            <a:extLst>
              <a:ext uri="{FF2B5EF4-FFF2-40B4-BE49-F238E27FC236}">
                <a16:creationId xmlns:a16="http://schemas.microsoft.com/office/drawing/2014/main" id="{23B1206A-7B05-AAB7-60D3-77F580AD9447}"/>
              </a:ext>
            </a:extLst>
          </p:cNvPr>
          <p:cNvSpPr>
            <a:spLocks noChangeAspect="1"/>
          </p:cNvSpPr>
          <p:nvPr/>
        </p:nvSpPr>
        <p:spPr>
          <a:xfrm>
            <a:off x="7258056" y="5484455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D9F3FF-9CB0-4C01-E5E6-7976615A3D8E}"/>
              </a:ext>
            </a:extLst>
          </p:cNvPr>
          <p:cNvSpPr txBox="1"/>
          <p:nvPr/>
        </p:nvSpPr>
        <p:spPr>
          <a:xfrm>
            <a:off x="6966392" y="5664455"/>
            <a:ext cx="763328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Drop-down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BR" sz="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Executado</a:t>
            </a:r>
          </a:p>
        </p:txBody>
      </p:sp>
      <p:sp>
        <p:nvSpPr>
          <p:cNvPr id="103" name="Google Shape;1423;p39">
            <a:extLst>
              <a:ext uri="{FF2B5EF4-FFF2-40B4-BE49-F238E27FC236}">
                <a16:creationId xmlns:a16="http://schemas.microsoft.com/office/drawing/2014/main" id="{AE0DC323-34EB-39F6-B014-1A181387F426}"/>
              </a:ext>
            </a:extLst>
          </p:cNvPr>
          <p:cNvSpPr txBox="1"/>
          <p:nvPr/>
        </p:nvSpPr>
        <p:spPr>
          <a:xfrm>
            <a:off x="314181" y="279764"/>
            <a:ext cx="10353398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Estratégia de entrega</a:t>
            </a:r>
          </a:p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dirty="0">
                <a:latin typeface="Simplon BP Regular" pitchFamily="2" charset="0"/>
              </a:rPr>
              <a:t>Cenários de interdependência e premissas</a:t>
            </a: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1DE0904-11D8-91BF-A01E-0A60F25F29C1}"/>
              </a:ext>
            </a:extLst>
          </p:cNvPr>
          <p:cNvSpPr/>
          <p:nvPr/>
        </p:nvSpPr>
        <p:spPr>
          <a:xfrm>
            <a:off x="3355382" y="3285518"/>
            <a:ext cx="3499517" cy="107792"/>
          </a:xfrm>
          <a:prstGeom prst="rect">
            <a:avLst/>
          </a:prstGeom>
          <a:solidFill>
            <a:srgbClr val="FF0000">
              <a:alpha val="44786"/>
            </a:srgbClr>
          </a:solidFill>
          <a:ln w="9525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1215A2F-7FC6-03F9-929A-856E79F5445B}"/>
              </a:ext>
            </a:extLst>
          </p:cNvPr>
          <p:cNvSpPr/>
          <p:nvPr/>
        </p:nvSpPr>
        <p:spPr>
          <a:xfrm>
            <a:off x="3298993" y="2118816"/>
            <a:ext cx="1349329" cy="106231"/>
          </a:xfrm>
          <a:prstGeom prst="rect">
            <a:avLst/>
          </a:prstGeom>
          <a:solidFill>
            <a:schemeClr val="tx1">
              <a:alpha val="66000"/>
            </a:schemeClr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CE86DDC-773D-8F61-38AE-3F423A8E1778}"/>
              </a:ext>
            </a:extLst>
          </p:cNvPr>
          <p:cNvSpPr txBox="1"/>
          <p:nvPr/>
        </p:nvSpPr>
        <p:spPr>
          <a:xfrm>
            <a:off x="3778873" y="3107835"/>
            <a:ext cx="246285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chemeClr val="bg1">
                    <a:lumMod val="65000"/>
                  </a:schemeClr>
                </a:solidFill>
              </a:rPr>
              <a:t>Patrimônio/Locação, Atacado, Operação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FCD50D1-3FA8-9194-809F-A4CE6D061207}"/>
              </a:ext>
            </a:extLst>
          </p:cNvPr>
          <p:cNvSpPr txBox="1"/>
          <p:nvPr/>
        </p:nvSpPr>
        <p:spPr>
          <a:xfrm>
            <a:off x="4682363" y="5062128"/>
            <a:ext cx="1915923" cy="4407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65000"/>
                  </a:schemeClr>
                </a:solidFill>
              </a:rPr>
              <a:t>Contabilização, Impostos, Clientes e Fornecedores, Materiais e Serviços​, Ativo Fixo​, Estruturas organ.</a:t>
            </a:r>
            <a:endParaRPr kumimoji="0" lang="pt-BR" sz="8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84C632F-E3E5-F2D1-7C69-E3A8E88BFFEF}"/>
              </a:ext>
            </a:extLst>
          </p:cNvPr>
          <p:cNvSpPr txBox="1"/>
          <p:nvPr/>
        </p:nvSpPr>
        <p:spPr>
          <a:xfrm>
            <a:off x="2976424" y="1815749"/>
            <a:ext cx="2003389" cy="316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chemeClr val="bg1">
                    <a:lumMod val="65000"/>
                  </a:schemeClr>
                </a:solidFill>
              </a:rPr>
              <a:t>Aumento de capital, adequações LEMVIG (documentações)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1" name="Diamond 110">
            <a:extLst>
              <a:ext uri="{FF2B5EF4-FFF2-40B4-BE49-F238E27FC236}">
                <a16:creationId xmlns:a16="http://schemas.microsoft.com/office/drawing/2014/main" id="{1305ECB9-8A7A-0721-A67E-4328B1087D2E}"/>
              </a:ext>
            </a:extLst>
          </p:cNvPr>
          <p:cNvSpPr>
            <a:spLocks noChangeAspect="1"/>
          </p:cNvSpPr>
          <p:nvPr/>
        </p:nvSpPr>
        <p:spPr>
          <a:xfrm>
            <a:off x="9435129" y="5499955"/>
            <a:ext cx="144000" cy="144000"/>
          </a:xfrm>
          <a:prstGeom prst="diamond">
            <a:avLst/>
          </a:prstGeom>
          <a:solidFill>
            <a:schemeClr val="accent1"/>
          </a:solidFill>
          <a:ln w="9525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EE19C88-B4B5-06E0-4CBE-FA5C84325BB4}"/>
              </a:ext>
            </a:extLst>
          </p:cNvPr>
          <p:cNvSpPr txBox="1"/>
          <p:nvPr/>
        </p:nvSpPr>
        <p:spPr>
          <a:xfrm>
            <a:off x="9031456" y="5249525"/>
            <a:ext cx="957429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50" dirty="0" err="1">
                <a:solidFill>
                  <a:srgbClr val="4D4D4D"/>
                </a:solidFill>
              </a:rPr>
              <a:t>Closing</a:t>
            </a:r>
            <a:endParaRPr kumimoji="0" lang="en-BR" sz="105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3B10BE0E-4561-A86F-00EB-E79151EA83DB}"/>
              </a:ext>
            </a:extLst>
          </p:cNvPr>
          <p:cNvSpPr>
            <a:spLocks noChangeAspect="1"/>
          </p:cNvSpPr>
          <p:nvPr/>
        </p:nvSpPr>
        <p:spPr>
          <a:xfrm>
            <a:off x="4232275" y="4916656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BD8A2BE-D858-5F32-4719-9921C37BAA1F}"/>
              </a:ext>
            </a:extLst>
          </p:cNvPr>
          <p:cNvSpPr txBox="1"/>
          <p:nvPr/>
        </p:nvSpPr>
        <p:spPr>
          <a:xfrm>
            <a:off x="3954766" y="5073008"/>
            <a:ext cx="763328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Início da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G2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3645042-E9FB-AF73-17F4-81BF35D0E0CD}"/>
              </a:ext>
            </a:extLst>
          </p:cNvPr>
          <p:cNvSpPr txBox="1"/>
          <p:nvPr/>
        </p:nvSpPr>
        <p:spPr>
          <a:xfrm>
            <a:off x="3971597" y="4541686"/>
            <a:ext cx="921081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Parametrização revisada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81126919-5E2B-FCC1-3F0B-4E490A2AA637}"/>
              </a:ext>
            </a:extLst>
          </p:cNvPr>
          <p:cNvSpPr>
            <a:spLocks noChangeAspect="1"/>
          </p:cNvSpPr>
          <p:nvPr/>
        </p:nvSpPr>
        <p:spPr>
          <a:xfrm>
            <a:off x="4676849" y="4916656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4A26600E-946D-99CF-8C38-B124D256E03E}"/>
              </a:ext>
            </a:extLst>
          </p:cNvPr>
          <p:cNvSpPr>
            <a:spLocks noChangeAspect="1"/>
          </p:cNvSpPr>
          <p:nvPr/>
        </p:nvSpPr>
        <p:spPr>
          <a:xfrm>
            <a:off x="6459405" y="4916656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B117B33-B334-042F-3DE4-EB84B53168B8}"/>
              </a:ext>
            </a:extLst>
          </p:cNvPr>
          <p:cNvSpPr txBox="1"/>
          <p:nvPr/>
        </p:nvSpPr>
        <p:spPr>
          <a:xfrm>
            <a:off x="6173651" y="4717725"/>
            <a:ext cx="844032" cy="1638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BR" sz="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UAT</a:t>
            </a:r>
            <a:r>
              <a:rPr lang="en-BR" sz="800" dirty="0">
                <a:solidFill>
                  <a:srgbClr val="4D4D4D"/>
                </a:solidFill>
              </a:rPr>
              <a:t> iniciada</a:t>
            </a:r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8A314150-9E5E-45FB-7E44-C73687910108}"/>
              </a:ext>
            </a:extLst>
          </p:cNvPr>
          <p:cNvSpPr>
            <a:spLocks noChangeAspect="1"/>
          </p:cNvSpPr>
          <p:nvPr/>
        </p:nvSpPr>
        <p:spPr>
          <a:xfrm>
            <a:off x="4979813" y="4916656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A3E3B1C-67C6-1AF8-5EB6-4E626C73284B}"/>
              </a:ext>
            </a:extLst>
          </p:cNvPr>
          <p:cNvSpPr txBox="1"/>
          <p:nvPr/>
        </p:nvSpPr>
        <p:spPr>
          <a:xfrm>
            <a:off x="4859929" y="4561961"/>
            <a:ext cx="763328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Configuração B1 iniciada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F935566-CE79-451C-A520-E9669C3ABA63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4665828" y="4809914"/>
            <a:ext cx="83021" cy="106742"/>
          </a:xfrm>
          <a:prstGeom prst="line">
            <a:avLst/>
          </a:prstGeom>
          <a:noFill/>
          <a:ln w="3175" cap="flat">
            <a:solidFill>
              <a:schemeClr val="tx2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022CC2A-E9AA-566B-C20C-5D112CC5A933}"/>
              </a:ext>
            </a:extLst>
          </p:cNvPr>
          <p:cNvSpPr/>
          <p:nvPr/>
        </p:nvSpPr>
        <p:spPr>
          <a:xfrm>
            <a:off x="3461377" y="2683104"/>
            <a:ext cx="3392089" cy="119678"/>
          </a:xfrm>
          <a:prstGeom prst="rect">
            <a:avLst/>
          </a:prstGeom>
          <a:solidFill>
            <a:schemeClr val="tx1">
              <a:alpha val="66000"/>
            </a:schemeClr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E985B2D-E6F9-8571-AECC-C3E2C32F7D0B}"/>
              </a:ext>
            </a:extLst>
          </p:cNvPr>
          <p:cNvSpPr txBox="1"/>
          <p:nvPr/>
        </p:nvSpPr>
        <p:spPr>
          <a:xfrm>
            <a:off x="4732838" y="2531080"/>
            <a:ext cx="1766331" cy="1784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chemeClr val="bg1">
                    <a:lumMod val="65000"/>
                  </a:schemeClr>
                </a:solidFill>
              </a:rPr>
              <a:t>Anuências Anatel/CADE(?)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B9B3948-E630-7FFA-57F8-7C2283D58DE5}"/>
              </a:ext>
            </a:extLst>
          </p:cNvPr>
          <p:cNvSpPr txBox="1"/>
          <p:nvPr/>
        </p:nvSpPr>
        <p:spPr>
          <a:xfrm>
            <a:off x="1079343" y="3189007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PATRIMÔNIO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682402E-2919-8D5B-BEB7-A048A172398E}"/>
              </a:ext>
            </a:extLst>
          </p:cNvPr>
          <p:cNvSpPr txBox="1"/>
          <p:nvPr/>
        </p:nvSpPr>
        <p:spPr>
          <a:xfrm>
            <a:off x="1051675" y="4904933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SISTEMAS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694437D-6B5E-FD53-1F6B-3F4EC41C8B34}"/>
              </a:ext>
            </a:extLst>
          </p:cNvPr>
          <p:cNvSpPr txBox="1"/>
          <p:nvPr/>
        </p:nvSpPr>
        <p:spPr>
          <a:xfrm>
            <a:off x="1061034" y="2082955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SOCIETÁRIO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1FD8A2B-D20A-8E54-65C6-0A0B18C3D209}"/>
              </a:ext>
            </a:extLst>
          </p:cNvPr>
          <p:cNvSpPr txBox="1"/>
          <p:nvPr/>
        </p:nvSpPr>
        <p:spPr>
          <a:xfrm>
            <a:off x="1051675" y="3347487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solidFill>
                  <a:srgbClr val="FF0000"/>
                </a:solidFill>
              </a:rPr>
              <a:t>CONTÁBIL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B45C6F-9CCC-602D-DF46-7CC860CE29D5}"/>
              </a:ext>
            </a:extLst>
          </p:cNvPr>
          <p:cNvSpPr txBox="1"/>
          <p:nvPr/>
        </p:nvSpPr>
        <p:spPr>
          <a:xfrm>
            <a:off x="1061034" y="2666902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REGULATÓRIO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39E1596-FEEB-CF2D-807D-DE842698438B}"/>
              </a:ext>
            </a:extLst>
          </p:cNvPr>
          <p:cNvSpPr/>
          <p:nvPr/>
        </p:nvSpPr>
        <p:spPr>
          <a:xfrm>
            <a:off x="3676318" y="4350151"/>
            <a:ext cx="3322030" cy="108000"/>
          </a:xfrm>
          <a:prstGeom prst="rect">
            <a:avLst/>
          </a:prstGeom>
          <a:solidFill>
            <a:schemeClr val="tx1">
              <a:alpha val="66000"/>
            </a:schemeClr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40EA299-5B31-FDE8-FE6A-ADA2F8E721B0}"/>
              </a:ext>
            </a:extLst>
          </p:cNvPr>
          <p:cNvSpPr txBox="1"/>
          <p:nvPr/>
        </p:nvSpPr>
        <p:spPr>
          <a:xfrm>
            <a:off x="3600984" y="4182772"/>
            <a:ext cx="3457349" cy="15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chemeClr val="bg1">
                    <a:lumMod val="65000"/>
                  </a:schemeClr>
                </a:solidFill>
              </a:rPr>
              <a:t>Abertura e configuração de contas de arrecadação e pagamento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F24E8F8-E8D3-770D-9DB9-59D601E0568D}"/>
              </a:ext>
            </a:extLst>
          </p:cNvPr>
          <p:cNvSpPr txBox="1"/>
          <p:nvPr/>
        </p:nvSpPr>
        <p:spPr>
          <a:xfrm>
            <a:off x="1061034" y="4310418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FINANCEIRO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AB47732-E92F-3269-56D6-BCF44BBE4C78}"/>
              </a:ext>
            </a:extLst>
          </p:cNvPr>
          <p:cNvCxnSpPr>
            <a:cxnSpLocks/>
            <a:stCxn id="135" idx="3"/>
            <a:endCxn id="128" idx="1"/>
          </p:cNvCxnSpPr>
          <p:nvPr/>
        </p:nvCxnSpPr>
        <p:spPr>
          <a:xfrm flipV="1">
            <a:off x="2037514" y="2742943"/>
            <a:ext cx="1423863" cy="13959"/>
          </a:xfrm>
          <a:prstGeom prst="line">
            <a:avLst/>
          </a:prstGeom>
          <a:noFill/>
          <a:ln w="3175" cap="flat">
            <a:solidFill>
              <a:schemeClr val="bg1">
                <a:lumMod val="5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F2B576D-CDA1-A23F-82A7-C248B6A90450}"/>
              </a:ext>
            </a:extLst>
          </p:cNvPr>
          <p:cNvCxnSpPr>
            <a:cxnSpLocks/>
            <a:stCxn id="178" idx="2"/>
            <a:endCxn id="105" idx="1"/>
          </p:cNvCxnSpPr>
          <p:nvPr/>
        </p:nvCxnSpPr>
        <p:spPr>
          <a:xfrm flipV="1">
            <a:off x="2002482" y="3339414"/>
            <a:ext cx="1352900" cy="10763"/>
          </a:xfrm>
          <a:prstGeom prst="line">
            <a:avLst/>
          </a:prstGeom>
          <a:noFill/>
          <a:ln w="3175" cap="flat">
            <a:solidFill>
              <a:schemeClr val="bg1">
                <a:lumMod val="5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7FF007A-A56F-6CA0-8C39-53E4FCBA4529}"/>
              </a:ext>
            </a:extLst>
          </p:cNvPr>
          <p:cNvCxnSpPr>
            <a:cxnSpLocks/>
            <a:stCxn id="139" idx="3"/>
            <a:endCxn id="137" idx="1"/>
          </p:cNvCxnSpPr>
          <p:nvPr/>
        </p:nvCxnSpPr>
        <p:spPr>
          <a:xfrm>
            <a:off x="2037514" y="4400418"/>
            <a:ext cx="1638804" cy="3733"/>
          </a:xfrm>
          <a:prstGeom prst="line">
            <a:avLst/>
          </a:prstGeom>
          <a:noFill/>
          <a:ln w="3175" cap="flat">
            <a:solidFill>
              <a:schemeClr val="bg1">
                <a:lumMod val="5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AB6C0D23-1B88-740F-24A9-0FA4638FC9DC}"/>
              </a:ext>
            </a:extLst>
          </p:cNvPr>
          <p:cNvCxnSpPr>
            <a:cxnSpLocks/>
          </p:cNvCxnSpPr>
          <p:nvPr/>
        </p:nvCxnSpPr>
        <p:spPr>
          <a:xfrm>
            <a:off x="2028155" y="4994933"/>
            <a:ext cx="1648163" cy="0"/>
          </a:xfrm>
          <a:prstGeom prst="line">
            <a:avLst/>
          </a:prstGeom>
          <a:noFill/>
          <a:ln w="3175" cap="flat">
            <a:solidFill>
              <a:schemeClr val="bg1">
                <a:lumMod val="5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8" name="Diamond 67">
            <a:extLst>
              <a:ext uri="{FF2B5EF4-FFF2-40B4-BE49-F238E27FC236}">
                <a16:creationId xmlns:a16="http://schemas.microsoft.com/office/drawing/2014/main" id="{4C4DC320-5C0D-0AD8-9C7F-DE4B31CBC454}"/>
              </a:ext>
            </a:extLst>
          </p:cNvPr>
          <p:cNvSpPr>
            <a:spLocks noChangeAspect="1"/>
          </p:cNvSpPr>
          <p:nvPr/>
        </p:nvSpPr>
        <p:spPr>
          <a:xfrm>
            <a:off x="6839350" y="3267414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1" name="Diamond 160">
            <a:extLst>
              <a:ext uri="{FF2B5EF4-FFF2-40B4-BE49-F238E27FC236}">
                <a16:creationId xmlns:a16="http://schemas.microsoft.com/office/drawing/2014/main" id="{86BE6FED-3D4C-4350-6EBC-C57212394A32}"/>
              </a:ext>
            </a:extLst>
          </p:cNvPr>
          <p:cNvSpPr>
            <a:spLocks noChangeAspect="1"/>
          </p:cNvSpPr>
          <p:nvPr/>
        </p:nvSpPr>
        <p:spPr>
          <a:xfrm>
            <a:off x="6855830" y="4332151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2" name="Diamond 161">
            <a:extLst>
              <a:ext uri="{FF2B5EF4-FFF2-40B4-BE49-F238E27FC236}">
                <a16:creationId xmlns:a16="http://schemas.microsoft.com/office/drawing/2014/main" id="{CED1A849-B694-9FA4-F94A-9F1AAC1717EE}"/>
              </a:ext>
            </a:extLst>
          </p:cNvPr>
          <p:cNvSpPr>
            <a:spLocks noChangeAspect="1"/>
          </p:cNvSpPr>
          <p:nvPr/>
        </p:nvSpPr>
        <p:spPr>
          <a:xfrm>
            <a:off x="4577941" y="2670943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28CC122-6CAE-FEEA-C4B3-227FA3A84AF2}"/>
              </a:ext>
            </a:extLst>
          </p:cNvPr>
          <p:cNvCxnSpPr>
            <a:cxnSpLocks/>
          </p:cNvCxnSpPr>
          <p:nvPr/>
        </p:nvCxnSpPr>
        <p:spPr>
          <a:xfrm>
            <a:off x="3461377" y="1702787"/>
            <a:ext cx="0" cy="4500000"/>
          </a:xfrm>
          <a:prstGeom prst="line">
            <a:avLst/>
          </a:prstGeom>
          <a:noFill/>
          <a:ln w="3175" cap="flat">
            <a:solidFill>
              <a:schemeClr val="bg1">
                <a:lumMod val="5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Diamond 81">
            <a:extLst>
              <a:ext uri="{FF2B5EF4-FFF2-40B4-BE49-F238E27FC236}">
                <a16:creationId xmlns:a16="http://schemas.microsoft.com/office/drawing/2014/main" id="{A704E5E1-5B72-3731-62AF-E53CCD78BDC8}"/>
              </a:ext>
            </a:extLst>
          </p:cNvPr>
          <p:cNvSpPr>
            <a:spLocks noChangeAspect="1"/>
          </p:cNvSpPr>
          <p:nvPr/>
        </p:nvSpPr>
        <p:spPr>
          <a:xfrm>
            <a:off x="3206849" y="2099931"/>
            <a:ext cx="144000" cy="144000"/>
          </a:xfrm>
          <a:prstGeom prst="diamond">
            <a:avLst/>
          </a:prstGeom>
          <a:solidFill>
            <a:schemeClr val="tx1"/>
          </a:solidFill>
          <a:ln w="9525" cap="flat">
            <a:solidFill>
              <a:srgbClr val="FFFF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54880AED-B0AB-351C-8EC9-01E62776B5A6}"/>
              </a:ext>
            </a:extLst>
          </p:cNvPr>
          <p:cNvCxnSpPr>
            <a:cxnSpLocks/>
            <a:stCxn id="106" idx="3"/>
            <a:endCxn id="117" idx="0"/>
          </p:cNvCxnSpPr>
          <p:nvPr/>
        </p:nvCxnSpPr>
        <p:spPr>
          <a:xfrm>
            <a:off x="4648322" y="2171932"/>
            <a:ext cx="100527" cy="2744724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4" name="Diamond 173">
            <a:extLst>
              <a:ext uri="{FF2B5EF4-FFF2-40B4-BE49-F238E27FC236}">
                <a16:creationId xmlns:a16="http://schemas.microsoft.com/office/drawing/2014/main" id="{5433298A-560E-A4D8-8CA8-A4574B42363A}"/>
              </a:ext>
            </a:extLst>
          </p:cNvPr>
          <p:cNvSpPr>
            <a:spLocks noChangeAspect="1"/>
          </p:cNvSpPr>
          <p:nvPr/>
        </p:nvSpPr>
        <p:spPr>
          <a:xfrm>
            <a:off x="4518828" y="4332151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EACF8936-8C28-8D0C-437E-46A45D23FA50}"/>
              </a:ext>
            </a:extLst>
          </p:cNvPr>
          <p:cNvCxnSpPr>
            <a:cxnSpLocks/>
            <a:stCxn id="174" idx="3"/>
            <a:endCxn id="117" idx="0"/>
          </p:cNvCxnSpPr>
          <p:nvPr/>
        </p:nvCxnSpPr>
        <p:spPr>
          <a:xfrm>
            <a:off x="4662828" y="4404151"/>
            <a:ext cx="86021" cy="512505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8" name="Right Bracket 177">
            <a:extLst>
              <a:ext uri="{FF2B5EF4-FFF2-40B4-BE49-F238E27FC236}">
                <a16:creationId xmlns:a16="http://schemas.microsoft.com/office/drawing/2014/main" id="{079B3E85-5D57-9628-E42C-767A9DD878C7}"/>
              </a:ext>
            </a:extLst>
          </p:cNvPr>
          <p:cNvSpPr/>
          <p:nvPr/>
        </p:nvSpPr>
        <p:spPr>
          <a:xfrm>
            <a:off x="1930482" y="3044177"/>
            <a:ext cx="72000" cy="612000"/>
          </a:xfrm>
          <a:prstGeom prst="rightBracket">
            <a:avLst/>
          </a:prstGeom>
          <a:noFill/>
          <a:ln w="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2AFD57A-D969-E80B-5BE5-8F7BB9066351}"/>
              </a:ext>
            </a:extLst>
          </p:cNvPr>
          <p:cNvSpPr txBox="1"/>
          <p:nvPr/>
        </p:nvSpPr>
        <p:spPr>
          <a:xfrm>
            <a:off x="3433681" y="1346603"/>
            <a:ext cx="550855" cy="176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700" dirty="0">
                <a:solidFill>
                  <a:srgbClr val="FF0000"/>
                </a:solidFill>
              </a:rPr>
              <a:t>Kickoff</a:t>
            </a:r>
            <a:endParaRPr kumimoji="0" lang="en-BR" sz="700" b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BD0A66D-0B34-AEBC-C92C-0C57F9B1EE7C}"/>
              </a:ext>
            </a:extLst>
          </p:cNvPr>
          <p:cNvSpPr txBox="1"/>
          <p:nvPr/>
        </p:nvSpPr>
        <p:spPr>
          <a:xfrm>
            <a:off x="4237316" y="2775174"/>
            <a:ext cx="763328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Pleito protocolado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2" name="Diamond 181">
            <a:extLst>
              <a:ext uri="{FF2B5EF4-FFF2-40B4-BE49-F238E27FC236}">
                <a16:creationId xmlns:a16="http://schemas.microsoft.com/office/drawing/2014/main" id="{4FD0C218-396B-4139-A851-A44C7EBFC41D}"/>
              </a:ext>
            </a:extLst>
          </p:cNvPr>
          <p:cNvSpPr>
            <a:spLocks noChangeAspect="1"/>
          </p:cNvSpPr>
          <p:nvPr/>
        </p:nvSpPr>
        <p:spPr>
          <a:xfrm>
            <a:off x="6686991" y="2670943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DA7FDB6-5D7E-4F56-AE07-A969F13278F7}"/>
              </a:ext>
            </a:extLst>
          </p:cNvPr>
          <p:cNvSpPr txBox="1"/>
          <p:nvPr/>
        </p:nvSpPr>
        <p:spPr>
          <a:xfrm>
            <a:off x="6388201" y="2828822"/>
            <a:ext cx="763328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4D4D4D"/>
                </a:solidFill>
              </a:rPr>
              <a:t>Anuência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BR" sz="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obtida</a:t>
            </a:r>
          </a:p>
        </p:txBody>
      </p:sp>
      <p:sp>
        <p:nvSpPr>
          <p:cNvPr id="184" name="Diamond 183">
            <a:extLst>
              <a:ext uri="{FF2B5EF4-FFF2-40B4-BE49-F238E27FC236}">
                <a16:creationId xmlns:a16="http://schemas.microsoft.com/office/drawing/2014/main" id="{C2045AA6-CB34-CBC1-66F0-0B60B04D6199}"/>
              </a:ext>
            </a:extLst>
          </p:cNvPr>
          <p:cNvSpPr>
            <a:spLocks noChangeAspect="1"/>
          </p:cNvSpPr>
          <p:nvPr/>
        </p:nvSpPr>
        <p:spPr>
          <a:xfrm>
            <a:off x="6792005" y="3267414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5A8B793-1161-FB89-EA3B-10D84BC97129}"/>
              </a:ext>
            </a:extLst>
          </p:cNvPr>
          <p:cNvSpPr txBox="1"/>
          <p:nvPr/>
        </p:nvSpPr>
        <p:spPr>
          <a:xfrm>
            <a:off x="6378756" y="4455787"/>
            <a:ext cx="1222381" cy="1638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BR" sz="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Contas configuradas</a:t>
            </a:r>
            <a:endParaRPr lang="en-BR" sz="800" dirty="0">
              <a:solidFill>
                <a:srgbClr val="4D4D4D"/>
              </a:solidFill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3CE969E-6DB7-4D5A-8DD6-1752A64FBD02}"/>
              </a:ext>
            </a:extLst>
          </p:cNvPr>
          <p:cNvCxnSpPr>
            <a:cxnSpLocks/>
          </p:cNvCxnSpPr>
          <p:nvPr/>
        </p:nvCxnSpPr>
        <p:spPr>
          <a:xfrm>
            <a:off x="3676318" y="1527270"/>
            <a:ext cx="0" cy="4675517"/>
          </a:xfrm>
          <a:prstGeom prst="line">
            <a:avLst/>
          </a:prstGeom>
          <a:noFill/>
          <a:ln w="3175" cap="flat">
            <a:solidFill>
              <a:srgbClr val="FF0000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B95D241D-4F8B-9DA4-F886-0DD944273A64}"/>
              </a:ext>
            </a:extLst>
          </p:cNvPr>
          <p:cNvSpPr txBox="1"/>
          <p:nvPr/>
        </p:nvSpPr>
        <p:spPr>
          <a:xfrm>
            <a:off x="3241250" y="1547679"/>
            <a:ext cx="440254" cy="176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700" dirty="0">
                <a:solidFill>
                  <a:schemeClr val="tx2"/>
                </a:solidFill>
              </a:rPr>
              <a:t>19/08</a:t>
            </a:r>
            <a:endParaRPr kumimoji="0" lang="en-BR" sz="700" b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92" name="Diamond 191">
            <a:extLst>
              <a:ext uri="{FF2B5EF4-FFF2-40B4-BE49-F238E27FC236}">
                <a16:creationId xmlns:a16="http://schemas.microsoft.com/office/drawing/2014/main" id="{2A774839-F183-A812-5AE7-ADB67CF48639}"/>
              </a:ext>
            </a:extLst>
          </p:cNvPr>
          <p:cNvSpPr>
            <a:spLocks noChangeAspect="1"/>
          </p:cNvSpPr>
          <p:nvPr/>
        </p:nvSpPr>
        <p:spPr>
          <a:xfrm>
            <a:off x="4533491" y="3267414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51896AA-A685-E63D-BC26-55FDFA398D7E}"/>
              </a:ext>
            </a:extLst>
          </p:cNvPr>
          <p:cNvSpPr txBox="1"/>
          <p:nvPr/>
        </p:nvSpPr>
        <p:spPr>
          <a:xfrm>
            <a:off x="3999075" y="3384394"/>
            <a:ext cx="1182031" cy="28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800" dirty="0">
                <a:solidFill>
                  <a:srgbClr val="FF0000"/>
                </a:solidFill>
              </a:rPr>
              <a:t> Parâmetros de contratos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5751A8AA-0A72-187D-B702-81C892C2F0DB}"/>
              </a:ext>
            </a:extLst>
          </p:cNvPr>
          <p:cNvCxnSpPr>
            <a:cxnSpLocks/>
            <a:stCxn id="192" idx="3"/>
            <a:endCxn id="117" idx="0"/>
          </p:cNvCxnSpPr>
          <p:nvPr/>
        </p:nvCxnSpPr>
        <p:spPr>
          <a:xfrm>
            <a:off x="4677491" y="3339414"/>
            <a:ext cx="71358" cy="1577242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2184983-655D-0555-B61D-D06B87CE4C04}"/>
              </a:ext>
            </a:extLst>
          </p:cNvPr>
          <p:cNvSpPr/>
          <p:nvPr/>
        </p:nvSpPr>
        <p:spPr>
          <a:xfrm>
            <a:off x="328935" y="6471786"/>
            <a:ext cx="324000" cy="109083"/>
          </a:xfrm>
          <a:prstGeom prst="rect">
            <a:avLst/>
          </a:prstGeom>
          <a:solidFill>
            <a:srgbClr val="FF0000">
              <a:alpha val="44786"/>
            </a:srgbClr>
          </a:solidFill>
          <a:ln w="9525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1C13B27-89CB-E9F5-DB92-5D5C41AD1512}"/>
              </a:ext>
            </a:extLst>
          </p:cNvPr>
          <p:cNvSpPr txBox="1"/>
          <p:nvPr/>
        </p:nvSpPr>
        <p:spPr>
          <a:xfrm>
            <a:off x="638695" y="6472327"/>
            <a:ext cx="1152000" cy="10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BR" sz="700" dirty="0">
                <a:solidFill>
                  <a:srgbClr val="4D4D4D"/>
                </a:solidFill>
              </a:rPr>
              <a:t>Caminho/frentes críticas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BBE14A5-D259-D2F3-CD8E-AAB9B40C1E8D}"/>
              </a:ext>
            </a:extLst>
          </p:cNvPr>
          <p:cNvSpPr>
            <a:spLocks/>
          </p:cNvSpPr>
          <p:nvPr/>
        </p:nvSpPr>
        <p:spPr>
          <a:xfrm>
            <a:off x="7921557" y="1755276"/>
            <a:ext cx="3774573" cy="1361546"/>
          </a:xfrm>
          <a:prstGeom prst="rect">
            <a:avLst/>
          </a:prstGeom>
          <a:solidFill>
            <a:schemeClr val="accent2">
              <a:alpha val="53000"/>
            </a:schemeClr>
          </a:solidFill>
          <a:ln w="15875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72000" marR="0" algn="l" defTabSz="91440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pt-BR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Premissas</a:t>
            </a:r>
            <a:r>
              <a:rPr kumimoji="0" lang="pt-BR" sz="11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sym typeface="Simplon BP Regular"/>
              </a:rPr>
              <a:t>:</a:t>
            </a:r>
          </a:p>
          <a:p>
            <a:pPr marL="324000" lvl="1" indent="-180000">
              <a:lnSpc>
                <a:spcPts val="1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1"/>
                </a:solidFill>
              </a:rPr>
              <a:t>Segregação dos Contratos e SPE faturando até final de out/22;</a:t>
            </a:r>
          </a:p>
          <a:p>
            <a:pPr marL="324000" lvl="1" indent="-180000">
              <a:lnSpc>
                <a:spcPts val="1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1"/>
                </a:solidFill>
              </a:rPr>
              <a:t>Suporte EY junto às áreas nas frentes de contratos e sistemas;</a:t>
            </a:r>
          </a:p>
          <a:p>
            <a:pPr marL="324000" lvl="1" indent="-180000">
              <a:lnSpc>
                <a:spcPts val="1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1"/>
                </a:solidFill>
              </a:rPr>
              <a:t>Uso do SAP B1 com solução ERP;</a:t>
            </a:r>
          </a:p>
          <a:p>
            <a:pPr marL="324000" lvl="1" indent="-180000">
              <a:lnSpc>
                <a:spcPts val="1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1"/>
                </a:solidFill>
              </a:rPr>
              <a:t>Reuso das parametrizações de Vênus com revisão das áreas;</a:t>
            </a:r>
          </a:p>
          <a:p>
            <a:pPr marL="324000" lvl="1" indent="-180000">
              <a:lnSpc>
                <a:spcPts val="1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FFFFFF"/>
                </a:solidFill>
              </a:rPr>
              <a:t>Alocação da G2 em TI no início de setembro;</a:t>
            </a:r>
            <a:endParaRPr lang="pt-BR" sz="1100" dirty="0">
              <a:solidFill>
                <a:schemeClr val="bg1"/>
              </a:solidFill>
            </a:endParaRPr>
          </a:p>
          <a:p>
            <a:pPr marL="285750" marR="0" indent="-285750" algn="l" defTabSz="91440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sz="11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Simplon BP Regular"/>
            </a:endParaRPr>
          </a:p>
        </p:txBody>
      </p:sp>
      <p:cxnSp>
        <p:nvCxnSpPr>
          <p:cNvPr id="200" name="Elbow Connector 199">
            <a:extLst>
              <a:ext uri="{FF2B5EF4-FFF2-40B4-BE49-F238E27FC236}">
                <a16:creationId xmlns:a16="http://schemas.microsoft.com/office/drawing/2014/main" id="{A6D47B87-F2F7-9DDE-220B-0CC3AF7B230A}"/>
              </a:ext>
            </a:extLst>
          </p:cNvPr>
          <p:cNvCxnSpPr>
            <a:cxnSpLocks/>
            <a:stCxn id="182" idx="3"/>
            <a:endCxn id="88" idx="0"/>
          </p:cNvCxnSpPr>
          <p:nvPr/>
        </p:nvCxnSpPr>
        <p:spPr>
          <a:xfrm>
            <a:off x="6830991" y="2742943"/>
            <a:ext cx="499065" cy="2741512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4E808EA-25E3-7E59-E78E-4EA807BC8066}"/>
              </a:ext>
            </a:extLst>
          </p:cNvPr>
          <p:cNvCxnSpPr>
            <a:cxnSpLocks/>
            <a:stCxn id="79" idx="0"/>
            <a:endCxn id="161" idx="2"/>
          </p:cNvCxnSpPr>
          <p:nvPr/>
        </p:nvCxnSpPr>
        <p:spPr>
          <a:xfrm flipV="1">
            <a:off x="6926900" y="4476151"/>
            <a:ext cx="930" cy="440505"/>
          </a:xfrm>
          <a:prstGeom prst="straightConnector1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" name="Diamond 84">
            <a:extLst>
              <a:ext uri="{FF2B5EF4-FFF2-40B4-BE49-F238E27FC236}">
                <a16:creationId xmlns:a16="http://schemas.microsoft.com/office/drawing/2014/main" id="{64FA7668-0253-8415-02F2-9BBBF21F443F}"/>
              </a:ext>
            </a:extLst>
          </p:cNvPr>
          <p:cNvSpPr>
            <a:spLocks noChangeAspect="1"/>
          </p:cNvSpPr>
          <p:nvPr/>
        </p:nvSpPr>
        <p:spPr>
          <a:xfrm>
            <a:off x="424357" y="6248473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5" name="TextBox 197">
            <a:extLst>
              <a:ext uri="{FF2B5EF4-FFF2-40B4-BE49-F238E27FC236}">
                <a16:creationId xmlns:a16="http://schemas.microsoft.com/office/drawing/2014/main" id="{B1C13B27-89CB-E9F5-DB92-5D5C41AD1512}"/>
              </a:ext>
            </a:extLst>
          </p:cNvPr>
          <p:cNvSpPr txBox="1"/>
          <p:nvPr/>
        </p:nvSpPr>
        <p:spPr>
          <a:xfrm>
            <a:off x="638695" y="6264422"/>
            <a:ext cx="1152000" cy="108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700" dirty="0">
                <a:solidFill>
                  <a:srgbClr val="4D4D4D"/>
                </a:solidFill>
              </a:rPr>
              <a:t>Marcos Principais</a:t>
            </a:r>
            <a:endParaRPr lang="en-BR" sz="700" dirty="0">
              <a:solidFill>
                <a:srgbClr val="4D4D4D"/>
              </a:solidFill>
            </a:endParaRPr>
          </a:p>
        </p:txBody>
      </p:sp>
      <p:sp>
        <p:nvSpPr>
          <p:cNvPr id="91" name="Retângulo 90"/>
          <p:cNvSpPr/>
          <p:nvPr/>
        </p:nvSpPr>
        <p:spPr>
          <a:xfrm>
            <a:off x="8952931" y="279764"/>
            <a:ext cx="2102875" cy="430887"/>
          </a:xfrm>
          <a:prstGeom prst="rect">
            <a:avLst/>
          </a:prstGeom>
          <a:solidFill>
            <a:srgbClr val="FFFF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Material em construção</a:t>
            </a:r>
            <a:br>
              <a:rPr kumimoji="0" lang="pt-BR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</a:br>
            <a:r>
              <a:rPr kumimoji="0" lang="pt-BR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Datas em validação</a:t>
            </a:r>
            <a:endParaRPr kumimoji="0" lang="pt-BR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6" name="Rectangle 136">
            <a:extLst>
              <a:ext uri="{FF2B5EF4-FFF2-40B4-BE49-F238E27FC236}">
                <a16:creationId xmlns:a16="http://schemas.microsoft.com/office/drawing/2014/main" id="{639E1596-FEEB-CF2D-807D-DE842698438B}"/>
              </a:ext>
            </a:extLst>
          </p:cNvPr>
          <p:cNvSpPr/>
          <p:nvPr/>
        </p:nvSpPr>
        <p:spPr>
          <a:xfrm>
            <a:off x="3676318" y="3960444"/>
            <a:ext cx="3322030" cy="108000"/>
          </a:xfrm>
          <a:prstGeom prst="rect">
            <a:avLst/>
          </a:prstGeom>
          <a:solidFill>
            <a:schemeClr val="tx1">
              <a:alpha val="66000"/>
            </a:schemeClr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TextBox 137">
            <a:extLst>
              <a:ext uri="{FF2B5EF4-FFF2-40B4-BE49-F238E27FC236}">
                <a16:creationId xmlns:a16="http://schemas.microsoft.com/office/drawing/2014/main" id="{740EA299-5B31-FDE8-FE6A-ADA2F8E721B0}"/>
              </a:ext>
            </a:extLst>
          </p:cNvPr>
          <p:cNvSpPr txBox="1"/>
          <p:nvPr/>
        </p:nvSpPr>
        <p:spPr>
          <a:xfrm>
            <a:off x="3600984" y="3793065"/>
            <a:ext cx="3457349" cy="15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solidFill>
                  <a:schemeClr val="bg1">
                    <a:lumMod val="65000"/>
                  </a:schemeClr>
                </a:solidFill>
              </a:rPr>
              <a:t>Definição de processo/métricas de reembolso</a:t>
            </a:r>
            <a:endParaRPr lang="en-BR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8" name="TextBox 138">
            <a:extLst>
              <a:ext uri="{FF2B5EF4-FFF2-40B4-BE49-F238E27FC236}">
                <a16:creationId xmlns:a16="http://schemas.microsoft.com/office/drawing/2014/main" id="{FF24E8F8-E8D3-770D-9DB9-59D601E0568D}"/>
              </a:ext>
            </a:extLst>
          </p:cNvPr>
          <p:cNvSpPr txBox="1"/>
          <p:nvPr/>
        </p:nvSpPr>
        <p:spPr>
          <a:xfrm>
            <a:off x="1061034" y="3920711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solidFill>
                  <a:srgbClr val="4D4D4D"/>
                </a:solidFill>
              </a:rPr>
              <a:t>ENERGIA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99" name="Straight Connector 144">
            <a:extLst>
              <a:ext uri="{FF2B5EF4-FFF2-40B4-BE49-F238E27FC236}">
                <a16:creationId xmlns:a16="http://schemas.microsoft.com/office/drawing/2014/main" id="{67FF007A-A56F-6CA0-8C39-53E4FCBA4529}"/>
              </a:ext>
            </a:extLst>
          </p:cNvPr>
          <p:cNvCxnSpPr>
            <a:cxnSpLocks/>
            <a:stCxn id="98" idx="3"/>
            <a:endCxn id="96" idx="1"/>
          </p:cNvCxnSpPr>
          <p:nvPr/>
        </p:nvCxnSpPr>
        <p:spPr>
          <a:xfrm>
            <a:off x="2037514" y="4010711"/>
            <a:ext cx="1638804" cy="3733"/>
          </a:xfrm>
          <a:prstGeom prst="line">
            <a:avLst/>
          </a:prstGeom>
          <a:noFill/>
          <a:ln w="3175" cap="flat">
            <a:solidFill>
              <a:schemeClr val="bg1">
                <a:lumMod val="5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0" name="Diamond 160">
            <a:extLst>
              <a:ext uri="{FF2B5EF4-FFF2-40B4-BE49-F238E27FC236}">
                <a16:creationId xmlns:a16="http://schemas.microsoft.com/office/drawing/2014/main" id="{86BE6FED-3D4C-4350-6EBC-C57212394A32}"/>
              </a:ext>
            </a:extLst>
          </p:cNvPr>
          <p:cNvSpPr>
            <a:spLocks noChangeAspect="1"/>
          </p:cNvSpPr>
          <p:nvPr/>
        </p:nvSpPr>
        <p:spPr>
          <a:xfrm>
            <a:off x="6855830" y="3942444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1" name="Diamond 173">
            <a:extLst>
              <a:ext uri="{FF2B5EF4-FFF2-40B4-BE49-F238E27FC236}">
                <a16:creationId xmlns:a16="http://schemas.microsoft.com/office/drawing/2014/main" id="{5433298A-560E-A4D8-8CA8-A4574B42363A}"/>
              </a:ext>
            </a:extLst>
          </p:cNvPr>
          <p:cNvSpPr>
            <a:spLocks noChangeAspect="1"/>
          </p:cNvSpPr>
          <p:nvPr/>
        </p:nvSpPr>
        <p:spPr>
          <a:xfrm>
            <a:off x="4518828" y="3942444"/>
            <a:ext cx="144000" cy="144000"/>
          </a:xfrm>
          <a:prstGeom prst="diamond">
            <a:avLst/>
          </a:prstGeom>
          <a:solidFill>
            <a:srgbClr val="FFFF00"/>
          </a:solidFill>
          <a:ln w="952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10" name="Elbow Connector 14">
            <a:extLst>
              <a:ext uri="{FF2B5EF4-FFF2-40B4-BE49-F238E27FC236}">
                <a16:creationId xmlns:a16="http://schemas.microsoft.com/office/drawing/2014/main" id="{7764D723-9965-0830-95C3-E48DD9BC7252}"/>
              </a:ext>
            </a:extLst>
          </p:cNvPr>
          <p:cNvCxnSpPr>
            <a:cxnSpLocks/>
            <a:stCxn id="100" idx="3"/>
            <a:endCxn id="88" idx="0"/>
          </p:cNvCxnSpPr>
          <p:nvPr/>
        </p:nvCxnSpPr>
        <p:spPr>
          <a:xfrm>
            <a:off x="6999830" y="4014444"/>
            <a:ext cx="330226" cy="1470011"/>
          </a:xfrm>
          <a:prstGeom prst="bentConnector2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B686659-1E44-CB6D-148D-DA9383320CB6}"/>
              </a:ext>
            </a:extLst>
          </p:cNvPr>
          <p:cNvSpPr txBox="1"/>
          <p:nvPr/>
        </p:nvSpPr>
        <p:spPr>
          <a:xfrm>
            <a:off x="1042075" y="3030526"/>
            <a:ext cx="976480" cy="180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solidFill>
                  <a:srgbClr val="FF0000"/>
                </a:solidFill>
              </a:rPr>
              <a:t>ATACADO</a:t>
            </a:r>
            <a:endParaRPr kumimoji="0" lang="en-BR" sz="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7018670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3" name="Google Shape;1423;p39"/>
          <p:cNvSpPr txBox="1"/>
          <p:nvPr/>
        </p:nvSpPr>
        <p:spPr>
          <a:xfrm>
            <a:off x="314181" y="279764"/>
            <a:ext cx="10353398" cy="602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defRPr sz="20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800" dirty="0"/>
              <a:t>Condições Precedentes </a:t>
            </a:r>
            <a:br>
              <a:rPr lang="pt-BR" dirty="0"/>
            </a:br>
            <a:r>
              <a:rPr lang="pt-BR" dirty="0">
                <a:latin typeface="Simplon BP Regular" pitchFamily="2" charset="0"/>
              </a:rPr>
              <a:t>Identificação todos os pontos críticos do projeto</a:t>
            </a:r>
            <a:endParaRPr dirty="0"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algn="r"/>
            <a:fld id="{34F21757-CAEC-9B46-BA5E-8BB41E742229}" type="slidenum">
              <a:rPr lang="en-US" sz="1050" smtClean="0">
                <a:solidFill>
                  <a:schemeClr val="tx2"/>
                </a:solidFill>
              </a:rPr>
              <a:pPr algn="r"/>
              <a:t>13</a:t>
            </a:fld>
            <a:endParaRPr lang="en-US" sz="1050" dirty="0">
              <a:solidFill>
                <a:schemeClr val="tx2"/>
              </a:solidFill>
            </a:endParaRP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122FB8CD-775C-1D36-F52C-5F17FD27C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238020"/>
              </p:ext>
            </p:extLst>
          </p:nvPr>
        </p:nvGraphicFramePr>
        <p:xfrm>
          <a:off x="1105750" y="870695"/>
          <a:ext cx="9778585" cy="5853438"/>
        </p:xfrm>
        <a:graphic>
          <a:graphicData uri="http://schemas.openxmlformats.org/drawingml/2006/table">
            <a:tbl>
              <a:tblPr/>
              <a:tblGrid>
                <a:gridCol w="172833">
                  <a:extLst>
                    <a:ext uri="{9D8B030D-6E8A-4147-A177-3AD203B41FA5}">
                      <a16:colId xmlns:a16="http://schemas.microsoft.com/office/drawing/2014/main" val="1386531782"/>
                    </a:ext>
                  </a:extLst>
                </a:gridCol>
                <a:gridCol w="1651212">
                  <a:extLst>
                    <a:ext uri="{9D8B030D-6E8A-4147-A177-3AD203B41FA5}">
                      <a16:colId xmlns:a16="http://schemas.microsoft.com/office/drawing/2014/main" val="22776239"/>
                    </a:ext>
                  </a:extLst>
                </a:gridCol>
                <a:gridCol w="7162969">
                  <a:extLst>
                    <a:ext uri="{9D8B030D-6E8A-4147-A177-3AD203B41FA5}">
                      <a16:colId xmlns:a16="http://schemas.microsoft.com/office/drawing/2014/main" val="1580592599"/>
                    </a:ext>
                  </a:extLst>
                </a:gridCol>
                <a:gridCol w="791571">
                  <a:extLst>
                    <a:ext uri="{9D8B030D-6E8A-4147-A177-3AD203B41FA5}">
                      <a16:colId xmlns:a16="http://schemas.microsoft.com/office/drawing/2014/main" val="2160834531"/>
                    </a:ext>
                  </a:extLst>
                </a:gridCol>
              </a:tblGrid>
              <a:tr h="13817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0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CP</a:t>
                      </a:r>
                    </a:p>
                  </a:txBody>
                  <a:tcPr marL="5454" marR="5454" marT="545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D31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0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</a:p>
                  </a:txBody>
                  <a:tcPr marL="5454" marR="5454" marT="545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D31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0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 completa</a:t>
                      </a:r>
                    </a:p>
                  </a:txBody>
                  <a:tcPr marL="5454" marR="5454" marT="545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D31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0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Fonte</a:t>
                      </a:r>
                    </a:p>
                  </a:txBody>
                  <a:tcPr marL="5454" marR="5454" marT="545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D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612069"/>
                  </a:ext>
                </a:extLst>
              </a:tr>
              <a:tr h="1163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Aprovação antitruste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(i) aprovação antitruste;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Condições Precedentes; Indenização - Quadro na página 4 da Oferta Vinculante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339961"/>
                  </a:ext>
                </a:extLst>
              </a:tr>
              <a:tr h="232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Validação das declarações e garantias das partes nos documentos definitivos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confirmação da veracidade, completude e correção das declarações e garantias a serem prestadas pelas Partes nos Documentos Definitivos;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14410"/>
                  </a:ext>
                </a:extLst>
              </a:tr>
              <a:tr h="1163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Vide CP11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ausência de Efeito Adverso Relevante; 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476478"/>
                  </a:ext>
                </a:extLst>
              </a:tr>
              <a:tr h="232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Obtenção de consentimento de terceiros necessários ao fechamento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obtenção de consentimentos de terceiros necessários para o Fechamento; 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505778"/>
                  </a:ext>
                </a:extLst>
              </a:tr>
              <a:tr h="1163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Efetivação da reorganização Societária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(v) efetivação da Reorganização Societária; 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620048"/>
                  </a:ext>
                </a:extLst>
              </a:tr>
              <a:tr h="1163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Vide CP 14 e CP15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(vi) verificação de cumprimento das Condições Precedentes previstas nas Cláusulas 3.1.1(vi) e 3.1.1(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da Proposta Vinculante na Data de Fechamento, mutatis mutandis;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943706"/>
                  </a:ext>
                </a:extLst>
              </a:tr>
              <a:tr h="1163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Obtenção de anuência da ANATEL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a obtenção da Anuência da ANATEL; 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03281"/>
                  </a:ext>
                </a:extLst>
              </a:tr>
              <a:tr h="349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Obtenção pelo Comprador ou suas Afiliadas de financiamento para realizar o pagamento da Parcela do Fechamento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obtenção, pelo Comprador ou suas Afiliadas, de financiamento/dívida em montante suficiente para realizar o pagamento da Parcela do Fechamento (já descontado o Custo Estimado Auditoria dos Sites), em condições econômicas (incluindo prazo, taxa de juros e valores) que, a critério do Comprador agindo de boa-fé, sejam viáveis, com efetivo desembolso de tais recursos financeiros pelos respectivos financiadores em benefício do Comprador.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60190"/>
                  </a:ext>
                </a:extLst>
              </a:tr>
              <a:tr h="232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do Direito de Última Oferta e Confidencialidade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(i) A Ofertada deverá ter cumprido com as obrigações por elas assumidas na presente Proposta Vinculante, incluindo, sem limitação, as obrigações previstas na Cláusula 4 abaixo;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Cláusula 3 - Condições Precedentes - página 15 da Oferta Vinculante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089803"/>
                  </a:ext>
                </a:extLst>
              </a:tr>
              <a:tr h="232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Conclusão satisfatória da negociação dos Documentos Definitivos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Conclusão satisfatória da negociação dos Documentos Definitivos;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438"/>
                  </a:ext>
                </a:extLst>
              </a:tr>
              <a:tr h="232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Ausência de efeito relevante adverso até a data de fechamento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Não tenha ocorrido qualquer alteração que constitua um Efeito Adverso Relevante entre a data desta Proposta Vinculante e a data da celebração dos Documentos Definitivos;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676791"/>
                  </a:ext>
                </a:extLst>
              </a:tr>
              <a:tr h="930841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 de apresentação do pedido de 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autorizaçãode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alienação judicial dos Itens de Infraestrutura e da totalidade do capital social da SPE após a Reorganização Societária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A Ofertada deverá ter apresentado ao Juízo da Recuperação Judicial o pedido de autorização de alienação judicial dos Itens de Infraestrutura e da totalidade do capital social da SPE após a Reorganização Societária, nos termos e conforme procedimento estabelecido nos 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arts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66 e parágrafos, 141 e 142 da LFR (“Pedido de Autorização de Alienação”), na forma a ser acordada entre as Partes, prevendo (i) que a alienação judicial se dará por meio de Procedimento Competitivo conduzido em certame judicial público, pela modalidade de leilão, nos termos dos artigos 66 §3o, 141 e 142 da LFR, 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a obrigação da Ofertada e do vencedor do Procedimento Competitivo de negociar de boa- fé os Documentos Definitivos e a estrutura mais adequada para a implementação da Operação aqui descrita; 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que o proponente vencedor do Procedimento Competitivo não sucederá a Oi ou suas Afiliadas em relação a qualquer passivo, obrigação ou contingência de qualquer natureza, incluindo, mas não se limitando, àquelas de natureza ambiental, regulatória, administrativa, penal, anticorrupção, tributária e/ou trabalhista; 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a existência da presente Proposta Vinculante e do Comprador como investidor âncora 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stalking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horse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), bem como o seu Direito de Última Oferta em contrapartida à apresentação desta Proposta Vinculante;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635291"/>
                  </a:ext>
                </a:extLst>
              </a:tr>
              <a:tr h="104719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Regras do Procedimento Competitivo do edital público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(v) O Edital Público deverá estabelecer de forma expressa as regras do Procedimento Competitivo, em especial (a) as regras de qualificação e participação de terceiros e condições mínimas de habilitação e participação, (b) a forma de acesso às informações a serem disponibilizadas, (c) as condições para apresentação das propostas, em especial a necessidade de adesão do vencedor aos termos e condições desta Proposta Vinculante, (d) a habilitação automática do Comprador, sem a necessidade de quaisquer providências, para participação no Procedimento Competitivo em virtude desta Proposta Vinculante; (e) que esta Proposta Vinculante é uma oferta válida para fins do Procedimento Competitivo, sem que haja necessidade de sua reiteração pelo Comprador no âmbito do Procedimento Competitivo após a publicação do Edital Público; (f) um preço mínimo de oferta; (g) a existência do Comprador como investidor âncora 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stalking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horse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), seu Direito de Última Oferta e as condições do exercício do Direito de Última Oferta, (h) o critério de determinação da proposta vencedora e que o vencedor do Procedimento Competitivo não sucederá a Oi ou suas Afiliadas em quaisquer de suas dívidas, obrigações e constrições, seja de qual natureza for, inclusive, mas não se limitando, àquelas de natureza ambiental, regulatória, administrativa, penal, anticorrupção, tributária, trabalhista e aquelas decorrentes da solidariedade assumida pela Oi e suas Afiliadas pelo cumprimento de todas as obrigações estabelecidas no Plano de Recuperação Judicial, na forma dos 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arts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66, §3o, 141 e 142 da LFR;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97331"/>
                  </a:ext>
                </a:extLst>
              </a:tr>
              <a:tr h="465421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Deferimento do pedido de autorização de alienação pelo Juízo da RJ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(vi) Deferimento do Pedido de Autorização de Alienação pelo Juízo da Recuperação Judicial (“Decisão de Deferimento”), bem como a homologação da presente Proposta Vinculante como vencedora do Procedimento Competitivo pelo Juízo da Recuperação Judicial, nos termos da LFR, com a expressa exclusão da sucessão do Comprador com relação às contingências, passivos e obrigações da Oi, de suas Afiliadas e grupo econômico de qualquer natureza, incluindo, mas não exclusivamente, as de natureza ambiental, regulatória, administrativa, penal, anticorrupção, tributária e trabalhista, conforme previsto nos artigos 66 §3o, 141 e 142 da LFR (“Decisão Homologatória”);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65358"/>
                  </a:ext>
                </a:extLst>
              </a:tr>
              <a:tr h="232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Inexistência de decisão com efeito suspensivo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Transcurso do prazo legal para a interposição de qualquer recurso contra a Decisão de Deferimento e/ou contra a Decisão Homologatória ou, havendo recurso interposto, inexistência de decisão judicial que atribua efeito suspensivo a tais recursos; e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654151"/>
                  </a:ext>
                </a:extLst>
              </a:tr>
              <a:tr h="349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Parâmetros financeiros de Endividamento e Capital de Giro da SPE antes do fechamento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8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viii</a:t>
                      </a:r>
                      <a:r>
                        <a:rPr lang="pt-BR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(A) o endividamento da SPE deverá se situar no intervalo entre R$ 0,00 (zero Reais) e R$ 1.000.000,00 (um milhão de Reais); e (B) o capital de giro da SPE deverá se situar no intervalo entre R$ 0,00 (zero Reais) e R$ 50.000.000,00 (cinquenta milhões de Reais); em ambos os casos no dia anterior à Data de Fechamento, sem prejuízo dos ajustes de endividamento e capital de giro da SPE a serem realizados antes e depois da Data de Fechamento, nos termos a serem previstos nos Documentos Definitivos.</a:t>
                      </a:r>
                    </a:p>
                  </a:txBody>
                  <a:tcPr marL="5454" marR="5454" marT="54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56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7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29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4.73784737828464930232E+00&quot;&gt;&lt;m_msothmcolidx val=&quot;0&quot;/&gt;&lt;m_rgb r=&quot;00&quot; g=&quot;82&quot; b=&quot;10&quot;/&gt;&lt;/elem&gt;&lt;elem m_fUsage=&quot;2.64374838900000019848E+00&quot;&gt;&lt;m_msothmcolidx val=&quot;0&quot;/&gt;&lt;m_rgb r=&quot;F2&quot; g=&quot;F2&quot; b=&quot;F2&quot;/&gt;&lt;/elem&gt;&lt;elem m_fUsage=&quot;7.65384043863510110661E-01&quot;&gt;&lt;m_msothmcolidx val=&quot;0&quot;/&gt;&lt;m_rgb r=&quot;4E&quot; g=&quot;AE&quot; b=&quot;45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NV6Hd3.BEWNjXZb41b.X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NV6Hd3.BEWNjXZb41b.X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NV6Hd3.BEWNjXZb41b.X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.Bo6eZ8pm_fi4CbEu3k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FQp75kTOZB0CCJx4Eaa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aOmTyhjlbCOMpIYi6ZM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VX9bSWV79aHndzdXtVt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jQMg.UHcjsA2UM8n63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88QcMG55FfRWEK81X5YI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0IQPG11OwbE8EgNaEAE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uuWd9lzwEjCDdAR1oQk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lFt_jT9fA7sH7zoJ.1B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Kiob1ubOz9fzhT2s4OE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s_5SavylzNcsHowxDeb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BajEUambmMjb6iTH0TA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6rKcWU2GEPgzGTvqWE8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v3bQxgGXsXVgpO.Nmw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yrz6wuk6B5Mevdp_JiJ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yMPUcGvmTqVq3KKMSxa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OGXU77HI8Wuw7a6QfClf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uez3toxIaIcMDhTpHVc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oieKXoqNULcmvoqND21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GbFCmbcDptdQqnYlGFx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p_s8tqPbIQcAw3Ht8t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0CLDil4HLuT5Qkuh7QtO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rj_UQh2cYKvjITTWBEG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EA82hk59uqDXMW8s6x9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33WTren5rKeKTupIShD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B5pc.Avh7Bv_3CeUA8M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stNJqBWOQKZFZ_B3oZW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1HQVJn4x6gEwV83fNl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sBMQ4ExRJ3pUHcLUjC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GSijpws8IOTzWZNaSe6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DTJ4L7eW.z26XlfXhjJ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dFGUje3sDBj2CVsP5Gmd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cJhpFTfLY5ViZN_MudW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_DdrTwFXZ6YRjU0DwQM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oQP3qW3RpIyVl3urN9N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puw1xFwJEQtecVYqXjI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xmV3Xavfg9ubxeaCHps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KacyrNdBm_9mIDMzfdu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.eZsAkLQvqnONdfnTtt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pwgrL53ER5ZELJqTNXG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NF5AzUfJLrD.eNCN9r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D5amgr7HujJT9TmZYsDg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Gz1sEYLDaIzSZ9kfs2t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AUM1alA9t_LuRXdbktx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58FTrnOTeEB0aVmPMJW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Jct85_qj.uRMOdqbJAf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RcDJ_CYZdSYm6Kp0L4h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OGceMZYGpTeQYiWf0L_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ZocMrPvcL0NjXGeLpZu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27xL0GNHj6iikSuecfpN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4Csf89CJPwXScZy1XQE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gwHulK6Y.OTvk2x_YW4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LnxdwfabK_tSt8T4uGs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XrqGsryHYDo5gNjK8EW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GwdHSn.1cLU_fBX9WcT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KYwkvaphDokdEoxqwDd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Z9Omac.k1QDy8GOC7Fm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li8MdyJijeyMGZa5cRz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hga4GYx_C7oWfr9fgjG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G8xjjo0j0d0je3J0zzZ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yEF.QB_0bVhmhd.reK7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7D16E4E8EA8346889545BB3D9D1AF4" ma:contentTypeVersion="10" ma:contentTypeDescription="Crie um novo documento." ma:contentTypeScope="" ma:versionID="02f80721d8bc6b91e964b89ea03f1b2a">
  <xsd:schema xmlns:xsd="http://www.w3.org/2001/XMLSchema" xmlns:xs="http://www.w3.org/2001/XMLSchema" xmlns:p="http://schemas.microsoft.com/office/2006/metadata/properties" xmlns:ns2="b201cfed-d83b-4da9-bdf2-2e22e6d9296c" xmlns:ns3="a8be22c7-e23c-4101-b846-ca6143f2df7c" targetNamespace="http://schemas.microsoft.com/office/2006/metadata/properties" ma:root="true" ma:fieldsID="24de5a8316e1b38bf29957ca91d46fb9" ns2:_="" ns3:_="">
    <xsd:import namespace="b201cfed-d83b-4da9-bdf2-2e22e6d9296c"/>
    <xsd:import namespace="a8be22c7-e23c-4101-b846-ca6143f2df7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01cfed-d83b-4da9-bdf2-2e22e6d9296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e22c7-e23c-4101-b846-ca6143f2d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B9093C-052E-4A0D-9F7E-80AE13FD2621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a8be22c7-e23c-4101-b846-ca6143f2df7c"/>
    <ds:schemaRef ds:uri="http://purl.org/dc/elements/1.1/"/>
    <ds:schemaRef ds:uri="b201cfed-d83b-4da9-bdf2-2e22e6d9296c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8AD3463-7698-4F81-BAEB-2B2456A95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01cfed-d83b-4da9-bdf2-2e22e6d9296c"/>
    <ds:schemaRef ds:uri="a8be22c7-e23c-4101-b846-ca6143f2df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2725</TotalTime>
  <Words>2846</Words>
  <Application>Microsoft Macintosh PowerPoint</Application>
  <PresentationFormat>Widescreen</PresentationFormat>
  <Paragraphs>389</Paragraphs>
  <Slides>13</Slides>
  <Notes>10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Helvetica</vt:lpstr>
      <vt:lpstr>Simplon BP Bold</vt:lpstr>
      <vt:lpstr>Simplon BP Light</vt:lpstr>
      <vt:lpstr>Simplon BP Regular</vt:lpstr>
      <vt:lpstr>Trebuchet MS</vt:lpstr>
      <vt:lpstr>1_Tema do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Alessandro Barbosa</cp:lastModifiedBy>
  <cp:revision>175</cp:revision>
  <dcterms:modified xsi:type="dcterms:W3CDTF">2022-08-24T17:20:02Z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0x010100C47D16E4E8EA8346889545BB3D9D1AF4</vt:lpwstr>
  </property>
</Properties>
</file>