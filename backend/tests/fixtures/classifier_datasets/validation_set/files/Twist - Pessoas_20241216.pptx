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rts/chart1.xml" ContentType="application/vnd.openxmlformats-officedocument.drawingml.chart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3" r:id="rId5"/>
  </p:sldMasterIdLst>
  <p:notesMasterIdLst>
    <p:notesMasterId r:id="rId8"/>
  </p:notesMasterIdLst>
  <p:sldIdLst>
    <p:sldId id="293" r:id="rId6"/>
    <p:sldId id="2147482555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268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uto, Fernanda" userId="3b5ad085-82c0-483a-8b14-42b1eb6a87c0" providerId="ADAL" clId="{0CB21583-C50C-41B1-8275-6AD8EADCEB28}"/>
    <pc:docChg chg="custSel delSld">
      <pc:chgData name="Couto, Fernanda" userId="3b5ad085-82c0-483a-8b14-42b1eb6a87c0" providerId="ADAL" clId="{0CB21583-C50C-41B1-8275-6AD8EADCEB28}" dt="2024-12-16T13:19:04.756" v="0" actId="2696"/>
      <pc:docMkLst>
        <pc:docMk/>
      </pc:docMkLst>
      <pc:sldChg chg="del">
        <pc:chgData name="Couto, Fernanda" userId="3b5ad085-82c0-483a-8b14-42b1eb6a87c0" providerId="ADAL" clId="{0CB21583-C50C-41B1-8275-6AD8EADCEB28}" dt="2024-12-16T13:19:04.756" v="0" actId="2696"/>
        <pc:sldMkLst>
          <pc:docMk/>
          <pc:sldMk cId="1835235048" sldId="21474825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0652F-2FAF-42AE-821B-B98FA9960DEC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ECC97-52D7-45FA-BDCD-C8149BEEA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4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64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03344D-FFC8-1E48-B5D6-DDE69E6481AF}" type="slidenum">
              <a:rPr kumimoji="0" lang="pt-B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2974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oleObject" Target="../embeddings/oleObject11.bin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2" Type="http://schemas.openxmlformats.org/officeDocument/2006/relationships/slideMaster" Target="../slideMasters/slideMaster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3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8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6" Type="http://schemas.openxmlformats.org/officeDocument/2006/relationships/chart" Target="../charts/chart1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37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85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876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070" y="-213332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1302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9118883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8300367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23753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2266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4431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9373520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5016258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9088801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/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43425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0685055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7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60" imgH="360" progId="TCLayout.ActiveDocument.1">
                  <p:embed/>
                </p:oleObj>
              </mc:Choice>
              <mc:Fallback>
                <p:oleObj name="Slide do think-cell" r:id="rId3" imgW="360" imgH="360" progId="TCLayout.ActiveDocument.1">
                  <p:embed/>
                  <p:pic>
                    <p:nvPicPr>
                      <p:cNvPr id="7" name="Object 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23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23"/>
              <a:t>‹#›</a:t>
            </a:fld>
            <a:endParaRPr lang="en-US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8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82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72AE-26E1-48B3-B687-98A5D1FA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D950C-0691-426A-B0CA-72FB58B3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ADE06-7498-4E13-A397-79868F48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245DE-086B-4387-8DD0-19EF786A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3CADE-E750-4045-9E6E-5812D0BF923E}" type="slidenum">
              <a:rPr lang="pt-BR" smtClean="0"/>
              <a:t>‹#›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D2409-8667-4B1D-9B86-12D7184B576B}"/>
              </a:ext>
            </a:extLst>
          </p:cNvPr>
          <p:cNvSpPr txBox="1">
            <a:spLocks/>
          </p:cNvSpPr>
          <p:nvPr userDrawn="1"/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95945" bIns="0" anchor="ctr" anchorCtr="0"/>
          <a:lstStyle>
            <a:defPPr>
              <a:defRPr lang="en-US"/>
            </a:defPPr>
            <a:lvl1pPr marL="0" algn="r" defTabSz="457200" rtl="0" eaLnBrk="1" latinLnBrk="0" hangingPunct="1">
              <a:lnSpc>
                <a:spcPct val="80000"/>
              </a:lnSpc>
              <a:defRPr sz="800" kern="1200">
                <a:solidFill>
                  <a:schemeClr val="accent2"/>
                </a:solidFill>
                <a:latin typeface="Simplon Oi Headline" pitchFamily="50" charset="0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223"/>
            <a:fld id="{34F21757-CAEC-9B46-BA5E-8BB41E742229}" type="slidenum">
              <a:rPr lang="en-US" sz="1067" smtClean="0">
                <a:solidFill>
                  <a:srgbClr val="4D4D4D"/>
                </a:solidFill>
              </a:rPr>
              <a:pPr defTabSz="609223"/>
              <a:t>‹#›</a:t>
            </a:fld>
            <a:endParaRPr lang="en-US" sz="1067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536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0764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3.emf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4355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level</a:t>
            </a:r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0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7" imgW="421" imgH="423" progId="TCLayout.ActiveDocument.1">
                  <p:embed/>
                </p:oleObj>
              </mc:Choice>
              <mc:Fallback>
                <p:oleObj name="Slide do think-cell" r:id="rId17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995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18.bin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90260" y="998024"/>
            <a:ext cx="5923700" cy="791776"/>
          </a:xfrm>
        </p:spPr>
        <p:txBody>
          <a:bodyPr/>
          <a:lstStyle/>
          <a:p>
            <a:r>
              <a:rPr lang="en-US"/>
              <a:t>Twist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Status RH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>
          <a:xfrm>
            <a:off x="1031875" y="6164594"/>
            <a:ext cx="3600450" cy="450850"/>
          </a:xfrm>
        </p:spPr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16 de dezembro de 2024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1190260" y="1699641"/>
            <a:ext cx="7994318" cy="2103874"/>
          </a:xfrm>
        </p:spPr>
        <p:txBody>
          <a:bodyPr/>
          <a:lstStyle/>
          <a:p>
            <a:r>
              <a:rPr lang="pt-BR">
                <a:solidFill>
                  <a:schemeClr val="accent2"/>
                </a:solidFill>
              </a:rPr>
              <a:t>Oi Services</a:t>
            </a:r>
          </a:p>
        </p:txBody>
      </p:sp>
    </p:spTree>
    <p:extLst>
      <p:ext uri="{BB962C8B-B14F-4D97-AF65-F5344CB8AC3E}">
        <p14:creationId xmlns:p14="http://schemas.microsoft.com/office/powerpoint/2010/main" val="350931228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Objeto 7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78" name="Objeto 7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tângulo 14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67" cy="211667"/>
          </a:xfrm>
          <a:prstGeom prst="rect">
            <a:avLst/>
          </a:prstGeom>
          <a:solidFill>
            <a:scrgbClr r="0" g="0" b="0"/>
          </a:solidFill>
          <a:ln>
            <a:solidFill>
              <a:schemeClr val="accent1"/>
            </a:solidFill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60923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sp>
        <p:nvSpPr>
          <p:cNvPr id="400" name="Title 2"/>
          <p:cNvSpPr>
            <a:spLocks noGrp="1"/>
          </p:cNvSpPr>
          <p:nvPr>
            <p:ph type="title"/>
          </p:nvPr>
        </p:nvSpPr>
        <p:spPr/>
        <p:txBody>
          <a:bodyPr vert="horz" lIns="0" tIns="0" rIns="130101" bIns="0" rtlCol="0" anchor="t" anchorCtr="0">
            <a:noAutofit/>
          </a:bodyPr>
          <a:lstStyle/>
          <a:p>
            <a:r>
              <a:rPr lang="pt-BR" dirty="0"/>
              <a:t>TWIST - ACOMPANHAMENTO FRENTE DE PESSOAS 16/12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F07B2E-D77A-2A49-36C1-34589D5FCB36}"/>
              </a:ext>
            </a:extLst>
          </p:cNvPr>
          <p:cNvSpPr txBox="1"/>
          <p:nvPr/>
        </p:nvSpPr>
        <p:spPr>
          <a:xfrm>
            <a:off x="50578" y="1084708"/>
            <a:ext cx="4034535" cy="4601260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182563" defTabSz="885825">
              <a:spcBef>
                <a:spcPts val="600"/>
              </a:spcBef>
              <a:buClr>
                <a:srgbClr val="FFD42E"/>
              </a:buClr>
              <a:buSzPct val="150000"/>
              <a:defRPr/>
            </a:pPr>
            <a:r>
              <a:rPr lang="pt-BR" sz="1400" b="1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Plano de comunicação</a:t>
            </a:r>
          </a:p>
          <a:p>
            <a:pPr marL="468313" marR="0" lvl="0" indent="-285750" defTabSz="885825" fontAlgn="auto">
              <a:lnSpc>
                <a:spcPct val="100000"/>
              </a:lnSpc>
              <a:spcBef>
                <a:spcPts val="600"/>
              </a:spcBef>
              <a:buClr>
                <a:srgbClr val="00FF00"/>
              </a:buClr>
              <a:buSzPct val="150000"/>
              <a:buFont typeface="Wingdings" panose="05000000000000000000" pitchFamily="2" charset="2"/>
              <a:buChar char="ü"/>
              <a:tabLst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Realizado envio comunicados orientações gerais</a:t>
            </a:r>
          </a:p>
          <a:p>
            <a:pPr marL="182563" marR="0" lvl="0" indent="0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D42E"/>
              </a:buClr>
              <a:buSzPct val="150000"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Matriz de Alçadas</a:t>
            </a: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  <a:p>
            <a:pPr marL="468313" indent="-285750" defTabSz="885825">
              <a:spcBef>
                <a:spcPts val="600"/>
              </a:spcBef>
              <a:buClr>
                <a:schemeClr val="tx1"/>
              </a:buClr>
              <a:buSzPct val="150000"/>
              <a:buFont typeface="Wingdings" panose="05000000000000000000" pitchFamily="2" charset="2"/>
              <a:buChar char="ü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Realizada reunião de alinhamento no dia 09/12</a:t>
            </a:r>
          </a:p>
          <a:p>
            <a:pPr marL="468313" indent="-285750" defTabSz="885825">
              <a:spcBef>
                <a:spcPts val="600"/>
              </a:spcBef>
              <a:buClr>
                <a:schemeClr val="tx1"/>
              </a:buClr>
              <a:buSzPct val="150000"/>
              <a:buFont typeface="Wingdings" panose="05000000000000000000" pitchFamily="2" charset="2"/>
              <a:buChar char="ü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Envio de planilha para preenchimento pela </a:t>
            </a:r>
            <a:r>
              <a:rPr lang="pt-BR" sz="1200" dirty="0" err="1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Vtal</a:t>
            </a: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 para Identificar pessoas já cadastradas no FPW ou que se será necessário abrir SRT</a:t>
            </a:r>
          </a:p>
          <a:p>
            <a:pPr marL="182563" marR="0" lvl="0" indent="0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D42E"/>
              </a:buClr>
              <a:buSzPct val="150000"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Envio Documentos </a:t>
            </a: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V.Tal</a:t>
            </a: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  <a:p>
            <a:pPr marL="468313" indent="-285750" defTabSz="885825">
              <a:spcBef>
                <a:spcPts val="600"/>
              </a:spcBef>
              <a:buClr>
                <a:schemeClr val="tx1"/>
              </a:buClr>
              <a:buSzPct val="150000"/>
              <a:buFont typeface="Wingdings" panose="05000000000000000000" pitchFamily="2" charset="2"/>
              <a:buChar char="ü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Envio documentos de rescisão e admissão colaboradores que serão desligados e contratados pela </a:t>
            </a:r>
            <a:r>
              <a:rPr lang="pt-BR" sz="1200" dirty="0" err="1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ClientCo</a:t>
            </a: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 </a:t>
            </a:r>
          </a:p>
          <a:p>
            <a:pPr marL="468313" indent="-285750" defTabSz="885825">
              <a:spcBef>
                <a:spcPts val="600"/>
              </a:spcBef>
              <a:buClr>
                <a:schemeClr val="tx1"/>
              </a:buClr>
              <a:buSzPct val="150000"/>
              <a:buFont typeface="Wingdings" panose="05000000000000000000" pitchFamily="2" charset="2"/>
              <a:buChar char="ü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Verificar o tema da proteção de dados/LGPD - Anderson</a:t>
            </a:r>
          </a:p>
          <a:p>
            <a:pPr marL="468313" indent="-285750" defTabSz="885825">
              <a:spcBef>
                <a:spcPts val="600"/>
              </a:spcBef>
              <a:buClr>
                <a:schemeClr val="tx1"/>
              </a:buClr>
              <a:buSzPct val="150000"/>
              <a:buFont typeface="Wingdings" panose="05000000000000000000" pitchFamily="2" charset="2"/>
              <a:buChar char="ü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Verificação do diretório exclusivo no VDR para RH – Anderson</a:t>
            </a:r>
          </a:p>
          <a:p>
            <a:pPr marL="182563" defTabSz="885825">
              <a:spcBef>
                <a:spcPts val="600"/>
              </a:spcBef>
              <a:buClr>
                <a:schemeClr val="tx1"/>
              </a:buClr>
              <a:buSzPct val="150000"/>
              <a:defRPr/>
            </a:pP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  <a:p>
            <a:pPr marL="182563" marR="0" lvl="0" indent="0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D42E"/>
              </a:buClr>
              <a:buSzPct val="150000"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Processos</a:t>
            </a: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  <a:p>
            <a:pPr marL="468313" indent="-285750" defTabSz="885825">
              <a:spcBef>
                <a:spcPts val="600"/>
              </a:spcBef>
              <a:buClr>
                <a:schemeClr val="tx1"/>
              </a:buClr>
              <a:buSzPct val="150000"/>
              <a:buFont typeface="Wingdings" panose="05000000000000000000" pitchFamily="2" charset="2"/>
              <a:buChar char="ü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Envio documentos do MOS + Processos + TSA</a:t>
            </a:r>
          </a:p>
          <a:p>
            <a:pPr marL="182563" defTabSz="885825">
              <a:spcBef>
                <a:spcPts val="600"/>
              </a:spcBef>
              <a:buClr>
                <a:schemeClr val="tx1"/>
              </a:buClr>
              <a:buSzPct val="150000"/>
              <a:defRPr/>
            </a:pP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10137-558C-E458-C5BD-123FDCBBCD80}"/>
              </a:ext>
            </a:extLst>
          </p:cNvPr>
          <p:cNvSpPr txBox="1"/>
          <p:nvPr/>
        </p:nvSpPr>
        <p:spPr>
          <a:xfrm>
            <a:off x="4281088" y="1084708"/>
            <a:ext cx="4154252" cy="4708981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182563" defTabSz="885825">
              <a:spcBef>
                <a:spcPts val="600"/>
              </a:spcBef>
              <a:buClr>
                <a:srgbClr val="FFD42E"/>
              </a:buClr>
              <a:buSzPct val="150000"/>
              <a:defRPr/>
            </a:pPr>
            <a:r>
              <a:rPr lang="pt-BR" sz="1400" b="1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Plano de comunicação</a:t>
            </a:r>
          </a:p>
          <a:p>
            <a:pPr marL="468313" marR="0" lvl="0" indent="-285750" defTabSz="885825" fontAlgn="auto">
              <a:lnSpc>
                <a:spcPct val="100000"/>
              </a:lnSpc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Quais os próximos passos? </a:t>
            </a:r>
            <a:b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</a:br>
            <a:endParaRPr kumimoji="0" lang="pt-B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cs typeface="Arial" panose="020B0604020202020204" pitchFamily="34" charset="0"/>
            </a:endParaRPr>
          </a:p>
          <a:p>
            <a:pPr marL="182563" marR="0" lvl="0" indent="0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D42E"/>
              </a:buClr>
              <a:buSzPct val="150000"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Sign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 off </a:t>
            </a: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Vtal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 para </a:t>
            </a: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drop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 de pessoas</a:t>
            </a: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  <a:p>
            <a:pPr marL="468313" indent="-285750" defTabSz="885825"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Condição precedente (CP) no SPA que é o </a:t>
            </a:r>
            <a:r>
              <a:rPr lang="pt-BR" sz="1200" dirty="0" err="1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drop</a:t>
            </a: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 de pessoas – já foi pedido/ recebido? </a:t>
            </a:r>
            <a:endParaRPr lang="pt-BR" sz="1200" dirty="0">
              <a:solidFill>
                <a:srgbClr val="000000"/>
              </a:solidFill>
              <a:highlight>
                <a:srgbClr val="FFFF00"/>
              </a:highlight>
              <a:latin typeface="Graphik"/>
              <a:cs typeface="Arial" panose="020B0604020202020204" pitchFamily="34" charset="0"/>
            </a:endParaRPr>
          </a:p>
          <a:p>
            <a:pPr marL="468313" indent="-285750" defTabSz="885825"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defRPr/>
            </a:pP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  <a:p>
            <a:pPr marL="182563" marR="0" lvl="0" indent="0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D42E"/>
              </a:buClr>
              <a:buSzPct val="150000"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Matriz de Alçadas</a:t>
            </a: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  <a:p>
            <a:pPr marL="468313" indent="-285750" defTabSz="885825"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Preenchimento pela </a:t>
            </a:r>
            <a:r>
              <a:rPr lang="pt-BR" sz="1200" dirty="0" err="1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Vtal</a:t>
            </a: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 para Identificar pessoas já cadastradas no FPW ou se será necessário abrir SRT</a:t>
            </a:r>
            <a:endParaRPr lang="pt-BR" sz="1200" dirty="0">
              <a:solidFill>
                <a:srgbClr val="000000"/>
              </a:solidFill>
              <a:highlight>
                <a:srgbClr val="FFFF00"/>
              </a:highlight>
              <a:latin typeface="Graphik"/>
              <a:cs typeface="Arial" panose="020B0604020202020204" pitchFamily="34" charset="0"/>
            </a:endParaRPr>
          </a:p>
          <a:p>
            <a:pPr marL="468313" indent="-285750" defTabSz="885825"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defRPr/>
            </a:pPr>
            <a:endParaRPr lang="pt-BR" sz="1200" dirty="0">
              <a:solidFill>
                <a:srgbClr val="000000"/>
              </a:solidFill>
              <a:highlight>
                <a:srgbClr val="FFFF00"/>
              </a:highlight>
              <a:latin typeface="Graphik"/>
              <a:cs typeface="Arial" panose="020B0604020202020204" pitchFamily="34" charset="0"/>
            </a:endParaRPr>
          </a:p>
          <a:p>
            <a:pPr marL="182563" marR="0" lvl="0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50000"/>
              <a:tabLst/>
              <a:defRPr/>
            </a:pPr>
            <a:r>
              <a:rPr lang="pt-BR" sz="1200" b="1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SPA – 3.1 – Lista de empregados</a:t>
            </a:r>
          </a:p>
          <a:p>
            <a:pPr marL="468313" marR="0" lvl="0" indent="-285750" defTabSz="885825" fontAlgn="auto">
              <a:lnSpc>
                <a:spcPct val="100000"/>
              </a:lnSpc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Qual a data de corte? </a:t>
            </a:r>
          </a:p>
          <a:p>
            <a:pPr marL="468313" marR="0" lvl="0" indent="-285750" defTabSz="885825" fontAlgn="auto">
              <a:lnSpc>
                <a:spcPct val="100000"/>
              </a:lnSpc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endParaRPr lang="pt-BR" sz="1200" dirty="0">
              <a:solidFill>
                <a:srgbClr val="000000"/>
              </a:solidFill>
              <a:highlight>
                <a:srgbClr val="FFFF00"/>
              </a:highlight>
              <a:latin typeface="Graphik"/>
              <a:cs typeface="Arial" panose="020B0604020202020204" pitchFamily="34" charset="0"/>
            </a:endParaRPr>
          </a:p>
          <a:p>
            <a:pPr marL="182563" marR="0" lvl="0" indent="0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D42E"/>
              </a:buClr>
              <a:buSzPct val="150000"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cs typeface="Arial" panose="020B0604020202020204" pitchFamily="34" charset="0"/>
              </a:rPr>
              <a:t>Processos</a:t>
            </a:r>
            <a:endParaRPr lang="pt-BR" sz="12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  <a:p>
            <a:pPr marL="468313" indent="-285750" defTabSz="885825"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Aguardando o “de acordo” para o documento envidado</a:t>
            </a:r>
          </a:p>
          <a:p>
            <a:pPr marL="468313" marR="0" lvl="0" indent="-285750" defTabSz="885825" fontAlgn="auto">
              <a:lnSpc>
                <a:spcPct val="100000"/>
              </a:lnSpc>
              <a:spcBef>
                <a:spcPts val="600"/>
              </a:spcBef>
              <a:buClr>
                <a:srgbClr val="FFD42E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endParaRPr lang="pt-BR" sz="1200" dirty="0">
              <a:solidFill>
                <a:srgbClr val="000000"/>
              </a:solidFill>
              <a:highlight>
                <a:srgbClr val="FFFF00"/>
              </a:highlight>
              <a:latin typeface="Graphik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6DFCA-3041-3347-9D1C-6022FAB7185B}"/>
              </a:ext>
            </a:extLst>
          </p:cNvPr>
          <p:cNvSpPr txBox="1"/>
          <p:nvPr/>
        </p:nvSpPr>
        <p:spPr>
          <a:xfrm>
            <a:off x="8337919" y="1084708"/>
            <a:ext cx="3423551" cy="107721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182563" marR="0" lvl="0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50000"/>
              <a:tabLst/>
              <a:defRPr/>
            </a:pPr>
            <a:r>
              <a:rPr lang="pt-BR" sz="1400" b="1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Portal Gente</a:t>
            </a:r>
          </a:p>
          <a:p>
            <a:pPr marL="361950" marR="0" lvl="0" indent="-179388" algn="l" defTabSz="885825" rtl="0" eaLnBrk="1" fontAlgn="auto" latinLnBrk="0" hangingPunct="1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50000"/>
              <a:buFont typeface="Abadi" panose="020B0604020104020204" pitchFamily="34" charset="0"/>
              <a:buChar char="!"/>
              <a:tabLst/>
              <a:defRPr/>
            </a:pPr>
            <a:r>
              <a:rPr lang="pt-BR" sz="12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Fernanda está buscando a informação sobrea estratégia de acessos definida – Relatórios que saem do portal – pós </a:t>
            </a:r>
            <a:r>
              <a:rPr lang="pt-BR" sz="1200" dirty="0" err="1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closing</a:t>
            </a:r>
            <a:endParaRPr lang="pt-BR" sz="1200" b="1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C72B8-6F61-294C-FDD7-821F5339D488}"/>
              </a:ext>
            </a:extLst>
          </p:cNvPr>
          <p:cNvSpPr txBox="1"/>
          <p:nvPr/>
        </p:nvSpPr>
        <p:spPr>
          <a:xfrm>
            <a:off x="476537" y="711516"/>
            <a:ext cx="2918992" cy="292388"/>
          </a:xfrm>
          <a:prstGeom prst="rect">
            <a:avLst/>
          </a:prstGeom>
          <a:solidFill>
            <a:srgbClr val="B9FF00"/>
          </a:solidFill>
        </p:spPr>
        <p:txBody>
          <a:bodyPr wrap="square" lIns="0" tIns="0" rIns="0" bIns="45720" rtlCol="0">
            <a:spAutoFit/>
          </a:bodyPr>
          <a:lstStyle/>
          <a:p>
            <a:pPr algn="ctr"/>
            <a:r>
              <a:rPr lang="pt-BR" sz="1600" b="1">
                <a:solidFill>
                  <a:schemeClr val="tx2"/>
                </a:solidFill>
              </a:rPr>
              <a:t>Atividades Concluídas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5FDCF-8FD2-92BB-07D4-C07620BBA785}"/>
              </a:ext>
            </a:extLst>
          </p:cNvPr>
          <p:cNvSpPr txBox="1"/>
          <p:nvPr/>
        </p:nvSpPr>
        <p:spPr>
          <a:xfrm>
            <a:off x="4533367" y="719822"/>
            <a:ext cx="2918992" cy="292388"/>
          </a:xfrm>
          <a:prstGeom prst="rect">
            <a:avLst/>
          </a:prstGeom>
          <a:solidFill>
            <a:srgbClr val="FFD42E"/>
          </a:solidFill>
        </p:spPr>
        <p:txBody>
          <a:bodyPr wrap="square" lIns="0" tIns="0" rIns="0" bIns="45720" rtlCol="0">
            <a:spAutoFit/>
          </a:bodyPr>
          <a:lstStyle/>
          <a:p>
            <a:pPr algn="ctr"/>
            <a:r>
              <a:rPr lang="pt-BR" sz="1600" b="1">
                <a:solidFill>
                  <a:schemeClr val="tx2"/>
                </a:solidFill>
              </a:rPr>
              <a:t>Atividades Em execução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9807A-E936-F068-3BFA-8D95004D05A1}"/>
              </a:ext>
            </a:extLst>
          </p:cNvPr>
          <p:cNvSpPr txBox="1"/>
          <p:nvPr/>
        </p:nvSpPr>
        <p:spPr>
          <a:xfrm>
            <a:off x="8590198" y="719822"/>
            <a:ext cx="2918992" cy="292388"/>
          </a:xfrm>
          <a:prstGeom prst="rect">
            <a:avLst/>
          </a:prstGeom>
          <a:solidFill>
            <a:srgbClr val="FF3C0F"/>
          </a:solidFill>
        </p:spPr>
        <p:txBody>
          <a:bodyPr wrap="square" lIns="0" tIns="0" rIns="0" bIns="45720" rtlCol="0">
            <a:spAutoFit/>
          </a:bodyPr>
          <a:lstStyle/>
          <a:p>
            <a:pPr algn="ctr"/>
            <a:r>
              <a:rPr lang="pt-BR" sz="1600" b="1">
                <a:solidFill>
                  <a:schemeClr val="bg1"/>
                </a:solidFill>
              </a:rPr>
              <a:t>Pontos de dúvidas/ Atenção</a:t>
            </a:r>
          </a:p>
        </p:txBody>
      </p:sp>
    </p:spTree>
    <p:extLst>
      <p:ext uri="{BB962C8B-B14F-4D97-AF65-F5344CB8AC3E}">
        <p14:creationId xmlns:p14="http://schemas.microsoft.com/office/powerpoint/2010/main" val="258559342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4ckzg0aQoGAoYunykF09A"/>
</p:tagLst>
</file>

<file path=ppt/theme/theme1.xml><?xml version="1.0" encoding="utf-8"?>
<a:theme xmlns:a="http://schemas.openxmlformats.org/drawingml/2006/main" name="1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2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 dirty="0">
            <a:ln>
              <a:noFill/>
            </a:ln>
            <a:solidFill>
              <a:sysClr val="windowText" lastClr="000000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2A1EC493E367844BCC7657148E6863F" ma:contentTypeVersion="14" ma:contentTypeDescription="Crie um novo documento." ma:contentTypeScope="" ma:versionID="aeb830fb1a6803eb0cdfa78e57d4bf86">
  <xsd:schema xmlns:xsd="http://www.w3.org/2001/XMLSchema" xmlns:xs="http://www.w3.org/2001/XMLSchema" xmlns:p="http://schemas.microsoft.com/office/2006/metadata/properties" xmlns:ns2="46d436c9-717c-46a7-b69e-155cb9fbc821" xmlns:ns3="29987bf6-598b-4bea-b1ba-059a62b4ab71" targetNamespace="http://schemas.microsoft.com/office/2006/metadata/properties" ma:root="true" ma:fieldsID="6330bb6548313ffb6955606566446da8" ns2:_="" ns3:_="">
    <xsd:import namespace="46d436c9-717c-46a7-b69e-155cb9fbc821"/>
    <xsd:import namespace="29987bf6-598b-4bea-b1ba-059a62b4ab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436c9-717c-46a7-b69e-155cb9fbc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87bf6-598b-4bea-b1ba-059a62b4ab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a1b027c-eb8e-469a-bd5e-f3378a596fac}" ma:internalName="TaxCatchAll" ma:showField="CatchAllData" ma:web="29987bf6-598b-4bea-b1ba-059a62b4ab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d436c9-717c-46a7-b69e-155cb9fbc821">
      <Terms xmlns="http://schemas.microsoft.com/office/infopath/2007/PartnerControls"/>
    </lcf76f155ced4ddcb4097134ff3c332f>
    <TaxCatchAll xmlns="29987bf6-598b-4bea-b1ba-059a62b4ab71" xsi:nil="true"/>
  </documentManagement>
</p:properties>
</file>

<file path=customXml/itemProps1.xml><?xml version="1.0" encoding="utf-8"?>
<ds:datastoreItem xmlns:ds="http://schemas.openxmlformats.org/officeDocument/2006/customXml" ds:itemID="{7C7B5E4D-E957-4B3D-954A-071E650743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847267-E671-47F3-BE89-B0C32B88A0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d436c9-717c-46a7-b69e-155cb9fbc821"/>
    <ds:schemaRef ds:uri="29987bf6-598b-4bea-b1ba-059a62b4ab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CBC000-F439-4C50-A604-33C2F5B992AC}">
  <ds:schemaRefs>
    <ds:schemaRef ds:uri="29987bf6-598b-4bea-b1ba-059a62b4ab71"/>
    <ds:schemaRef ds:uri="46d436c9-717c-46a7-b69e-155cb9fbc8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216</Words>
  <Application>Microsoft Office PowerPoint</Application>
  <PresentationFormat>Widescreen</PresentationFormat>
  <Paragraphs>36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8" baseType="lpstr">
      <vt:lpstr>Abadi</vt:lpstr>
      <vt:lpstr>Aptos</vt:lpstr>
      <vt:lpstr>Arial</vt:lpstr>
      <vt:lpstr>Arial Black</vt:lpstr>
      <vt:lpstr>Calibri</vt:lpstr>
      <vt:lpstr>Graphik</vt:lpstr>
      <vt:lpstr>Helvetica</vt:lpstr>
      <vt:lpstr>Roboto</vt:lpstr>
      <vt:lpstr>Simplon BP Bold</vt:lpstr>
      <vt:lpstr>Simplon BP Regular</vt:lpstr>
      <vt:lpstr>Simplon Oi Headline</vt:lpstr>
      <vt:lpstr>Wingdings</vt:lpstr>
      <vt:lpstr>1_Titles</vt:lpstr>
      <vt:lpstr>2_Tema do Office</vt:lpstr>
      <vt:lpstr>think-cell Slide</vt:lpstr>
      <vt:lpstr>Slide do think-cell</vt:lpstr>
      <vt:lpstr>Twist</vt:lpstr>
      <vt:lpstr>TWIST - ACOMPANHAMENTO FRENTE DE PESSOAS 16/12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DEFINIÇÕES ACERCA DO TEMA DE PESSOAS</dc:title>
  <dc:creator>Barreto, Felipe</dc:creator>
  <cp:lastModifiedBy>Couto, Fernanda</cp:lastModifiedBy>
  <cp:revision>1</cp:revision>
  <dcterms:created xsi:type="dcterms:W3CDTF">2024-07-08T12:04:19Z</dcterms:created>
  <dcterms:modified xsi:type="dcterms:W3CDTF">2024-12-16T13:19:04Z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0x010100B2A1EC493E367844BCC7657148E6863F</vt:lpwstr>
  </property>
  <property fmtid="{D5CDD505-2E9C-101B-9397-08002B2CF9AE}" pid="3" name="MediaServiceImageTags">
    <vt:lpwstr/>
  </property>
</Properties>
</file>