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</p:sldMasterIdLst>
  <p:notesMasterIdLst>
    <p:notesMasterId r:id="rId11"/>
  </p:notesMasterIdLst>
  <p:sldIdLst>
    <p:sldId id="293" r:id="rId6"/>
    <p:sldId id="408" r:id="rId7"/>
    <p:sldId id="403" r:id="rId8"/>
    <p:sldId id="406" r:id="rId9"/>
    <p:sldId id="409" r:id="rId10"/>
  </p:sldIdLst>
  <p:sldSz cx="12192000" cy="6858000"/>
  <p:notesSz cx="6858000" cy="9144000"/>
  <p:custDataLst>
    <p:tags r:id="rId1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93"/>
            <p14:sldId id="408"/>
            <p14:sldId id="403"/>
            <p14:sldId id="406"/>
            <p14:sldId id="409"/>
          </p14:sldIdLst>
        </p14:section>
      </p14:sectionLst>
    </p:ext>
    <p:ext uri="{EFAFB233-063F-42B5-8137-9DF3F51BA10A}">
      <p15:sldGuideLst xmlns:p15="http://schemas.microsoft.com/office/powerpoint/2012/main">
        <p15:guide id="1" pos="7537" userDrawn="1">
          <p15:clr>
            <a:srgbClr val="A4A3A4"/>
          </p15:clr>
        </p15:guide>
        <p15:guide id="2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00"/>
    <a:srgbClr val="404040"/>
    <a:srgbClr val="009E0B"/>
    <a:srgbClr val="F5F5F5"/>
    <a:srgbClr val="00D318"/>
    <a:srgbClr val="4D4D4D"/>
    <a:srgbClr val="FFFFFF"/>
    <a:srgbClr val="3399FF"/>
    <a:srgbClr val="6D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94343" autoAdjust="0"/>
  </p:normalViewPr>
  <p:slideViewPr>
    <p:cSldViewPr snapToGrid="0" snapToObjects="1">
      <p:cViewPr varScale="1">
        <p:scale>
          <a:sx n="128" d="100"/>
          <a:sy n="128" d="100"/>
        </p:scale>
        <p:origin x="512" y="176"/>
      </p:cViewPr>
      <p:guideLst>
        <p:guide pos="7537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1835578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1190969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427768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390E-8321-8048-5C03-6D9DD3A1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FB793C-AE3C-E3C6-2691-8F91757C0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DC2A05B-A1E2-6D86-F9DA-FF6EFA8E4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263630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787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7320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 dirty="0" err="1"/>
              <a:t>Serede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Documento para discussão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15 de janeiro 2025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190260" y="1699641"/>
            <a:ext cx="7994318" cy="2103874"/>
          </a:xfrm>
        </p:spPr>
        <p:txBody>
          <a:bodyPr/>
          <a:lstStyle/>
          <a:p>
            <a:r>
              <a:rPr lang="pt-BR" dirty="0"/>
              <a:t>Incorporação</a:t>
            </a:r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ESTRUTURA DA TRANSAÇÃO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 dirty="0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C084F6EF-ED75-2159-924A-0FD8CEAB3AC4}"/>
              </a:ext>
            </a:extLst>
          </p:cNvPr>
          <p:cNvSpPr/>
          <p:nvPr/>
        </p:nvSpPr>
        <p:spPr bwMode="auto">
          <a:xfrm>
            <a:off x="293316" y="1306258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sz="1600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FE5CB3DE-C98F-691D-8EC3-F13A535DF423}"/>
              </a:ext>
            </a:extLst>
          </p:cNvPr>
          <p:cNvSpPr/>
          <p:nvPr/>
        </p:nvSpPr>
        <p:spPr bwMode="auto">
          <a:xfrm>
            <a:off x="293316" y="2430540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sz="1600" kern="1200" dirty="0" err="1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Serede</a:t>
            </a:r>
            <a:endParaRPr lang="pt-BR" sz="1600" kern="1200" dirty="0">
              <a:solidFill>
                <a:prstClr val="black"/>
              </a:solidFill>
              <a:latin typeface="Simplon BP Regular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873DCC-44DF-AFA6-D662-470EF1D46A12}"/>
              </a:ext>
            </a:extLst>
          </p:cNvPr>
          <p:cNvSpPr txBox="1"/>
          <p:nvPr/>
        </p:nvSpPr>
        <p:spPr>
          <a:xfrm>
            <a:off x="8777794" y="2430541"/>
            <a:ext cx="2081827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600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Drop</a:t>
            </a:r>
            <a:r>
              <a:rPr lang="pt-BR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 da operação de fibra em uma UPI para eventual alienação</a:t>
            </a:r>
            <a:endParaRPr lang="pt-PT" sz="16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CEDDBB23-BF7E-D63A-DB19-3576C50B8865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797316" y="1918258"/>
            <a:ext cx="0" cy="512282"/>
          </a:xfrm>
          <a:prstGeom prst="line">
            <a:avLst/>
          </a:prstGeom>
          <a:noFill/>
          <a:ln w="9525" cap="flat">
            <a:solidFill>
              <a:schemeClr val="tx1">
                <a:lumMod val="75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20">
            <a:extLst>
              <a:ext uri="{FF2B5EF4-FFF2-40B4-BE49-F238E27FC236}">
                <a16:creationId xmlns:a16="http://schemas.microsoft.com/office/drawing/2014/main" id="{DC038DEA-25F7-FA81-4B9B-DCA6BB3E0FAA}"/>
              </a:ext>
            </a:extLst>
          </p:cNvPr>
          <p:cNvSpPr/>
          <p:nvPr/>
        </p:nvSpPr>
        <p:spPr bwMode="auto">
          <a:xfrm>
            <a:off x="7606960" y="1306258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sz="1600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C0ABE98E-0917-FCE3-DB83-8A566CD3CC69}"/>
              </a:ext>
            </a:extLst>
          </p:cNvPr>
          <p:cNvSpPr/>
          <p:nvPr/>
        </p:nvSpPr>
        <p:spPr bwMode="auto">
          <a:xfrm>
            <a:off x="7606960" y="2430540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sz="1600" kern="1200" dirty="0" err="1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Serede</a:t>
            </a:r>
            <a:r>
              <a:rPr lang="pt-BR" sz="1600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 Fibra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077C47DB-C95C-B432-486C-E683D1A5DB1E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8110960" y="1918258"/>
            <a:ext cx="0" cy="512282"/>
          </a:xfrm>
          <a:prstGeom prst="line">
            <a:avLst/>
          </a:prstGeom>
          <a:noFill/>
          <a:ln w="9525" cap="flat">
            <a:solidFill>
              <a:schemeClr val="tx1">
                <a:lumMod val="75000"/>
              </a:schemeClr>
            </a:solidFill>
            <a:prstDash val="dash"/>
            <a:round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B8B7C8C-CE21-EC83-9297-3578E4809F09}"/>
              </a:ext>
            </a:extLst>
          </p:cNvPr>
          <p:cNvGrpSpPr/>
          <p:nvPr/>
        </p:nvGrpSpPr>
        <p:grpSpPr>
          <a:xfrm>
            <a:off x="7606959" y="541435"/>
            <a:ext cx="4284000" cy="738664"/>
            <a:chOff x="6467189" y="725493"/>
            <a:chExt cx="3865531" cy="738664"/>
          </a:xfrm>
        </p:grpSpPr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522E2BE0-446B-4E0E-B76C-27F737BB5A39}"/>
                </a:ext>
              </a:extLst>
            </p:cNvPr>
            <p:cNvSpPr txBox="1"/>
            <p:nvPr/>
          </p:nvSpPr>
          <p:spPr>
            <a:xfrm>
              <a:off x="6467189" y="725493"/>
              <a:ext cx="3840131" cy="7386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sz="1600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Fase 2 (não confirmada) – Spin off da operação de fibra</a:t>
              </a:r>
            </a:p>
            <a:p>
              <a:endPara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EB4FB35C-6850-5A24-49A8-25286303FE14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882AD292-A6E3-B343-FC74-B1AD14633584}"/>
              </a:ext>
            </a:extLst>
          </p:cNvPr>
          <p:cNvGrpSpPr/>
          <p:nvPr/>
        </p:nvGrpSpPr>
        <p:grpSpPr>
          <a:xfrm>
            <a:off x="260402" y="784631"/>
            <a:ext cx="2356338" cy="492443"/>
            <a:chOff x="6467189" y="968689"/>
            <a:chExt cx="3865531" cy="492443"/>
          </a:xfrm>
        </p:grpSpPr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BC9B7274-0BC9-BADE-B071-C6B88BE70D2D}"/>
                </a:ext>
              </a:extLst>
            </p:cNvPr>
            <p:cNvSpPr txBox="1"/>
            <p:nvPr/>
          </p:nvSpPr>
          <p:spPr>
            <a:xfrm>
              <a:off x="6467189" y="968689"/>
              <a:ext cx="3840131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sz="1600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Situação atual</a:t>
              </a:r>
            </a:p>
            <a:p>
              <a:endPara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id="{8BAC88A2-EAF5-BF69-274E-1B5C980088D7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0889B8-D929-1745-07A7-3C87FF979AF7}"/>
              </a:ext>
            </a:extLst>
          </p:cNvPr>
          <p:cNvSpPr txBox="1"/>
          <p:nvPr/>
        </p:nvSpPr>
        <p:spPr>
          <a:xfrm>
            <a:off x="1481869" y="2430541"/>
            <a:ext cx="113487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Contratos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Sistemas</a:t>
            </a:r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F4AC16F6-74A9-7524-B92D-93BBA6951478}"/>
              </a:ext>
            </a:extLst>
          </p:cNvPr>
          <p:cNvSpPr/>
          <p:nvPr/>
        </p:nvSpPr>
        <p:spPr bwMode="auto">
          <a:xfrm>
            <a:off x="3009040" y="1306258"/>
            <a:ext cx="1008000" cy="612000"/>
          </a:xfrm>
          <a:prstGeom prst="rect">
            <a:avLst/>
          </a:prstGeom>
          <a:solidFill>
            <a:srgbClr val="CCFF99"/>
          </a:solidFill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36000" tIns="45710" rIns="36000" bIns="45710" anchor="ctr"/>
          <a:lstStyle/>
          <a:p>
            <a:pPr algn="ctr" defTabSz="457200">
              <a:buClrTx/>
            </a:pPr>
            <a:r>
              <a:rPr lang="pt-BR" sz="1600" kern="1200" dirty="0">
                <a:solidFill>
                  <a:prstClr val="black"/>
                </a:solidFill>
                <a:latin typeface="Simplon BP Regular" pitchFamily="2" charset="0"/>
                <a:ea typeface="+mn-ea"/>
                <a:cs typeface="Arial" panose="020B0604020202020204" pitchFamily="34" charset="0"/>
              </a:rPr>
              <a:t>Oi S.A.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CBFA2A7-DEBD-2625-EE31-069ADCA2DCFF}"/>
              </a:ext>
            </a:extLst>
          </p:cNvPr>
          <p:cNvGrpSpPr/>
          <p:nvPr/>
        </p:nvGrpSpPr>
        <p:grpSpPr>
          <a:xfrm>
            <a:off x="2976126" y="784631"/>
            <a:ext cx="4284000" cy="492443"/>
            <a:chOff x="6467189" y="968689"/>
            <a:chExt cx="3865531" cy="492443"/>
          </a:xfrm>
        </p:grpSpPr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BA54396A-529B-EFA8-6B52-0AAFD2E5E536}"/>
                </a:ext>
              </a:extLst>
            </p:cNvPr>
            <p:cNvSpPr txBox="1"/>
            <p:nvPr/>
          </p:nvSpPr>
          <p:spPr>
            <a:xfrm>
              <a:off x="6467189" y="968689"/>
              <a:ext cx="3840131" cy="492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sz="1600" b="1" dirty="0">
                  <a:solidFill>
                    <a:srgbClr val="000000"/>
                  </a:solidFill>
                  <a:ea typeface="Palatino Linotype" panose="02040502050505030304" pitchFamily="18" charset="0"/>
                  <a:cs typeface="Palatino Linotype" panose="02040502050505030304" pitchFamily="18" charset="0"/>
                </a:rPr>
                <a:t>Fase 1 – Serede incorporada</a:t>
              </a:r>
              <a:endParaRPr lang="pt-PT" sz="1600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  <a:p>
              <a:endPara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A050B51D-80FF-98B6-0E24-0501763140B1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2EC134A-F0B5-E957-954F-E1852F8E10E5}"/>
              </a:ext>
            </a:extLst>
          </p:cNvPr>
          <p:cNvSpPr txBox="1"/>
          <p:nvPr/>
        </p:nvSpPr>
        <p:spPr>
          <a:xfrm>
            <a:off x="4197592" y="1318125"/>
            <a:ext cx="3062534" cy="51706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600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Incorporação para otimização tributária </a:t>
            </a: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(fluxo intercompany e uso de crédito de PIS/COFINS)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Preparação nas diversas frentes:</a:t>
            </a:r>
          </a:p>
          <a:p>
            <a:pPr marL="252000" indent="-126000">
              <a:buFont typeface="Simplon BP Regular" pitchFamily="50" charset="0"/>
              <a:buChar char="–"/>
            </a:pPr>
            <a:r>
              <a:rPr lang="pt-PT" sz="1600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Pessoas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Ajuste de organização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Negociação sindical para não haver contingência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Mapeamento e ajustes de processos</a:t>
            </a:r>
          </a:p>
          <a:p>
            <a:pPr marL="252000" indent="-126000">
              <a:buFont typeface="Simplon BP Regular" pitchFamily="50" charset="0"/>
              <a:buChar char="–"/>
            </a:pPr>
            <a:r>
              <a:rPr lang="pt-PT" sz="1600" b="1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Sistemas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Integração/ajuste de SAP e outros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Sistemas operacionais</a:t>
            </a:r>
          </a:p>
          <a:p>
            <a:pPr marL="252000" indent="-126000">
              <a:buFont typeface="Simplon BP Regular" pitchFamily="50" charset="0"/>
              <a:buChar char="–"/>
            </a:pPr>
            <a:r>
              <a:rPr lang="pt-PT" sz="1600" b="1" dirty="0">
                <a:solidFill>
                  <a:srgbClr val="000000"/>
                </a:solidFill>
              </a:rPr>
              <a:t>Contratos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</a:rPr>
              <a:t>Avaliação de alterações </a:t>
            </a: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necessárias</a:t>
            </a:r>
          </a:p>
          <a:p>
            <a:pPr marL="252000" indent="-126000">
              <a:buFont typeface="Simplon BP Regular" pitchFamily="50" charset="0"/>
              <a:buChar char="–"/>
            </a:pPr>
            <a:r>
              <a:rPr lang="pt-PT" sz="1600" b="1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Societário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Aprovações (AGE)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Ajuste de objeto, etc.</a:t>
            </a:r>
          </a:p>
          <a:p>
            <a:pPr marL="360363" indent="-125413">
              <a:buFont typeface="Arial" panose="020B0604020202020204" pitchFamily="34" charset="0"/>
              <a:buChar char="•"/>
            </a:pPr>
            <a:r>
              <a:rPr lang="pt-PT" sz="16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Filiais</a:t>
            </a:r>
          </a:p>
        </p:txBody>
      </p:sp>
    </p:spTree>
    <p:extLst>
      <p:ext uri="{BB962C8B-B14F-4D97-AF65-F5344CB8AC3E}">
        <p14:creationId xmlns:p14="http://schemas.microsoft.com/office/powerpoint/2010/main" val="13033524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aixaDeTexto 27">
            <a:extLst>
              <a:ext uri="{FF2B5EF4-FFF2-40B4-BE49-F238E27FC236}">
                <a16:creationId xmlns:a16="http://schemas.microsoft.com/office/drawing/2014/main" id="{7F42AB64-0261-3D93-9D8F-B08A7D14F9B4}"/>
              </a:ext>
            </a:extLst>
          </p:cNvPr>
          <p:cNvSpPr txBox="1"/>
          <p:nvPr/>
        </p:nvSpPr>
        <p:spPr>
          <a:xfrm>
            <a:off x="4417246" y="765175"/>
            <a:ext cx="7547741" cy="57819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8B0824-0B27-AA1C-2014-4D087D882D35}"/>
              </a:ext>
            </a:extLst>
          </p:cNvPr>
          <p:cNvSpPr txBox="1"/>
          <p:nvPr/>
        </p:nvSpPr>
        <p:spPr>
          <a:xfrm>
            <a:off x="1589733" y="765175"/>
            <a:ext cx="2777480" cy="578195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5DE5EC-44A3-016D-D29E-608C788075E9}"/>
              </a:ext>
            </a:extLst>
          </p:cNvPr>
          <p:cNvSpPr txBox="1"/>
          <p:nvPr/>
        </p:nvSpPr>
        <p:spPr>
          <a:xfrm>
            <a:off x="1658500" y="1030132"/>
            <a:ext cx="1700152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500" b="1" dirty="0">
                <a:solidFill>
                  <a:srgbClr val="009E0B"/>
                </a:solidFill>
              </a:rPr>
              <a:t>Principais objetivos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ADA7717-2518-E458-911E-1D36C96AC305}"/>
              </a:ext>
            </a:extLst>
          </p:cNvPr>
          <p:cNvSpPr txBox="1"/>
          <p:nvPr/>
        </p:nvSpPr>
        <p:spPr>
          <a:xfrm>
            <a:off x="273541" y="1030131"/>
            <a:ext cx="1202200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500" b="1" dirty="0">
                <a:solidFill>
                  <a:srgbClr val="009E0B"/>
                </a:solidFill>
              </a:rPr>
              <a:t>Frente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6C63A02-0844-27A4-8832-AAD8630BAAF3}"/>
              </a:ext>
            </a:extLst>
          </p:cNvPr>
          <p:cNvSpPr txBox="1"/>
          <p:nvPr/>
        </p:nvSpPr>
        <p:spPr>
          <a:xfrm>
            <a:off x="4481205" y="1030132"/>
            <a:ext cx="4216416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500" b="1" dirty="0">
                <a:solidFill>
                  <a:srgbClr val="009E0B"/>
                </a:solidFill>
              </a:rPr>
              <a:t>Detalhamento</a:t>
            </a:r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5E3D194D-9826-07D2-623F-1E251AFBE5B3}"/>
              </a:ext>
            </a:extLst>
          </p:cNvPr>
          <p:cNvSpPr txBox="1">
            <a:spLocks/>
          </p:cNvSpPr>
          <p:nvPr/>
        </p:nvSpPr>
        <p:spPr>
          <a:xfrm>
            <a:off x="160422" y="143887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D318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en-US" dirty="0">
                <a:solidFill>
                  <a:srgbClr val="009E0B"/>
                </a:solidFill>
              </a:rPr>
              <a:t>FRENTES DE TRABALHO DA FASE 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E50204-A1AB-CA4B-54BD-F132578110BE}"/>
              </a:ext>
            </a:extLst>
          </p:cNvPr>
          <p:cNvSpPr txBox="1"/>
          <p:nvPr/>
        </p:nvSpPr>
        <p:spPr>
          <a:xfrm>
            <a:off x="273545" y="2039378"/>
            <a:ext cx="11766054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Regulatória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2F0C98-3C38-7E5A-9E0B-FFE457A48C3B}"/>
              </a:ext>
            </a:extLst>
          </p:cNvPr>
          <p:cNvSpPr txBox="1"/>
          <p:nvPr/>
        </p:nvSpPr>
        <p:spPr>
          <a:xfrm>
            <a:off x="273545" y="3536175"/>
            <a:ext cx="11766054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Ativos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FD44AA-DABF-5A56-C61A-9A08E8B5F400}"/>
              </a:ext>
            </a:extLst>
          </p:cNvPr>
          <p:cNvSpPr txBox="1"/>
          <p:nvPr/>
        </p:nvSpPr>
        <p:spPr>
          <a:xfrm>
            <a:off x="273542" y="4284574"/>
            <a:ext cx="11766058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500" dirty="0">
                <a:solidFill>
                  <a:srgbClr val="000000"/>
                </a:solidFill>
                <a:latin typeface="+mj-lt"/>
              </a:rPr>
              <a:t>Contratos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5ECE28-2579-4B27-2DAA-1E9C777DD27A}"/>
              </a:ext>
            </a:extLst>
          </p:cNvPr>
          <p:cNvSpPr txBox="1"/>
          <p:nvPr/>
        </p:nvSpPr>
        <p:spPr>
          <a:xfrm>
            <a:off x="273542" y="1290979"/>
            <a:ext cx="11766058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Societária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2E38390-B7EC-4B5E-433C-0503481EA6A7}"/>
              </a:ext>
            </a:extLst>
          </p:cNvPr>
          <p:cNvSpPr txBox="1"/>
          <p:nvPr/>
        </p:nvSpPr>
        <p:spPr>
          <a:xfrm>
            <a:off x="273539" y="2787776"/>
            <a:ext cx="11766057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Financeira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B798DE1-656C-1A90-3473-1B11CD94A351}"/>
              </a:ext>
            </a:extLst>
          </p:cNvPr>
          <p:cNvSpPr txBox="1"/>
          <p:nvPr/>
        </p:nvSpPr>
        <p:spPr>
          <a:xfrm>
            <a:off x="1628020" y="1358657"/>
            <a:ext cx="272046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Obter as aprovações necessárias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Preparar a Oi societariamente para receber os ativos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A36781D-3BE4-FAAA-A80F-4C496052F5BE}"/>
              </a:ext>
            </a:extLst>
          </p:cNvPr>
          <p:cNvSpPr txBox="1"/>
          <p:nvPr/>
        </p:nvSpPr>
        <p:spPr>
          <a:xfrm>
            <a:off x="1628020" y="2199389"/>
            <a:ext cx="272046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Avaliar necessidade de a</a:t>
            </a: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provações regulatór</a:t>
            </a:r>
            <a:r>
              <a:rPr lang="pt-BR" sz="12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ias necessárias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FBBA9C7-E411-A41E-76ED-831302F79890}"/>
              </a:ext>
            </a:extLst>
          </p:cNvPr>
          <p:cNvSpPr txBox="1"/>
          <p:nvPr/>
        </p:nvSpPr>
        <p:spPr>
          <a:xfrm>
            <a:off x="1628020" y="2947787"/>
            <a:ext cx="272046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Garantir que a Oi consiga absorver o fluxo/processos financeiros e contábeis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52C5B7C-2273-E418-34D5-4A78E09A3A51}"/>
              </a:ext>
            </a:extLst>
          </p:cNvPr>
          <p:cNvSpPr txBox="1"/>
          <p:nvPr/>
        </p:nvSpPr>
        <p:spPr>
          <a:xfrm>
            <a:off x="1628020" y="3696186"/>
            <a:ext cx="272046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Garantir que os ativos sejam corretamente aportados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7C26DDF-F377-0863-9AED-010554457284}"/>
              </a:ext>
            </a:extLst>
          </p:cNvPr>
          <p:cNvSpPr txBox="1"/>
          <p:nvPr/>
        </p:nvSpPr>
        <p:spPr>
          <a:xfrm>
            <a:off x="1628020" y="4536918"/>
            <a:ext cx="272046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Contratos transferidos para a Oi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50894EB-569B-FFF8-780F-B79CD1DBE991}"/>
              </a:ext>
            </a:extLst>
          </p:cNvPr>
          <p:cNvSpPr txBox="1"/>
          <p:nvPr/>
        </p:nvSpPr>
        <p:spPr>
          <a:xfrm>
            <a:off x="4481205" y="1450990"/>
            <a:ext cx="57231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Viabilizar aprovações e atos societários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</a:t>
            </a:r>
            <a:r>
              <a:rPr lang="pt-BR" sz="12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valiar </a:t>
            </a: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filiais, Inscrições Estadual e Municipal;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F863E31-AB1D-330A-415A-3B4D8466026B}"/>
              </a:ext>
            </a:extLst>
          </p:cNvPr>
          <p:cNvSpPr txBox="1"/>
          <p:nvPr/>
        </p:nvSpPr>
        <p:spPr>
          <a:xfrm>
            <a:off x="4481205" y="2291722"/>
            <a:ext cx="5723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N/A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56CF249-B12E-508E-97D7-BF1EF58EBE1E}"/>
              </a:ext>
            </a:extLst>
          </p:cNvPr>
          <p:cNvSpPr txBox="1"/>
          <p:nvPr/>
        </p:nvSpPr>
        <p:spPr>
          <a:xfrm>
            <a:off x="4481205" y="2855454"/>
            <a:ext cx="572311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Adaptação do fluxo financeiro, com ajuste de contas, seguros, aplicações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Adaptação de plano de contas e fluxo contábil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Alinhamento Contábil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C989992-28C7-23D0-1AA0-1F478B7C271F}"/>
              </a:ext>
            </a:extLst>
          </p:cNvPr>
          <p:cNvSpPr txBox="1"/>
          <p:nvPr/>
        </p:nvSpPr>
        <p:spPr>
          <a:xfrm>
            <a:off x="4481205" y="3696186"/>
            <a:ext cx="57231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Migração dos ativos do SAP </a:t>
            </a:r>
            <a:r>
              <a:rPr lang="pt-BR" sz="1200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Serede</a:t>
            </a: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 p/ SAP Oi</a:t>
            </a:r>
            <a:endParaRPr lang="pt-BR" sz="12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Suporte à obtenção de laudos contábeis para a incorporaç</a:t>
            </a:r>
            <a:r>
              <a:rPr lang="pt-BR" sz="12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ão</a:t>
            </a:r>
            <a:endParaRPr lang="pt-BR" sz="120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DDF2E4C-EB69-A935-F04A-59860A81846F}"/>
              </a:ext>
            </a:extLst>
          </p:cNvPr>
          <p:cNvSpPr txBox="1"/>
          <p:nvPr/>
        </p:nvSpPr>
        <p:spPr>
          <a:xfrm>
            <a:off x="4481205" y="4444585"/>
            <a:ext cx="57231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Avaliação da necessidade de anuência em contratos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Obtenção de eventuais anuências e assinatura de eventuais aditamentos</a:t>
            </a:r>
            <a:endParaRPr lang="pt-BR" sz="120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3F31C0-DFDD-099E-4804-B8328EB6EEBA}"/>
              </a:ext>
            </a:extLst>
          </p:cNvPr>
          <p:cNvSpPr txBox="1"/>
          <p:nvPr/>
        </p:nvSpPr>
        <p:spPr>
          <a:xfrm>
            <a:off x="273545" y="5791218"/>
            <a:ext cx="11766054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Pessoas e </a:t>
            </a:r>
          </a:p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processos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BBF5DC1-33FA-DC80-2BC0-C9DD3C509431}"/>
              </a:ext>
            </a:extLst>
          </p:cNvPr>
          <p:cNvSpPr txBox="1"/>
          <p:nvPr/>
        </p:nvSpPr>
        <p:spPr>
          <a:xfrm>
            <a:off x="273542" y="5042819"/>
            <a:ext cx="11766058" cy="68935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500" b="1" dirty="0">
                <a:solidFill>
                  <a:srgbClr val="000000"/>
                </a:solidFill>
                <a:ea typeface="+mn-ea"/>
                <a:cs typeface="+mn-cs"/>
              </a:rPr>
              <a:t>Sistemas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41055BD-E058-DD98-A10D-E451A80D6E3F}"/>
              </a:ext>
            </a:extLst>
          </p:cNvPr>
          <p:cNvSpPr txBox="1"/>
          <p:nvPr/>
        </p:nvSpPr>
        <p:spPr>
          <a:xfrm>
            <a:off x="1628020" y="5110497"/>
            <a:ext cx="272046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Garantir os sistemas que suportem os processos da </a:t>
            </a:r>
            <a:r>
              <a:rPr lang="pt-BR" sz="1200" spc="0" dirty="0" err="1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Serede</a:t>
            </a: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, assim como o </a:t>
            </a:r>
            <a:r>
              <a:rPr lang="pt-BR" sz="1200" spc="0" dirty="0" err="1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drop</a:t>
            </a: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 de ativos/pessoas/contratos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975BEFB-8A2E-911E-84DA-81609551C6FA}"/>
              </a:ext>
            </a:extLst>
          </p:cNvPr>
          <p:cNvSpPr txBox="1"/>
          <p:nvPr/>
        </p:nvSpPr>
        <p:spPr>
          <a:xfrm>
            <a:off x="1628020" y="5951229"/>
            <a:ext cx="272046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spc="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Garantir a transferência dos recursos e processos</a:t>
            </a:r>
            <a:endParaRPr lang="pt-BR" sz="1200" spc="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EA126F8-F477-1306-B418-B29F465B4F66}"/>
              </a:ext>
            </a:extLst>
          </p:cNvPr>
          <p:cNvSpPr txBox="1"/>
          <p:nvPr/>
        </p:nvSpPr>
        <p:spPr>
          <a:xfrm>
            <a:off x="4481205" y="5110497"/>
            <a:ext cx="572311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Preparação sistêmica para incorporação de ativos/clientes 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Escrita de estórias/desenvolvimento de sistemas p/ suportar os processos previstos</a:t>
            </a:r>
            <a:endParaRPr lang="pt-BR" sz="120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Viabilizar faturamento </a:t>
            </a:r>
            <a:r>
              <a:rPr lang="pt-BR" sz="1200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Serede</a:t>
            </a: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 para outros clientes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160C76-05B4-FC18-80EF-D818826FC6AC}"/>
              </a:ext>
            </a:extLst>
          </p:cNvPr>
          <p:cNvSpPr txBox="1"/>
          <p:nvPr/>
        </p:nvSpPr>
        <p:spPr>
          <a:xfrm>
            <a:off x="4481205" y="5858896"/>
            <a:ext cx="5723110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 anchorCtr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Negociar com sindicados e definir modelo de transferência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Viabilizar a transferência dos recursos selecionados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Avaliar adequações dos processos operacionais</a:t>
            </a:r>
          </a:p>
        </p:txBody>
      </p:sp>
    </p:spTree>
    <p:extLst>
      <p:ext uri="{BB962C8B-B14F-4D97-AF65-F5344CB8AC3E}">
        <p14:creationId xmlns:p14="http://schemas.microsoft.com/office/powerpoint/2010/main" val="290973064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GOVERNANÇA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4</a:t>
            </a:fld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1F64CB2-0B3E-215C-FBDF-62FD246362A6}"/>
              </a:ext>
            </a:extLst>
          </p:cNvPr>
          <p:cNvGrpSpPr/>
          <p:nvPr/>
        </p:nvGrpSpPr>
        <p:grpSpPr>
          <a:xfrm>
            <a:off x="5800523" y="1767059"/>
            <a:ext cx="3567214" cy="461665"/>
            <a:chOff x="6467189" y="960689"/>
            <a:chExt cx="3865531" cy="461665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A17D3303-E8DD-067A-70A4-75EA270E70BF}"/>
                </a:ext>
              </a:extLst>
            </p:cNvPr>
            <p:cNvSpPr txBox="1"/>
            <p:nvPr/>
          </p:nvSpPr>
          <p:spPr>
            <a:xfrm>
              <a:off x="6467189" y="960689"/>
              <a:ext cx="3840132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sz="1500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Escopo</a:t>
              </a:r>
            </a:p>
            <a:p>
              <a:endParaRPr lang="pt-PT" sz="1500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6" name="Conector reto 5">
              <a:extLst>
                <a:ext uri="{FF2B5EF4-FFF2-40B4-BE49-F238E27FC236}">
                  <a16:creationId xmlns:a16="http://schemas.microsoft.com/office/drawing/2014/main" id="{6157DFE2-C895-CC02-5E4B-39C82D438DB3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B4706DA-DF7D-D719-7209-BBF6D2B08A9F}"/>
              </a:ext>
            </a:extLst>
          </p:cNvPr>
          <p:cNvGrpSpPr/>
          <p:nvPr/>
        </p:nvGrpSpPr>
        <p:grpSpPr>
          <a:xfrm>
            <a:off x="2159527" y="1767059"/>
            <a:ext cx="3148266" cy="461665"/>
            <a:chOff x="6467189" y="960689"/>
            <a:chExt cx="3865531" cy="461665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CC2FABA9-83A6-AADC-62C3-1C6E114C2D63}"/>
                </a:ext>
              </a:extLst>
            </p:cNvPr>
            <p:cNvSpPr txBox="1"/>
            <p:nvPr/>
          </p:nvSpPr>
          <p:spPr>
            <a:xfrm>
              <a:off x="6467189" y="960689"/>
              <a:ext cx="3840133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sz="1500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Participantes</a:t>
              </a:r>
            </a:p>
            <a:p>
              <a:endPara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640AA995-BD41-B4BB-02D2-5F4B9A6EB0F8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D8CBBF4-B1E9-5137-1441-ACD7FF84E03F}"/>
              </a:ext>
            </a:extLst>
          </p:cNvPr>
          <p:cNvSpPr txBox="1"/>
          <p:nvPr/>
        </p:nvSpPr>
        <p:spPr>
          <a:xfrm>
            <a:off x="560895" y="2436084"/>
            <a:ext cx="1105902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r>
              <a:rPr lang="pt-BR" sz="1500" b="1" i="1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Steering</a:t>
            </a:r>
            <a:r>
              <a:rPr lang="pt-BR" sz="1500" b="1" i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pt-BR" sz="1500" b="1" i="1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Committee</a:t>
            </a:r>
            <a:endParaRPr lang="pt-BR" sz="1500" b="1" i="1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endParaRPr lang="pt-BR" sz="1500" b="1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endParaRPr lang="pt-BR" sz="1500" b="1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pt-BR" sz="1500" b="1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Frentes de trabalho</a:t>
            </a:r>
            <a:endParaRPr lang="pt-BR" sz="150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7172355-F718-67A2-EB0F-69457E52F4FD}"/>
              </a:ext>
            </a:extLst>
          </p:cNvPr>
          <p:cNvSpPr txBox="1"/>
          <p:nvPr/>
        </p:nvSpPr>
        <p:spPr>
          <a:xfrm>
            <a:off x="5800523" y="2436084"/>
            <a:ext cx="3567214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Decisão de temas críticos e estratégicos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Garantia de alinhamento geral e com stakeholders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5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Gestão geral do projeto, controle do cronograma, levantamento/resolução de temas críticos, etc.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Gestão funcional das frentes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EDE0A7-7529-9ADA-08A3-F5F5B1FF84F5}"/>
              </a:ext>
            </a:extLst>
          </p:cNvPr>
          <p:cNvSpPr txBox="1"/>
          <p:nvPr/>
        </p:nvSpPr>
        <p:spPr>
          <a:xfrm>
            <a:off x="2159527" y="2436084"/>
            <a:ext cx="3148266" cy="16158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Comitê de Gestão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N1s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5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5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Líderes de frentes e N2s das áreas envolvidas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Equipes das áreas envolvidas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2AA0531E-B7C4-FFA5-2B2D-D5FB4C6F7774}"/>
              </a:ext>
            </a:extLst>
          </p:cNvPr>
          <p:cNvGrpSpPr/>
          <p:nvPr/>
        </p:nvGrpSpPr>
        <p:grpSpPr>
          <a:xfrm>
            <a:off x="9839781" y="1553699"/>
            <a:ext cx="1599947" cy="692497"/>
            <a:chOff x="6467189" y="747329"/>
            <a:chExt cx="3865531" cy="692497"/>
          </a:xfrm>
        </p:grpSpPr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80CAECE-4CD0-9DCE-B1F3-8C0CF4EBABDD}"/>
                </a:ext>
              </a:extLst>
            </p:cNvPr>
            <p:cNvSpPr txBox="1"/>
            <p:nvPr/>
          </p:nvSpPr>
          <p:spPr>
            <a:xfrm>
              <a:off x="6467189" y="747329"/>
              <a:ext cx="3840134" cy="692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/>
            <a:p>
              <a:r>
                <a:rPr lang="pt-PT" sz="1500" b="1" dirty="0">
                  <a:solidFill>
                    <a:srgbClr val="000000"/>
                  </a:solidFill>
                  <a:effectLst/>
                  <a:ea typeface="Palatino Linotype" panose="02040502050505030304" pitchFamily="18" charset="0"/>
                  <a:cs typeface="Palatino Linotype" panose="02040502050505030304" pitchFamily="18" charset="0"/>
                </a:rPr>
                <a:t>Regularidade de reuniões</a:t>
              </a:r>
            </a:p>
          </p:txBody>
        </p:sp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B4E6DF5D-B4BF-13AB-36B6-6DC6054CC36A}"/>
                </a:ext>
              </a:extLst>
            </p:cNvPr>
            <p:cNvCxnSpPr/>
            <p:nvPr/>
          </p:nvCxnSpPr>
          <p:spPr>
            <a:xfrm>
              <a:off x="6467189" y="1239520"/>
              <a:ext cx="3865531" cy="0"/>
            </a:xfrm>
            <a:prstGeom prst="line">
              <a:avLst/>
            </a:prstGeom>
            <a:noFill/>
            <a:ln w="25400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F53916-EEEE-1B9B-40F3-ECBDB4C4A81E}"/>
              </a:ext>
            </a:extLst>
          </p:cNvPr>
          <p:cNvSpPr txBox="1"/>
          <p:nvPr/>
        </p:nvSpPr>
        <p:spPr>
          <a:xfrm>
            <a:off x="9839781" y="2436084"/>
            <a:ext cx="1599947" cy="11541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Quinzenal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5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5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500" dirty="0">
              <a:solidFill>
                <a:srgbClr val="000000"/>
              </a:solidFill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126000" indent="-126000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000000"/>
                </a:solidFill>
                <a:ea typeface="Palatino Linotype" panose="02040502050505030304" pitchFamily="18" charset="0"/>
                <a:cs typeface="Palatino Linotype" panose="02040502050505030304" pitchFamily="18" charset="0"/>
              </a:rPr>
              <a:t>Semanal</a:t>
            </a:r>
          </a:p>
        </p:txBody>
      </p:sp>
    </p:spTree>
    <p:extLst>
      <p:ext uri="{BB962C8B-B14F-4D97-AF65-F5344CB8AC3E}">
        <p14:creationId xmlns:p14="http://schemas.microsoft.com/office/powerpoint/2010/main" val="9353081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B6BB-3A7A-CA4E-242C-082C7152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AE1EE-24D3-B3F9-E3C4-C71993FE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PRÓXIMOS PASSOS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01A6C66-1923-B22D-19F0-80DA590D412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5</a:t>
            </a:fld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6D7189-0FC0-B5D2-0B63-0FF865939ACA}"/>
              </a:ext>
            </a:extLst>
          </p:cNvPr>
          <p:cNvSpPr txBox="1"/>
          <p:nvPr/>
        </p:nvSpPr>
        <p:spPr>
          <a:xfrm>
            <a:off x="572400" y="1273206"/>
            <a:ext cx="8949287" cy="22253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noAutofit/>
          </a:bodyPr>
          <a:lstStyle/>
          <a:p>
            <a:pPr marL="342900" indent="-342900">
              <a:lnSpc>
                <a:spcPts val="16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Alinhar os líderes/pontos focais de cada frente na Oi e </a:t>
            </a:r>
            <a:r>
              <a:rPr lang="pt-PT" sz="1600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Serede</a:t>
            </a: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.</a:t>
            </a:r>
          </a:p>
          <a:p>
            <a:pPr marL="342900" indent="-342900">
              <a:lnSpc>
                <a:spcPts val="16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Levantamento dos insumos </a:t>
            </a:r>
            <a:r>
              <a:rPr lang="pt-PT" sz="1600" dirty="0" err="1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Serede</a:t>
            </a: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 para o projeto: informações de filiais, planos de contas, lista de ativos, lista de contratos, colaboradores, processos e outros.</a:t>
            </a:r>
          </a:p>
          <a:p>
            <a:pPr marL="342900" indent="-342900">
              <a:lnSpc>
                <a:spcPts val="16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pt-PT" sz="160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rPr>
              <a:t>Reunião de trabalho para alinhamento do cronograma base.</a:t>
            </a:r>
          </a:p>
          <a:p>
            <a:pPr marL="126000" indent="-126000">
              <a:buFont typeface="Arial" panose="020B0604020202020204" pitchFamily="34" charset="0"/>
              <a:buChar char="•"/>
            </a:pPr>
            <a:endParaRPr lang="pt-PT" sz="1600" dirty="0">
              <a:solidFill>
                <a:srgbClr val="000000"/>
              </a:solidFill>
              <a:effectLst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812062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D37A97C3DEE4A8D4788FE4DCCDEAD" ma:contentTypeVersion="11" ma:contentTypeDescription="Create a new document." ma:contentTypeScope="" ma:versionID="d00ac72e450a6c88aa5868c6273ce3b9">
  <xsd:schema xmlns:xsd="http://www.w3.org/2001/XMLSchema" xmlns:xs="http://www.w3.org/2001/XMLSchema" xmlns:p="http://schemas.microsoft.com/office/2006/metadata/properties" xmlns:ns3="e66c1a7a-ec89-4dc5-b393-5362fae8c521" xmlns:ns4="b78623e7-b84d-4b4d-83f6-340f315802d9" targetNamespace="http://schemas.microsoft.com/office/2006/metadata/properties" ma:root="true" ma:fieldsID="6b08f65e03026fc37bf5bc94aa7787c2" ns3:_="" ns4:_="">
    <xsd:import namespace="e66c1a7a-ec89-4dc5-b393-5362fae8c521"/>
    <xsd:import namespace="b78623e7-b84d-4b4d-83f6-340f315802d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c1a7a-ec89-4dc5-b393-5362fae8c5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623e7-b84d-4b4d-83f6-340f315802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8623e7-b84d-4b4d-83f6-340f315802d9" xsi:nil="true"/>
  </documentManagement>
</p:properties>
</file>

<file path=customXml/itemProps1.xml><?xml version="1.0" encoding="utf-8"?>
<ds:datastoreItem xmlns:ds="http://schemas.openxmlformats.org/officeDocument/2006/customXml" ds:itemID="{B3F0A6D2-0F1D-44F2-8EFD-D62C407E3C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6c1a7a-ec89-4dc5-b393-5362fae8c521"/>
    <ds:schemaRef ds:uri="b78623e7-b84d-4b4d-83f6-340f315802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http://purl.org/dc/elements/1.1/"/>
    <ds:schemaRef ds:uri="http://schemas.microsoft.com/office/2006/metadata/properties"/>
    <ds:schemaRef ds:uri="http://purl.org/dc/terms/"/>
    <ds:schemaRef ds:uri="b78623e7-b84d-4b4d-83f6-340f315802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66c1a7a-ec89-4dc5-b393-5362fae8c52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85720</TotalTime>
  <Words>499</Words>
  <Application>Microsoft Macintosh PowerPoint</Application>
  <PresentationFormat>Widescreen</PresentationFormat>
  <Paragraphs>104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Palatino Linotype</vt:lpstr>
      <vt:lpstr>Roboto</vt:lpstr>
      <vt:lpstr>Simplon BP Bold</vt:lpstr>
      <vt:lpstr>Simplon BP Regular</vt:lpstr>
      <vt:lpstr>2_Tema do Office</vt:lpstr>
      <vt:lpstr>3_Tema do Office</vt:lpstr>
      <vt:lpstr>Slide do think-cell</vt:lpstr>
      <vt:lpstr>Serede</vt:lpstr>
      <vt:lpstr>ESTRUTURA DA TRANSAÇÃO</vt:lpstr>
      <vt:lpstr>PowerPoint Presentation</vt:lpstr>
      <vt:lpstr>GOVERNANÇA</vt:lpstr>
      <vt:lpstr>PRÓXIMOS PASSOS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Alessandro Barbosa</cp:lastModifiedBy>
  <cp:revision>556</cp:revision>
  <dcterms:modified xsi:type="dcterms:W3CDTF">2025-01-15T12:42:56Z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0x010100723D37A97C3DEE4A8D4788FE4DCCDEAD</vt:lpwstr>
  </property>
</Properties>
</file>