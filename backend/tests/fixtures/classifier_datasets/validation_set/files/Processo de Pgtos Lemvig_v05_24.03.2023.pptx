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24.xml" ContentType="application/vnd.openxmlformats-officedocument.presentationml.tag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32.xml" ContentType="application/vnd.openxmlformats-officedocument.presentationml.tags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tags/tag33.xml" ContentType="application/vnd.openxmlformats-officedocument.presentationml.tags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tags/tag37.xml" ContentType="application/vnd.openxmlformats-officedocument.presentationml.tags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tags/tag43.xml" ContentType="application/vnd.openxmlformats-officedocument.presentationml.tags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tags/tag64.xml" ContentType="application/vnd.openxmlformats-officedocument.presentationml.tags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tags/tag65.xml" ContentType="application/vnd.openxmlformats-officedocument.presentationml.tags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</p:sldMasterIdLst>
  <p:notesMasterIdLst>
    <p:notesMasterId r:id="rId55"/>
  </p:notesMasterIdLst>
  <p:sldIdLst>
    <p:sldId id="293" r:id="rId5"/>
    <p:sldId id="389" r:id="rId6"/>
    <p:sldId id="392" r:id="rId7"/>
    <p:sldId id="393" r:id="rId8"/>
    <p:sldId id="405" r:id="rId9"/>
    <p:sldId id="406" r:id="rId10"/>
    <p:sldId id="331" r:id="rId11"/>
    <p:sldId id="332" r:id="rId12"/>
    <p:sldId id="361" r:id="rId13"/>
    <p:sldId id="364" r:id="rId14"/>
    <p:sldId id="365" r:id="rId15"/>
    <p:sldId id="366" r:id="rId16"/>
    <p:sldId id="367" r:id="rId17"/>
    <p:sldId id="368" r:id="rId18"/>
    <p:sldId id="358" r:id="rId19"/>
    <p:sldId id="359" r:id="rId20"/>
    <p:sldId id="386" r:id="rId21"/>
    <p:sldId id="388" r:id="rId22"/>
    <p:sldId id="360" r:id="rId23"/>
    <p:sldId id="333" r:id="rId24"/>
    <p:sldId id="353" r:id="rId25"/>
    <p:sldId id="357" r:id="rId26"/>
    <p:sldId id="354" r:id="rId27"/>
    <p:sldId id="342" r:id="rId28"/>
    <p:sldId id="376" r:id="rId29"/>
    <p:sldId id="318" r:id="rId30"/>
    <p:sldId id="378" r:id="rId31"/>
    <p:sldId id="379" r:id="rId32"/>
    <p:sldId id="382" r:id="rId33"/>
    <p:sldId id="394" r:id="rId34"/>
    <p:sldId id="404" r:id="rId35"/>
    <p:sldId id="398" r:id="rId36"/>
    <p:sldId id="399" r:id="rId37"/>
    <p:sldId id="401" r:id="rId38"/>
    <p:sldId id="351" r:id="rId39"/>
    <p:sldId id="350" r:id="rId40"/>
    <p:sldId id="369" r:id="rId41"/>
    <p:sldId id="363" r:id="rId42"/>
    <p:sldId id="374" r:id="rId43"/>
    <p:sldId id="391" r:id="rId44"/>
    <p:sldId id="373" r:id="rId45"/>
    <p:sldId id="375" r:id="rId46"/>
    <p:sldId id="372" r:id="rId47"/>
    <p:sldId id="402" r:id="rId48"/>
    <p:sldId id="403" r:id="rId49"/>
    <p:sldId id="385" r:id="rId50"/>
    <p:sldId id="298" r:id="rId51"/>
    <p:sldId id="395" r:id="rId52"/>
    <p:sldId id="396" r:id="rId53"/>
    <p:sldId id="397" r:id="rId54"/>
  </p:sldIdLst>
  <p:sldSz cx="12192000" cy="6858000"/>
  <p:notesSz cx="6858000" cy="9144000"/>
  <p:custDataLst>
    <p:tags r:id="rId5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0FCB909-96A6-44D8-820A-9F541E4DB7B9}">
          <p14:sldIdLst>
            <p14:sldId id="293"/>
            <p14:sldId id="389"/>
            <p14:sldId id="392"/>
            <p14:sldId id="393"/>
            <p14:sldId id="405"/>
            <p14:sldId id="406"/>
            <p14:sldId id="331"/>
            <p14:sldId id="332"/>
            <p14:sldId id="361"/>
            <p14:sldId id="364"/>
            <p14:sldId id="365"/>
            <p14:sldId id="366"/>
            <p14:sldId id="367"/>
            <p14:sldId id="368"/>
            <p14:sldId id="358"/>
            <p14:sldId id="359"/>
            <p14:sldId id="386"/>
            <p14:sldId id="388"/>
            <p14:sldId id="360"/>
            <p14:sldId id="333"/>
            <p14:sldId id="353"/>
            <p14:sldId id="357"/>
            <p14:sldId id="354"/>
            <p14:sldId id="342"/>
            <p14:sldId id="376"/>
            <p14:sldId id="318"/>
            <p14:sldId id="378"/>
            <p14:sldId id="379"/>
            <p14:sldId id="382"/>
            <p14:sldId id="394"/>
            <p14:sldId id="404"/>
            <p14:sldId id="398"/>
            <p14:sldId id="399"/>
            <p14:sldId id="401"/>
            <p14:sldId id="351"/>
            <p14:sldId id="350"/>
            <p14:sldId id="369"/>
            <p14:sldId id="363"/>
            <p14:sldId id="374"/>
            <p14:sldId id="391"/>
            <p14:sldId id="373"/>
            <p14:sldId id="375"/>
            <p14:sldId id="372"/>
            <p14:sldId id="402"/>
            <p14:sldId id="403"/>
            <p14:sldId id="385"/>
            <p14:sldId id="298"/>
          </p14:sldIdLst>
        </p14:section>
        <p14:section name="Fluxo Anterior - Energia" id="{19AD0378-9503-41B8-AA8D-B520BB2E885F}">
          <p14:sldIdLst>
            <p14:sldId id="395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ne Santino Da Silva" initials="CSDS" lastIdx="1" clrIdx="0">
    <p:extLst>
      <p:ext uri="{19B8F6BF-5375-455C-9EA6-DF929625EA0E}">
        <p15:presenceInfo xmlns:p15="http://schemas.microsoft.com/office/powerpoint/2012/main" userId="S-1-5-21-2510834117-3989145448-3250131581-41458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318"/>
    <a:srgbClr val="4D4D4D"/>
    <a:srgbClr val="000000"/>
    <a:srgbClr val="FF99FF"/>
    <a:srgbClr val="CC00CC"/>
    <a:srgbClr val="FFFFFF"/>
    <a:srgbClr val="FF0000"/>
    <a:srgbClr val="009E0B"/>
    <a:srgbClr val="E6E6E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301" autoAdjust="0"/>
  </p:normalViewPr>
  <p:slideViewPr>
    <p:cSldViewPr snapToGrid="0" snapToObjects="1">
      <p:cViewPr varScale="1">
        <p:scale>
          <a:sx n="124" d="100"/>
          <a:sy n="124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lista das torres¹ com valores para a cobrança de AEV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9184" custLinFactNeighborY="8593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notas fiscais³ para pagamento pela Oi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notas fiscais¹ (PDF) no B1 para cada fatura que consta na lista recebida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 dirty="0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 custScaleY="106918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1"/>
      <dgm:spPr/>
    </dgm:pt>
    <dgm:pt modelId="{7CE5DD04-9774-48E4-ADA4-C0B1D1A9FFD0}" type="pres">
      <dgm:prSet presAssocID="{86F584F7-F242-4486-8D32-1F789305B825}" presName="connectorText" presStyleLbl="sibTrans2D1" presStyleIdx="0" presStyleCnt="1"/>
      <dgm:spPr/>
    </dgm:pt>
    <dgm:pt modelId="{F975F9CD-116B-4BF5-B412-260A6313E137}" type="pres">
      <dgm:prSet presAssocID="{F91F035D-3475-4EE8-A14E-8BDFBE527EC0}" presName="node" presStyleLbl="node1" presStyleIdx="1" presStyleCnt="2" custScaleY="106918" custLinFactNeighborX="118" custLinFactNeighborY="0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1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7E5009F8-2C0E-4D04-BD9A-4017DF8402A4}" type="presParOf" srcId="{26209C40-B573-414E-B236-30EE569A8464}" destId="{F975F9CD-116B-4BF5-B412-260A6313E13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Valida valores a pagar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46079" custLinFactNeighborX="-1108" custLinFactNeighborY="13484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7D18D0B-6767-4509-AC1F-327C219F703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Consolida valores por UF e gera lista para emissão do faturamento contra Oi</a:t>
          </a:r>
        </a:p>
      </dgm:t>
    </dgm:pt>
    <dgm:pt modelId="{8F207E1B-416C-4A80-AA0A-16AC391A9E87}" type="parTrans" cxnId="{8A347327-3319-4618-B785-8AC82C711DDD}">
      <dgm:prSet/>
      <dgm:spPr/>
      <dgm:t>
        <a:bodyPr/>
        <a:lstStyle/>
        <a:p>
          <a:endParaRPr lang="pt-BR"/>
        </a:p>
      </dgm:t>
    </dgm:pt>
    <dgm:pt modelId="{A9FD8DD2-FE96-46E0-8E57-1F8EF932FE80}" type="sibTrans" cxnId="{8A347327-3319-4618-B785-8AC82C711DDD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2BB74472-EC6D-45D4-9FD7-C570EF150DD9}" type="pres">
      <dgm:prSet presAssocID="{97D18D0B-6767-4509-AC1F-327C219F7030}" presName="node" presStyleLbl="node1" presStyleIdx="0" presStyleCnt="1">
        <dgm:presLayoutVars>
          <dgm:bulletEnabled val="1"/>
        </dgm:presLayoutVars>
      </dgm:prSet>
      <dgm:spPr/>
    </dgm:pt>
  </dgm:ptLst>
  <dgm:cxnLst>
    <dgm:cxn modelId="{8A347327-3319-4618-B785-8AC82C711DDD}" srcId="{0B62365D-9689-475A-A5C2-FB9CCAF87182}" destId="{97D18D0B-6767-4509-AC1F-327C219F7030}" srcOrd="0" destOrd="0" parTransId="{8F207E1B-416C-4A80-AA0A-16AC391A9E87}" sibTransId="{A9FD8DD2-FE96-46E0-8E57-1F8EF932FE80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21238BF2-AC6A-43CF-A3D0-CCC16A624B62}" type="presOf" srcId="{97D18D0B-6767-4509-AC1F-327C219F7030}" destId="{2BB74472-EC6D-45D4-9FD7-C570EF150DD9}" srcOrd="0" destOrd="0" presId="urn:microsoft.com/office/officeart/2005/8/layout/process1"/>
    <dgm:cxn modelId="{77A3E15E-F241-4668-BB5E-2DA51EE78E4B}" type="presParOf" srcId="{26209C40-B573-414E-B236-30EE569A8464}" destId="{2BB74472-EC6D-45D4-9FD7-C570EF150DD9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Recebe notas fiscais para pagamento da Oi e proporção do valor das Torres RBR por UF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46079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dirty="0">
              <a:solidFill>
                <a:srgbClr val="FFFFFF"/>
              </a:solidFill>
            </a:rPr>
            <a:t>Indica proporção do aluguel das Torres por UF</a:t>
          </a:r>
        </a:p>
        <a:p>
          <a:pPr lvl="0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dirty="0">
              <a:solidFill>
                <a:srgbClr val="FFFFFF"/>
              </a:solidFill>
            </a:rPr>
            <a:t>(RBR e Não RBR)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46079" custLinFactNeighborY="46712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4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Cria pedido no SAP Oi e emite pagamento das notas seguindo proporção por tipo de torre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CA5069D-3648-4EC2-AFAA-73F12D041B7A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e-mail¹ ao CAP com o descritivo dos valores: nº do pedido, da NF e </a:t>
          </a:r>
          <a:r>
            <a:rPr lang="pt-BR" sz="1200" dirty="0" err="1">
              <a:solidFill>
                <a:srgbClr val="FFFFFF"/>
              </a:solidFill>
            </a:rPr>
            <a:t>vlr</a:t>
          </a:r>
          <a:r>
            <a:rPr lang="pt-BR" sz="1200" dirty="0">
              <a:solidFill>
                <a:srgbClr val="FFFFFF"/>
              </a:solidFill>
            </a:rPr>
            <a:t> cadastrado por tipo de </a:t>
          </a:r>
          <a:r>
            <a:rPr lang="pt-BR" sz="1200" dirty="0" err="1">
              <a:solidFill>
                <a:srgbClr val="FFFFFF"/>
              </a:solidFill>
            </a:rPr>
            <a:t>pgto</a:t>
          </a:r>
          <a:endParaRPr lang="pt-BR" sz="1200" dirty="0">
            <a:solidFill>
              <a:srgbClr val="FFFFFF"/>
            </a:solidFill>
          </a:endParaRPr>
        </a:p>
      </dgm:t>
    </dgm:pt>
    <dgm:pt modelId="{9ACAE503-F21F-4EC1-8C6C-0CA4A5ABE6A0}" type="parTrans" cxnId="{30C8C08A-AFD9-4053-901F-299E49278769}">
      <dgm:prSet/>
      <dgm:spPr/>
      <dgm:t>
        <a:bodyPr/>
        <a:lstStyle/>
        <a:p>
          <a:endParaRPr lang="pt-BR"/>
        </a:p>
      </dgm:t>
    </dgm:pt>
    <dgm:pt modelId="{449273F9-321A-451F-852E-6172744035F7}" type="sibTrans" cxnId="{30C8C08A-AFD9-4053-901F-299E49278769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 custScaleY="146079">
        <dgm:presLayoutVars>
          <dgm:bulletEnabled val="1"/>
        </dgm:presLayoutVars>
      </dgm:prSet>
      <dgm:spPr/>
    </dgm:pt>
    <dgm:pt modelId="{D19EC6FE-B660-423A-81BF-1473C30DA786}" type="pres">
      <dgm:prSet presAssocID="{86F584F7-F242-4486-8D32-1F789305B825}" presName="sibTrans" presStyleLbl="sibTrans2D1" presStyleIdx="0" presStyleCnt="1"/>
      <dgm:spPr/>
    </dgm:pt>
    <dgm:pt modelId="{144319D7-20CC-4DD9-B9D6-E4B7CA580033}" type="pres">
      <dgm:prSet presAssocID="{86F584F7-F242-4486-8D32-1F789305B825}" presName="connectorText" presStyleLbl="sibTrans2D1" presStyleIdx="0" presStyleCnt="1"/>
      <dgm:spPr/>
    </dgm:pt>
    <dgm:pt modelId="{BF029E12-3AA9-4076-B240-50D67E250874}" type="pres">
      <dgm:prSet presAssocID="{2CA5069D-3648-4EC2-AFAA-73F12D041B7A}" presName="node" presStyleLbl="node1" presStyleIdx="1" presStyleCnt="2" custScaleY="146079">
        <dgm:presLayoutVars>
          <dgm:bulletEnabled val="1"/>
        </dgm:presLayoutVars>
      </dgm:prSet>
      <dgm:spPr/>
    </dgm:pt>
  </dgm:ptLst>
  <dgm:cxnLst>
    <dgm:cxn modelId="{C3B69006-8634-4EB3-80A1-6B86332D610C}" type="presOf" srcId="{2CA5069D-3648-4EC2-AFAA-73F12D041B7A}" destId="{BF029E12-3AA9-4076-B240-50D67E250874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E8ABD874-3482-4F1E-A9D1-7265005CBCF1}" type="presOf" srcId="{86F584F7-F242-4486-8D32-1F789305B825}" destId="{D19EC6FE-B660-423A-81BF-1473C30DA786}" srcOrd="0" destOrd="0" presId="urn:microsoft.com/office/officeart/2005/8/layout/process1"/>
    <dgm:cxn modelId="{30C8C08A-AFD9-4053-901F-299E49278769}" srcId="{0B62365D-9689-475A-A5C2-FB9CCAF87182}" destId="{2CA5069D-3648-4EC2-AFAA-73F12D041B7A}" srcOrd="1" destOrd="0" parTransId="{9ACAE503-F21F-4EC1-8C6C-0CA4A5ABE6A0}" sibTransId="{449273F9-321A-451F-852E-6172744035F7}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E1F8C8EF-2CFF-4E77-AA93-54C597797B16}" type="presOf" srcId="{86F584F7-F242-4486-8D32-1F789305B825}" destId="{144319D7-20CC-4DD9-B9D6-E4B7CA580033}" srcOrd="1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70299826-F6CA-44CC-B3A2-884A51175CCC}" type="presParOf" srcId="{26209C40-B573-414E-B236-30EE569A8464}" destId="{D19EC6FE-B660-423A-81BF-1473C30DA786}" srcOrd="1" destOrd="0" presId="urn:microsoft.com/office/officeart/2005/8/layout/process1"/>
    <dgm:cxn modelId="{E37AA996-87A6-4C40-B0FA-58F6C8FEEDCC}" type="presParOf" srcId="{D19EC6FE-B660-423A-81BF-1473C30DA786}" destId="{144319D7-20CC-4DD9-B9D6-E4B7CA580033}" srcOrd="0" destOrd="0" presId="urn:microsoft.com/office/officeart/2005/8/layout/process1"/>
    <dgm:cxn modelId="{ACEB2C6E-A550-4756-866F-96F830C5549B}" type="presParOf" srcId="{26209C40-B573-414E-B236-30EE569A8464}" destId="{BF029E12-3AA9-4076-B240-50D67E250874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dirty="0">
              <a:solidFill>
                <a:srgbClr val="FFFFFF"/>
              </a:solidFill>
            </a:rPr>
            <a:t>Solicita liberação dos valores da conta vinculada para Tesouraria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46079" custLinFactY="-100000" custLinFactNeighborX="49" custLinFactNeighborY="-104885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dirty="0">
              <a:solidFill>
                <a:srgbClr val="FFFFFF"/>
              </a:solidFill>
            </a:rPr>
            <a:t>Realiza pagamentos e registra no controle mensal do </a:t>
          </a:r>
          <a:r>
            <a:rPr lang="pt-BR" sz="1200" dirty="0" err="1">
              <a:solidFill>
                <a:srgbClr val="FFFFFF"/>
              </a:solidFill>
            </a:rPr>
            <a:t>sharepoint</a:t>
          </a:r>
          <a:endParaRPr lang="pt-BR" sz="1200" dirty="0">
            <a:solidFill>
              <a:srgbClr val="FFFFFF"/>
            </a:solidFill>
          </a:endParaRP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0DD6F4CE-28D3-4E28-88CD-7BEB6E29CC6C}">
      <dgm:prSet custT="1"/>
      <dgm:spPr/>
      <dgm:t>
        <a:bodyPr/>
        <a:lstStyle/>
        <a:p>
          <a:pPr marL="0" lvl="0" indent="0" defTabSz="914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pt-BR" sz="1200" dirty="0">
              <a:solidFill>
                <a:srgbClr val="FFFFFF"/>
              </a:solidFill>
            </a:rPr>
            <a:t>Solicita upload das notas fiscais e/ou notas de débito pagas no </a:t>
          </a:r>
          <a:r>
            <a:rPr lang="pt-BR" sz="1200" dirty="0" err="1">
              <a:solidFill>
                <a:srgbClr val="FFFFFF"/>
              </a:solidFill>
            </a:rPr>
            <a:t>sharepoint</a:t>
          </a:r>
          <a:endParaRPr lang="pt-BR" sz="1200" dirty="0">
            <a:solidFill>
              <a:srgbClr val="FFFFFF"/>
            </a:solidFill>
          </a:endParaRPr>
        </a:p>
      </dgm:t>
    </dgm:pt>
    <dgm:pt modelId="{720A77E9-35EE-460D-A5FB-74A898B3A9A9}" type="parTrans" cxnId="{CF4413BC-7E9E-4EDA-B507-41396932AC25}">
      <dgm:prSet/>
      <dgm:spPr/>
      <dgm:t>
        <a:bodyPr/>
        <a:lstStyle/>
        <a:p>
          <a:endParaRPr lang="pt-BR"/>
        </a:p>
      </dgm:t>
    </dgm:pt>
    <dgm:pt modelId="{A4C6151B-1C4D-427D-8E88-2E011ECB8EF4}" type="sibTrans" cxnId="{CF4413BC-7E9E-4EDA-B507-41396932AC25}">
      <dgm:prSet/>
      <dgm:spPr/>
      <dgm:t>
        <a:bodyPr/>
        <a:lstStyle/>
        <a:p>
          <a:endParaRPr lang="pt-BR"/>
        </a:p>
      </dgm:t>
    </dgm:pt>
    <dgm:pt modelId="{E12EEEB1-F383-4D1D-81DE-0496E6FE12A8}">
      <dgm:prSet custT="1"/>
      <dgm:spPr/>
      <dgm:t>
        <a:bodyPr/>
        <a:lstStyle/>
        <a:p>
          <a:pPr marL="0" lvl="0" indent="0" defTabSz="914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pt-BR" sz="1200" dirty="0">
              <a:solidFill>
                <a:srgbClr val="FFFFFF"/>
              </a:solidFill>
            </a:rPr>
            <a:t>Baixa e Realiza upload do extrato da conta corrente no </a:t>
          </a:r>
          <a:r>
            <a:rPr lang="pt-BR" sz="1200" dirty="0" err="1">
              <a:solidFill>
                <a:srgbClr val="FFFFFF"/>
              </a:solidFill>
            </a:rPr>
            <a:t>sharepoint</a:t>
          </a:r>
          <a:endParaRPr lang="pt-BR" sz="1200" dirty="0">
            <a:solidFill>
              <a:srgbClr val="FFFFFF"/>
            </a:solidFill>
          </a:endParaRPr>
        </a:p>
      </dgm:t>
    </dgm:pt>
    <dgm:pt modelId="{54601993-7558-4656-A141-025913C0FB56}" type="parTrans" cxnId="{451A502E-A8F6-4E80-9A22-68C2F55AE2AD}">
      <dgm:prSet/>
      <dgm:spPr/>
      <dgm:t>
        <a:bodyPr/>
        <a:lstStyle/>
        <a:p>
          <a:endParaRPr lang="pt-BR"/>
        </a:p>
      </dgm:t>
    </dgm:pt>
    <dgm:pt modelId="{A064CE61-70D5-4C1A-A6E6-75FAB62658CF}" type="sibTrans" cxnId="{451A502E-A8F6-4E80-9A22-68C2F55AE2AD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3" custScaleY="146079" custLinFactY="-100000" custLinFactNeighborX="49" custLinFactNeighborY="-104885">
        <dgm:presLayoutVars>
          <dgm:bulletEnabled val="1"/>
        </dgm:presLayoutVars>
      </dgm:prSet>
      <dgm:spPr/>
    </dgm:pt>
    <dgm:pt modelId="{9C87FF21-5B58-48B5-83D4-9EC2CB3EEE22}" type="pres">
      <dgm:prSet presAssocID="{86F584F7-F242-4486-8D32-1F789305B825}" presName="sibTrans" presStyleLbl="sibTrans2D1" presStyleIdx="0" presStyleCnt="2"/>
      <dgm:spPr/>
    </dgm:pt>
    <dgm:pt modelId="{4095FB54-BBD3-47D3-82BA-F2A08C004F14}" type="pres">
      <dgm:prSet presAssocID="{86F584F7-F242-4486-8D32-1F789305B825}" presName="connectorText" presStyleLbl="sibTrans2D1" presStyleIdx="0" presStyleCnt="2"/>
      <dgm:spPr/>
    </dgm:pt>
    <dgm:pt modelId="{E474B006-70D7-4ADD-803E-0806A350CB4D}" type="pres">
      <dgm:prSet presAssocID="{0DD6F4CE-28D3-4E28-88CD-7BEB6E29CC6C}" presName="node" presStyleLbl="node1" presStyleIdx="1" presStyleCnt="3" custScaleY="146079">
        <dgm:presLayoutVars>
          <dgm:bulletEnabled val="1"/>
        </dgm:presLayoutVars>
      </dgm:prSet>
      <dgm:spPr/>
    </dgm:pt>
    <dgm:pt modelId="{DD3A3FE3-9648-49A5-902D-589BB148FA0E}" type="pres">
      <dgm:prSet presAssocID="{A4C6151B-1C4D-427D-8E88-2E011ECB8EF4}" presName="sibTrans" presStyleLbl="sibTrans2D1" presStyleIdx="1" presStyleCnt="2"/>
      <dgm:spPr/>
    </dgm:pt>
    <dgm:pt modelId="{A90F8C0B-CE96-40EF-A5EF-1CFDD6F28A01}" type="pres">
      <dgm:prSet presAssocID="{A4C6151B-1C4D-427D-8E88-2E011ECB8EF4}" presName="connectorText" presStyleLbl="sibTrans2D1" presStyleIdx="1" presStyleCnt="2"/>
      <dgm:spPr/>
    </dgm:pt>
    <dgm:pt modelId="{FFE50B83-35FA-43B2-856F-40AD16A23860}" type="pres">
      <dgm:prSet presAssocID="{E12EEEB1-F383-4D1D-81DE-0496E6FE12A8}" presName="node" presStyleLbl="node1" presStyleIdx="2" presStyleCnt="3" custScaleY="146079">
        <dgm:presLayoutVars>
          <dgm:bulletEnabled val="1"/>
        </dgm:presLayoutVars>
      </dgm:prSet>
      <dgm:spPr/>
    </dgm:pt>
  </dgm:ptLst>
  <dgm:cxnLst>
    <dgm:cxn modelId="{8FC77B14-0DC4-4388-ACAC-42E80DE650E5}" type="presOf" srcId="{0DD6F4CE-28D3-4E28-88CD-7BEB6E29CC6C}" destId="{E474B006-70D7-4ADD-803E-0806A350CB4D}" srcOrd="0" destOrd="0" presId="urn:microsoft.com/office/officeart/2005/8/layout/process1"/>
    <dgm:cxn modelId="{CED93315-BC37-47FE-A037-609376B62D36}" type="presOf" srcId="{A4C6151B-1C4D-427D-8E88-2E011ECB8EF4}" destId="{DD3A3FE3-9648-49A5-902D-589BB148FA0E}" srcOrd="0" destOrd="0" presId="urn:microsoft.com/office/officeart/2005/8/layout/process1"/>
    <dgm:cxn modelId="{451A502E-A8F6-4E80-9A22-68C2F55AE2AD}" srcId="{0B62365D-9689-475A-A5C2-FB9CCAF87182}" destId="{E12EEEB1-F383-4D1D-81DE-0496E6FE12A8}" srcOrd="2" destOrd="0" parTransId="{54601993-7558-4656-A141-025913C0FB56}" sibTransId="{A064CE61-70D5-4C1A-A6E6-75FAB62658CF}"/>
    <dgm:cxn modelId="{CE530F46-98BA-4B6D-B2B9-23686A78B1B5}" type="presOf" srcId="{A4C6151B-1C4D-427D-8E88-2E011ECB8EF4}" destId="{A90F8C0B-CE96-40EF-A5EF-1CFDD6F28A01}" srcOrd="1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FA3AEA5E-B3FC-4065-9A3D-CDF55F0FA6E7}" type="presOf" srcId="{86F584F7-F242-4486-8D32-1F789305B825}" destId="{9C87FF21-5B58-48B5-83D4-9EC2CB3EEE22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B6475BB7-E920-47EA-9BC1-2BB78F5BF1D7}" type="presOf" srcId="{E12EEEB1-F383-4D1D-81DE-0496E6FE12A8}" destId="{FFE50B83-35FA-43B2-856F-40AD16A23860}" srcOrd="0" destOrd="0" presId="urn:microsoft.com/office/officeart/2005/8/layout/process1"/>
    <dgm:cxn modelId="{CF4413BC-7E9E-4EDA-B507-41396932AC25}" srcId="{0B62365D-9689-475A-A5C2-FB9CCAF87182}" destId="{0DD6F4CE-28D3-4E28-88CD-7BEB6E29CC6C}" srcOrd="1" destOrd="0" parTransId="{720A77E9-35EE-460D-A5FB-74A898B3A9A9}" sibTransId="{A4C6151B-1C4D-427D-8E88-2E011ECB8EF4}"/>
    <dgm:cxn modelId="{5F9CB3E3-215D-47B2-874A-5AB1756F798C}" type="presOf" srcId="{86F584F7-F242-4486-8D32-1F789305B825}" destId="{4095FB54-BBD3-47D3-82BA-F2A08C004F14}" srcOrd="1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319DAD99-02D2-4DA5-842C-BBC7614EDDCC}" type="presParOf" srcId="{26209C40-B573-414E-B236-30EE569A8464}" destId="{9C87FF21-5B58-48B5-83D4-9EC2CB3EEE22}" srcOrd="1" destOrd="0" presId="urn:microsoft.com/office/officeart/2005/8/layout/process1"/>
    <dgm:cxn modelId="{769BE8AC-4716-431A-BB64-1F86B5C1E8A8}" type="presParOf" srcId="{9C87FF21-5B58-48B5-83D4-9EC2CB3EEE22}" destId="{4095FB54-BBD3-47D3-82BA-F2A08C004F14}" srcOrd="0" destOrd="0" presId="urn:microsoft.com/office/officeart/2005/8/layout/process1"/>
    <dgm:cxn modelId="{CA987166-DE7A-4E08-9633-E112566ADFCD}" type="presParOf" srcId="{26209C40-B573-414E-B236-30EE569A8464}" destId="{E474B006-70D7-4ADD-803E-0806A350CB4D}" srcOrd="2" destOrd="0" presId="urn:microsoft.com/office/officeart/2005/8/layout/process1"/>
    <dgm:cxn modelId="{30ADA84E-F7DE-45D9-9AD8-C86DD99D342F}" type="presParOf" srcId="{26209C40-B573-414E-B236-30EE569A8464}" destId="{DD3A3FE3-9648-49A5-902D-589BB148FA0E}" srcOrd="3" destOrd="0" presId="urn:microsoft.com/office/officeart/2005/8/layout/process1"/>
    <dgm:cxn modelId="{5AFBFEC7-5515-4198-81E3-8DE3621DD644}" type="presParOf" srcId="{DD3A3FE3-9648-49A5-902D-589BB148FA0E}" destId="{A90F8C0B-CE96-40EF-A5EF-1CFDD6F28A01}" srcOrd="0" destOrd="0" presId="urn:microsoft.com/office/officeart/2005/8/layout/process1"/>
    <dgm:cxn modelId="{EEBE0816-692F-40A0-98F5-23CE4B2C0728}" type="presParOf" srcId="{26209C40-B573-414E-B236-30EE569A8464}" destId="{FFE50B83-35FA-43B2-856F-40AD16A2386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por e-mail </a:t>
          </a:r>
          <a:r>
            <a:rPr lang="pt-BR" sz="1200" dirty="0" err="1">
              <a:solidFill>
                <a:srgbClr val="FFFFFF"/>
              </a:solidFill>
            </a:rPr>
            <a:t>DEINFs</a:t>
          </a:r>
          <a:r>
            <a:rPr lang="pt-BR" sz="1200" dirty="0">
              <a:solidFill>
                <a:srgbClr val="FFFFFF"/>
              </a:solidFill>
            </a:rPr>
            <a:t> para validação das operadoras 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DEINF de cada contrato de compartilhamento das Operadoras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78036ACE-E174-4861-A6D4-965940884D1D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Recebe validação das operadoras</a:t>
          </a:r>
        </a:p>
      </dgm:t>
    </dgm:pt>
    <dgm:pt modelId="{DA772384-F826-4C03-AB99-F9769FC8699C}" type="parTrans" cxnId="{C696F7E1-2A06-488B-9450-71B3F87792C1}">
      <dgm:prSet/>
      <dgm:spPr/>
      <dgm:t>
        <a:bodyPr/>
        <a:lstStyle/>
        <a:p>
          <a:endParaRPr lang="pt-BR"/>
        </a:p>
      </dgm:t>
    </dgm:pt>
    <dgm:pt modelId="{8097B493-94BA-42ED-8512-5C1834409BB0}" type="sibTrans" cxnId="{C696F7E1-2A06-488B-9450-71B3F87792C1}">
      <dgm:prSet/>
      <dgm:spPr/>
      <dgm:t>
        <a:bodyPr/>
        <a:lstStyle/>
        <a:p>
          <a:endParaRPr lang="pt-BR"/>
        </a:p>
      </dgm:t>
    </dgm:pt>
    <dgm:pt modelId="{0EF4D5F5-79D4-4CFF-A3D1-84C8EB81904B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lista das faturas¹² com base nos valores validados por operadora</a:t>
          </a:r>
        </a:p>
      </dgm:t>
    </dgm:pt>
    <dgm:pt modelId="{B45E5E7A-E998-4180-BD52-7EE1146CD02E}" type="parTrans" cxnId="{8C6FEF6E-7F71-4156-8D32-52C80E48031B}">
      <dgm:prSet/>
      <dgm:spPr/>
      <dgm:t>
        <a:bodyPr/>
        <a:lstStyle/>
        <a:p>
          <a:endParaRPr lang="pt-BR"/>
        </a:p>
      </dgm:t>
    </dgm:pt>
    <dgm:pt modelId="{23D00985-2154-4F8B-BA6C-35C4EE4F1BE4}" type="sibTrans" cxnId="{8C6FEF6E-7F71-4156-8D32-52C80E48031B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4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3"/>
      <dgm:spPr/>
    </dgm:pt>
    <dgm:pt modelId="{7CE5DD04-9774-48E4-ADA4-C0B1D1A9FFD0}" type="pres">
      <dgm:prSet presAssocID="{86F584F7-F242-4486-8D32-1F789305B825}" presName="connectorText" presStyleLbl="sibTrans2D1" presStyleIdx="0" presStyleCnt="3"/>
      <dgm:spPr/>
    </dgm:pt>
    <dgm:pt modelId="{F975F9CD-116B-4BF5-B412-260A6313E137}" type="pres">
      <dgm:prSet presAssocID="{F91F035D-3475-4EE8-A14E-8BDFBE527EC0}" presName="node" presStyleLbl="node1" presStyleIdx="1" presStyleCnt="4">
        <dgm:presLayoutVars>
          <dgm:bulletEnabled val="1"/>
        </dgm:presLayoutVars>
      </dgm:prSet>
      <dgm:spPr/>
    </dgm:pt>
    <dgm:pt modelId="{556BFD75-57C1-4B38-99C4-F1DAC5D6897E}" type="pres">
      <dgm:prSet presAssocID="{839BBDF2-42AF-4BE7-BAEA-7868F2FE699A}" presName="sibTrans" presStyleLbl="sibTrans2D1" presStyleIdx="1" presStyleCnt="3"/>
      <dgm:spPr/>
    </dgm:pt>
    <dgm:pt modelId="{7EF7AFC6-B99A-4491-A65E-9D2026FFC750}" type="pres">
      <dgm:prSet presAssocID="{839BBDF2-42AF-4BE7-BAEA-7868F2FE699A}" presName="connectorText" presStyleLbl="sibTrans2D1" presStyleIdx="1" presStyleCnt="3"/>
      <dgm:spPr/>
    </dgm:pt>
    <dgm:pt modelId="{41B605B4-7A69-4514-8DF4-FA074809C3BA}" type="pres">
      <dgm:prSet presAssocID="{78036ACE-E174-4861-A6D4-965940884D1D}" presName="node" presStyleLbl="node1" presStyleIdx="2" presStyleCnt="4">
        <dgm:presLayoutVars>
          <dgm:bulletEnabled val="1"/>
        </dgm:presLayoutVars>
      </dgm:prSet>
      <dgm:spPr/>
    </dgm:pt>
    <dgm:pt modelId="{F7573760-6E59-4091-ACD9-A4F6B8BE8C60}" type="pres">
      <dgm:prSet presAssocID="{8097B493-94BA-42ED-8512-5C1834409BB0}" presName="sibTrans" presStyleLbl="sibTrans2D1" presStyleIdx="2" presStyleCnt="3"/>
      <dgm:spPr/>
    </dgm:pt>
    <dgm:pt modelId="{84DEF4E1-7B8C-4DB3-A3A6-F80972954296}" type="pres">
      <dgm:prSet presAssocID="{8097B493-94BA-42ED-8512-5C1834409BB0}" presName="connectorText" presStyleLbl="sibTrans2D1" presStyleIdx="2" presStyleCnt="3"/>
      <dgm:spPr/>
    </dgm:pt>
    <dgm:pt modelId="{537B5DF8-9C25-4B14-8299-8C5F82C63A26}" type="pres">
      <dgm:prSet presAssocID="{0EF4D5F5-79D4-4CFF-A3D1-84C8EB81904B}" presName="node" presStyleLbl="node1" presStyleIdx="3" presStyleCnt="4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1" destOrd="0" parTransId="{3D42E8FF-42FA-4A5D-BBCA-B188310C16BD}" sibTransId="{839BBDF2-42AF-4BE7-BAEA-7868F2FE699A}"/>
    <dgm:cxn modelId="{557C964F-3E5F-4C05-A6BC-007E7C1C485C}" type="presOf" srcId="{839BBDF2-42AF-4BE7-BAEA-7868F2FE699A}" destId="{556BFD75-57C1-4B38-99C4-F1DAC5D6897E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8C6FEF6E-7F71-4156-8D32-52C80E48031B}" srcId="{0B62365D-9689-475A-A5C2-FB9CCAF87182}" destId="{0EF4D5F5-79D4-4CFF-A3D1-84C8EB81904B}" srcOrd="3" destOrd="0" parTransId="{B45E5E7A-E998-4180-BD52-7EE1146CD02E}" sibTransId="{23D00985-2154-4F8B-BA6C-35C4EE4F1BE4}"/>
    <dgm:cxn modelId="{33FCAD74-6CE9-43FF-8463-3FF8B97DF7F9}" type="presOf" srcId="{78036ACE-E174-4861-A6D4-965940884D1D}" destId="{41B605B4-7A69-4514-8DF4-FA074809C3BA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72C455B3-A370-4034-836F-01AE1DBF2138}" type="presOf" srcId="{8097B493-94BA-42ED-8512-5C1834409BB0}" destId="{F7573760-6E59-4091-ACD9-A4F6B8BE8C60}" srcOrd="0" destOrd="0" presId="urn:microsoft.com/office/officeart/2005/8/layout/process1"/>
    <dgm:cxn modelId="{322D03C5-9751-4768-AF48-D5AFA3C44424}" type="presOf" srcId="{839BBDF2-42AF-4BE7-BAEA-7868F2FE699A}" destId="{7EF7AFC6-B99A-4491-A65E-9D2026FFC750}" srcOrd="1" destOrd="0" presId="urn:microsoft.com/office/officeart/2005/8/layout/process1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C696F7E1-2A06-488B-9450-71B3F87792C1}" srcId="{0B62365D-9689-475A-A5C2-FB9CCAF87182}" destId="{78036ACE-E174-4861-A6D4-965940884D1D}" srcOrd="2" destOrd="0" parTransId="{DA772384-F826-4C03-AB99-F9769FC8699C}" sibTransId="{8097B493-94BA-42ED-8512-5C1834409BB0}"/>
    <dgm:cxn modelId="{ABD0CBE7-3126-4287-8D51-B8B26864A5EB}" type="presOf" srcId="{8097B493-94BA-42ED-8512-5C1834409BB0}" destId="{84DEF4E1-7B8C-4DB3-A3A6-F80972954296}" srcOrd="1" destOrd="0" presId="urn:microsoft.com/office/officeart/2005/8/layout/process1"/>
    <dgm:cxn modelId="{BCFFE6F6-DF30-4E8A-BC17-41D3A1661DC0}" type="presOf" srcId="{0EF4D5F5-79D4-4CFF-A3D1-84C8EB81904B}" destId="{537B5DF8-9C25-4B14-8299-8C5F82C63A26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7E5009F8-2C0E-4D04-BD9A-4017DF8402A4}" type="presParOf" srcId="{26209C40-B573-414E-B236-30EE569A8464}" destId="{F975F9CD-116B-4BF5-B412-260A6313E137}" srcOrd="2" destOrd="0" presId="urn:microsoft.com/office/officeart/2005/8/layout/process1"/>
    <dgm:cxn modelId="{7FFB9C55-DD8A-4539-983A-9D09E06C78EC}" type="presParOf" srcId="{26209C40-B573-414E-B236-30EE569A8464}" destId="{556BFD75-57C1-4B38-99C4-F1DAC5D6897E}" srcOrd="3" destOrd="0" presId="urn:microsoft.com/office/officeart/2005/8/layout/process1"/>
    <dgm:cxn modelId="{02CB7539-28B1-42F3-93F1-FA4150BA66DD}" type="presParOf" srcId="{556BFD75-57C1-4B38-99C4-F1DAC5D6897E}" destId="{7EF7AFC6-B99A-4491-A65E-9D2026FFC750}" srcOrd="0" destOrd="0" presId="urn:microsoft.com/office/officeart/2005/8/layout/process1"/>
    <dgm:cxn modelId="{B5C31871-74EC-45D0-AF08-5946CC0032B7}" type="presParOf" srcId="{26209C40-B573-414E-B236-30EE569A8464}" destId="{41B605B4-7A69-4514-8DF4-FA074809C3BA}" srcOrd="4" destOrd="0" presId="urn:microsoft.com/office/officeart/2005/8/layout/process1"/>
    <dgm:cxn modelId="{53526333-EB7A-4D20-A2D9-C034D9AFFC71}" type="presParOf" srcId="{26209C40-B573-414E-B236-30EE569A8464}" destId="{F7573760-6E59-4091-ACD9-A4F6B8BE8C60}" srcOrd="5" destOrd="0" presId="urn:microsoft.com/office/officeart/2005/8/layout/process1"/>
    <dgm:cxn modelId="{6AE3E2F5-4DC6-4F44-A1B6-A70EBD5B8555}" type="presParOf" srcId="{F7573760-6E59-4091-ACD9-A4F6B8BE8C60}" destId="{84DEF4E1-7B8C-4DB3-A3A6-F80972954296}" srcOrd="0" destOrd="0" presId="urn:microsoft.com/office/officeart/2005/8/layout/process1"/>
    <dgm:cxn modelId="{8C9486DD-8DB6-4094-BE07-8655015B3B8C}" type="presParOf" srcId="{26209C40-B573-414E-B236-30EE569A8464}" destId="{537B5DF8-9C25-4B14-8299-8C5F82C63A2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notas fiscais³ para pagamento às operadoras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notas fiscais (PDF) no B1 para cada fatura que consta na lista recebida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1"/>
      <dgm:spPr/>
    </dgm:pt>
    <dgm:pt modelId="{7CE5DD04-9774-48E4-ADA4-C0B1D1A9FFD0}" type="pres">
      <dgm:prSet presAssocID="{86F584F7-F242-4486-8D32-1F789305B825}" presName="connectorText" presStyleLbl="sibTrans2D1" presStyleIdx="0" presStyleCnt="1"/>
      <dgm:spPr/>
    </dgm:pt>
    <dgm:pt modelId="{F975F9CD-116B-4BF5-B412-260A6313E137}" type="pres">
      <dgm:prSet presAssocID="{F91F035D-3475-4EE8-A14E-8BDFBE527EC0}" presName="node" presStyleLbl="node1" presStyleIdx="1" presStyleCnt="2" custLinFactNeighborX="-3544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1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7E5009F8-2C0E-4D04-BD9A-4017DF8402A4}" type="presParOf" srcId="{26209C40-B573-414E-B236-30EE569A8464}" destId="{F975F9CD-116B-4BF5-B412-260A6313E13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valores contestados de energia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8315" custLinFactNeighborX="-738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valores contestados de solo Oi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8315" custLinFactNeighborX="-738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valores contestados de Infra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8315" custLinFactNeighborX="-738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valores contestados de solo Terceiros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53931" custLinFactNeighborX="-738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lista de pagamentos por boleto e por depósito em conta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Valida lista dos contratos de terceiros para pagamento do solo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1"/>
      <dgm:spPr/>
    </dgm:pt>
    <dgm:pt modelId="{7CE5DD04-9774-48E4-ADA4-C0B1D1A9FFD0}" type="pres">
      <dgm:prSet presAssocID="{86F584F7-F242-4486-8D32-1F789305B825}" presName="connectorText" presStyleLbl="sibTrans2D1" presStyleIdx="0" presStyleCnt="1"/>
      <dgm:spPr/>
    </dgm:pt>
    <dgm:pt modelId="{F975F9CD-116B-4BF5-B412-260A6313E137}" type="pres">
      <dgm:prSet presAssocID="{F91F035D-3475-4EE8-A14E-8BDFBE527EC0}" presName="node" presStyleLbl="node1" presStyleIdx="1" presStyleCnt="2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1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7E5009F8-2C0E-4D04-BD9A-4017DF8402A4}" type="presParOf" srcId="{26209C40-B573-414E-B236-30EE569A8464}" destId="{F975F9CD-116B-4BF5-B412-260A6313E13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Cadastra  pedidos de pagamentos no SAP B1 com inserção dos boletos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4025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Realiza a baixa do pagamento no SAP B1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Baixa pedido de </a:t>
          </a:r>
          <a:r>
            <a:rPr lang="pt-BR" sz="1200" dirty="0" err="1">
              <a:solidFill>
                <a:srgbClr val="FFFFFF"/>
              </a:solidFill>
            </a:rPr>
            <a:t>pgto</a:t>
          </a:r>
          <a:r>
            <a:rPr lang="pt-BR" sz="1200" dirty="0">
              <a:solidFill>
                <a:srgbClr val="FFFFFF"/>
              </a:solidFill>
            </a:rPr>
            <a:t> do boleto, cadastra no </a:t>
          </a:r>
          <a:r>
            <a:rPr lang="pt-BR" sz="1200" dirty="0" err="1">
              <a:solidFill>
                <a:srgbClr val="FFFFFF"/>
              </a:solidFill>
            </a:rPr>
            <a:t>sharepoint</a:t>
          </a:r>
          <a:r>
            <a:rPr lang="pt-BR" sz="1200" dirty="0">
              <a:solidFill>
                <a:srgbClr val="FFFFFF"/>
              </a:solidFill>
            </a:rPr>
            <a:t> CAP e no banco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1454CC02-D42F-4F99-8A2C-2770C493620D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Baixa arquivo com os pedidos de depósito bancário e cadastra no banco</a:t>
          </a:r>
        </a:p>
      </dgm:t>
    </dgm:pt>
    <dgm:pt modelId="{3BADEF4C-418C-4018-87E7-262CDF03690F}" type="parTrans" cxnId="{354561C6-35F7-47B7-B97D-5B3894D14DFF}">
      <dgm:prSet/>
      <dgm:spPr/>
      <dgm:t>
        <a:bodyPr/>
        <a:lstStyle/>
        <a:p>
          <a:endParaRPr lang="pt-BR"/>
        </a:p>
      </dgm:t>
    </dgm:pt>
    <dgm:pt modelId="{2420E6DA-5E3A-4F3B-AED9-F889369CF596}" type="sibTrans" cxnId="{354561C6-35F7-47B7-B97D-5B3894D14DFF}">
      <dgm:prSet/>
      <dgm:spPr/>
      <dgm:t>
        <a:bodyPr/>
        <a:lstStyle/>
        <a:p>
          <a:endParaRPr lang="pt-BR"/>
        </a:p>
      </dgm:t>
    </dgm:pt>
    <dgm:pt modelId="{BC6FE439-59EC-4301-A75B-A05D2D63A0AF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Baixa Extrato Bancário e relação de pagamentos do SAP B1</a:t>
          </a:r>
        </a:p>
      </dgm:t>
    </dgm:pt>
    <dgm:pt modelId="{BA8A9D2B-895B-4E02-BE02-4F4F76BD7F2E}" type="parTrans" cxnId="{D3844ED1-362E-437D-8380-46A9CF65216E}">
      <dgm:prSet/>
      <dgm:spPr/>
      <dgm:t>
        <a:bodyPr/>
        <a:lstStyle/>
        <a:p>
          <a:endParaRPr lang="pt-BR"/>
        </a:p>
      </dgm:t>
    </dgm:pt>
    <dgm:pt modelId="{9296E81E-CF2C-45FC-BD08-617BA47975FB}" type="sibTrans" cxnId="{D3844ED1-362E-437D-8380-46A9CF65216E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4" custScaleY="134025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3"/>
      <dgm:spPr/>
    </dgm:pt>
    <dgm:pt modelId="{7CE5DD04-9774-48E4-ADA4-C0B1D1A9FFD0}" type="pres">
      <dgm:prSet presAssocID="{86F584F7-F242-4486-8D32-1F789305B825}" presName="connectorText" presStyleLbl="sibTrans2D1" presStyleIdx="0" presStyleCnt="3"/>
      <dgm:spPr/>
    </dgm:pt>
    <dgm:pt modelId="{F61784F1-F66F-41AC-A188-CA0ED0C05A66}" type="pres">
      <dgm:prSet presAssocID="{1454CC02-D42F-4F99-8A2C-2770C493620D}" presName="node" presStyleLbl="node1" presStyleIdx="1" presStyleCnt="4" custScaleY="134025">
        <dgm:presLayoutVars>
          <dgm:bulletEnabled val="1"/>
        </dgm:presLayoutVars>
      </dgm:prSet>
      <dgm:spPr/>
    </dgm:pt>
    <dgm:pt modelId="{733BAC91-F8E0-4120-908A-0B3D79EFBA93}" type="pres">
      <dgm:prSet presAssocID="{2420E6DA-5E3A-4F3B-AED9-F889369CF596}" presName="sibTrans" presStyleLbl="sibTrans2D1" presStyleIdx="1" presStyleCnt="3"/>
      <dgm:spPr/>
    </dgm:pt>
    <dgm:pt modelId="{F5E31160-E23C-41E0-BA89-A25F1D18EADA}" type="pres">
      <dgm:prSet presAssocID="{2420E6DA-5E3A-4F3B-AED9-F889369CF596}" presName="connectorText" presStyleLbl="sibTrans2D1" presStyleIdx="1" presStyleCnt="3"/>
      <dgm:spPr/>
    </dgm:pt>
    <dgm:pt modelId="{E6DCAB09-BFE8-421B-AF38-E3E72F4B8C65}" type="pres">
      <dgm:prSet presAssocID="{BC6FE439-59EC-4301-A75B-A05D2D63A0AF}" presName="node" presStyleLbl="node1" presStyleIdx="2" presStyleCnt="4" custScaleY="134025">
        <dgm:presLayoutVars>
          <dgm:bulletEnabled val="1"/>
        </dgm:presLayoutVars>
      </dgm:prSet>
      <dgm:spPr/>
    </dgm:pt>
    <dgm:pt modelId="{D347C60A-1DD7-4283-8B97-A6781FEA2108}" type="pres">
      <dgm:prSet presAssocID="{9296E81E-CF2C-45FC-BD08-617BA47975FB}" presName="sibTrans" presStyleLbl="sibTrans2D1" presStyleIdx="2" presStyleCnt="3"/>
      <dgm:spPr/>
    </dgm:pt>
    <dgm:pt modelId="{46E9EEB3-CBCE-4F0D-A37E-C3FD21C92A76}" type="pres">
      <dgm:prSet presAssocID="{9296E81E-CF2C-45FC-BD08-617BA47975FB}" presName="connectorText" presStyleLbl="sibTrans2D1" presStyleIdx="2" presStyleCnt="3"/>
      <dgm:spPr/>
    </dgm:pt>
    <dgm:pt modelId="{F975F9CD-116B-4BF5-B412-260A6313E137}" type="pres">
      <dgm:prSet presAssocID="{F91F035D-3475-4EE8-A14E-8BDFBE527EC0}" presName="node" presStyleLbl="node1" presStyleIdx="3" presStyleCnt="4" custScaleX="100116" custScaleY="134025" custLinFactNeighborX="-3544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3" destOrd="0" parTransId="{3D42E8FF-42FA-4A5D-BBCA-B188310C16BD}" sibTransId="{839BBDF2-42AF-4BE7-BAEA-7868F2FE699A}"/>
    <dgm:cxn modelId="{7897C743-F6D4-40C6-BF08-6A90784DCC24}" type="presOf" srcId="{1454CC02-D42F-4F99-8A2C-2770C493620D}" destId="{F61784F1-F66F-41AC-A188-CA0ED0C05A66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F0AB525F-0AF8-45E5-B25C-A89570828CA7}" type="presOf" srcId="{9296E81E-CF2C-45FC-BD08-617BA47975FB}" destId="{46E9EEB3-CBCE-4F0D-A37E-C3FD21C92A76}" srcOrd="1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1333156D-2BCE-4312-AEB7-148B56671DA7}" type="presOf" srcId="{2420E6DA-5E3A-4F3B-AED9-F889369CF596}" destId="{733BAC91-F8E0-4120-908A-0B3D79EFBA93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910A797-3B4A-4C03-8316-C6D2CBF0750B}" type="presOf" srcId="{2420E6DA-5E3A-4F3B-AED9-F889369CF596}" destId="{F5E31160-E23C-41E0-BA89-A25F1D18EADA}" srcOrd="1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928B66BF-1D1D-4AE2-8632-45CDAD531672}" type="presOf" srcId="{BC6FE439-59EC-4301-A75B-A05D2D63A0AF}" destId="{E6DCAB09-BFE8-421B-AF38-E3E72F4B8C65}" srcOrd="0" destOrd="0" presId="urn:microsoft.com/office/officeart/2005/8/layout/process1"/>
    <dgm:cxn modelId="{354561C6-35F7-47B7-B97D-5B3894D14DFF}" srcId="{0B62365D-9689-475A-A5C2-FB9CCAF87182}" destId="{1454CC02-D42F-4F99-8A2C-2770C493620D}" srcOrd="1" destOrd="0" parTransId="{3BADEF4C-418C-4018-87E7-262CDF03690F}" sibTransId="{2420E6DA-5E3A-4F3B-AED9-F889369CF596}"/>
    <dgm:cxn modelId="{D3844ED1-362E-437D-8380-46A9CF65216E}" srcId="{0B62365D-9689-475A-A5C2-FB9CCAF87182}" destId="{BC6FE439-59EC-4301-A75B-A05D2D63A0AF}" srcOrd="2" destOrd="0" parTransId="{BA8A9D2B-895B-4E02-BE02-4F4F76BD7F2E}" sibTransId="{9296E81E-CF2C-45FC-BD08-617BA47975FB}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71DD9ADA-3C8E-45B3-8B08-7E54B7104392}" type="presOf" srcId="{9296E81E-CF2C-45FC-BD08-617BA47975FB}" destId="{D347C60A-1DD7-4283-8B97-A6781FEA2108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5D54A397-AD8B-409B-A325-BE8FA47D020E}" type="presParOf" srcId="{26209C40-B573-414E-B236-30EE569A8464}" destId="{F61784F1-F66F-41AC-A188-CA0ED0C05A66}" srcOrd="2" destOrd="0" presId="urn:microsoft.com/office/officeart/2005/8/layout/process1"/>
    <dgm:cxn modelId="{7DD1B96E-6F19-4E7A-85BE-B1C2D1783156}" type="presParOf" srcId="{26209C40-B573-414E-B236-30EE569A8464}" destId="{733BAC91-F8E0-4120-908A-0B3D79EFBA93}" srcOrd="3" destOrd="0" presId="urn:microsoft.com/office/officeart/2005/8/layout/process1"/>
    <dgm:cxn modelId="{F8022F38-A00F-43EB-8645-62CD8A5F30DF}" type="presParOf" srcId="{733BAC91-F8E0-4120-908A-0B3D79EFBA93}" destId="{F5E31160-E23C-41E0-BA89-A25F1D18EADA}" srcOrd="0" destOrd="0" presId="urn:microsoft.com/office/officeart/2005/8/layout/process1"/>
    <dgm:cxn modelId="{3AC1A5BA-ABBA-459B-AF2C-35D0F1287553}" type="presParOf" srcId="{26209C40-B573-414E-B236-30EE569A8464}" destId="{E6DCAB09-BFE8-421B-AF38-E3E72F4B8C65}" srcOrd="4" destOrd="0" presId="urn:microsoft.com/office/officeart/2005/8/layout/process1"/>
    <dgm:cxn modelId="{0551AAC3-7952-4593-A2C7-C00452821F88}" type="presParOf" srcId="{26209C40-B573-414E-B236-30EE569A8464}" destId="{D347C60A-1DD7-4283-8B97-A6781FEA2108}" srcOrd="5" destOrd="0" presId="urn:microsoft.com/office/officeart/2005/8/layout/process1"/>
    <dgm:cxn modelId="{CE4BAF23-0B4F-4976-A036-3B6D8D14AFB3}" type="presParOf" srcId="{D347C60A-1DD7-4283-8B97-A6781FEA2108}" destId="{46E9EEB3-CBCE-4F0D-A37E-C3FD21C92A76}" srcOrd="0" destOrd="0" presId="urn:microsoft.com/office/officeart/2005/8/layout/process1"/>
    <dgm:cxn modelId="{7E5009F8-2C0E-4D04-BD9A-4017DF8402A4}" type="presParOf" srcId="{26209C40-B573-414E-B236-30EE569A8464}" destId="{F975F9CD-116B-4BF5-B412-260A6313E13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Apura pedidos cadastrados x pagamentos efetuados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4025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100" dirty="0">
              <a:solidFill>
                <a:srgbClr val="FFFFFF"/>
              </a:solidFill>
            </a:rPr>
            <a:t>Apura lista de múltiplos locatários nos terrenos próprios Oi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 sz="1600"/>
        </a:p>
      </dgm:t>
    </dgm:pt>
    <dgm:pt modelId="{86F584F7-F242-4486-8D32-1F789305B825}" type="sibTrans" cxnId="{A46C15B1-92C3-475F-AF7C-9826A2507406}">
      <dgm:prSet custT="1"/>
      <dgm:spPr/>
      <dgm:t>
        <a:bodyPr/>
        <a:lstStyle/>
        <a:p>
          <a:endParaRPr lang="pt-BR" sz="1100"/>
        </a:p>
      </dgm:t>
    </dgm:pt>
    <dgm:pt modelId="{04D4E53E-57AA-4DD4-BC8F-E8ADAE7BBDF0}">
      <dgm:prSet custT="1"/>
      <dgm:spPr/>
      <dgm:t>
        <a:bodyPr/>
        <a:lstStyle/>
        <a:p>
          <a:r>
            <a:rPr lang="pt-BR" sz="1100" dirty="0">
              <a:solidFill>
                <a:srgbClr val="FFFFFF"/>
              </a:solidFill>
            </a:rPr>
            <a:t>Disponibiliza informações para validação da Oi</a:t>
          </a:r>
        </a:p>
      </dgm:t>
    </dgm:pt>
    <dgm:pt modelId="{53698B72-BCD7-40DD-B546-7F49BEE6D909}" type="parTrans" cxnId="{D250AFFD-B369-45BE-A0B4-1479C4E8D4CF}">
      <dgm:prSet/>
      <dgm:spPr/>
      <dgm:t>
        <a:bodyPr/>
        <a:lstStyle/>
        <a:p>
          <a:endParaRPr lang="pt-BR" sz="1600"/>
        </a:p>
      </dgm:t>
    </dgm:pt>
    <dgm:pt modelId="{4179CC42-B813-4D91-B1F7-C0E339F3ADAE}" type="sibTrans" cxnId="{D250AFFD-B369-45BE-A0B4-1479C4E8D4CF}">
      <dgm:prSet/>
      <dgm:spPr/>
      <dgm:t>
        <a:bodyPr/>
        <a:lstStyle/>
        <a:p>
          <a:endParaRPr lang="pt-BR" sz="1600"/>
        </a:p>
      </dgm:t>
    </dgm:pt>
    <dgm:pt modelId="{F9555AB9-216D-437A-B05C-B78D9D52B9A7}">
      <dgm:prSet custT="1"/>
      <dgm:spPr/>
      <dgm:t>
        <a:bodyPr/>
        <a:lstStyle/>
        <a:p>
          <a:r>
            <a:rPr lang="pt-BR" sz="1100">
              <a:solidFill>
                <a:srgbClr val="FFFFFF"/>
              </a:solidFill>
            </a:rPr>
            <a:t>Realiza </a:t>
          </a:r>
          <a:r>
            <a:rPr lang="pt-BR" sz="1100" dirty="0">
              <a:solidFill>
                <a:srgbClr val="FFFFFF"/>
              </a:solidFill>
            </a:rPr>
            <a:t>o cálculo do aluguel de solo Oi para terreno Oi com múltiplos locatários</a:t>
          </a:r>
        </a:p>
      </dgm:t>
    </dgm:pt>
    <dgm:pt modelId="{E32315DA-3558-42E3-B415-4EBC70BB2C46}" type="parTrans" cxnId="{D000B516-309F-4D7E-805C-3AEC929B87E7}">
      <dgm:prSet/>
      <dgm:spPr/>
      <dgm:t>
        <a:bodyPr/>
        <a:lstStyle/>
        <a:p>
          <a:endParaRPr lang="pt-BR" sz="1600"/>
        </a:p>
      </dgm:t>
    </dgm:pt>
    <dgm:pt modelId="{9A744E3E-DB22-498E-8266-71AA3A04905B}" type="sibTrans" cxnId="{D000B516-309F-4D7E-805C-3AEC929B87E7}">
      <dgm:prSet custT="1"/>
      <dgm:spPr/>
      <dgm:t>
        <a:bodyPr/>
        <a:lstStyle/>
        <a:p>
          <a:endParaRPr lang="pt-BR" sz="1100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3" custScaleY="125116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2"/>
      <dgm:spPr/>
    </dgm:pt>
    <dgm:pt modelId="{7CE5DD04-9774-48E4-ADA4-C0B1D1A9FFD0}" type="pres">
      <dgm:prSet presAssocID="{86F584F7-F242-4486-8D32-1F789305B825}" presName="connectorText" presStyleLbl="sibTrans2D1" presStyleIdx="0" presStyleCnt="2"/>
      <dgm:spPr/>
    </dgm:pt>
    <dgm:pt modelId="{5D7193D8-3437-4506-8B19-694609972E13}" type="pres">
      <dgm:prSet presAssocID="{F9555AB9-216D-437A-B05C-B78D9D52B9A7}" presName="node" presStyleLbl="node1" presStyleIdx="1" presStyleCnt="3">
        <dgm:presLayoutVars>
          <dgm:bulletEnabled val="1"/>
        </dgm:presLayoutVars>
      </dgm:prSet>
      <dgm:spPr/>
    </dgm:pt>
    <dgm:pt modelId="{693586EB-36C3-40F5-891B-32C99499B41A}" type="pres">
      <dgm:prSet presAssocID="{9A744E3E-DB22-498E-8266-71AA3A04905B}" presName="sibTrans" presStyleLbl="sibTrans2D1" presStyleIdx="1" presStyleCnt="2"/>
      <dgm:spPr/>
    </dgm:pt>
    <dgm:pt modelId="{7B77F850-5D43-40A9-998C-0E8E4B885D07}" type="pres">
      <dgm:prSet presAssocID="{9A744E3E-DB22-498E-8266-71AA3A04905B}" presName="connectorText" presStyleLbl="sibTrans2D1" presStyleIdx="1" presStyleCnt="2"/>
      <dgm:spPr/>
    </dgm:pt>
    <dgm:pt modelId="{9ED0CB73-E0E2-4F1B-8CA4-28123C314DD4}" type="pres">
      <dgm:prSet presAssocID="{04D4E53E-57AA-4DD4-BC8F-E8ADAE7BBDF0}" presName="node" presStyleLbl="node1" presStyleIdx="2" presStyleCnt="3">
        <dgm:presLayoutVars>
          <dgm:bulletEnabled val="1"/>
        </dgm:presLayoutVars>
      </dgm:prSet>
      <dgm:spPr/>
    </dgm:pt>
  </dgm:ptLst>
  <dgm:cxnLst>
    <dgm:cxn modelId="{D000B516-309F-4D7E-805C-3AEC929B87E7}" srcId="{0B62365D-9689-475A-A5C2-FB9CCAF87182}" destId="{F9555AB9-216D-437A-B05C-B78D9D52B9A7}" srcOrd="1" destOrd="0" parTransId="{E32315DA-3558-42E3-B415-4EBC70BB2C46}" sibTransId="{9A744E3E-DB22-498E-8266-71AA3A04905B}"/>
    <dgm:cxn modelId="{6B048E4E-4DFA-421B-93A2-343C882754E2}" type="presOf" srcId="{F9555AB9-216D-437A-B05C-B78D9D52B9A7}" destId="{5D7193D8-3437-4506-8B19-694609972E13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258E1662-A16D-46DB-A338-4F6FF79616E1}" type="presOf" srcId="{04D4E53E-57AA-4DD4-BC8F-E8ADAE7BBDF0}" destId="{9ED0CB73-E0E2-4F1B-8CA4-28123C314DD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10BF0FBF-AEC8-433E-835F-83E456135A4F}" type="presOf" srcId="{9A744E3E-DB22-498E-8266-71AA3A04905B}" destId="{693586EB-36C3-40F5-891B-32C99499B41A}" srcOrd="0" destOrd="0" presId="urn:microsoft.com/office/officeart/2005/8/layout/process1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F0B504F3-65E8-4D01-99F0-6E101ABE70A7}" type="presOf" srcId="{9A744E3E-DB22-498E-8266-71AA3A04905B}" destId="{7B77F850-5D43-40A9-998C-0E8E4B885D07}" srcOrd="1" destOrd="0" presId="urn:microsoft.com/office/officeart/2005/8/layout/process1"/>
    <dgm:cxn modelId="{D250AFFD-B369-45BE-A0B4-1479C4E8D4CF}" srcId="{0B62365D-9689-475A-A5C2-FB9CCAF87182}" destId="{04D4E53E-57AA-4DD4-BC8F-E8ADAE7BBDF0}" srcOrd="2" destOrd="0" parTransId="{53698B72-BCD7-40DD-B546-7F49BEE6D909}" sibTransId="{4179CC42-B813-4D91-B1F7-C0E339F3ADAE}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C0F6846E-D2AA-47B6-B6C2-B7C32E9D52BB}" type="presParOf" srcId="{26209C40-B573-414E-B236-30EE569A8464}" destId="{5D7193D8-3437-4506-8B19-694609972E13}" srcOrd="2" destOrd="0" presId="urn:microsoft.com/office/officeart/2005/8/layout/process1"/>
    <dgm:cxn modelId="{EA443A86-3FCA-4ACB-9665-03CE6BA464B3}" type="presParOf" srcId="{26209C40-B573-414E-B236-30EE569A8464}" destId="{693586EB-36C3-40F5-891B-32C99499B41A}" srcOrd="3" destOrd="0" presId="urn:microsoft.com/office/officeart/2005/8/layout/process1"/>
    <dgm:cxn modelId="{CA10A3FE-CCA8-4D08-AD1A-A85F07A3C001}" type="presParOf" srcId="{693586EB-36C3-40F5-891B-32C99499B41A}" destId="{7B77F850-5D43-40A9-998C-0E8E4B885D07}" srcOrd="0" destOrd="0" presId="urn:microsoft.com/office/officeart/2005/8/layout/process1"/>
    <dgm:cxn modelId="{D6AF912B-CCA6-4E47-8A2E-AC653474374A}" type="presParOf" srcId="{26209C40-B573-414E-B236-30EE569A8464}" destId="{9ED0CB73-E0E2-4F1B-8CA4-28123C314DD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Cadastra  pedido de pagamento no SAP B1</a:t>
          </a:r>
          <a:endParaRPr lang="pt-BR" sz="1200" dirty="0">
            <a:solidFill>
              <a:srgbClr val="FF0000"/>
            </a:solidFill>
          </a:endParaRP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4025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100" dirty="0">
              <a:solidFill>
                <a:srgbClr val="FFFFFF"/>
              </a:solidFill>
            </a:rPr>
            <a:t>Realiza a baixa do pagamento no SAP B1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18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9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100" dirty="0">
              <a:solidFill>
                <a:srgbClr val="FFFFFF"/>
              </a:solidFill>
            </a:rPr>
            <a:t>Baixa pedido de </a:t>
          </a:r>
          <a:r>
            <a:rPr lang="pt-BR" sz="1100" dirty="0" err="1">
              <a:solidFill>
                <a:srgbClr val="FFFFFF"/>
              </a:solidFill>
            </a:rPr>
            <a:t>pgto</a:t>
          </a:r>
          <a:r>
            <a:rPr lang="pt-BR" sz="1100" dirty="0">
              <a:solidFill>
                <a:srgbClr val="FFFFFF"/>
              </a:solidFill>
            </a:rPr>
            <a:t> da nota do SAP B1, cadastra no </a:t>
          </a:r>
          <a:r>
            <a:rPr lang="pt-BR" sz="1100" dirty="0" err="1">
              <a:solidFill>
                <a:srgbClr val="FFFFFF"/>
              </a:solidFill>
            </a:rPr>
            <a:t>sharepoint</a:t>
          </a:r>
          <a:r>
            <a:rPr lang="pt-BR" sz="1100" dirty="0">
              <a:solidFill>
                <a:srgbClr val="FFFFFF"/>
              </a:solidFill>
            </a:rPr>
            <a:t> CAP e no banco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 sz="1600"/>
        </a:p>
      </dgm:t>
    </dgm:pt>
    <dgm:pt modelId="{86F584F7-F242-4486-8D32-1F789305B825}" type="sibTrans" cxnId="{A46C15B1-92C3-475F-AF7C-9826A2507406}">
      <dgm:prSet custT="1"/>
      <dgm:spPr/>
      <dgm:t>
        <a:bodyPr/>
        <a:lstStyle/>
        <a:p>
          <a:endParaRPr lang="pt-BR" sz="1200"/>
        </a:p>
      </dgm:t>
    </dgm:pt>
    <dgm:pt modelId="{BC6FE439-59EC-4301-A75B-A05D2D63A0AF}">
      <dgm:prSet custT="1"/>
      <dgm:spPr/>
      <dgm:t>
        <a:bodyPr/>
        <a:lstStyle/>
        <a:p>
          <a:r>
            <a:rPr lang="pt-BR" sz="1100" dirty="0">
              <a:solidFill>
                <a:srgbClr val="FFFFFF"/>
              </a:solidFill>
            </a:rPr>
            <a:t>Baixa Extrato Bancário e relação de pagamentos do SAP B1</a:t>
          </a:r>
        </a:p>
      </dgm:t>
    </dgm:pt>
    <dgm:pt modelId="{BA8A9D2B-895B-4E02-BE02-4F4F76BD7F2E}" type="parTrans" cxnId="{D3844ED1-362E-437D-8380-46A9CF65216E}">
      <dgm:prSet/>
      <dgm:spPr/>
      <dgm:t>
        <a:bodyPr/>
        <a:lstStyle/>
        <a:p>
          <a:endParaRPr lang="pt-BR" sz="1600"/>
        </a:p>
      </dgm:t>
    </dgm:pt>
    <dgm:pt modelId="{9296E81E-CF2C-45FC-BD08-617BA47975FB}" type="sibTrans" cxnId="{D3844ED1-362E-437D-8380-46A9CF65216E}">
      <dgm:prSet custT="1"/>
      <dgm:spPr/>
      <dgm:t>
        <a:bodyPr/>
        <a:lstStyle/>
        <a:p>
          <a:endParaRPr lang="pt-BR" sz="1200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3" custScaleY="134025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2"/>
      <dgm:spPr/>
    </dgm:pt>
    <dgm:pt modelId="{7CE5DD04-9774-48E4-ADA4-C0B1D1A9FFD0}" type="pres">
      <dgm:prSet presAssocID="{86F584F7-F242-4486-8D32-1F789305B825}" presName="connectorText" presStyleLbl="sibTrans2D1" presStyleIdx="0" presStyleCnt="2"/>
      <dgm:spPr/>
    </dgm:pt>
    <dgm:pt modelId="{E6DCAB09-BFE8-421B-AF38-E3E72F4B8C65}" type="pres">
      <dgm:prSet presAssocID="{BC6FE439-59EC-4301-A75B-A05D2D63A0AF}" presName="node" presStyleLbl="node1" presStyleIdx="1" presStyleCnt="3" custScaleY="134025">
        <dgm:presLayoutVars>
          <dgm:bulletEnabled val="1"/>
        </dgm:presLayoutVars>
      </dgm:prSet>
      <dgm:spPr/>
    </dgm:pt>
    <dgm:pt modelId="{D347C60A-1DD7-4283-8B97-A6781FEA2108}" type="pres">
      <dgm:prSet presAssocID="{9296E81E-CF2C-45FC-BD08-617BA47975FB}" presName="sibTrans" presStyleLbl="sibTrans2D1" presStyleIdx="1" presStyleCnt="2"/>
      <dgm:spPr/>
    </dgm:pt>
    <dgm:pt modelId="{46E9EEB3-CBCE-4F0D-A37E-C3FD21C92A76}" type="pres">
      <dgm:prSet presAssocID="{9296E81E-CF2C-45FC-BD08-617BA47975FB}" presName="connectorText" presStyleLbl="sibTrans2D1" presStyleIdx="1" presStyleCnt="2"/>
      <dgm:spPr/>
    </dgm:pt>
    <dgm:pt modelId="{F975F9CD-116B-4BF5-B412-260A6313E137}" type="pres">
      <dgm:prSet presAssocID="{F91F035D-3475-4EE8-A14E-8BDFBE527EC0}" presName="node" presStyleLbl="node1" presStyleIdx="2" presStyleCnt="3" custScaleX="100116" custScaleY="134025" custLinFactNeighborX="-3544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2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F0AB525F-0AF8-45E5-B25C-A89570828CA7}" type="presOf" srcId="{9296E81E-CF2C-45FC-BD08-617BA47975FB}" destId="{46E9EEB3-CBCE-4F0D-A37E-C3FD21C92A76}" srcOrd="1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928B66BF-1D1D-4AE2-8632-45CDAD531672}" type="presOf" srcId="{BC6FE439-59EC-4301-A75B-A05D2D63A0AF}" destId="{E6DCAB09-BFE8-421B-AF38-E3E72F4B8C65}" srcOrd="0" destOrd="0" presId="urn:microsoft.com/office/officeart/2005/8/layout/process1"/>
    <dgm:cxn modelId="{D3844ED1-362E-437D-8380-46A9CF65216E}" srcId="{0B62365D-9689-475A-A5C2-FB9CCAF87182}" destId="{BC6FE439-59EC-4301-A75B-A05D2D63A0AF}" srcOrd="1" destOrd="0" parTransId="{BA8A9D2B-895B-4E02-BE02-4F4F76BD7F2E}" sibTransId="{9296E81E-CF2C-45FC-BD08-617BA47975FB}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71DD9ADA-3C8E-45B3-8B08-7E54B7104392}" type="presOf" srcId="{9296E81E-CF2C-45FC-BD08-617BA47975FB}" destId="{D347C60A-1DD7-4283-8B97-A6781FEA2108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3AC1A5BA-ABBA-459B-AF2C-35D0F1287553}" type="presParOf" srcId="{26209C40-B573-414E-B236-30EE569A8464}" destId="{E6DCAB09-BFE8-421B-AF38-E3E72F4B8C65}" srcOrd="2" destOrd="0" presId="urn:microsoft.com/office/officeart/2005/8/layout/process1"/>
    <dgm:cxn modelId="{0551AAC3-7952-4593-A2C7-C00452821F88}" type="presParOf" srcId="{26209C40-B573-414E-B236-30EE569A8464}" destId="{D347C60A-1DD7-4283-8B97-A6781FEA2108}" srcOrd="3" destOrd="0" presId="urn:microsoft.com/office/officeart/2005/8/layout/process1"/>
    <dgm:cxn modelId="{CE4BAF23-0B4F-4976-A036-3B6D8D14AFB3}" type="presParOf" srcId="{D347C60A-1DD7-4283-8B97-A6781FEA2108}" destId="{46E9EEB3-CBCE-4F0D-A37E-C3FD21C92A76}" srcOrd="0" destOrd="0" presId="urn:microsoft.com/office/officeart/2005/8/layout/process1"/>
    <dgm:cxn modelId="{7E5009F8-2C0E-4D04-BD9A-4017DF8402A4}" type="presParOf" srcId="{26209C40-B573-414E-B236-30EE569A8464}" destId="{F975F9CD-116B-4BF5-B412-260A6313E13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Apura pedidos cadastrados x pagamentos efetuados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4025" custLinFactNeighborX="1354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Recebe valores validos e nota de débito para pagamento a Oi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 dirty="0">
            <a:solidFill>
              <a:srgbClr val="FFFFFF"/>
            </a:solidFill>
          </a:endParaRPr>
        </a:p>
      </dgm:t>
    </dgm:pt>
    <dgm:pt modelId="{D5D427AB-1C37-454A-94EB-ED38D38E90BB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nota de débito para pagamento</a:t>
          </a:r>
        </a:p>
      </dgm:t>
    </dgm:pt>
    <dgm:pt modelId="{E2858FA9-08A1-42FD-B038-12B66271FAC5}" type="parTrans" cxnId="{909BF3B6-E421-4C2C-9C80-8EAC344AE050}">
      <dgm:prSet/>
      <dgm:spPr/>
      <dgm:t>
        <a:bodyPr/>
        <a:lstStyle/>
        <a:p>
          <a:endParaRPr lang="pt-BR"/>
        </a:p>
      </dgm:t>
    </dgm:pt>
    <dgm:pt modelId="{71220B5E-7C6B-4DEC-9E5A-01DA4CE419C2}" type="sibTrans" cxnId="{909BF3B6-E421-4C2C-9C80-8EAC344AE050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2" custScaleY="145655" custLinFactNeighborX="-1241">
        <dgm:presLayoutVars>
          <dgm:bulletEnabled val="1"/>
        </dgm:presLayoutVars>
      </dgm:prSet>
      <dgm:spPr/>
    </dgm:pt>
    <dgm:pt modelId="{573DE5FA-8B4D-4D8D-83D2-568B7F2DB015}" type="pres">
      <dgm:prSet presAssocID="{839BBDF2-42AF-4BE7-BAEA-7868F2FE699A}" presName="sibTrans" presStyleLbl="sibTrans2D1" presStyleIdx="0" presStyleCnt="1"/>
      <dgm:spPr/>
    </dgm:pt>
    <dgm:pt modelId="{64419B74-340D-4679-8699-1765756BB417}" type="pres">
      <dgm:prSet presAssocID="{839BBDF2-42AF-4BE7-BAEA-7868F2FE699A}" presName="connectorText" presStyleLbl="sibTrans2D1" presStyleIdx="0" presStyleCnt="1"/>
      <dgm:spPr/>
    </dgm:pt>
    <dgm:pt modelId="{ED4774A5-275D-4737-9E34-382BDAC3AC53}" type="pres">
      <dgm:prSet presAssocID="{D5D427AB-1C37-454A-94EB-ED38D38E90BB}" presName="node" presStyleLbl="node1" presStyleIdx="1" presStyleCnt="2" custScaleY="145655">
        <dgm:presLayoutVars>
          <dgm:bulletEnabled val="1"/>
        </dgm:presLayoutVars>
      </dgm:prSet>
      <dgm:spPr/>
    </dgm:pt>
  </dgm:ptLst>
  <dgm:cxnLst>
    <dgm:cxn modelId="{EE9EAD13-C9CD-4694-A742-13CF634DD8BF}" type="presOf" srcId="{839BBDF2-42AF-4BE7-BAEA-7868F2FE699A}" destId="{573DE5FA-8B4D-4D8D-83D2-568B7F2DB015}" srcOrd="0" destOrd="0" presId="urn:microsoft.com/office/officeart/2005/8/layout/process1"/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996EFA7-A56E-478A-B0B9-C9ECCA132E5E}" type="presOf" srcId="{839BBDF2-42AF-4BE7-BAEA-7868F2FE699A}" destId="{64419B74-340D-4679-8699-1765756BB417}" srcOrd="1" destOrd="0" presId="urn:microsoft.com/office/officeart/2005/8/layout/process1"/>
    <dgm:cxn modelId="{719C70B3-4359-4B82-B403-DCEE9E075489}" type="presOf" srcId="{D5D427AB-1C37-454A-94EB-ED38D38E90BB}" destId="{ED4774A5-275D-4737-9E34-382BDAC3AC53}" srcOrd="0" destOrd="0" presId="urn:microsoft.com/office/officeart/2005/8/layout/process1"/>
    <dgm:cxn modelId="{909BF3B6-E421-4C2C-9C80-8EAC344AE050}" srcId="{0B62365D-9689-475A-A5C2-FB9CCAF87182}" destId="{D5D427AB-1C37-454A-94EB-ED38D38E90BB}" srcOrd="1" destOrd="0" parTransId="{E2858FA9-08A1-42FD-B038-12B66271FAC5}" sibTransId="{71220B5E-7C6B-4DEC-9E5A-01DA4CE419C2}"/>
    <dgm:cxn modelId="{7E5009F8-2C0E-4D04-BD9A-4017DF8402A4}" type="presParOf" srcId="{26209C40-B573-414E-B236-30EE569A8464}" destId="{F975F9CD-116B-4BF5-B412-260A6313E137}" srcOrd="0" destOrd="0" presId="urn:microsoft.com/office/officeart/2005/8/layout/process1"/>
    <dgm:cxn modelId="{D4102E43-189D-4BDD-9D9C-5EFC09070219}" type="presParOf" srcId="{26209C40-B573-414E-B236-30EE569A8464}" destId="{573DE5FA-8B4D-4D8D-83D2-568B7F2DB015}" srcOrd="1" destOrd="0" presId="urn:microsoft.com/office/officeart/2005/8/layout/process1"/>
    <dgm:cxn modelId="{A8B51565-2B5C-40C7-AAC7-40CDCFF82B3A}" type="presParOf" srcId="{573DE5FA-8B4D-4D8D-83D2-568B7F2DB015}" destId="{64419B74-340D-4679-8699-1765756BB417}" srcOrd="0" destOrd="0" presId="urn:microsoft.com/office/officeart/2005/8/layout/process1"/>
    <dgm:cxn modelId="{BCBDB803-6DAB-4595-9D30-3707F558D88C}" type="presParOf" srcId="{26209C40-B573-414E-B236-30EE569A8464}" destId="{ED4774A5-275D-4737-9E34-382BDAC3AC5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4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Valida valores de solo Oi com </a:t>
          </a:r>
          <a:r>
            <a:rPr lang="pt-BR" sz="1200" dirty="0" err="1">
              <a:solidFill>
                <a:srgbClr val="FFFFFF"/>
              </a:solidFill>
            </a:rPr>
            <a:t>multilocatários</a:t>
          </a:r>
          <a:r>
            <a:rPr lang="pt-BR" sz="1200" dirty="0">
              <a:solidFill>
                <a:srgbClr val="FFFFFF"/>
              </a:solidFill>
            </a:rPr>
            <a:t> e solicita emissão de nota de débito 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AB16270C-3FE6-4707-AB8F-778FFA620CD2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sz="1200" dirty="0">
              <a:solidFill>
                <a:srgbClr val="FFFFFF"/>
              </a:solidFill>
            </a:rPr>
            <a:t>Emite nota de débito Oi e envia para </a:t>
          </a:r>
          <a:r>
            <a:rPr lang="pt-BR" sz="1200" dirty="0" err="1">
              <a:solidFill>
                <a:srgbClr val="FFFFFF"/>
              </a:solidFill>
            </a:rPr>
            <a:t>Lemvig</a:t>
          </a:r>
          <a:endParaRPr lang="pt-BR" sz="1200" dirty="0">
            <a:solidFill>
              <a:srgbClr val="FFFFFF"/>
            </a:solidFill>
          </a:endParaRPr>
        </a:p>
      </dgm:t>
    </dgm:pt>
    <dgm:pt modelId="{E4C3428D-10D1-4B3E-86F9-DCFA72795EB4}" type="parTrans" cxnId="{1A14913D-CA12-4058-8C4E-05FB0012669F}">
      <dgm:prSet/>
      <dgm:spPr/>
      <dgm:t>
        <a:bodyPr/>
        <a:lstStyle/>
        <a:p>
          <a:endParaRPr lang="pt-BR"/>
        </a:p>
      </dgm:t>
    </dgm:pt>
    <dgm:pt modelId="{8C9ADA12-AEE5-4FD9-97F2-F23FF09CA975}" type="sibTrans" cxnId="{1A14913D-CA12-4058-8C4E-05FB0012669F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2" custScaleY="176685" custLinFactNeighborY="-1522">
        <dgm:presLayoutVars>
          <dgm:bulletEnabled val="1"/>
        </dgm:presLayoutVars>
      </dgm:prSet>
      <dgm:spPr/>
    </dgm:pt>
    <dgm:pt modelId="{7EE7B73E-54FB-45A6-BBA7-D0915D5B3CAF}" type="pres">
      <dgm:prSet presAssocID="{839BBDF2-42AF-4BE7-BAEA-7868F2FE699A}" presName="sibTrans" presStyleLbl="sibTrans2D1" presStyleIdx="0" presStyleCnt="1"/>
      <dgm:spPr/>
    </dgm:pt>
    <dgm:pt modelId="{54818C90-74DF-4D46-97F7-CF979CC2473A}" type="pres">
      <dgm:prSet presAssocID="{839BBDF2-42AF-4BE7-BAEA-7868F2FE699A}" presName="connectorText" presStyleLbl="sibTrans2D1" presStyleIdx="0" presStyleCnt="1"/>
      <dgm:spPr/>
    </dgm:pt>
    <dgm:pt modelId="{2D11AF7F-E01E-4FD2-B471-F0AAF04FDBEF}" type="pres">
      <dgm:prSet presAssocID="{AB16270C-3FE6-4707-AB8F-778FFA620CD2}" presName="node" presStyleLbl="node1" presStyleIdx="1" presStyleCnt="2" custScaleY="176685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1A14913D-CA12-4058-8C4E-05FB0012669F}" srcId="{0B62365D-9689-475A-A5C2-FB9CCAF87182}" destId="{AB16270C-3FE6-4707-AB8F-778FFA620CD2}" srcOrd="1" destOrd="0" parTransId="{E4C3428D-10D1-4B3E-86F9-DCFA72795EB4}" sibTransId="{8C9ADA12-AEE5-4FD9-97F2-F23FF09CA975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CDF9CFA4-2C50-4440-BC96-0F5F0F103999}" type="presOf" srcId="{839BBDF2-42AF-4BE7-BAEA-7868F2FE699A}" destId="{54818C90-74DF-4D46-97F7-CF979CC2473A}" srcOrd="1" destOrd="0" presId="urn:microsoft.com/office/officeart/2005/8/layout/process1"/>
    <dgm:cxn modelId="{ABC4DBD6-05B8-4BF9-B38B-D13D243999EA}" type="presOf" srcId="{839BBDF2-42AF-4BE7-BAEA-7868F2FE699A}" destId="{7EE7B73E-54FB-45A6-BBA7-D0915D5B3CAF}" srcOrd="0" destOrd="0" presId="urn:microsoft.com/office/officeart/2005/8/layout/process1"/>
    <dgm:cxn modelId="{530FE0DF-5841-4451-BB89-3345B8A7BE74}" type="presOf" srcId="{AB16270C-3FE6-4707-AB8F-778FFA620CD2}" destId="{2D11AF7F-E01E-4FD2-B471-F0AAF04FDBEF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  <dgm:cxn modelId="{E2940D30-A13A-4F06-83E1-7F8EF5930618}" type="presParOf" srcId="{26209C40-B573-414E-B236-30EE569A8464}" destId="{7EE7B73E-54FB-45A6-BBA7-D0915D5B3CAF}" srcOrd="1" destOrd="0" presId="urn:microsoft.com/office/officeart/2005/8/layout/process1"/>
    <dgm:cxn modelId="{27D37896-BD12-41EB-9ECD-0A9016D4AEB3}" type="presParOf" srcId="{7EE7B73E-54FB-45A6-BBA7-D0915D5B3CAF}" destId="{54818C90-74DF-4D46-97F7-CF979CC2473A}" srcOrd="0" destOrd="0" presId="urn:microsoft.com/office/officeart/2005/8/layout/process1"/>
    <dgm:cxn modelId="{51E0C38D-8608-49EF-BE28-17467CE59157}" type="presParOf" srcId="{26209C40-B573-414E-B236-30EE569A8464}" destId="{2D11AF7F-E01E-4FD2-B471-F0AAF04FDBE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9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Realiza aferição dos valores de solo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7332" custLinFactNeighborX="-1391" custLinFactNeighborY="-2124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Resgata Valores validados de solo pelas Operadoras, receita de aluguel de solo de terceiros e de solo Oi 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7759980A-3A19-4A23-95C8-FBE31BD7F35E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Consolida valor do acerto Oi e solicita a criação de nota de débito</a:t>
          </a:r>
        </a:p>
      </dgm:t>
    </dgm:pt>
    <dgm:pt modelId="{86AB22AB-AA7B-4633-B060-79BECD4C0559}" type="parTrans" cxnId="{8BCF9448-8A3F-407E-A72C-26BEC798047E}">
      <dgm:prSet/>
      <dgm:spPr/>
      <dgm:t>
        <a:bodyPr/>
        <a:lstStyle/>
        <a:p>
          <a:endParaRPr lang="pt-BR"/>
        </a:p>
      </dgm:t>
    </dgm:pt>
    <dgm:pt modelId="{A05CDA8E-EDFD-4297-B5CA-E670085C55F5}" type="sibTrans" cxnId="{8BCF9448-8A3F-407E-A72C-26BEC798047E}">
      <dgm:prSet/>
      <dgm:spPr/>
      <dgm:t>
        <a:bodyPr/>
        <a:lstStyle/>
        <a:p>
          <a:endParaRPr lang="pt-BR"/>
        </a:p>
      </dgm:t>
    </dgm:pt>
    <dgm:pt modelId="{E297A6AA-C4A6-4532-8053-6687392E5CFD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Calcula valor do </a:t>
          </a:r>
          <a:r>
            <a:rPr lang="pt-BR" sz="1200" dirty="0" err="1">
              <a:solidFill>
                <a:srgbClr val="FFFFFF"/>
              </a:solidFill>
            </a:rPr>
            <a:t>Pass</a:t>
          </a:r>
          <a:r>
            <a:rPr lang="pt-BR" sz="1200" dirty="0">
              <a:solidFill>
                <a:srgbClr val="FFFFFF"/>
              </a:solidFill>
            </a:rPr>
            <a:t> </a:t>
          </a:r>
          <a:r>
            <a:rPr lang="pt-BR" sz="1200" dirty="0" err="1">
              <a:solidFill>
                <a:srgbClr val="FFFFFF"/>
              </a:solidFill>
            </a:rPr>
            <a:t>Through</a:t>
          </a:r>
          <a:r>
            <a:rPr lang="pt-BR" sz="1200" dirty="0">
              <a:solidFill>
                <a:srgbClr val="FFFFFF"/>
              </a:solidFill>
            </a:rPr>
            <a:t> de solo e informa p/ Oi</a:t>
          </a:r>
        </a:p>
      </dgm:t>
    </dgm:pt>
    <dgm:pt modelId="{572C99FD-DDDA-425D-85E2-0F7C97752808}" type="parTrans" cxnId="{B7D7C32F-F2DA-48E0-B601-88342C9C5C85}">
      <dgm:prSet/>
      <dgm:spPr/>
      <dgm:t>
        <a:bodyPr/>
        <a:lstStyle/>
        <a:p>
          <a:endParaRPr lang="pt-BR"/>
        </a:p>
      </dgm:t>
    </dgm:pt>
    <dgm:pt modelId="{F3065EC6-8550-43A5-AFCB-237F558EAE1A}" type="sibTrans" cxnId="{B7D7C32F-F2DA-48E0-B601-88342C9C5C85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3" custScaleY="98459" custLinFactNeighborX="3603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2"/>
      <dgm:spPr/>
    </dgm:pt>
    <dgm:pt modelId="{7CE5DD04-9774-48E4-ADA4-C0B1D1A9FFD0}" type="pres">
      <dgm:prSet presAssocID="{86F584F7-F242-4486-8D32-1F789305B825}" presName="connectorText" presStyleLbl="sibTrans2D1" presStyleIdx="0" presStyleCnt="2"/>
      <dgm:spPr/>
    </dgm:pt>
    <dgm:pt modelId="{E038E7F1-FDE5-4AC4-B10A-C780E85B1974}" type="pres">
      <dgm:prSet presAssocID="{E297A6AA-C4A6-4532-8053-6687392E5CFD}" presName="node" presStyleLbl="node1" presStyleIdx="1" presStyleCnt="3">
        <dgm:presLayoutVars>
          <dgm:bulletEnabled val="1"/>
        </dgm:presLayoutVars>
      </dgm:prSet>
      <dgm:spPr/>
    </dgm:pt>
    <dgm:pt modelId="{93465E85-0760-4862-9E0C-80A182C944E8}" type="pres">
      <dgm:prSet presAssocID="{F3065EC6-8550-43A5-AFCB-237F558EAE1A}" presName="sibTrans" presStyleLbl="sibTrans2D1" presStyleIdx="1" presStyleCnt="2"/>
      <dgm:spPr/>
    </dgm:pt>
    <dgm:pt modelId="{F9E36259-358B-46E1-9361-364812820310}" type="pres">
      <dgm:prSet presAssocID="{F3065EC6-8550-43A5-AFCB-237F558EAE1A}" presName="connectorText" presStyleLbl="sibTrans2D1" presStyleIdx="1" presStyleCnt="2"/>
      <dgm:spPr/>
    </dgm:pt>
    <dgm:pt modelId="{A37BAF9D-1433-4995-85F1-5DBC0C9A411F}" type="pres">
      <dgm:prSet presAssocID="{7759980A-3A19-4A23-95C8-FBE31BD7F35E}" presName="node" presStyleLbl="node1" presStyleIdx="2" presStyleCnt="3">
        <dgm:presLayoutVars>
          <dgm:bulletEnabled val="1"/>
        </dgm:presLayoutVars>
      </dgm:prSet>
      <dgm:spPr/>
    </dgm:pt>
  </dgm:ptLst>
  <dgm:cxnLst>
    <dgm:cxn modelId="{C86A142E-C943-48E0-9356-C2366CBE3A77}" type="presOf" srcId="{86F584F7-F242-4486-8D32-1F789305B825}" destId="{80F04ABB-B332-4757-B2E3-398522FAF177}" srcOrd="0" destOrd="0" presId="urn:microsoft.com/office/officeart/2005/8/layout/process1"/>
    <dgm:cxn modelId="{B7D7C32F-F2DA-48E0-B601-88342C9C5C85}" srcId="{0B62365D-9689-475A-A5C2-FB9CCAF87182}" destId="{E297A6AA-C4A6-4532-8053-6687392E5CFD}" srcOrd="1" destOrd="0" parTransId="{572C99FD-DDDA-425D-85E2-0F7C97752808}" sibTransId="{F3065EC6-8550-43A5-AFCB-237F558EAE1A}"/>
    <dgm:cxn modelId="{4EA80143-AFA9-46B6-A66F-02B0629F5450}" type="presOf" srcId="{E297A6AA-C4A6-4532-8053-6687392E5CFD}" destId="{E038E7F1-FDE5-4AC4-B10A-C780E85B1974}" srcOrd="0" destOrd="0" presId="urn:microsoft.com/office/officeart/2005/8/layout/process1"/>
    <dgm:cxn modelId="{8BCF9448-8A3F-407E-A72C-26BEC798047E}" srcId="{0B62365D-9689-475A-A5C2-FB9CCAF87182}" destId="{7759980A-3A19-4A23-95C8-FBE31BD7F35E}" srcOrd="2" destOrd="0" parTransId="{86AB22AB-AA7B-4633-B060-79BECD4C0559}" sibTransId="{A05CDA8E-EDFD-4297-B5CA-E670085C55F5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3A4D625F-BE12-4059-AF50-576401F61AC5}" type="presOf" srcId="{86F584F7-F242-4486-8D32-1F789305B825}" destId="{7CE5DD04-9774-48E4-ADA4-C0B1D1A9FFD0}" srcOrd="1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5B178B7A-BAF1-4419-96BD-04A2E270238E}" type="presOf" srcId="{F3065EC6-8550-43A5-AFCB-237F558EAE1A}" destId="{93465E85-0760-4862-9E0C-80A182C944E8}" srcOrd="0" destOrd="0" presId="urn:microsoft.com/office/officeart/2005/8/layout/process1"/>
    <dgm:cxn modelId="{46056895-39A9-4274-AA33-28BE5D9BDEF1}" type="presOf" srcId="{F3065EC6-8550-43A5-AFCB-237F558EAE1A}" destId="{F9E36259-358B-46E1-9361-36481282031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3F694FDA-F27A-4B6C-BE52-9832B6A2B4A0}" type="presOf" srcId="{7759980A-3A19-4A23-95C8-FBE31BD7F35E}" destId="{A37BAF9D-1433-4995-85F1-5DBC0C9A411F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42BEB504-0C72-4F9D-9FFE-0BCAC53F58B6}" type="presParOf" srcId="{26209C40-B573-414E-B236-30EE569A8464}" destId="{80F04ABB-B332-4757-B2E3-398522FAF177}" srcOrd="1" destOrd="0" presId="urn:microsoft.com/office/officeart/2005/8/layout/process1"/>
    <dgm:cxn modelId="{AC01DF69-429D-4D4A-954F-DE4CA2DC8E95}" type="presParOf" srcId="{80F04ABB-B332-4757-B2E3-398522FAF177}" destId="{7CE5DD04-9774-48E4-ADA4-C0B1D1A9FFD0}" srcOrd="0" destOrd="0" presId="urn:microsoft.com/office/officeart/2005/8/layout/process1"/>
    <dgm:cxn modelId="{21874DAD-7F62-4CAE-A2B0-D7511A0030B6}" type="presParOf" srcId="{26209C40-B573-414E-B236-30EE569A8464}" destId="{E038E7F1-FDE5-4AC4-B10A-C780E85B1974}" srcOrd="2" destOrd="0" presId="urn:microsoft.com/office/officeart/2005/8/layout/process1"/>
    <dgm:cxn modelId="{A3F6D5A7-83C9-4B2D-8278-5A6208FB870C}" type="presParOf" srcId="{26209C40-B573-414E-B236-30EE569A8464}" destId="{93465E85-0760-4862-9E0C-80A182C944E8}" srcOrd="3" destOrd="0" presId="urn:microsoft.com/office/officeart/2005/8/layout/process1"/>
    <dgm:cxn modelId="{A22A21A5-F107-439B-9316-EEBBE4246B68}" type="presParOf" srcId="{93465E85-0760-4862-9E0C-80A182C944E8}" destId="{F9E36259-358B-46E1-9361-364812820310}" srcOrd="0" destOrd="0" presId="urn:microsoft.com/office/officeart/2005/8/layout/process1"/>
    <dgm:cxn modelId="{99F08053-4BE3-4D98-A14F-CA55ED4ED83E}" type="presParOf" srcId="{26209C40-B573-414E-B236-30EE569A8464}" destId="{A37BAF9D-1433-4995-85F1-5DBC0C9A411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Envia valores de solo validados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7332" custLinFactNeighborY="4506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CB272662-3581-4610-B137-1315DC689B8D}">
      <dgm:prSet custT="1"/>
      <dgm:spPr>
        <a:ln>
          <a:noFill/>
        </a:ln>
      </dgm:spPr>
      <dgm:t>
        <a:bodyPr/>
        <a:lstStyle/>
        <a:p>
          <a:r>
            <a:rPr lang="pt-BR" sz="1200" dirty="0">
              <a:solidFill>
                <a:srgbClr val="FFFFFF"/>
              </a:solidFill>
            </a:rPr>
            <a:t>Gera nota de débito (PDF) no B1 para cada fatura que consta na lista recebida</a:t>
          </a:r>
        </a:p>
      </dgm:t>
    </dgm:pt>
    <dgm:pt modelId="{0BAB21C1-8875-4F61-92C1-24438E9A6408}" type="parTrans" cxnId="{4DCCA076-C9EA-4778-A9A8-4965455617D4}">
      <dgm:prSet/>
      <dgm:spPr/>
      <dgm:t>
        <a:bodyPr/>
        <a:lstStyle/>
        <a:p>
          <a:endParaRPr lang="pt-BR"/>
        </a:p>
      </dgm:t>
    </dgm:pt>
    <dgm:pt modelId="{C57AC687-1578-4F53-9110-8C7490CAC2AB}" type="sibTrans" cxnId="{4DCCA076-C9EA-4778-A9A8-4965455617D4}">
      <dgm:prSet/>
      <dgm:spPr/>
      <dgm:t>
        <a:bodyPr/>
        <a:lstStyle/>
        <a:p>
          <a:endParaRPr lang="pt-BR"/>
        </a:p>
      </dgm:t>
    </dgm:pt>
    <dgm:pt modelId="{13C39315-F6E6-4D68-B1C1-E6DF558770ED}">
      <dgm:prSet custT="1"/>
      <dgm:spPr>
        <a:ln>
          <a:noFill/>
        </a:ln>
      </dgm:spPr>
      <dgm:t>
        <a:bodyPr/>
        <a:lstStyle/>
        <a:p>
          <a:r>
            <a:rPr lang="pt-BR" sz="1200">
              <a:solidFill>
                <a:srgbClr val="FFFFFF"/>
              </a:solidFill>
            </a:rPr>
            <a:t>Envia nota de débito para pagamento do acerto do rateio de solo</a:t>
          </a:r>
          <a:endParaRPr lang="pt-BR" sz="1200" dirty="0">
            <a:solidFill>
              <a:srgbClr val="FFFFFF"/>
            </a:solidFill>
          </a:endParaRPr>
        </a:p>
      </dgm:t>
    </dgm:pt>
    <dgm:pt modelId="{09C851A5-B315-4DED-847D-11F83464C391}" type="parTrans" cxnId="{BC5A0826-4B59-4E28-9A18-F5AF0F362DAB}">
      <dgm:prSet/>
      <dgm:spPr/>
      <dgm:t>
        <a:bodyPr/>
        <a:lstStyle/>
        <a:p>
          <a:endParaRPr lang="pt-BR"/>
        </a:p>
      </dgm:t>
    </dgm:pt>
    <dgm:pt modelId="{89B3AC1E-3BE0-4452-9EAC-BE85FA98B6B0}" type="sibTrans" cxnId="{BC5A0826-4B59-4E28-9A18-F5AF0F362DAB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3D1067EB-D143-4325-82F1-2286B54FBECA}" type="pres">
      <dgm:prSet presAssocID="{CB272662-3581-4610-B137-1315DC689B8D}" presName="node" presStyleLbl="node1" presStyleIdx="0" presStyleCnt="2">
        <dgm:presLayoutVars>
          <dgm:bulletEnabled val="1"/>
        </dgm:presLayoutVars>
      </dgm:prSet>
      <dgm:spPr/>
    </dgm:pt>
    <dgm:pt modelId="{D7A67089-BEB7-42C0-9C05-4DED3A795C45}" type="pres">
      <dgm:prSet presAssocID="{C57AC687-1578-4F53-9110-8C7490CAC2AB}" presName="sibTrans" presStyleLbl="sibTrans2D1" presStyleIdx="0" presStyleCnt="1"/>
      <dgm:spPr/>
    </dgm:pt>
    <dgm:pt modelId="{F1775F67-95B9-4CF8-9A38-09B2BE95DE9C}" type="pres">
      <dgm:prSet presAssocID="{C57AC687-1578-4F53-9110-8C7490CAC2AB}" presName="connectorText" presStyleLbl="sibTrans2D1" presStyleIdx="0" presStyleCnt="1"/>
      <dgm:spPr/>
    </dgm:pt>
    <dgm:pt modelId="{A72299D1-D3FB-48C8-A417-63193AEDC3DF}" type="pres">
      <dgm:prSet presAssocID="{13C39315-F6E6-4D68-B1C1-E6DF558770ED}" presName="node" presStyleLbl="node1" presStyleIdx="1" presStyleCnt="2">
        <dgm:presLayoutVars>
          <dgm:bulletEnabled val="1"/>
        </dgm:presLayoutVars>
      </dgm:prSet>
      <dgm:spPr/>
    </dgm:pt>
  </dgm:ptLst>
  <dgm:cxnLst>
    <dgm:cxn modelId="{6961AC14-C790-4527-935A-82CF0866E081}" type="presOf" srcId="{C57AC687-1578-4F53-9110-8C7490CAC2AB}" destId="{D7A67089-BEB7-42C0-9C05-4DED3A795C45}" srcOrd="0" destOrd="0" presId="urn:microsoft.com/office/officeart/2005/8/layout/process1"/>
    <dgm:cxn modelId="{4AD98819-086B-4DC3-A2AE-2F1577F53A1C}" type="presOf" srcId="{CB272662-3581-4610-B137-1315DC689B8D}" destId="{3D1067EB-D143-4325-82F1-2286B54FBECA}" srcOrd="0" destOrd="0" presId="urn:microsoft.com/office/officeart/2005/8/layout/process1"/>
    <dgm:cxn modelId="{BC5A0826-4B59-4E28-9A18-F5AF0F362DAB}" srcId="{0B62365D-9689-475A-A5C2-FB9CCAF87182}" destId="{13C39315-F6E6-4D68-B1C1-E6DF558770ED}" srcOrd="1" destOrd="0" parTransId="{09C851A5-B315-4DED-847D-11F83464C391}" sibTransId="{89B3AC1E-3BE0-4452-9EAC-BE85FA98B6B0}"/>
    <dgm:cxn modelId="{B7019F34-AA7F-4DEF-834B-FA535B3659E0}" type="presOf" srcId="{13C39315-F6E6-4D68-B1C1-E6DF558770ED}" destId="{A72299D1-D3FB-48C8-A417-63193AEDC3DF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CD5A3C52-49F0-4529-A013-D0192D9F8A08}" type="presOf" srcId="{C57AC687-1578-4F53-9110-8C7490CAC2AB}" destId="{F1775F67-95B9-4CF8-9A38-09B2BE95DE9C}" srcOrd="1" destOrd="0" presId="urn:microsoft.com/office/officeart/2005/8/layout/process1"/>
    <dgm:cxn modelId="{4DCCA076-C9EA-4778-A9A8-4965455617D4}" srcId="{0B62365D-9689-475A-A5C2-FB9CCAF87182}" destId="{CB272662-3581-4610-B137-1315DC689B8D}" srcOrd="0" destOrd="0" parTransId="{0BAB21C1-8875-4F61-92C1-24438E9A6408}" sibTransId="{C57AC687-1578-4F53-9110-8C7490CAC2AB}"/>
    <dgm:cxn modelId="{A4E0AAA4-04DD-4A08-9528-784A84966A2D}" type="presParOf" srcId="{26209C40-B573-414E-B236-30EE569A8464}" destId="{3D1067EB-D143-4325-82F1-2286B54FBECA}" srcOrd="0" destOrd="0" presId="urn:microsoft.com/office/officeart/2005/8/layout/process1"/>
    <dgm:cxn modelId="{38E4EA94-8072-4508-84F9-3AE3EBE4FC74}" type="presParOf" srcId="{26209C40-B573-414E-B236-30EE569A8464}" destId="{D7A67089-BEB7-42C0-9C05-4DED3A795C45}" srcOrd="1" destOrd="0" presId="urn:microsoft.com/office/officeart/2005/8/layout/process1"/>
    <dgm:cxn modelId="{B626A534-7623-4B8C-806E-CFBFC1688652}" type="presParOf" srcId="{D7A67089-BEB7-42C0-9C05-4DED3A795C45}" destId="{F1775F67-95B9-4CF8-9A38-09B2BE95DE9C}" srcOrd="0" destOrd="0" presId="urn:microsoft.com/office/officeart/2005/8/layout/process1"/>
    <dgm:cxn modelId="{352633DC-EB46-4EA8-9DA6-1D5F39D0919E}" type="presParOf" srcId="{26209C40-B573-414E-B236-30EE569A8464}" destId="{A72299D1-D3FB-48C8-A417-63193AEDC3D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Autoriza pagamento da nota de débito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7332" custLinFactNeighborY="4506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Inclui valores de energia Oi no DEINF das operadoras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8315" custLinFactNeighborX="-738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Gera e Comunica despesa de  energia (medidor) por operadora</a:t>
          </a:r>
          <a:endParaRPr lang="pt-BR" sz="1100" dirty="0">
            <a:solidFill>
              <a:srgbClr val="FFFFFF"/>
            </a:solidFill>
          </a:endParaRP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2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1049" custLinFactNeighborY="2947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Emite nota de débito para </a:t>
          </a:r>
          <a:r>
            <a:rPr lang="pt-BR" sz="1200" dirty="0" err="1">
              <a:solidFill>
                <a:srgbClr val="FFFFFF"/>
              </a:solidFill>
            </a:rPr>
            <a:t>Lemvig</a:t>
          </a:r>
          <a:r>
            <a:rPr lang="pt-BR" sz="1200" dirty="0">
              <a:solidFill>
                <a:srgbClr val="FFFFFF"/>
              </a:solidFill>
            </a:rPr>
            <a:t> referente aos valores de energia validados³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09373" custLinFactNeighborX="-98" custLinFactNeighborY="5902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Informa valor de energia validado por operadora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8315" custLinFactNeighborX="-738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Cadastra  pedido de pagamento no SAP B1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4025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Realiza a baixa do pagamento no SAP B1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Baixa arquivo com o pedido de depósito bancário e cadastra no banco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BC6FE439-59EC-4301-A75B-A05D2D63A0AF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Baixa Extrato Bancário e relação de pagamentos do SAP B1</a:t>
          </a:r>
        </a:p>
      </dgm:t>
    </dgm:pt>
    <dgm:pt modelId="{BA8A9D2B-895B-4E02-BE02-4F4F76BD7F2E}" type="parTrans" cxnId="{D3844ED1-362E-437D-8380-46A9CF65216E}">
      <dgm:prSet/>
      <dgm:spPr/>
      <dgm:t>
        <a:bodyPr/>
        <a:lstStyle/>
        <a:p>
          <a:endParaRPr lang="pt-BR"/>
        </a:p>
      </dgm:t>
    </dgm:pt>
    <dgm:pt modelId="{9296E81E-CF2C-45FC-BD08-617BA47975FB}" type="sibTrans" cxnId="{D3844ED1-362E-437D-8380-46A9CF65216E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3" custScaleY="134025">
        <dgm:presLayoutVars>
          <dgm:bulletEnabled val="1"/>
        </dgm:presLayoutVars>
      </dgm:prSet>
      <dgm:spPr/>
    </dgm:pt>
    <dgm:pt modelId="{80F04ABB-B332-4757-B2E3-398522FAF177}" type="pres">
      <dgm:prSet presAssocID="{86F584F7-F242-4486-8D32-1F789305B825}" presName="sibTrans" presStyleLbl="sibTrans2D1" presStyleIdx="0" presStyleCnt="2"/>
      <dgm:spPr/>
    </dgm:pt>
    <dgm:pt modelId="{7CE5DD04-9774-48E4-ADA4-C0B1D1A9FFD0}" type="pres">
      <dgm:prSet presAssocID="{86F584F7-F242-4486-8D32-1F789305B825}" presName="connectorText" presStyleLbl="sibTrans2D1" presStyleIdx="0" presStyleCnt="2"/>
      <dgm:spPr/>
    </dgm:pt>
    <dgm:pt modelId="{E6DCAB09-BFE8-421B-AF38-E3E72F4B8C65}" type="pres">
      <dgm:prSet presAssocID="{BC6FE439-59EC-4301-A75B-A05D2D63A0AF}" presName="node" presStyleLbl="node1" presStyleIdx="1" presStyleCnt="3" custScaleY="134025">
        <dgm:presLayoutVars>
          <dgm:bulletEnabled val="1"/>
        </dgm:presLayoutVars>
      </dgm:prSet>
      <dgm:spPr/>
    </dgm:pt>
    <dgm:pt modelId="{D347C60A-1DD7-4283-8B97-A6781FEA2108}" type="pres">
      <dgm:prSet presAssocID="{9296E81E-CF2C-45FC-BD08-617BA47975FB}" presName="sibTrans" presStyleLbl="sibTrans2D1" presStyleIdx="1" presStyleCnt="2"/>
      <dgm:spPr/>
    </dgm:pt>
    <dgm:pt modelId="{46E9EEB3-CBCE-4F0D-A37E-C3FD21C92A76}" type="pres">
      <dgm:prSet presAssocID="{9296E81E-CF2C-45FC-BD08-617BA47975FB}" presName="connectorText" presStyleLbl="sibTrans2D1" presStyleIdx="1" presStyleCnt="2"/>
      <dgm:spPr/>
    </dgm:pt>
    <dgm:pt modelId="{F975F9CD-116B-4BF5-B412-260A6313E137}" type="pres">
      <dgm:prSet presAssocID="{F91F035D-3475-4EE8-A14E-8BDFBE527EC0}" presName="node" presStyleLbl="node1" presStyleIdx="2" presStyleCnt="3" custScaleX="100116" custScaleY="134025" custLinFactNeighborX="-3544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2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F0AB525F-0AF8-45E5-B25C-A89570828CA7}" type="presOf" srcId="{9296E81E-CF2C-45FC-BD08-617BA47975FB}" destId="{46E9EEB3-CBCE-4F0D-A37E-C3FD21C92A76}" srcOrd="1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3ACF21B0-7D98-4568-8E17-C088BB6194C4}" type="presOf" srcId="{86F584F7-F242-4486-8D32-1F789305B825}" destId="{7CE5DD04-9774-48E4-ADA4-C0B1D1A9FFD0}" srcOrd="1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928B66BF-1D1D-4AE2-8632-45CDAD531672}" type="presOf" srcId="{BC6FE439-59EC-4301-A75B-A05D2D63A0AF}" destId="{E6DCAB09-BFE8-421B-AF38-E3E72F4B8C65}" srcOrd="0" destOrd="0" presId="urn:microsoft.com/office/officeart/2005/8/layout/process1"/>
    <dgm:cxn modelId="{D3844ED1-362E-437D-8380-46A9CF65216E}" srcId="{0B62365D-9689-475A-A5C2-FB9CCAF87182}" destId="{BC6FE439-59EC-4301-A75B-A05D2D63A0AF}" srcOrd="1" destOrd="0" parTransId="{BA8A9D2B-895B-4E02-BE02-4F4F76BD7F2E}" sibTransId="{9296E81E-CF2C-45FC-BD08-617BA47975FB}"/>
    <dgm:cxn modelId="{7A8AF3D6-935B-4996-BCB3-7AD5B6B6E3BE}" type="presOf" srcId="{86F584F7-F242-4486-8D32-1F789305B825}" destId="{80F04ABB-B332-4757-B2E3-398522FAF177}" srcOrd="0" destOrd="0" presId="urn:microsoft.com/office/officeart/2005/8/layout/process1"/>
    <dgm:cxn modelId="{71DD9ADA-3C8E-45B3-8B08-7E54B7104392}" type="presOf" srcId="{9296E81E-CF2C-45FC-BD08-617BA47975FB}" destId="{D347C60A-1DD7-4283-8B97-A6781FEA2108}" srcOrd="0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C9A986CE-B373-4B52-A504-1C4F0E6D019D}" type="presParOf" srcId="{26209C40-B573-414E-B236-30EE569A8464}" destId="{80F04ABB-B332-4757-B2E3-398522FAF177}" srcOrd="1" destOrd="0" presId="urn:microsoft.com/office/officeart/2005/8/layout/process1"/>
    <dgm:cxn modelId="{8473187F-9C00-4F46-9973-FE4984A829CD}" type="presParOf" srcId="{80F04ABB-B332-4757-B2E3-398522FAF177}" destId="{7CE5DD04-9774-48E4-ADA4-C0B1D1A9FFD0}" srcOrd="0" destOrd="0" presId="urn:microsoft.com/office/officeart/2005/8/layout/process1"/>
    <dgm:cxn modelId="{3AC1A5BA-ABBA-459B-AF2C-35D0F1287553}" type="presParOf" srcId="{26209C40-B573-414E-B236-30EE569A8464}" destId="{E6DCAB09-BFE8-421B-AF38-E3E72F4B8C65}" srcOrd="2" destOrd="0" presId="urn:microsoft.com/office/officeart/2005/8/layout/process1"/>
    <dgm:cxn modelId="{0551AAC3-7952-4593-A2C7-C00452821F88}" type="presParOf" srcId="{26209C40-B573-414E-B236-30EE569A8464}" destId="{D347C60A-1DD7-4283-8B97-A6781FEA2108}" srcOrd="3" destOrd="0" presId="urn:microsoft.com/office/officeart/2005/8/layout/process1"/>
    <dgm:cxn modelId="{CE4BAF23-0B4F-4976-A036-3B6D8D14AFB3}" type="presParOf" srcId="{D347C60A-1DD7-4283-8B97-A6781FEA2108}" destId="{46E9EEB3-CBCE-4F0D-A37E-C3FD21C92A76}" srcOrd="0" destOrd="0" presId="urn:microsoft.com/office/officeart/2005/8/layout/process1"/>
    <dgm:cxn modelId="{7E5009F8-2C0E-4D04-BD9A-4017DF8402A4}" type="presParOf" srcId="{26209C40-B573-414E-B236-30EE569A8464}" destId="{F975F9CD-116B-4BF5-B412-260A6313E13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Apura pedido cadastrado x pagamento efetuado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34025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planilha com faturas  emitidas no SAP B1 para cobrança das empresas 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9184" custLinFactNeighborY="8593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Acompanha entrada de pagamentos na conta corrente do CAR ou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A5A758BF-B784-4843-B55B-09ED8E60297C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Informa sobre entradas nas contas correntes para time de cobrança</a:t>
          </a:r>
        </a:p>
      </dgm:t>
    </dgm:pt>
    <dgm:pt modelId="{2CBB0D10-3B57-48B1-96DB-99BE9B397637}" type="parTrans" cxnId="{59F8854F-E2C7-43F6-8A0B-E6BDD42FFEBA}">
      <dgm:prSet/>
      <dgm:spPr/>
      <dgm:t>
        <a:bodyPr/>
        <a:lstStyle/>
        <a:p>
          <a:endParaRPr lang="pt-BR"/>
        </a:p>
      </dgm:t>
    </dgm:pt>
    <dgm:pt modelId="{409043FD-5A08-410A-9EC8-932AA67AC548}" type="sibTrans" cxnId="{59F8854F-E2C7-43F6-8A0B-E6BDD42FFEBA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 custScaleY="111102" custLinFactNeighborX="4029" custLinFactNeighborY="5402">
        <dgm:presLayoutVars>
          <dgm:bulletEnabled val="1"/>
        </dgm:presLayoutVars>
      </dgm:prSet>
      <dgm:spPr/>
    </dgm:pt>
    <dgm:pt modelId="{B1FCCD43-EFD5-421A-86CD-0C27F4581C90}" type="pres">
      <dgm:prSet presAssocID="{86F584F7-F242-4486-8D32-1F789305B825}" presName="sibTrans" presStyleLbl="sibTrans2D1" presStyleIdx="0" presStyleCnt="1"/>
      <dgm:spPr/>
    </dgm:pt>
    <dgm:pt modelId="{126EF587-27DB-40CE-B6DA-A0550152C554}" type="pres">
      <dgm:prSet presAssocID="{86F584F7-F242-4486-8D32-1F789305B825}" presName="connectorText" presStyleLbl="sibTrans2D1" presStyleIdx="0" presStyleCnt="1"/>
      <dgm:spPr/>
    </dgm:pt>
    <dgm:pt modelId="{92B68DCF-E684-4679-A323-9EF5FDB60E03}" type="pres">
      <dgm:prSet presAssocID="{A5A758BF-B784-4843-B55B-09ED8E60297C}" presName="node" presStyleLbl="node1" presStyleIdx="1" presStyleCnt="2" custScaleY="115054" custLinFactNeighborX="2731" custLinFactNeighborY="7307">
        <dgm:presLayoutVars>
          <dgm:bulletEnabled val="1"/>
        </dgm:presLayoutVars>
      </dgm:prSet>
      <dgm:spPr/>
    </dgm:pt>
  </dgm:ptLst>
  <dgm:cxnLst>
    <dgm:cxn modelId="{9A027B13-62F5-495F-AB4A-BD3AD2F104D5}" type="presOf" srcId="{A5A758BF-B784-4843-B55B-09ED8E60297C}" destId="{92B68DCF-E684-4679-A323-9EF5FDB60E03}" srcOrd="0" destOrd="0" presId="urn:microsoft.com/office/officeart/2005/8/layout/process1"/>
    <dgm:cxn modelId="{59F8854F-E2C7-43F6-8A0B-E6BDD42FFEBA}" srcId="{0B62365D-9689-475A-A5C2-FB9CCAF87182}" destId="{A5A758BF-B784-4843-B55B-09ED8E60297C}" srcOrd="1" destOrd="0" parTransId="{2CBB0D10-3B57-48B1-96DB-99BE9B397637}" sibTransId="{409043FD-5A08-410A-9EC8-932AA67AC548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4046217D-3CC1-4B72-B2FD-5CE79D0E758B}" type="presOf" srcId="{86F584F7-F242-4486-8D32-1F789305B825}" destId="{B1FCCD43-EFD5-421A-86CD-0C27F4581C90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594B7D9-A2C3-42F9-B6CA-DFA50C5A743B}" type="presOf" srcId="{86F584F7-F242-4486-8D32-1F789305B825}" destId="{126EF587-27DB-40CE-B6DA-A0550152C554}" srcOrd="1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4E13EDBE-650B-4148-8FB5-8C320A1E1F8B}" type="presParOf" srcId="{26209C40-B573-414E-B236-30EE569A8464}" destId="{B1FCCD43-EFD5-421A-86CD-0C27F4581C90}" srcOrd="1" destOrd="0" presId="urn:microsoft.com/office/officeart/2005/8/layout/process1"/>
    <dgm:cxn modelId="{8ABBFF1F-D504-4CAA-8C37-69B0C99FE462}" type="presParOf" srcId="{B1FCCD43-EFD5-421A-86CD-0C27F4581C90}" destId="{126EF587-27DB-40CE-B6DA-A0550152C554}" srcOrd="0" destOrd="0" presId="urn:microsoft.com/office/officeart/2005/8/layout/process1"/>
    <dgm:cxn modelId="{93D283F0-512A-457E-88FC-5F9619BAC088}" type="presParOf" srcId="{26209C40-B573-414E-B236-30EE569A8464}" destId="{92B68DCF-E684-4679-A323-9EF5FDB60E0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Relaciona valores entrantes nas contas correntes com faturas emitidas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A5A758BF-B784-4843-B55B-09ED8E60297C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Disponibiliza conciliação para baixa do pagamento no SAP B1</a:t>
          </a:r>
        </a:p>
      </dgm:t>
    </dgm:pt>
    <dgm:pt modelId="{2CBB0D10-3B57-48B1-96DB-99BE9B397637}" type="parTrans" cxnId="{59F8854F-E2C7-43F6-8A0B-E6BDD42FFEBA}">
      <dgm:prSet/>
      <dgm:spPr/>
      <dgm:t>
        <a:bodyPr/>
        <a:lstStyle/>
        <a:p>
          <a:endParaRPr lang="pt-BR"/>
        </a:p>
      </dgm:t>
    </dgm:pt>
    <dgm:pt modelId="{409043FD-5A08-410A-9EC8-932AA67AC548}" type="sibTrans" cxnId="{59F8854F-E2C7-43F6-8A0B-E6BDD42FFEBA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 custScaleY="111102" custLinFactNeighborX="4029" custLinFactNeighborY="5402">
        <dgm:presLayoutVars>
          <dgm:bulletEnabled val="1"/>
        </dgm:presLayoutVars>
      </dgm:prSet>
      <dgm:spPr/>
    </dgm:pt>
    <dgm:pt modelId="{B1FCCD43-EFD5-421A-86CD-0C27F4581C90}" type="pres">
      <dgm:prSet presAssocID="{86F584F7-F242-4486-8D32-1F789305B825}" presName="sibTrans" presStyleLbl="sibTrans2D1" presStyleIdx="0" presStyleCnt="1"/>
      <dgm:spPr/>
    </dgm:pt>
    <dgm:pt modelId="{126EF587-27DB-40CE-B6DA-A0550152C554}" type="pres">
      <dgm:prSet presAssocID="{86F584F7-F242-4486-8D32-1F789305B825}" presName="connectorText" presStyleLbl="sibTrans2D1" presStyleIdx="0" presStyleCnt="1"/>
      <dgm:spPr/>
    </dgm:pt>
    <dgm:pt modelId="{92B68DCF-E684-4679-A323-9EF5FDB60E03}" type="pres">
      <dgm:prSet presAssocID="{A5A758BF-B784-4843-B55B-09ED8E60297C}" presName="node" presStyleLbl="node1" presStyleIdx="1" presStyleCnt="2" custScaleY="115054" custLinFactNeighborX="2731" custLinFactNeighborY="7307">
        <dgm:presLayoutVars>
          <dgm:bulletEnabled val="1"/>
        </dgm:presLayoutVars>
      </dgm:prSet>
      <dgm:spPr/>
    </dgm:pt>
  </dgm:ptLst>
  <dgm:cxnLst>
    <dgm:cxn modelId="{9A027B13-62F5-495F-AB4A-BD3AD2F104D5}" type="presOf" srcId="{A5A758BF-B784-4843-B55B-09ED8E60297C}" destId="{92B68DCF-E684-4679-A323-9EF5FDB60E03}" srcOrd="0" destOrd="0" presId="urn:microsoft.com/office/officeart/2005/8/layout/process1"/>
    <dgm:cxn modelId="{59F8854F-E2C7-43F6-8A0B-E6BDD42FFEBA}" srcId="{0B62365D-9689-475A-A5C2-FB9CCAF87182}" destId="{A5A758BF-B784-4843-B55B-09ED8E60297C}" srcOrd="1" destOrd="0" parTransId="{2CBB0D10-3B57-48B1-96DB-99BE9B397637}" sibTransId="{409043FD-5A08-410A-9EC8-932AA67AC548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4046217D-3CC1-4B72-B2FD-5CE79D0E758B}" type="presOf" srcId="{86F584F7-F242-4486-8D32-1F789305B825}" destId="{B1FCCD43-EFD5-421A-86CD-0C27F4581C90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594B7D9-A2C3-42F9-B6CA-DFA50C5A743B}" type="presOf" srcId="{86F584F7-F242-4486-8D32-1F789305B825}" destId="{126EF587-27DB-40CE-B6DA-A0550152C554}" srcOrd="1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4E13EDBE-650B-4148-8FB5-8C320A1E1F8B}" type="presParOf" srcId="{26209C40-B573-414E-B236-30EE569A8464}" destId="{B1FCCD43-EFD5-421A-86CD-0C27F4581C90}" srcOrd="1" destOrd="0" presId="urn:microsoft.com/office/officeart/2005/8/layout/process1"/>
    <dgm:cxn modelId="{8ABBFF1F-D504-4CAA-8C37-69B0C99FE462}" type="presParOf" srcId="{B1FCCD43-EFD5-421A-86CD-0C27F4581C90}" destId="{126EF587-27DB-40CE-B6DA-A0550152C554}" srcOrd="0" destOrd="0" presId="urn:microsoft.com/office/officeart/2005/8/layout/process1"/>
    <dgm:cxn modelId="{93D283F0-512A-457E-88FC-5F9619BAC088}" type="presParOf" srcId="{26209C40-B573-414E-B236-30EE569A8464}" destId="{92B68DCF-E684-4679-A323-9EF5FDB60E0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Acessa fatura a fatura no SAP B1 para executar a baixa da fatura emitida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A5A758BF-B784-4843-B55B-09ED8E60297C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Relata conclusão do tratamento das faturas</a:t>
          </a:r>
        </a:p>
      </dgm:t>
    </dgm:pt>
    <dgm:pt modelId="{2CBB0D10-3B57-48B1-96DB-99BE9B397637}" type="parTrans" cxnId="{59F8854F-E2C7-43F6-8A0B-E6BDD42FFEBA}">
      <dgm:prSet/>
      <dgm:spPr/>
      <dgm:t>
        <a:bodyPr/>
        <a:lstStyle/>
        <a:p>
          <a:endParaRPr lang="pt-BR"/>
        </a:p>
      </dgm:t>
    </dgm:pt>
    <dgm:pt modelId="{409043FD-5A08-410A-9EC8-932AA67AC548}" type="sibTrans" cxnId="{59F8854F-E2C7-43F6-8A0B-E6BDD42FFEBA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2" custScaleY="111102" custLinFactNeighborX="4029" custLinFactNeighborY="5402">
        <dgm:presLayoutVars>
          <dgm:bulletEnabled val="1"/>
        </dgm:presLayoutVars>
      </dgm:prSet>
      <dgm:spPr/>
    </dgm:pt>
    <dgm:pt modelId="{B1FCCD43-EFD5-421A-86CD-0C27F4581C90}" type="pres">
      <dgm:prSet presAssocID="{86F584F7-F242-4486-8D32-1F789305B825}" presName="sibTrans" presStyleLbl="sibTrans2D1" presStyleIdx="0" presStyleCnt="1"/>
      <dgm:spPr/>
    </dgm:pt>
    <dgm:pt modelId="{126EF587-27DB-40CE-B6DA-A0550152C554}" type="pres">
      <dgm:prSet presAssocID="{86F584F7-F242-4486-8D32-1F789305B825}" presName="connectorText" presStyleLbl="sibTrans2D1" presStyleIdx="0" presStyleCnt="1"/>
      <dgm:spPr/>
    </dgm:pt>
    <dgm:pt modelId="{92B68DCF-E684-4679-A323-9EF5FDB60E03}" type="pres">
      <dgm:prSet presAssocID="{A5A758BF-B784-4843-B55B-09ED8E60297C}" presName="node" presStyleLbl="node1" presStyleIdx="1" presStyleCnt="2" custScaleY="115054" custLinFactNeighborX="2731" custLinFactNeighborY="7307">
        <dgm:presLayoutVars>
          <dgm:bulletEnabled val="1"/>
        </dgm:presLayoutVars>
      </dgm:prSet>
      <dgm:spPr/>
    </dgm:pt>
  </dgm:ptLst>
  <dgm:cxnLst>
    <dgm:cxn modelId="{9A027B13-62F5-495F-AB4A-BD3AD2F104D5}" type="presOf" srcId="{A5A758BF-B784-4843-B55B-09ED8E60297C}" destId="{92B68DCF-E684-4679-A323-9EF5FDB60E03}" srcOrd="0" destOrd="0" presId="urn:microsoft.com/office/officeart/2005/8/layout/process1"/>
    <dgm:cxn modelId="{59F8854F-E2C7-43F6-8A0B-E6BDD42FFEBA}" srcId="{0B62365D-9689-475A-A5C2-FB9CCAF87182}" destId="{A5A758BF-B784-4843-B55B-09ED8E60297C}" srcOrd="1" destOrd="0" parTransId="{2CBB0D10-3B57-48B1-96DB-99BE9B397637}" sibTransId="{409043FD-5A08-410A-9EC8-932AA67AC548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4046217D-3CC1-4B72-B2FD-5CE79D0E758B}" type="presOf" srcId="{86F584F7-F242-4486-8D32-1F789305B825}" destId="{B1FCCD43-EFD5-421A-86CD-0C27F4581C90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594B7D9-A2C3-42F9-B6CA-DFA50C5A743B}" type="presOf" srcId="{86F584F7-F242-4486-8D32-1F789305B825}" destId="{126EF587-27DB-40CE-B6DA-A0550152C554}" srcOrd="1" destOrd="0" presId="urn:microsoft.com/office/officeart/2005/8/layout/process1"/>
    <dgm:cxn modelId="{CA4065EE-6625-455F-8D38-1FBA4FDE9F68}" type="presParOf" srcId="{26209C40-B573-414E-B236-30EE569A8464}" destId="{05FD921A-AE1C-4952-9E44-54E12D049B3E}" srcOrd="0" destOrd="0" presId="urn:microsoft.com/office/officeart/2005/8/layout/process1"/>
    <dgm:cxn modelId="{4E13EDBE-650B-4148-8FB5-8C320A1E1F8B}" type="presParOf" srcId="{26209C40-B573-414E-B236-30EE569A8464}" destId="{B1FCCD43-EFD5-421A-86CD-0C27F4581C90}" srcOrd="1" destOrd="0" presId="urn:microsoft.com/office/officeart/2005/8/layout/process1"/>
    <dgm:cxn modelId="{8ABBFF1F-D504-4CAA-8C37-69B0C99FE462}" type="presParOf" srcId="{B1FCCD43-EFD5-421A-86CD-0C27F4581C90}" destId="{126EF587-27DB-40CE-B6DA-A0550152C554}" srcOrd="0" destOrd="0" presId="urn:microsoft.com/office/officeart/2005/8/layout/process1"/>
    <dgm:cxn modelId="{93D283F0-512A-457E-88FC-5F9619BAC088}" type="presParOf" srcId="{26209C40-B573-414E-B236-30EE569A8464}" destId="{92B68DCF-E684-4679-A323-9EF5FDB60E0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E5D8D6F-9707-48D5-94EC-0B29E2F1CF14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Realiza a  conciliação do contas a receber</a:t>
          </a:r>
        </a:p>
      </dgm:t>
    </dgm:pt>
    <dgm:pt modelId="{8B1B88EF-FD75-4CF5-84BE-CBBE44CC39FA}" type="parTrans" cxnId="{A46C15B1-92C3-475F-AF7C-9826A2507406}">
      <dgm:prSet/>
      <dgm:spPr/>
      <dgm:t>
        <a:bodyPr/>
        <a:lstStyle/>
        <a:p>
          <a:endParaRPr lang="pt-BR"/>
        </a:p>
      </dgm:t>
    </dgm:pt>
    <dgm:pt modelId="{86F584F7-F242-4486-8D32-1F789305B825}" type="sibTrans" cxnId="{A46C15B1-92C3-475F-AF7C-9826A2507406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05FD921A-AE1C-4952-9E44-54E12D049B3E}" type="pres">
      <dgm:prSet presAssocID="{2E5D8D6F-9707-48D5-94EC-0B29E2F1CF14}" presName="node" presStyleLbl="node1" presStyleIdx="0" presStyleCnt="1" custScaleY="151634" custLinFactNeighborX="4029" custLinFactNeighborY="5402">
        <dgm:presLayoutVars>
          <dgm:bulletEnabled val="1"/>
        </dgm:presLayoutVars>
      </dgm:prSet>
      <dgm:spPr/>
    </dgm:pt>
  </dgm:ptLst>
  <dgm:cxnLst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ECEDC564-5BD2-4795-BBF7-549732D5D105}" type="presOf" srcId="{2E5D8D6F-9707-48D5-94EC-0B29E2F1CF14}" destId="{05FD921A-AE1C-4952-9E44-54E12D049B3E}" srcOrd="0" destOrd="0" presId="urn:microsoft.com/office/officeart/2005/8/layout/process1"/>
    <dgm:cxn modelId="{A46C15B1-92C3-475F-AF7C-9826A2507406}" srcId="{0B62365D-9689-475A-A5C2-FB9CCAF87182}" destId="{2E5D8D6F-9707-48D5-94EC-0B29E2F1CF14}" srcOrd="0" destOrd="0" parTransId="{8B1B88EF-FD75-4CF5-84BE-CBBE44CC39FA}" sibTransId="{86F584F7-F242-4486-8D32-1F789305B825}"/>
    <dgm:cxn modelId="{CA4065EE-6625-455F-8D38-1FBA4FDE9F68}" type="presParOf" srcId="{26209C40-B573-414E-B236-30EE569A8464}" destId="{05FD921A-AE1C-4952-9E44-54E12D049B3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Gera e Comunica despesa de energia por operadora</a:t>
          </a:r>
          <a:endParaRPr lang="pt-BR" sz="1100" dirty="0">
            <a:solidFill>
              <a:srgbClr val="FFFFFF"/>
            </a:solidFill>
          </a:endParaRP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2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1049" custLinFactNeighborX="-1371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Emite nota de débito para </a:t>
          </a:r>
          <a:r>
            <a:rPr lang="pt-BR" sz="1200" dirty="0" err="1">
              <a:solidFill>
                <a:srgbClr val="FFFFFF"/>
              </a:solidFill>
            </a:rPr>
            <a:t>Lemvig</a:t>
          </a:r>
          <a:r>
            <a:rPr lang="pt-BR" sz="1200" dirty="0">
              <a:solidFill>
                <a:srgbClr val="FFFFFF"/>
              </a:solidFill>
            </a:rPr>
            <a:t> referente aos valores de energia validados³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09373" custLinFactNeighborX="-1262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 Inclui valores de energia nos </a:t>
          </a:r>
          <a:r>
            <a:rPr lang="pt-BR" sz="1400" dirty="0" err="1">
              <a:solidFill>
                <a:srgbClr val="FFFFFF"/>
              </a:solidFill>
            </a:rPr>
            <a:t>DEINFs</a:t>
          </a:r>
          <a:r>
            <a:rPr lang="pt-BR" sz="1400" dirty="0">
              <a:solidFill>
                <a:srgbClr val="FFFFFF"/>
              </a:solidFill>
            </a:rPr>
            <a:t> dos </a:t>
          </a:r>
          <a:r>
            <a:rPr lang="pt-BR" sz="1400" dirty="0" err="1">
              <a:solidFill>
                <a:srgbClr val="FFFFFF"/>
              </a:solidFill>
            </a:rPr>
            <a:t>ctts</a:t>
          </a:r>
          <a:r>
            <a:rPr lang="pt-BR" sz="1400" dirty="0">
              <a:solidFill>
                <a:srgbClr val="FFFFFF"/>
              </a:solidFill>
            </a:rPr>
            <a:t> de compartilhamento 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4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50">
            <a:solidFill>
              <a:srgbClr val="FFFFFF"/>
            </a:solidFill>
          </a:endParaRPr>
        </a:p>
      </dgm:t>
    </dgm:pt>
    <dgm:pt modelId="{0B6498AC-B5B2-42A0-A4EB-19A1732A11BA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Envia valores apurados para validação das operadoras</a:t>
          </a:r>
        </a:p>
      </dgm:t>
    </dgm:pt>
    <dgm:pt modelId="{FA4BF0E3-0D14-4451-924E-CA7862216DE7}" type="parTrans" cxnId="{0FB19B03-2A32-4DE3-B9FD-317ACD5234E8}">
      <dgm:prSet/>
      <dgm:spPr/>
      <dgm:t>
        <a:bodyPr/>
        <a:lstStyle/>
        <a:p>
          <a:endParaRPr lang="pt-BR" sz="1800"/>
        </a:p>
      </dgm:t>
    </dgm:pt>
    <dgm:pt modelId="{BA321D41-C0C7-4594-9506-06CBC8FB73D4}" type="sibTrans" cxnId="{0FB19B03-2A32-4DE3-B9FD-317ACD5234E8}">
      <dgm:prSet custT="1"/>
      <dgm:spPr/>
      <dgm:t>
        <a:bodyPr/>
        <a:lstStyle/>
        <a:p>
          <a:endParaRPr lang="pt-BR" sz="2400"/>
        </a:p>
      </dgm:t>
    </dgm:pt>
    <dgm:pt modelId="{88163833-07F6-4E0C-A5F8-5F2B7406E440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Recebe validação das operadoras</a:t>
          </a:r>
        </a:p>
      </dgm:t>
    </dgm:pt>
    <dgm:pt modelId="{AB9A7F01-A118-4CC1-88FA-A7CFF370C415}" type="parTrans" cxnId="{06680DE9-1501-416F-9840-B3C1991152B9}">
      <dgm:prSet/>
      <dgm:spPr/>
      <dgm:t>
        <a:bodyPr/>
        <a:lstStyle/>
        <a:p>
          <a:endParaRPr lang="pt-BR" sz="1800"/>
        </a:p>
      </dgm:t>
    </dgm:pt>
    <dgm:pt modelId="{45EE7182-6BCC-42B1-AF66-AC6407EE74A1}" type="sibTrans" cxnId="{06680DE9-1501-416F-9840-B3C1991152B9}">
      <dgm:prSet custT="1"/>
      <dgm:spPr/>
      <dgm:t>
        <a:bodyPr/>
        <a:lstStyle/>
        <a:p>
          <a:endParaRPr lang="pt-BR" sz="2400"/>
        </a:p>
      </dgm:t>
    </dgm:pt>
    <dgm:pt modelId="{CED8A775-1841-42F5-878F-80CB1E5418FE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Emite faturamento do valor validado¹² de energia contra as operadoras</a:t>
          </a:r>
        </a:p>
      </dgm:t>
    </dgm:pt>
    <dgm:pt modelId="{62DDA224-0680-4282-90B7-41C09C90F649}" type="parTrans" cxnId="{79846799-D9D4-442E-88F3-ED8797533D49}">
      <dgm:prSet/>
      <dgm:spPr/>
      <dgm:t>
        <a:bodyPr/>
        <a:lstStyle/>
        <a:p>
          <a:endParaRPr lang="pt-BR" sz="1800"/>
        </a:p>
      </dgm:t>
    </dgm:pt>
    <dgm:pt modelId="{E09DC690-BC00-4786-99EB-453396FD4664}" type="sibTrans" cxnId="{79846799-D9D4-442E-88F3-ED8797533D49}">
      <dgm:prSet custT="1"/>
      <dgm:spPr/>
      <dgm:t>
        <a:bodyPr/>
        <a:lstStyle/>
        <a:p>
          <a:endParaRPr lang="pt-BR" sz="2400"/>
        </a:p>
      </dgm:t>
    </dgm:pt>
    <dgm:pt modelId="{D0B3F6FC-DC90-4B55-BE34-8F01E8B29DAF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Informa valores validados pelas operadoras para a Oi</a:t>
          </a:r>
        </a:p>
      </dgm:t>
    </dgm:pt>
    <dgm:pt modelId="{E84C3297-7A00-4F3D-B81F-1A9CC3565E3D}" type="parTrans" cxnId="{0057793C-4D76-4450-A0DA-6556515CC557}">
      <dgm:prSet/>
      <dgm:spPr/>
      <dgm:t>
        <a:bodyPr/>
        <a:lstStyle/>
        <a:p>
          <a:endParaRPr lang="pt-BR" sz="1800"/>
        </a:p>
      </dgm:t>
    </dgm:pt>
    <dgm:pt modelId="{345EF005-3AD9-4D2A-86AB-F8BB36552678}" type="sibTrans" cxnId="{0057793C-4D76-4450-A0DA-6556515CC557}">
      <dgm:prSet custT="1"/>
      <dgm:spPr/>
      <dgm:t>
        <a:bodyPr/>
        <a:lstStyle/>
        <a:p>
          <a:endParaRPr lang="pt-BR" sz="2400"/>
        </a:p>
      </dgm:t>
    </dgm:pt>
    <dgm:pt modelId="{0EE77517-D6EC-4B48-BE3F-43252D63C16A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Recebe pagamento das operadoras</a:t>
          </a:r>
        </a:p>
      </dgm:t>
    </dgm:pt>
    <dgm:pt modelId="{F429E7D6-DBDA-4CE4-AB90-E7435B9D104E}" type="parTrans" cxnId="{2999D63C-6FD0-465F-BCA7-5378B1206CE2}">
      <dgm:prSet/>
      <dgm:spPr/>
      <dgm:t>
        <a:bodyPr/>
        <a:lstStyle/>
        <a:p>
          <a:endParaRPr lang="pt-BR" sz="1800"/>
        </a:p>
      </dgm:t>
    </dgm:pt>
    <dgm:pt modelId="{487250BB-2E03-4909-A9A6-8F5880F9C908}" type="sibTrans" cxnId="{2999D63C-6FD0-465F-BCA7-5378B1206CE2}">
      <dgm:prSet/>
      <dgm:spPr/>
      <dgm:t>
        <a:bodyPr/>
        <a:lstStyle/>
        <a:p>
          <a:endParaRPr lang="pt-BR" sz="1800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6">
        <dgm:presLayoutVars>
          <dgm:bulletEnabled val="1"/>
        </dgm:presLayoutVars>
      </dgm:prSet>
      <dgm:spPr/>
    </dgm:pt>
    <dgm:pt modelId="{556BFD75-57C1-4B38-99C4-F1DAC5D6897E}" type="pres">
      <dgm:prSet presAssocID="{839BBDF2-42AF-4BE7-BAEA-7868F2FE699A}" presName="sibTrans" presStyleLbl="sibTrans2D1" presStyleIdx="0" presStyleCnt="5"/>
      <dgm:spPr/>
    </dgm:pt>
    <dgm:pt modelId="{7EF7AFC6-B99A-4491-A65E-9D2026FFC750}" type="pres">
      <dgm:prSet presAssocID="{839BBDF2-42AF-4BE7-BAEA-7868F2FE699A}" presName="connectorText" presStyleLbl="sibTrans2D1" presStyleIdx="0" presStyleCnt="5"/>
      <dgm:spPr/>
    </dgm:pt>
    <dgm:pt modelId="{7378819D-78CA-4A0F-8C3D-8B2967E39881}" type="pres">
      <dgm:prSet presAssocID="{0B6498AC-B5B2-42A0-A4EB-19A1732A11BA}" presName="node" presStyleLbl="node1" presStyleIdx="1" presStyleCnt="6">
        <dgm:presLayoutVars>
          <dgm:bulletEnabled val="1"/>
        </dgm:presLayoutVars>
      </dgm:prSet>
      <dgm:spPr/>
    </dgm:pt>
    <dgm:pt modelId="{F4BEB9B5-3639-43C7-985F-154E22FFA2BD}" type="pres">
      <dgm:prSet presAssocID="{BA321D41-C0C7-4594-9506-06CBC8FB73D4}" presName="sibTrans" presStyleLbl="sibTrans2D1" presStyleIdx="1" presStyleCnt="5"/>
      <dgm:spPr/>
    </dgm:pt>
    <dgm:pt modelId="{22E8CE5D-EB02-4243-968F-2FDE760C7912}" type="pres">
      <dgm:prSet presAssocID="{BA321D41-C0C7-4594-9506-06CBC8FB73D4}" presName="connectorText" presStyleLbl="sibTrans2D1" presStyleIdx="1" presStyleCnt="5"/>
      <dgm:spPr/>
    </dgm:pt>
    <dgm:pt modelId="{442D69AE-2AA3-43A8-B0A8-1B99D350B1CD}" type="pres">
      <dgm:prSet presAssocID="{88163833-07F6-4E0C-A5F8-5F2B7406E440}" presName="node" presStyleLbl="node1" presStyleIdx="2" presStyleCnt="6">
        <dgm:presLayoutVars>
          <dgm:bulletEnabled val="1"/>
        </dgm:presLayoutVars>
      </dgm:prSet>
      <dgm:spPr/>
    </dgm:pt>
    <dgm:pt modelId="{5D23EC4C-AAA5-439F-A125-5C3699DC7D4D}" type="pres">
      <dgm:prSet presAssocID="{45EE7182-6BCC-42B1-AF66-AC6407EE74A1}" presName="sibTrans" presStyleLbl="sibTrans2D1" presStyleIdx="2" presStyleCnt="5"/>
      <dgm:spPr/>
    </dgm:pt>
    <dgm:pt modelId="{21F7F8AF-B9D3-4E9A-A4C6-332691AB8332}" type="pres">
      <dgm:prSet presAssocID="{45EE7182-6BCC-42B1-AF66-AC6407EE74A1}" presName="connectorText" presStyleLbl="sibTrans2D1" presStyleIdx="2" presStyleCnt="5"/>
      <dgm:spPr/>
    </dgm:pt>
    <dgm:pt modelId="{16C61EA1-7FBC-4589-901F-D0F425612EF0}" type="pres">
      <dgm:prSet presAssocID="{D0B3F6FC-DC90-4B55-BE34-8F01E8B29DAF}" presName="node" presStyleLbl="node1" presStyleIdx="3" presStyleCnt="6">
        <dgm:presLayoutVars>
          <dgm:bulletEnabled val="1"/>
        </dgm:presLayoutVars>
      </dgm:prSet>
      <dgm:spPr/>
    </dgm:pt>
    <dgm:pt modelId="{8D8D983B-8618-43F4-A23B-87318E16F96B}" type="pres">
      <dgm:prSet presAssocID="{345EF005-3AD9-4D2A-86AB-F8BB36552678}" presName="sibTrans" presStyleLbl="sibTrans2D1" presStyleIdx="3" presStyleCnt="5"/>
      <dgm:spPr/>
    </dgm:pt>
    <dgm:pt modelId="{18362668-81DA-4282-BD78-9FA92142FD1C}" type="pres">
      <dgm:prSet presAssocID="{345EF005-3AD9-4D2A-86AB-F8BB36552678}" presName="connectorText" presStyleLbl="sibTrans2D1" presStyleIdx="3" presStyleCnt="5"/>
      <dgm:spPr/>
    </dgm:pt>
    <dgm:pt modelId="{03F5D0B3-C5A6-4BE2-85CC-0EA416461B28}" type="pres">
      <dgm:prSet presAssocID="{CED8A775-1841-42F5-878F-80CB1E5418FE}" presName="node" presStyleLbl="node1" presStyleIdx="4" presStyleCnt="6">
        <dgm:presLayoutVars>
          <dgm:bulletEnabled val="1"/>
        </dgm:presLayoutVars>
      </dgm:prSet>
      <dgm:spPr/>
    </dgm:pt>
    <dgm:pt modelId="{5AE5A710-AA21-42F8-83CC-A352135B142F}" type="pres">
      <dgm:prSet presAssocID="{E09DC690-BC00-4786-99EB-453396FD4664}" presName="sibTrans" presStyleLbl="sibTrans2D1" presStyleIdx="4" presStyleCnt="5"/>
      <dgm:spPr/>
    </dgm:pt>
    <dgm:pt modelId="{FB7745AA-2F29-418D-B524-54BE717EEECA}" type="pres">
      <dgm:prSet presAssocID="{E09DC690-BC00-4786-99EB-453396FD4664}" presName="connectorText" presStyleLbl="sibTrans2D1" presStyleIdx="4" presStyleCnt="5"/>
      <dgm:spPr/>
    </dgm:pt>
    <dgm:pt modelId="{90A3CCA9-6A20-489B-80E7-475206AA2682}" type="pres">
      <dgm:prSet presAssocID="{0EE77517-D6EC-4B48-BE3F-43252D63C16A}" presName="node" presStyleLbl="node1" presStyleIdx="5" presStyleCnt="6">
        <dgm:presLayoutVars>
          <dgm:bulletEnabled val="1"/>
        </dgm:presLayoutVars>
      </dgm:prSet>
      <dgm:spPr/>
    </dgm:pt>
  </dgm:ptLst>
  <dgm:cxnLst>
    <dgm:cxn modelId="{0FB19B03-2A32-4DE3-B9FD-317ACD5234E8}" srcId="{0B62365D-9689-475A-A5C2-FB9CCAF87182}" destId="{0B6498AC-B5B2-42A0-A4EB-19A1732A11BA}" srcOrd="1" destOrd="0" parTransId="{FA4BF0E3-0D14-4451-924E-CA7862216DE7}" sibTransId="{BA321D41-C0C7-4594-9506-06CBC8FB73D4}"/>
    <dgm:cxn modelId="{D680841E-3D9D-445D-AB55-30C286C235AD}" type="presOf" srcId="{345EF005-3AD9-4D2A-86AB-F8BB36552678}" destId="{8D8D983B-8618-43F4-A23B-87318E16F96B}" srcOrd="0" destOrd="0" presId="urn:microsoft.com/office/officeart/2005/8/layout/process1"/>
    <dgm:cxn modelId="{6D16701F-0F25-4A8B-9581-3F8FFA875090}" type="presOf" srcId="{BA321D41-C0C7-4594-9506-06CBC8FB73D4}" destId="{22E8CE5D-EB02-4243-968F-2FDE760C7912}" srcOrd="1" destOrd="0" presId="urn:microsoft.com/office/officeart/2005/8/layout/process1"/>
    <dgm:cxn modelId="{39EE4622-B592-481C-AEBF-0F4A3A536887}" type="presOf" srcId="{D0B3F6FC-DC90-4B55-BE34-8F01E8B29DAF}" destId="{16C61EA1-7FBC-4589-901F-D0F425612EF0}" srcOrd="0" destOrd="0" presId="urn:microsoft.com/office/officeart/2005/8/layout/process1"/>
    <dgm:cxn modelId="{82272425-0569-42D4-9C44-D2EF09112CE3}" type="presOf" srcId="{45EE7182-6BCC-42B1-AF66-AC6407EE74A1}" destId="{21F7F8AF-B9D3-4E9A-A4C6-332691AB8332}" srcOrd="1" destOrd="0" presId="urn:microsoft.com/office/officeart/2005/8/layout/process1"/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0057793C-4D76-4450-A0DA-6556515CC557}" srcId="{0B62365D-9689-475A-A5C2-FB9CCAF87182}" destId="{D0B3F6FC-DC90-4B55-BE34-8F01E8B29DAF}" srcOrd="3" destOrd="0" parTransId="{E84C3297-7A00-4F3D-B81F-1A9CC3565E3D}" sibTransId="{345EF005-3AD9-4D2A-86AB-F8BB36552678}"/>
    <dgm:cxn modelId="{2999D63C-6FD0-465F-BCA7-5378B1206CE2}" srcId="{0B62365D-9689-475A-A5C2-FB9CCAF87182}" destId="{0EE77517-D6EC-4B48-BE3F-43252D63C16A}" srcOrd="5" destOrd="0" parTransId="{F429E7D6-DBDA-4CE4-AB90-E7435B9D104E}" sibTransId="{487250BB-2E03-4909-A9A6-8F5880F9C908}"/>
    <dgm:cxn modelId="{557C964F-3E5F-4C05-A6BC-007E7C1C485C}" type="presOf" srcId="{839BBDF2-42AF-4BE7-BAEA-7868F2FE699A}" destId="{556BFD75-57C1-4B38-99C4-F1DAC5D6897E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BB6F5D55-BB80-4374-A124-50CB10F6DE3C}" type="presOf" srcId="{CED8A775-1841-42F5-878F-80CB1E5418FE}" destId="{03F5D0B3-C5A6-4BE2-85CC-0EA416461B28}" srcOrd="0" destOrd="0" presId="urn:microsoft.com/office/officeart/2005/8/layout/process1"/>
    <dgm:cxn modelId="{B92DE469-3B5A-4CF1-8D78-30CC66DD78AA}" type="presOf" srcId="{0B6498AC-B5B2-42A0-A4EB-19A1732A11BA}" destId="{7378819D-78CA-4A0F-8C3D-8B2967E39881}" srcOrd="0" destOrd="0" presId="urn:microsoft.com/office/officeart/2005/8/layout/process1"/>
    <dgm:cxn modelId="{F204A87A-96F8-4223-9B1F-36143DAE3267}" type="presOf" srcId="{E09DC690-BC00-4786-99EB-453396FD4664}" destId="{5AE5A710-AA21-42F8-83CC-A352135B142F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9846799-D9D4-442E-88F3-ED8797533D49}" srcId="{0B62365D-9689-475A-A5C2-FB9CCAF87182}" destId="{CED8A775-1841-42F5-878F-80CB1E5418FE}" srcOrd="4" destOrd="0" parTransId="{62DDA224-0680-4282-90B7-41C09C90F649}" sibTransId="{E09DC690-BC00-4786-99EB-453396FD4664}"/>
    <dgm:cxn modelId="{4A791EA0-99E4-4A01-837D-24E950E1A79B}" type="presOf" srcId="{88163833-07F6-4E0C-A5F8-5F2B7406E440}" destId="{442D69AE-2AA3-43A8-B0A8-1B99D350B1CD}" srcOrd="0" destOrd="0" presId="urn:microsoft.com/office/officeart/2005/8/layout/process1"/>
    <dgm:cxn modelId="{322D03C5-9751-4768-AF48-D5AFA3C44424}" type="presOf" srcId="{839BBDF2-42AF-4BE7-BAEA-7868F2FE699A}" destId="{7EF7AFC6-B99A-4491-A65E-9D2026FFC750}" srcOrd="1" destOrd="0" presId="urn:microsoft.com/office/officeart/2005/8/layout/process1"/>
    <dgm:cxn modelId="{822401C7-D2A5-4FDF-80DE-7E63744555EF}" type="presOf" srcId="{BA321D41-C0C7-4594-9506-06CBC8FB73D4}" destId="{F4BEB9B5-3639-43C7-985F-154E22FFA2BD}" srcOrd="0" destOrd="0" presId="urn:microsoft.com/office/officeart/2005/8/layout/process1"/>
    <dgm:cxn modelId="{F11448D6-26A1-4D0E-A1DD-BDBAA8D264B4}" type="presOf" srcId="{E09DC690-BC00-4786-99EB-453396FD4664}" destId="{FB7745AA-2F29-418D-B524-54BE717EEECA}" srcOrd="1" destOrd="0" presId="urn:microsoft.com/office/officeart/2005/8/layout/process1"/>
    <dgm:cxn modelId="{BAEA11DC-3E8C-4407-A122-F2C5B2BFA51F}" type="presOf" srcId="{45EE7182-6BCC-42B1-AF66-AC6407EE74A1}" destId="{5D23EC4C-AAA5-439F-A125-5C3699DC7D4D}" srcOrd="0" destOrd="0" presId="urn:microsoft.com/office/officeart/2005/8/layout/process1"/>
    <dgm:cxn modelId="{E21A18E2-F306-4A3C-AD39-FA6B36C1E8B5}" type="presOf" srcId="{0EE77517-D6EC-4B48-BE3F-43252D63C16A}" destId="{90A3CCA9-6A20-489B-80E7-475206AA2682}" srcOrd="0" destOrd="0" presId="urn:microsoft.com/office/officeart/2005/8/layout/process1"/>
    <dgm:cxn modelId="{ABC733E6-0A35-4DCC-AB82-2B203B9866F2}" type="presOf" srcId="{345EF005-3AD9-4D2A-86AB-F8BB36552678}" destId="{18362668-81DA-4282-BD78-9FA92142FD1C}" srcOrd="1" destOrd="0" presId="urn:microsoft.com/office/officeart/2005/8/layout/process1"/>
    <dgm:cxn modelId="{06680DE9-1501-416F-9840-B3C1991152B9}" srcId="{0B62365D-9689-475A-A5C2-FB9CCAF87182}" destId="{88163833-07F6-4E0C-A5F8-5F2B7406E440}" srcOrd="2" destOrd="0" parTransId="{AB9A7F01-A118-4CC1-88FA-A7CFF370C415}" sibTransId="{45EE7182-6BCC-42B1-AF66-AC6407EE74A1}"/>
    <dgm:cxn modelId="{7E5009F8-2C0E-4D04-BD9A-4017DF8402A4}" type="presParOf" srcId="{26209C40-B573-414E-B236-30EE569A8464}" destId="{F975F9CD-116B-4BF5-B412-260A6313E137}" srcOrd="0" destOrd="0" presId="urn:microsoft.com/office/officeart/2005/8/layout/process1"/>
    <dgm:cxn modelId="{7FFB9C55-DD8A-4539-983A-9D09E06C78EC}" type="presParOf" srcId="{26209C40-B573-414E-B236-30EE569A8464}" destId="{556BFD75-57C1-4B38-99C4-F1DAC5D6897E}" srcOrd="1" destOrd="0" presId="urn:microsoft.com/office/officeart/2005/8/layout/process1"/>
    <dgm:cxn modelId="{02CB7539-28B1-42F3-93F1-FA4150BA66DD}" type="presParOf" srcId="{556BFD75-57C1-4B38-99C4-F1DAC5D6897E}" destId="{7EF7AFC6-B99A-4491-A65E-9D2026FFC750}" srcOrd="0" destOrd="0" presId="urn:microsoft.com/office/officeart/2005/8/layout/process1"/>
    <dgm:cxn modelId="{DA96C49C-7642-4152-8F52-7D5759AAD33B}" type="presParOf" srcId="{26209C40-B573-414E-B236-30EE569A8464}" destId="{7378819D-78CA-4A0F-8C3D-8B2967E39881}" srcOrd="2" destOrd="0" presId="urn:microsoft.com/office/officeart/2005/8/layout/process1"/>
    <dgm:cxn modelId="{9E4F2CA5-3D72-487A-AE55-6285DFFE100C}" type="presParOf" srcId="{26209C40-B573-414E-B236-30EE569A8464}" destId="{F4BEB9B5-3639-43C7-985F-154E22FFA2BD}" srcOrd="3" destOrd="0" presId="urn:microsoft.com/office/officeart/2005/8/layout/process1"/>
    <dgm:cxn modelId="{E91FD0C0-DF0E-4F29-A1DF-26859FE61886}" type="presParOf" srcId="{F4BEB9B5-3639-43C7-985F-154E22FFA2BD}" destId="{22E8CE5D-EB02-4243-968F-2FDE760C7912}" srcOrd="0" destOrd="0" presId="urn:microsoft.com/office/officeart/2005/8/layout/process1"/>
    <dgm:cxn modelId="{1A1D2ACB-2A3A-4E3F-A56B-21190D9836E2}" type="presParOf" srcId="{26209C40-B573-414E-B236-30EE569A8464}" destId="{442D69AE-2AA3-43A8-B0A8-1B99D350B1CD}" srcOrd="4" destOrd="0" presId="urn:microsoft.com/office/officeart/2005/8/layout/process1"/>
    <dgm:cxn modelId="{966CCA6B-5CD5-4E4B-A02B-B119DABD7FFA}" type="presParOf" srcId="{26209C40-B573-414E-B236-30EE569A8464}" destId="{5D23EC4C-AAA5-439F-A125-5C3699DC7D4D}" srcOrd="5" destOrd="0" presId="urn:microsoft.com/office/officeart/2005/8/layout/process1"/>
    <dgm:cxn modelId="{5ACA8C89-F30E-4518-AE75-30065DD71BB0}" type="presParOf" srcId="{5D23EC4C-AAA5-439F-A125-5C3699DC7D4D}" destId="{21F7F8AF-B9D3-4E9A-A4C6-332691AB8332}" srcOrd="0" destOrd="0" presId="urn:microsoft.com/office/officeart/2005/8/layout/process1"/>
    <dgm:cxn modelId="{68B9DBF8-531C-4B34-A011-F805A1A544AA}" type="presParOf" srcId="{26209C40-B573-414E-B236-30EE569A8464}" destId="{16C61EA1-7FBC-4589-901F-D0F425612EF0}" srcOrd="6" destOrd="0" presId="urn:microsoft.com/office/officeart/2005/8/layout/process1"/>
    <dgm:cxn modelId="{EE0F5F67-9474-48FB-9F16-DB347CD7F589}" type="presParOf" srcId="{26209C40-B573-414E-B236-30EE569A8464}" destId="{8D8D983B-8618-43F4-A23B-87318E16F96B}" srcOrd="7" destOrd="0" presId="urn:microsoft.com/office/officeart/2005/8/layout/process1"/>
    <dgm:cxn modelId="{AFB34FB3-BC83-4AFB-886B-17C0E390C328}" type="presParOf" srcId="{8D8D983B-8618-43F4-A23B-87318E16F96B}" destId="{18362668-81DA-4282-BD78-9FA92142FD1C}" srcOrd="0" destOrd="0" presId="urn:microsoft.com/office/officeart/2005/8/layout/process1"/>
    <dgm:cxn modelId="{4B4998F5-1C5B-4F43-9ED6-CD4323921D09}" type="presParOf" srcId="{26209C40-B573-414E-B236-30EE569A8464}" destId="{03F5D0B3-C5A6-4BE2-85CC-0EA416461B28}" srcOrd="8" destOrd="0" presId="urn:microsoft.com/office/officeart/2005/8/layout/process1"/>
    <dgm:cxn modelId="{A089C236-9EBB-4726-A275-54308CBFD5AC}" type="presParOf" srcId="{26209C40-B573-414E-B236-30EE569A8464}" destId="{5AE5A710-AA21-42F8-83CC-A352135B142F}" srcOrd="9" destOrd="0" presId="urn:microsoft.com/office/officeart/2005/8/layout/process1"/>
    <dgm:cxn modelId="{9924ABC7-12D6-4E51-A620-8ADF65BBE1E9}" type="presParOf" srcId="{5AE5A710-AA21-42F8-83CC-A352135B142F}" destId="{FB7745AA-2F29-418D-B524-54BE717EEECA}" srcOrd="0" destOrd="0" presId="urn:microsoft.com/office/officeart/2005/8/layout/process1"/>
    <dgm:cxn modelId="{CB60A317-CEAB-486B-9CAD-A05DD0650478}" type="presParOf" srcId="{26209C40-B573-414E-B236-30EE569A8464}" destId="{90A3CCA9-6A20-489B-80E7-475206AA268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649BBB8-4ABD-455C-9FA5-EA5499E0AA07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Realiza pagamento da nota de débito para Oi</a:t>
          </a:r>
        </a:p>
      </dgm:t>
    </dgm:pt>
    <dgm:pt modelId="{2C3FBC1B-88C5-4FC9-B54B-29A1A791A4EB}" type="parTrans" cxnId="{5E53481E-ED36-4DD7-8EB9-29EF1A44B044}">
      <dgm:prSet/>
      <dgm:spPr/>
      <dgm:t>
        <a:bodyPr/>
        <a:lstStyle/>
        <a:p>
          <a:endParaRPr lang="pt-BR"/>
        </a:p>
      </dgm:t>
    </dgm:pt>
    <dgm:pt modelId="{BF8587E5-2FDC-44C8-9700-2A0828AC9339}" type="sibTrans" cxnId="{5E53481E-ED36-4DD7-8EB9-29EF1A44B044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D23F5E83-6B44-4BFF-9DAA-A34BBF94B27E}" type="pres">
      <dgm:prSet presAssocID="{7649BBB8-4ABD-455C-9FA5-EA5499E0AA07}" presName="node" presStyleLbl="node1" presStyleIdx="0" presStyleCnt="1" custScaleY="169729">
        <dgm:presLayoutVars>
          <dgm:bulletEnabled val="1"/>
        </dgm:presLayoutVars>
      </dgm:prSet>
      <dgm:spPr/>
    </dgm:pt>
  </dgm:ptLst>
  <dgm:cxnLst>
    <dgm:cxn modelId="{5E53481E-ED36-4DD7-8EB9-29EF1A44B044}" srcId="{0B62365D-9689-475A-A5C2-FB9CCAF87182}" destId="{7649BBB8-4ABD-455C-9FA5-EA5499E0AA07}" srcOrd="0" destOrd="0" parTransId="{2C3FBC1B-88C5-4FC9-B54B-29A1A791A4EB}" sibTransId="{BF8587E5-2FDC-44C8-9700-2A0828AC9339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8C499776-7822-497E-9DB7-0F5FC6A9743B}" type="presOf" srcId="{7649BBB8-4ABD-455C-9FA5-EA5499E0AA07}" destId="{D23F5E83-6B44-4BFF-9DAA-A34BBF94B27E}" srcOrd="0" destOrd="0" presId="urn:microsoft.com/office/officeart/2005/8/layout/process1"/>
    <dgm:cxn modelId="{6DE0FE1D-4002-4AAC-AE5D-037DD14292B2}" type="presParOf" srcId="{26209C40-B573-414E-B236-30EE569A8464}" destId="{D23F5E83-6B44-4BFF-9DAA-A34BBF94B27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Gera e Comunica despesa de energia por operadora</a:t>
          </a:r>
          <a:endParaRPr lang="pt-BR" sz="1100" dirty="0">
            <a:solidFill>
              <a:srgbClr val="FFFFFF"/>
            </a:solidFill>
          </a:endParaRP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2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1049" custLinFactNeighborX="-1371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Emite nota de débito para </a:t>
          </a:r>
          <a:r>
            <a:rPr lang="pt-BR" sz="1200" dirty="0" err="1">
              <a:solidFill>
                <a:srgbClr val="FFFFFF"/>
              </a:solidFill>
            </a:rPr>
            <a:t>Lemvig</a:t>
          </a:r>
          <a:r>
            <a:rPr lang="pt-BR" sz="1200" dirty="0">
              <a:solidFill>
                <a:srgbClr val="FFFFFF"/>
              </a:solidFill>
            </a:rPr>
            <a:t> referente aos valores de energia validados³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09373" custLinFactNeighborX="-1262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 Inclui valores de energia nos </a:t>
          </a:r>
          <a:r>
            <a:rPr lang="pt-BR" sz="1400" dirty="0" err="1">
              <a:solidFill>
                <a:srgbClr val="FFFFFF"/>
              </a:solidFill>
            </a:rPr>
            <a:t>DEINFs</a:t>
          </a:r>
          <a:r>
            <a:rPr lang="pt-BR" sz="1400" dirty="0">
              <a:solidFill>
                <a:srgbClr val="FFFFFF"/>
              </a:solidFill>
            </a:rPr>
            <a:t> dos </a:t>
          </a:r>
          <a:r>
            <a:rPr lang="pt-BR" sz="1400" dirty="0" err="1">
              <a:solidFill>
                <a:srgbClr val="FFFFFF"/>
              </a:solidFill>
            </a:rPr>
            <a:t>ctts</a:t>
          </a:r>
          <a:r>
            <a:rPr lang="pt-BR" sz="1400" dirty="0">
              <a:solidFill>
                <a:srgbClr val="FFFFFF"/>
              </a:solidFill>
            </a:rPr>
            <a:t> de compartilhamento 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4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50">
            <a:solidFill>
              <a:srgbClr val="FFFFFF"/>
            </a:solidFill>
          </a:endParaRPr>
        </a:p>
      </dgm:t>
    </dgm:pt>
    <dgm:pt modelId="{0B6498AC-B5B2-42A0-A4EB-19A1732A11BA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Envia valores apurados para validação das operadoras</a:t>
          </a:r>
        </a:p>
      </dgm:t>
    </dgm:pt>
    <dgm:pt modelId="{FA4BF0E3-0D14-4451-924E-CA7862216DE7}" type="parTrans" cxnId="{0FB19B03-2A32-4DE3-B9FD-317ACD5234E8}">
      <dgm:prSet/>
      <dgm:spPr/>
      <dgm:t>
        <a:bodyPr/>
        <a:lstStyle/>
        <a:p>
          <a:endParaRPr lang="pt-BR" sz="1800"/>
        </a:p>
      </dgm:t>
    </dgm:pt>
    <dgm:pt modelId="{BA321D41-C0C7-4594-9506-06CBC8FB73D4}" type="sibTrans" cxnId="{0FB19B03-2A32-4DE3-B9FD-317ACD5234E8}">
      <dgm:prSet custT="1"/>
      <dgm:spPr/>
      <dgm:t>
        <a:bodyPr/>
        <a:lstStyle/>
        <a:p>
          <a:endParaRPr lang="pt-BR" sz="2400"/>
        </a:p>
      </dgm:t>
    </dgm:pt>
    <dgm:pt modelId="{88163833-07F6-4E0C-A5F8-5F2B7406E440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Recebe validação das operadoras</a:t>
          </a:r>
        </a:p>
      </dgm:t>
    </dgm:pt>
    <dgm:pt modelId="{AB9A7F01-A118-4CC1-88FA-A7CFF370C415}" type="parTrans" cxnId="{06680DE9-1501-416F-9840-B3C1991152B9}">
      <dgm:prSet/>
      <dgm:spPr/>
      <dgm:t>
        <a:bodyPr/>
        <a:lstStyle/>
        <a:p>
          <a:endParaRPr lang="pt-BR" sz="1800"/>
        </a:p>
      </dgm:t>
    </dgm:pt>
    <dgm:pt modelId="{45EE7182-6BCC-42B1-AF66-AC6407EE74A1}" type="sibTrans" cxnId="{06680DE9-1501-416F-9840-B3C1991152B9}">
      <dgm:prSet custT="1"/>
      <dgm:spPr/>
      <dgm:t>
        <a:bodyPr/>
        <a:lstStyle/>
        <a:p>
          <a:endParaRPr lang="pt-BR" sz="2400"/>
        </a:p>
      </dgm:t>
    </dgm:pt>
    <dgm:pt modelId="{CED8A775-1841-42F5-878F-80CB1E5418FE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Emite faturamento do valor validado¹² de energia contra as operadoras</a:t>
          </a:r>
        </a:p>
      </dgm:t>
    </dgm:pt>
    <dgm:pt modelId="{62DDA224-0680-4282-90B7-41C09C90F649}" type="parTrans" cxnId="{79846799-D9D4-442E-88F3-ED8797533D49}">
      <dgm:prSet/>
      <dgm:spPr/>
      <dgm:t>
        <a:bodyPr/>
        <a:lstStyle/>
        <a:p>
          <a:endParaRPr lang="pt-BR" sz="1800"/>
        </a:p>
      </dgm:t>
    </dgm:pt>
    <dgm:pt modelId="{E09DC690-BC00-4786-99EB-453396FD4664}" type="sibTrans" cxnId="{79846799-D9D4-442E-88F3-ED8797533D49}">
      <dgm:prSet custT="1"/>
      <dgm:spPr/>
      <dgm:t>
        <a:bodyPr/>
        <a:lstStyle/>
        <a:p>
          <a:endParaRPr lang="pt-BR" sz="2400"/>
        </a:p>
      </dgm:t>
    </dgm:pt>
    <dgm:pt modelId="{D0B3F6FC-DC90-4B55-BE34-8F01E8B29DAF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Informa valores validados pelas operadoras para a Oi</a:t>
          </a:r>
        </a:p>
      </dgm:t>
    </dgm:pt>
    <dgm:pt modelId="{E84C3297-7A00-4F3D-B81F-1A9CC3565E3D}" type="parTrans" cxnId="{0057793C-4D76-4450-A0DA-6556515CC557}">
      <dgm:prSet/>
      <dgm:spPr/>
      <dgm:t>
        <a:bodyPr/>
        <a:lstStyle/>
        <a:p>
          <a:endParaRPr lang="pt-BR" sz="1800"/>
        </a:p>
      </dgm:t>
    </dgm:pt>
    <dgm:pt modelId="{345EF005-3AD9-4D2A-86AB-F8BB36552678}" type="sibTrans" cxnId="{0057793C-4D76-4450-A0DA-6556515CC557}">
      <dgm:prSet custT="1"/>
      <dgm:spPr/>
      <dgm:t>
        <a:bodyPr/>
        <a:lstStyle/>
        <a:p>
          <a:endParaRPr lang="pt-BR" sz="2400"/>
        </a:p>
      </dgm:t>
    </dgm:pt>
    <dgm:pt modelId="{0EE77517-D6EC-4B48-BE3F-43252D63C16A}">
      <dgm:prSet custT="1"/>
      <dgm:spPr/>
      <dgm:t>
        <a:bodyPr/>
        <a:lstStyle/>
        <a:p>
          <a:r>
            <a:rPr lang="pt-BR" sz="1400" dirty="0">
              <a:solidFill>
                <a:srgbClr val="FFFFFF"/>
              </a:solidFill>
            </a:rPr>
            <a:t>Recebe pagamento das operadoras</a:t>
          </a:r>
        </a:p>
      </dgm:t>
    </dgm:pt>
    <dgm:pt modelId="{F429E7D6-DBDA-4CE4-AB90-E7435B9D104E}" type="parTrans" cxnId="{2999D63C-6FD0-465F-BCA7-5378B1206CE2}">
      <dgm:prSet/>
      <dgm:spPr/>
      <dgm:t>
        <a:bodyPr/>
        <a:lstStyle/>
        <a:p>
          <a:endParaRPr lang="pt-BR" sz="1800"/>
        </a:p>
      </dgm:t>
    </dgm:pt>
    <dgm:pt modelId="{487250BB-2E03-4909-A9A6-8F5880F9C908}" type="sibTrans" cxnId="{2999D63C-6FD0-465F-BCA7-5378B1206CE2}">
      <dgm:prSet/>
      <dgm:spPr/>
      <dgm:t>
        <a:bodyPr/>
        <a:lstStyle/>
        <a:p>
          <a:endParaRPr lang="pt-BR" sz="1800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6">
        <dgm:presLayoutVars>
          <dgm:bulletEnabled val="1"/>
        </dgm:presLayoutVars>
      </dgm:prSet>
      <dgm:spPr/>
    </dgm:pt>
    <dgm:pt modelId="{556BFD75-57C1-4B38-99C4-F1DAC5D6897E}" type="pres">
      <dgm:prSet presAssocID="{839BBDF2-42AF-4BE7-BAEA-7868F2FE699A}" presName="sibTrans" presStyleLbl="sibTrans2D1" presStyleIdx="0" presStyleCnt="5"/>
      <dgm:spPr/>
    </dgm:pt>
    <dgm:pt modelId="{7EF7AFC6-B99A-4491-A65E-9D2026FFC750}" type="pres">
      <dgm:prSet presAssocID="{839BBDF2-42AF-4BE7-BAEA-7868F2FE699A}" presName="connectorText" presStyleLbl="sibTrans2D1" presStyleIdx="0" presStyleCnt="5"/>
      <dgm:spPr/>
    </dgm:pt>
    <dgm:pt modelId="{7378819D-78CA-4A0F-8C3D-8B2967E39881}" type="pres">
      <dgm:prSet presAssocID="{0B6498AC-B5B2-42A0-A4EB-19A1732A11BA}" presName="node" presStyleLbl="node1" presStyleIdx="1" presStyleCnt="6">
        <dgm:presLayoutVars>
          <dgm:bulletEnabled val="1"/>
        </dgm:presLayoutVars>
      </dgm:prSet>
      <dgm:spPr/>
    </dgm:pt>
    <dgm:pt modelId="{F4BEB9B5-3639-43C7-985F-154E22FFA2BD}" type="pres">
      <dgm:prSet presAssocID="{BA321D41-C0C7-4594-9506-06CBC8FB73D4}" presName="sibTrans" presStyleLbl="sibTrans2D1" presStyleIdx="1" presStyleCnt="5"/>
      <dgm:spPr/>
    </dgm:pt>
    <dgm:pt modelId="{22E8CE5D-EB02-4243-968F-2FDE760C7912}" type="pres">
      <dgm:prSet presAssocID="{BA321D41-C0C7-4594-9506-06CBC8FB73D4}" presName="connectorText" presStyleLbl="sibTrans2D1" presStyleIdx="1" presStyleCnt="5"/>
      <dgm:spPr/>
    </dgm:pt>
    <dgm:pt modelId="{442D69AE-2AA3-43A8-B0A8-1B99D350B1CD}" type="pres">
      <dgm:prSet presAssocID="{88163833-07F6-4E0C-A5F8-5F2B7406E440}" presName="node" presStyleLbl="node1" presStyleIdx="2" presStyleCnt="6">
        <dgm:presLayoutVars>
          <dgm:bulletEnabled val="1"/>
        </dgm:presLayoutVars>
      </dgm:prSet>
      <dgm:spPr/>
    </dgm:pt>
    <dgm:pt modelId="{5D23EC4C-AAA5-439F-A125-5C3699DC7D4D}" type="pres">
      <dgm:prSet presAssocID="{45EE7182-6BCC-42B1-AF66-AC6407EE74A1}" presName="sibTrans" presStyleLbl="sibTrans2D1" presStyleIdx="2" presStyleCnt="5"/>
      <dgm:spPr/>
    </dgm:pt>
    <dgm:pt modelId="{21F7F8AF-B9D3-4E9A-A4C6-332691AB8332}" type="pres">
      <dgm:prSet presAssocID="{45EE7182-6BCC-42B1-AF66-AC6407EE74A1}" presName="connectorText" presStyleLbl="sibTrans2D1" presStyleIdx="2" presStyleCnt="5"/>
      <dgm:spPr/>
    </dgm:pt>
    <dgm:pt modelId="{16C61EA1-7FBC-4589-901F-D0F425612EF0}" type="pres">
      <dgm:prSet presAssocID="{D0B3F6FC-DC90-4B55-BE34-8F01E8B29DAF}" presName="node" presStyleLbl="node1" presStyleIdx="3" presStyleCnt="6">
        <dgm:presLayoutVars>
          <dgm:bulletEnabled val="1"/>
        </dgm:presLayoutVars>
      </dgm:prSet>
      <dgm:spPr/>
    </dgm:pt>
    <dgm:pt modelId="{8D8D983B-8618-43F4-A23B-87318E16F96B}" type="pres">
      <dgm:prSet presAssocID="{345EF005-3AD9-4D2A-86AB-F8BB36552678}" presName="sibTrans" presStyleLbl="sibTrans2D1" presStyleIdx="3" presStyleCnt="5"/>
      <dgm:spPr/>
    </dgm:pt>
    <dgm:pt modelId="{18362668-81DA-4282-BD78-9FA92142FD1C}" type="pres">
      <dgm:prSet presAssocID="{345EF005-3AD9-4D2A-86AB-F8BB36552678}" presName="connectorText" presStyleLbl="sibTrans2D1" presStyleIdx="3" presStyleCnt="5"/>
      <dgm:spPr/>
    </dgm:pt>
    <dgm:pt modelId="{03F5D0B3-C5A6-4BE2-85CC-0EA416461B28}" type="pres">
      <dgm:prSet presAssocID="{CED8A775-1841-42F5-878F-80CB1E5418FE}" presName="node" presStyleLbl="node1" presStyleIdx="4" presStyleCnt="6">
        <dgm:presLayoutVars>
          <dgm:bulletEnabled val="1"/>
        </dgm:presLayoutVars>
      </dgm:prSet>
      <dgm:spPr/>
    </dgm:pt>
    <dgm:pt modelId="{5AE5A710-AA21-42F8-83CC-A352135B142F}" type="pres">
      <dgm:prSet presAssocID="{E09DC690-BC00-4786-99EB-453396FD4664}" presName="sibTrans" presStyleLbl="sibTrans2D1" presStyleIdx="4" presStyleCnt="5"/>
      <dgm:spPr/>
    </dgm:pt>
    <dgm:pt modelId="{FB7745AA-2F29-418D-B524-54BE717EEECA}" type="pres">
      <dgm:prSet presAssocID="{E09DC690-BC00-4786-99EB-453396FD4664}" presName="connectorText" presStyleLbl="sibTrans2D1" presStyleIdx="4" presStyleCnt="5"/>
      <dgm:spPr/>
    </dgm:pt>
    <dgm:pt modelId="{90A3CCA9-6A20-489B-80E7-475206AA2682}" type="pres">
      <dgm:prSet presAssocID="{0EE77517-D6EC-4B48-BE3F-43252D63C16A}" presName="node" presStyleLbl="node1" presStyleIdx="5" presStyleCnt="6">
        <dgm:presLayoutVars>
          <dgm:bulletEnabled val="1"/>
        </dgm:presLayoutVars>
      </dgm:prSet>
      <dgm:spPr/>
    </dgm:pt>
  </dgm:ptLst>
  <dgm:cxnLst>
    <dgm:cxn modelId="{0FB19B03-2A32-4DE3-B9FD-317ACD5234E8}" srcId="{0B62365D-9689-475A-A5C2-FB9CCAF87182}" destId="{0B6498AC-B5B2-42A0-A4EB-19A1732A11BA}" srcOrd="1" destOrd="0" parTransId="{FA4BF0E3-0D14-4451-924E-CA7862216DE7}" sibTransId="{BA321D41-C0C7-4594-9506-06CBC8FB73D4}"/>
    <dgm:cxn modelId="{D680841E-3D9D-445D-AB55-30C286C235AD}" type="presOf" srcId="{345EF005-3AD9-4D2A-86AB-F8BB36552678}" destId="{8D8D983B-8618-43F4-A23B-87318E16F96B}" srcOrd="0" destOrd="0" presId="urn:microsoft.com/office/officeart/2005/8/layout/process1"/>
    <dgm:cxn modelId="{6D16701F-0F25-4A8B-9581-3F8FFA875090}" type="presOf" srcId="{BA321D41-C0C7-4594-9506-06CBC8FB73D4}" destId="{22E8CE5D-EB02-4243-968F-2FDE760C7912}" srcOrd="1" destOrd="0" presId="urn:microsoft.com/office/officeart/2005/8/layout/process1"/>
    <dgm:cxn modelId="{39EE4622-B592-481C-AEBF-0F4A3A536887}" type="presOf" srcId="{D0B3F6FC-DC90-4B55-BE34-8F01E8B29DAF}" destId="{16C61EA1-7FBC-4589-901F-D0F425612EF0}" srcOrd="0" destOrd="0" presId="urn:microsoft.com/office/officeart/2005/8/layout/process1"/>
    <dgm:cxn modelId="{82272425-0569-42D4-9C44-D2EF09112CE3}" type="presOf" srcId="{45EE7182-6BCC-42B1-AF66-AC6407EE74A1}" destId="{21F7F8AF-B9D3-4E9A-A4C6-332691AB8332}" srcOrd="1" destOrd="0" presId="urn:microsoft.com/office/officeart/2005/8/layout/process1"/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0057793C-4D76-4450-A0DA-6556515CC557}" srcId="{0B62365D-9689-475A-A5C2-FB9CCAF87182}" destId="{D0B3F6FC-DC90-4B55-BE34-8F01E8B29DAF}" srcOrd="3" destOrd="0" parTransId="{E84C3297-7A00-4F3D-B81F-1A9CC3565E3D}" sibTransId="{345EF005-3AD9-4D2A-86AB-F8BB36552678}"/>
    <dgm:cxn modelId="{2999D63C-6FD0-465F-BCA7-5378B1206CE2}" srcId="{0B62365D-9689-475A-A5C2-FB9CCAF87182}" destId="{0EE77517-D6EC-4B48-BE3F-43252D63C16A}" srcOrd="5" destOrd="0" parTransId="{F429E7D6-DBDA-4CE4-AB90-E7435B9D104E}" sibTransId="{487250BB-2E03-4909-A9A6-8F5880F9C908}"/>
    <dgm:cxn modelId="{557C964F-3E5F-4C05-A6BC-007E7C1C485C}" type="presOf" srcId="{839BBDF2-42AF-4BE7-BAEA-7868F2FE699A}" destId="{556BFD75-57C1-4B38-99C4-F1DAC5D6897E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BB6F5D55-BB80-4374-A124-50CB10F6DE3C}" type="presOf" srcId="{CED8A775-1841-42F5-878F-80CB1E5418FE}" destId="{03F5D0B3-C5A6-4BE2-85CC-0EA416461B28}" srcOrd="0" destOrd="0" presId="urn:microsoft.com/office/officeart/2005/8/layout/process1"/>
    <dgm:cxn modelId="{B92DE469-3B5A-4CF1-8D78-30CC66DD78AA}" type="presOf" srcId="{0B6498AC-B5B2-42A0-A4EB-19A1732A11BA}" destId="{7378819D-78CA-4A0F-8C3D-8B2967E39881}" srcOrd="0" destOrd="0" presId="urn:microsoft.com/office/officeart/2005/8/layout/process1"/>
    <dgm:cxn modelId="{F204A87A-96F8-4223-9B1F-36143DAE3267}" type="presOf" srcId="{E09DC690-BC00-4786-99EB-453396FD4664}" destId="{5AE5A710-AA21-42F8-83CC-A352135B142F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9846799-D9D4-442E-88F3-ED8797533D49}" srcId="{0B62365D-9689-475A-A5C2-FB9CCAF87182}" destId="{CED8A775-1841-42F5-878F-80CB1E5418FE}" srcOrd="4" destOrd="0" parTransId="{62DDA224-0680-4282-90B7-41C09C90F649}" sibTransId="{E09DC690-BC00-4786-99EB-453396FD4664}"/>
    <dgm:cxn modelId="{4A791EA0-99E4-4A01-837D-24E950E1A79B}" type="presOf" srcId="{88163833-07F6-4E0C-A5F8-5F2B7406E440}" destId="{442D69AE-2AA3-43A8-B0A8-1B99D350B1CD}" srcOrd="0" destOrd="0" presId="urn:microsoft.com/office/officeart/2005/8/layout/process1"/>
    <dgm:cxn modelId="{322D03C5-9751-4768-AF48-D5AFA3C44424}" type="presOf" srcId="{839BBDF2-42AF-4BE7-BAEA-7868F2FE699A}" destId="{7EF7AFC6-B99A-4491-A65E-9D2026FFC750}" srcOrd="1" destOrd="0" presId="urn:microsoft.com/office/officeart/2005/8/layout/process1"/>
    <dgm:cxn modelId="{822401C7-D2A5-4FDF-80DE-7E63744555EF}" type="presOf" srcId="{BA321D41-C0C7-4594-9506-06CBC8FB73D4}" destId="{F4BEB9B5-3639-43C7-985F-154E22FFA2BD}" srcOrd="0" destOrd="0" presId="urn:microsoft.com/office/officeart/2005/8/layout/process1"/>
    <dgm:cxn modelId="{F11448D6-26A1-4D0E-A1DD-BDBAA8D264B4}" type="presOf" srcId="{E09DC690-BC00-4786-99EB-453396FD4664}" destId="{FB7745AA-2F29-418D-B524-54BE717EEECA}" srcOrd="1" destOrd="0" presId="urn:microsoft.com/office/officeart/2005/8/layout/process1"/>
    <dgm:cxn modelId="{BAEA11DC-3E8C-4407-A122-F2C5B2BFA51F}" type="presOf" srcId="{45EE7182-6BCC-42B1-AF66-AC6407EE74A1}" destId="{5D23EC4C-AAA5-439F-A125-5C3699DC7D4D}" srcOrd="0" destOrd="0" presId="urn:microsoft.com/office/officeart/2005/8/layout/process1"/>
    <dgm:cxn modelId="{E21A18E2-F306-4A3C-AD39-FA6B36C1E8B5}" type="presOf" srcId="{0EE77517-D6EC-4B48-BE3F-43252D63C16A}" destId="{90A3CCA9-6A20-489B-80E7-475206AA2682}" srcOrd="0" destOrd="0" presId="urn:microsoft.com/office/officeart/2005/8/layout/process1"/>
    <dgm:cxn modelId="{ABC733E6-0A35-4DCC-AB82-2B203B9866F2}" type="presOf" srcId="{345EF005-3AD9-4D2A-86AB-F8BB36552678}" destId="{18362668-81DA-4282-BD78-9FA92142FD1C}" srcOrd="1" destOrd="0" presId="urn:microsoft.com/office/officeart/2005/8/layout/process1"/>
    <dgm:cxn modelId="{06680DE9-1501-416F-9840-B3C1991152B9}" srcId="{0B62365D-9689-475A-A5C2-FB9CCAF87182}" destId="{88163833-07F6-4E0C-A5F8-5F2B7406E440}" srcOrd="2" destOrd="0" parTransId="{AB9A7F01-A118-4CC1-88FA-A7CFF370C415}" sibTransId="{45EE7182-6BCC-42B1-AF66-AC6407EE74A1}"/>
    <dgm:cxn modelId="{7E5009F8-2C0E-4D04-BD9A-4017DF8402A4}" type="presParOf" srcId="{26209C40-B573-414E-B236-30EE569A8464}" destId="{F975F9CD-116B-4BF5-B412-260A6313E137}" srcOrd="0" destOrd="0" presId="urn:microsoft.com/office/officeart/2005/8/layout/process1"/>
    <dgm:cxn modelId="{7FFB9C55-DD8A-4539-983A-9D09E06C78EC}" type="presParOf" srcId="{26209C40-B573-414E-B236-30EE569A8464}" destId="{556BFD75-57C1-4B38-99C4-F1DAC5D6897E}" srcOrd="1" destOrd="0" presId="urn:microsoft.com/office/officeart/2005/8/layout/process1"/>
    <dgm:cxn modelId="{02CB7539-28B1-42F3-93F1-FA4150BA66DD}" type="presParOf" srcId="{556BFD75-57C1-4B38-99C4-F1DAC5D6897E}" destId="{7EF7AFC6-B99A-4491-A65E-9D2026FFC750}" srcOrd="0" destOrd="0" presId="urn:microsoft.com/office/officeart/2005/8/layout/process1"/>
    <dgm:cxn modelId="{DA96C49C-7642-4152-8F52-7D5759AAD33B}" type="presParOf" srcId="{26209C40-B573-414E-B236-30EE569A8464}" destId="{7378819D-78CA-4A0F-8C3D-8B2967E39881}" srcOrd="2" destOrd="0" presId="urn:microsoft.com/office/officeart/2005/8/layout/process1"/>
    <dgm:cxn modelId="{9E4F2CA5-3D72-487A-AE55-6285DFFE100C}" type="presParOf" srcId="{26209C40-B573-414E-B236-30EE569A8464}" destId="{F4BEB9B5-3639-43C7-985F-154E22FFA2BD}" srcOrd="3" destOrd="0" presId="urn:microsoft.com/office/officeart/2005/8/layout/process1"/>
    <dgm:cxn modelId="{E91FD0C0-DF0E-4F29-A1DF-26859FE61886}" type="presParOf" srcId="{F4BEB9B5-3639-43C7-985F-154E22FFA2BD}" destId="{22E8CE5D-EB02-4243-968F-2FDE760C7912}" srcOrd="0" destOrd="0" presId="urn:microsoft.com/office/officeart/2005/8/layout/process1"/>
    <dgm:cxn modelId="{1A1D2ACB-2A3A-4E3F-A56B-21190D9836E2}" type="presParOf" srcId="{26209C40-B573-414E-B236-30EE569A8464}" destId="{442D69AE-2AA3-43A8-B0A8-1B99D350B1CD}" srcOrd="4" destOrd="0" presId="urn:microsoft.com/office/officeart/2005/8/layout/process1"/>
    <dgm:cxn modelId="{966CCA6B-5CD5-4E4B-A02B-B119DABD7FFA}" type="presParOf" srcId="{26209C40-B573-414E-B236-30EE569A8464}" destId="{5D23EC4C-AAA5-439F-A125-5C3699DC7D4D}" srcOrd="5" destOrd="0" presId="urn:microsoft.com/office/officeart/2005/8/layout/process1"/>
    <dgm:cxn modelId="{5ACA8C89-F30E-4518-AE75-30065DD71BB0}" type="presParOf" srcId="{5D23EC4C-AAA5-439F-A125-5C3699DC7D4D}" destId="{21F7F8AF-B9D3-4E9A-A4C6-332691AB8332}" srcOrd="0" destOrd="0" presId="urn:microsoft.com/office/officeart/2005/8/layout/process1"/>
    <dgm:cxn modelId="{68B9DBF8-531C-4B34-A011-F805A1A544AA}" type="presParOf" srcId="{26209C40-B573-414E-B236-30EE569A8464}" destId="{16C61EA1-7FBC-4589-901F-D0F425612EF0}" srcOrd="6" destOrd="0" presId="urn:microsoft.com/office/officeart/2005/8/layout/process1"/>
    <dgm:cxn modelId="{EE0F5F67-9474-48FB-9F16-DB347CD7F589}" type="presParOf" srcId="{26209C40-B573-414E-B236-30EE569A8464}" destId="{8D8D983B-8618-43F4-A23B-87318E16F96B}" srcOrd="7" destOrd="0" presId="urn:microsoft.com/office/officeart/2005/8/layout/process1"/>
    <dgm:cxn modelId="{AFB34FB3-BC83-4AFB-886B-17C0E390C328}" type="presParOf" srcId="{8D8D983B-8618-43F4-A23B-87318E16F96B}" destId="{18362668-81DA-4282-BD78-9FA92142FD1C}" srcOrd="0" destOrd="0" presId="urn:microsoft.com/office/officeart/2005/8/layout/process1"/>
    <dgm:cxn modelId="{4B4998F5-1C5B-4F43-9ED6-CD4323921D09}" type="presParOf" srcId="{26209C40-B573-414E-B236-30EE569A8464}" destId="{03F5D0B3-C5A6-4BE2-85CC-0EA416461B28}" srcOrd="8" destOrd="0" presId="urn:microsoft.com/office/officeart/2005/8/layout/process1"/>
    <dgm:cxn modelId="{A089C236-9EBB-4726-A275-54308CBFD5AC}" type="presParOf" srcId="{26209C40-B573-414E-B236-30EE569A8464}" destId="{5AE5A710-AA21-42F8-83CC-A352135B142F}" srcOrd="9" destOrd="0" presId="urn:microsoft.com/office/officeart/2005/8/layout/process1"/>
    <dgm:cxn modelId="{9924ABC7-12D6-4E51-A620-8ADF65BBE1E9}" type="presParOf" srcId="{5AE5A710-AA21-42F8-83CC-A352135B142F}" destId="{FB7745AA-2F29-418D-B524-54BE717EEECA}" srcOrd="0" destOrd="0" presId="urn:microsoft.com/office/officeart/2005/8/layout/process1"/>
    <dgm:cxn modelId="{CB60A317-CEAB-486B-9CAD-A05DD0650478}" type="presParOf" srcId="{26209C40-B573-414E-B236-30EE569A8464}" destId="{90A3CCA9-6A20-489B-80E7-475206AA268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649BBB8-4ABD-455C-9FA5-EA5499E0AA07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Realiza pagamento da nota de débito para Oi</a:t>
          </a:r>
        </a:p>
      </dgm:t>
    </dgm:pt>
    <dgm:pt modelId="{2C3FBC1B-88C5-4FC9-B54B-29A1A791A4EB}" type="parTrans" cxnId="{5E53481E-ED36-4DD7-8EB9-29EF1A44B044}">
      <dgm:prSet/>
      <dgm:spPr/>
      <dgm:t>
        <a:bodyPr/>
        <a:lstStyle/>
        <a:p>
          <a:endParaRPr lang="pt-BR"/>
        </a:p>
      </dgm:t>
    </dgm:pt>
    <dgm:pt modelId="{BF8587E5-2FDC-44C8-9700-2A0828AC9339}" type="sibTrans" cxnId="{5E53481E-ED36-4DD7-8EB9-29EF1A44B044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D23F5E83-6B44-4BFF-9DAA-A34BBF94B27E}" type="pres">
      <dgm:prSet presAssocID="{7649BBB8-4ABD-455C-9FA5-EA5499E0AA07}" presName="node" presStyleLbl="node1" presStyleIdx="0" presStyleCnt="1" custScaleY="169729">
        <dgm:presLayoutVars>
          <dgm:bulletEnabled val="1"/>
        </dgm:presLayoutVars>
      </dgm:prSet>
      <dgm:spPr/>
    </dgm:pt>
  </dgm:ptLst>
  <dgm:cxnLst>
    <dgm:cxn modelId="{5E53481E-ED36-4DD7-8EB9-29EF1A44B044}" srcId="{0B62365D-9689-475A-A5C2-FB9CCAF87182}" destId="{7649BBB8-4ABD-455C-9FA5-EA5499E0AA07}" srcOrd="0" destOrd="0" parTransId="{2C3FBC1B-88C5-4FC9-B54B-29A1A791A4EB}" sibTransId="{BF8587E5-2FDC-44C8-9700-2A0828AC9339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8C499776-7822-497E-9DB7-0F5FC6A9743B}" type="presOf" srcId="{7649BBB8-4ABD-455C-9FA5-EA5499E0AA07}" destId="{D23F5E83-6B44-4BFF-9DAA-A34BBF94B27E}" srcOrd="0" destOrd="0" presId="urn:microsoft.com/office/officeart/2005/8/layout/process1"/>
    <dgm:cxn modelId="{6DE0FE1D-4002-4AAC-AE5D-037DD14292B2}" type="presParOf" srcId="{26209C40-B573-414E-B236-30EE569A8464}" destId="{D23F5E83-6B44-4BFF-9DAA-A34BBF94B27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Gera e Comunica despesa de  energia (medidor) por operadora</a:t>
          </a:r>
          <a:endParaRPr lang="pt-BR" sz="1100" dirty="0">
            <a:solidFill>
              <a:srgbClr val="FFFFFF"/>
            </a:solidFill>
          </a:endParaRP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2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41049" custLinFactNeighborY="2947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Emite nota de débito para </a:t>
          </a:r>
          <a:r>
            <a:rPr lang="pt-BR" sz="1200" dirty="0" err="1">
              <a:solidFill>
                <a:srgbClr val="FFFFFF"/>
              </a:solidFill>
            </a:rPr>
            <a:t>Lemvig</a:t>
          </a:r>
          <a:r>
            <a:rPr lang="pt-BR" sz="1200" dirty="0">
              <a:solidFill>
                <a:srgbClr val="FFFFFF"/>
              </a:solidFill>
            </a:rPr>
            <a:t> referente aos valores de energia validados³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/>
      <dgm:spPr/>
      <dgm:t>
        <a:bodyPr/>
        <a:lstStyle/>
        <a:p>
          <a:endParaRPr lang="pt-BR" sz="1600">
            <a:solidFill>
              <a:srgbClr val="FFFFFF"/>
            </a:solidFill>
          </a:endParaRPr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1" custScaleY="109373" custLinFactNeighborX="-3819" custLinFactNeighborY="-371">
        <dgm:presLayoutVars>
          <dgm:bulletEnabled val="1"/>
        </dgm:presLayoutVars>
      </dgm:prSet>
      <dgm:spPr/>
    </dgm:pt>
  </dgm:ptLst>
  <dgm:cxnLst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E5009F8-2C0E-4D04-BD9A-4017DF8402A4}" type="presParOf" srcId="{26209C40-B573-414E-B236-30EE569A8464}" destId="{F975F9CD-116B-4BF5-B412-260A6313E13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1F035D-3475-4EE8-A14E-8BDFBE527EC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 Inclui valores de energia nos </a:t>
          </a:r>
          <a:r>
            <a:rPr lang="pt-BR" sz="1200" dirty="0" err="1">
              <a:solidFill>
                <a:srgbClr val="FFFFFF"/>
              </a:solidFill>
            </a:rPr>
            <a:t>DEINFs</a:t>
          </a:r>
          <a:r>
            <a:rPr lang="pt-BR" sz="1200" dirty="0">
              <a:solidFill>
                <a:srgbClr val="FFFFFF"/>
              </a:solidFill>
            </a:rPr>
            <a:t> dos </a:t>
          </a:r>
          <a:r>
            <a:rPr lang="pt-BR" sz="1200" dirty="0" err="1">
              <a:solidFill>
                <a:srgbClr val="FFFFFF"/>
              </a:solidFill>
            </a:rPr>
            <a:t>ctts</a:t>
          </a:r>
          <a:r>
            <a:rPr lang="pt-BR" sz="1200" dirty="0">
              <a:solidFill>
                <a:srgbClr val="FFFFFF"/>
              </a:solidFill>
            </a:rPr>
            <a:t> de compartilhamento </a:t>
          </a:r>
        </a:p>
      </dgm:t>
    </dgm:pt>
    <dgm:pt modelId="{3D42E8FF-42FA-4A5D-BBCA-B188310C16BD}" type="parTrans" cxnId="{E360922F-9F92-4EB0-AC66-5DFDC668EA48}">
      <dgm:prSet/>
      <dgm:spPr/>
      <dgm:t>
        <a:bodyPr/>
        <a:lstStyle/>
        <a:p>
          <a:endParaRPr lang="pt-BR" sz="2000">
            <a:solidFill>
              <a:srgbClr val="FFFFFF"/>
            </a:solidFill>
          </a:endParaRPr>
        </a:p>
      </dgm:t>
    </dgm:pt>
    <dgm:pt modelId="{839BBDF2-42AF-4BE7-BAEA-7868F2FE699A}" type="sibTrans" cxnId="{E360922F-9F92-4EB0-AC66-5DFDC668EA48}">
      <dgm:prSet custT="1"/>
      <dgm:spPr/>
      <dgm:t>
        <a:bodyPr/>
        <a:lstStyle/>
        <a:p>
          <a:endParaRPr lang="pt-BR" sz="1000">
            <a:solidFill>
              <a:srgbClr val="FFFFFF"/>
            </a:solidFill>
          </a:endParaRPr>
        </a:p>
      </dgm:t>
    </dgm:pt>
    <dgm:pt modelId="{0B6498AC-B5B2-42A0-A4EB-19A1732A11BA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Envia valores apurados para validação das operadoras</a:t>
          </a:r>
        </a:p>
      </dgm:t>
    </dgm:pt>
    <dgm:pt modelId="{FA4BF0E3-0D14-4451-924E-CA7862216DE7}" type="parTrans" cxnId="{0FB19B03-2A32-4DE3-B9FD-317ACD5234E8}">
      <dgm:prSet/>
      <dgm:spPr/>
      <dgm:t>
        <a:bodyPr/>
        <a:lstStyle/>
        <a:p>
          <a:endParaRPr lang="pt-BR" sz="1600"/>
        </a:p>
      </dgm:t>
    </dgm:pt>
    <dgm:pt modelId="{BA321D41-C0C7-4594-9506-06CBC8FB73D4}" type="sibTrans" cxnId="{0FB19B03-2A32-4DE3-B9FD-317ACD5234E8}">
      <dgm:prSet custT="1"/>
      <dgm:spPr/>
      <dgm:t>
        <a:bodyPr/>
        <a:lstStyle/>
        <a:p>
          <a:endParaRPr lang="pt-BR" sz="2000"/>
        </a:p>
      </dgm:t>
    </dgm:pt>
    <dgm:pt modelId="{88163833-07F6-4E0C-A5F8-5F2B7406E440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Recebe validação das operadoras</a:t>
          </a:r>
        </a:p>
      </dgm:t>
    </dgm:pt>
    <dgm:pt modelId="{AB9A7F01-A118-4CC1-88FA-A7CFF370C415}" type="parTrans" cxnId="{06680DE9-1501-416F-9840-B3C1991152B9}">
      <dgm:prSet/>
      <dgm:spPr/>
      <dgm:t>
        <a:bodyPr/>
        <a:lstStyle/>
        <a:p>
          <a:endParaRPr lang="pt-BR" sz="1600"/>
        </a:p>
      </dgm:t>
    </dgm:pt>
    <dgm:pt modelId="{45EE7182-6BCC-42B1-AF66-AC6407EE74A1}" type="sibTrans" cxnId="{06680DE9-1501-416F-9840-B3C1991152B9}">
      <dgm:prSet custT="1"/>
      <dgm:spPr/>
      <dgm:t>
        <a:bodyPr/>
        <a:lstStyle/>
        <a:p>
          <a:endParaRPr lang="pt-BR" sz="2000"/>
        </a:p>
      </dgm:t>
    </dgm:pt>
    <dgm:pt modelId="{CED8A775-1841-42F5-878F-80CB1E5418FE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Emite faturamento do valor validado¹² de energia contra as operadoras</a:t>
          </a:r>
        </a:p>
      </dgm:t>
    </dgm:pt>
    <dgm:pt modelId="{62DDA224-0680-4282-90B7-41C09C90F649}" type="parTrans" cxnId="{79846799-D9D4-442E-88F3-ED8797533D49}">
      <dgm:prSet/>
      <dgm:spPr/>
      <dgm:t>
        <a:bodyPr/>
        <a:lstStyle/>
        <a:p>
          <a:endParaRPr lang="pt-BR" sz="1600"/>
        </a:p>
      </dgm:t>
    </dgm:pt>
    <dgm:pt modelId="{E09DC690-BC00-4786-99EB-453396FD4664}" type="sibTrans" cxnId="{79846799-D9D4-442E-88F3-ED8797533D49}">
      <dgm:prSet custT="1"/>
      <dgm:spPr/>
      <dgm:t>
        <a:bodyPr/>
        <a:lstStyle/>
        <a:p>
          <a:endParaRPr lang="pt-BR" sz="2000"/>
        </a:p>
      </dgm:t>
    </dgm:pt>
    <dgm:pt modelId="{D0B3F6FC-DC90-4B55-BE34-8F01E8B29DAF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Informa valores validados pelas operadoras para a Oi</a:t>
          </a:r>
        </a:p>
      </dgm:t>
    </dgm:pt>
    <dgm:pt modelId="{E84C3297-7A00-4F3D-B81F-1A9CC3565E3D}" type="parTrans" cxnId="{0057793C-4D76-4450-A0DA-6556515CC557}">
      <dgm:prSet/>
      <dgm:spPr/>
      <dgm:t>
        <a:bodyPr/>
        <a:lstStyle/>
        <a:p>
          <a:endParaRPr lang="pt-BR" sz="1600"/>
        </a:p>
      </dgm:t>
    </dgm:pt>
    <dgm:pt modelId="{345EF005-3AD9-4D2A-86AB-F8BB36552678}" type="sibTrans" cxnId="{0057793C-4D76-4450-A0DA-6556515CC557}">
      <dgm:prSet custT="1"/>
      <dgm:spPr/>
      <dgm:t>
        <a:bodyPr/>
        <a:lstStyle/>
        <a:p>
          <a:endParaRPr lang="pt-BR" sz="2000"/>
        </a:p>
      </dgm:t>
    </dgm:pt>
    <dgm:pt modelId="{0EE77517-D6EC-4B48-BE3F-43252D63C16A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Recebe pagamento das operadoras</a:t>
          </a:r>
        </a:p>
      </dgm:t>
    </dgm:pt>
    <dgm:pt modelId="{F429E7D6-DBDA-4CE4-AB90-E7435B9D104E}" type="parTrans" cxnId="{2999D63C-6FD0-465F-BCA7-5378B1206CE2}">
      <dgm:prSet/>
      <dgm:spPr/>
      <dgm:t>
        <a:bodyPr/>
        <a:lstStyle/>
        <a:p>
          <a:endParaRPr lang="pt-BR" sz="1600"/>
        </a:p>
      </dgm:t>
    </dgm:pt>
    <dgm:pt modelId="{487250BB-2E03-4909-A9A6-8F5880F9C908}" type="sibTrans" cxnId="{2999D63C-6FD0-465F-BCA7-5378B1206CE2}">
      <dgm:prSet/>
      <dgm:spPr/>
      <dgm:t>
        <a:bodyPr/>
        <a:lstStyle/>
        <a:p>
          <a:endParaRPr lang="pt-BR" sz="1600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F975F9CD-116B-4BF5-B412-260A6313E137}" type="pres">
      <dgm:prSet presAssocID="{F91F035D-3475-4EE8-A14E-8BDFBE527EC0}" presName="node" presStyleLbl="node1" presStyleIdx="0" presStyleCnt="6">
        <dgm:presLayoutVars>
          <dgm:bulletEnabled val="1"/>
        </dgm:presLayoutVars>
      </dgm:prSet>
      <dgm:spPr/>
    </dgm:pt>
    <dgm:pt modelId="{556BFD75-57C1-4B38-99C4-F1DAC5D6897E}" type="pres">
      <dgm:prSet presAssocID="{839BBDF2-42AF-4BE7-BAEA-7868F2FE699A}" presName="sibTrans" presStyleLbl="sibTrans2D1" presStyleIdx="0" presStyleCnt="5"/>
      <dgm:spPr/>
    </dgm:pt>
    <dgm:pt modelId="{7EF7AFC6-B99A-4491-A65E-9D2026FFC750}" type="pres">
      <dgm:prSet presAssocID="{839BBDF2-42AF-4BE7-BAEA-7868F2FE699A}" presName="connectorText" presStyleLbl="sibTrans2D1" presStyleIdx="0" presStyleCnt="5"/>
      <dgm:spPr/>
    </dgm:pt>
    <dgm:pt modelId="{7378819D-78CA-4A0F-8C3D-8B2967E39881}" type="pres">
      <dgm:prSet presAssocID="{0B6498AC-B5B2-42A0-A4EB-19A1732A11BA}" presName="node" presStyleLbl="node1" presStyleIdx="1" presStyleCnt="6">
        <dgm:presLayoutVars>
          <dgm:bulletEnabled val="1"/>
        </dgm:presLayoutVars>
      </dgm:prSet>
      <dgm:spPr/>
    </dgm:pt>
    <dgm:pt modelId="{F4BEB9B5-3639-43C7-985F-154E22FFA2BD}" type="pres">
      <dgm:prSet presAssocID="{BA321D41-C0C7-4594-9506-06CBC8FB73D4}" presName="sibTrans" presStyleLbl="sibTrans2D1" presStyleIdx="1" presStyleCnt="5"/>
      <dgm:spPr/>
    </dgm:pt>
    <dgm:pt modelId="{22E8CE5D-EB02-4243-968F-2FDE760C7912}" type="pres">
      <dgm:prSet presAssocID="{BA321D41-C0C7-4594-9506-06CBC8FB73D4}" presName="connectorText" presStyleLbl="sibTrans2D1" presStyleIdx="1" presStyleCnt="5"/>
      <dgm:spPr/>
    </dgm:pt>
    <dgm:pt modelId="{442D69AE-2AA3-43A8-B0A8-1B99D350B1CD}" type="pres">
      <dgm:prSet presAssocID="{88163833-07F6-4E0C-A5F8-5F2B7406E440}" presName="node" presStyleLbl="node1" presStyleIdx="2" presStyleCnt="6">
        <dgm:presLayoutVars>
          <dgm:bulletEnabled val="1"/>
        </dgm:presLayoutVars>
      </dgm:prSet>
      <dgm:spPr/>
    </dgm:pt>
    <dgm:pt modelId="{5D23EC4C-AAA5-439F-A125-5C3699DC7D4D}" type="pres">
      <dgm:prSet presAssocID="{45EE7182-6BCC-42B1-AF66-AC6407EE74A1}" presName="sibTrans" presStyleLbl="sibTrans2D1" presStyleIdx="2" presStyleCnt="5"/>
      <dgm:spPr/>
    </dgm:pt>
    <dgm:pt modelId="{21F7F8AF-B9D3-4E9A-A4C6-332691AB8332}" type="pres">
      <dgm:prSet presAssocID="{45EE7182-6BCC-42B1-AF66-AC6407EE74A1}" presName="connectorText" presStyleLbl="sibTrans2D1" presStyleIdx="2" presStyleCnt="5"/>
      <dgm:spPr/>
    </dgm:pt>
    <dgm:pt modelId="{16C61EA1-7FBC-4589-901F-D0F425612EF0}" type="pres">
      <dgm:prSet presAssocID="{D0B3F6FC-DC90-4B55-BE34-8F01E8B29DAF}" presName="node" presStyleLbl="node1" presStyleIdx="3" presStyleCnt="6">
        <dgm:presLayoutVars>
          <dgm:bulletEnabled val="1"/>
        </dgm:presLayoutVars>
      </dgm:prSet>
      <dgm:spPr/>
    </dgm:pt>
    <dgm:pt modelId="{8D8D983B-8618-43F4-A23B-87318E16F96B}" type="pres">
      <dgm:prSet presAssocID="{345EF005-3AD9-4D2A-86AB-F8BB36552678}" presName="sibTrans" presStyleLbl="sibTrans2D1" presStyleIdx="3" presStyleCnt="5"/>
      <dgm:spPr/>
    </dgm:pt>
    <dgm:pt modelId="{18362668-81DA-4282-BD78-9FA92142FD1C}" type="pres">
      <dgm:prSet presAssocID="{345EF005-3AD9-4D2A-86AB-F8BB36552678}" presName="connectorText" presStyleLbl="sibTrans2D1" presStyleIdx="3" presStyleCnt="5"/>
      <dgm:spPr/>
    </dgm:pt>
    <dgm:pt modelId="{03F5D0B3-C5A6-4BE2-85CC-0EA416461B28}" type="pres">
      <dgm:prSet presAssocID="{CED8A775-1841-42F5-878F-80CB1E5418FE}" presName="node" presStyleLbl="node1" presStyleIdx="4" presStyleCnt="6">
        <dgm:presLayoutVars>
          <dgm:bulletEnabled val="1"/>
        </dgm:presLayoutVars>
      </dgm:prSet>
      <dgm:spPr/>
    </dgm:pt>
    <dgm:pt modelId="{5AE5A710-AA21-42F8-83CC-A352135B142F}" type="pres">
      <dgm:prSet presAssocID="{E09DC690-BC00-4786-99EB-453396FD4664}" presName="sibTrans" presStyleLbl="sibTrans2D1" presStyleIdx="4" presStyleCnt="5"/>
      <dgm:spPr/>
    </dgm:pt>
    <dgm:pt modelId="{FB7745AA-2F29-418D-B524-54BE717EEECA}" type="pres">
      <dgm:prSet presAssocID="{E09DC690-BC00-4786-99EB-453396FD4664}" presName="connectorText" presStyleLbl="sibTrans2D1" presStyleIdx="4" presStyleCnt="5"/>
      <dgm:spPr/>
    </dgm:pt>
    <dgm:pt modelId="{90A3CCA9-6A20-489B-80E7-475206AA2682}" type="pres">
      <dgm:prSet presAssocID="{0EE77517-D6EC-4B48-BE3F-43252D63C16A}" presName="node" presStyleLbl="node1" presStyleIdx="5" presStyleCnt="6">
        <dgm:presLayoutVars>
          <dgm:bulletEnabled val="1"/>
        </dgm:presLayoutVars>
      </dgm:prSet>
      <dgm:spPr/>
    </dgm:pt>
  </dgm:ptLst>
  <dgm:cxnLst>
    <dgm:cxn modelId="{0FB19B03-2A32-4DE3-B9FD-317ACD5234E8}" srcId="{0B62365D-9689-475A-A5C2-FB9CCAF87182}" destId="{0B6498AC-B5B2-42A0-A4EB-19A1732A11BA}" srcOrd="1" destOrd="0" parTransId="{FA4BF0E3-0D14-4451-924E-CA7862216DE7}" sibTransId="{BA321D41-C0C7-4594-9506-06CBC8FB73D4}"/>
    <dgm:cxn modelId="{D680841E-3D9D-445D-AB55-30C286C235AD}" type="presOf" srcId="{345EF005-3AD9-4D2A-86AB-F8BB36552678}" destId="{8D8D983B-8618-43F4-A23B-87318E16F96B}" srcOrd="0" destOrd="0" presId="urn:microsoft.com/office/officeart/2005/8/layout/process1"/>
    <dgm:cxn modelId="{6D16701F-0F25-4A8B-9581-3F8FFA875090}" type="presOf" srcId="{BA321D41-C0C7-4594-9506-06CBC8FB73D4}" destId="{22E8CE5D-EB02-4243-968F-2FDE760C7912}" srcOrd="1" destOrd="0" presId="urn:microsoft.com/office/officeart/2005/8/layout/process1"/>
    <dgm:cxn modelId="{39EE4622-B592-481C-AEBF-0F4A3A536887}" type="presOf" srcId="{D0B3F6FC-DC90-4B55-BE34-8F01E8B29DAF}" destId="{16C61EA1-7FBC-4589-901F-D0F425612EF0}" srcOrd="0" destOrd="0" presId="urn:microsoft.com/office/officeart/2005/8/layout/process1"/>
    <dgm:cxn modelId="{82272425-0569-42D4-9C44-D2EF09112CE3}" type="presOf" srcId="{45EE7182-6BCC-42B1-AF66-AC6407EE74A1}" destId="{21F7F8AF-B9D3-4E9A-A4C6-332691AB8332}" srcOrd="1" destOrd="0" presId="urn:microsoft.com/office/officeart/2005/8/layout/process1"/>
    <dgm:cxn modelId="{E360922F-9F92-4EB0-AC66-5DFDC668EA48}" srcId="{0B62365D-9689-475A-A5C2-FB9CCAF87182}" destId="{F91F035D-3475-4EE8-A14E-8BDFBE527EC0}" srcOrd="0" destOrd="0" parTransId="{3D42E8FF-42FA-4A5D-BBCA-B188310C16BD}" sibTransId="{839BBDF2-42AF-4BE7-BAEA-7868F2FE699A}"/>
    <dgm:cxn modelId="{0057793C-4D76-4450-A0DA-6556515CC557}" srcId="{0B62365D-9689-475A-A5C2-FB9CCAF87182}" destId="{D0B3F6FC-DC90-4B55-BE34-8F01E8B29DAF}" srcOrd="3" destOrd="0" parTransId="{E84C3297-7A00-4F3D-B81F-1A9CC3565E3D}" sibTransId="{345EF005-3AD9-4D2A-86AB-F8BB36552678}"/>
    <dgm:cxn modelId="{2999D63C-6FD0-465F-BCA7-5378B1206CE2}" srcId="{0B62365D-9689-475A-A5C2-FB9CCAF87182}" destId="{0EE77517-D6EC-4B48-BE3F-43252D63C16A}" srcOrd="5" destOrd="0" parTransId="{F429E7D6-DBDA-4CE4-AB90-E7435B9D104E}" sibTransId="{487250BB-2E03-4909-A9A6-8F5880F9C908}"/>
    <dgm:cxn modelId="{557C964F-3E5F-4C05-A6BC-007E7C1C485C}" type="presOf" srcId="{839BBDF2-42AF-4BE7-BAEA-7868F2FE699A}" destId="{556BFD75-57C1-4B38-99C4-F1DAC5D6897E}" srcOrd="0" destOrd="0" presId="urn:microsoft.com/office/officeart/2005/8/layout/process1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BB6F5D55-BB80-4374-A124-50CB10F6DE3C}" type="presOf" srcId="{CED8A775-1841-42F5-878F-80CB1E5418FE}" destId="{03F5D0B3-C5A6-4BE2-85CC-0EA416461B28}" srcOrd="0" destOrd="0" presId="urn:microsoft.com/office/officeart/2005/8/layout/process1"/>
    <dgm:cxn modelId="{B92DE469-3B5A-4CF1-8D78-30CC66DD78AA}" type="presOf" srcId="{0B6498AC-B5B2-42A0-A4EB-19A1732A11BA}" destId="{7378819D-78CA-4A0F-8C3D-8B2967E39881}" srcOrd="0" destOrd="0" presId="urn:microsoft.com/office/officeart/2005/8/layout/process1"/>
    <dgm:cxn modelId="{F204A87A-96F8-4223-9B1F-36143DAE3267}" type="presOf" srcId="{E09DC690-BC00-4786-99EB-453396FD4664}" destId="{5AE5A710-AA21-42F8-83CC-A352135B142F}" srcOrd="0" destOrd="0" presId="urn:microsoft.com/office/officeart/2005/8/layout/process1"/>
    <dgm:cxn modelId="{A398658C-E7A2-4092-A359-407154A403A5}" type="presOf" srcId="{F91F035D-3475-4EE8-A14E-8BDFBE527EC0}" destId="{F975F9CD-116B-4BF5-B412-260A6313E137}" srcOrd="0" destOrd="0" presId="urn:microsoft.com/office/officeart/2005/8/layout/process1"/>
    <dgm:cxn modelId="{79846799-D9D4-442E-88F3-ED8797533D49}" srcId="{0B62365D-9689-475A-A5C2-FB9CCAF87182}" destId="{CED8A775-1841-42F5-878F-80CB1E5418FE}" srcOrd="4" destOrd="0" parTransId="{62DDA224-0680-4282-90B7-41C09C90F649}" sibTransId="{E09DC690-BC00-4786-99EB-453396FD4664}"/>
    <dgm:cxn modelId="{4A791EA0-99E4-4A01-837D-24E950E1A79B}" type="presOf" srcId="{88163833-07F6-4E0C-A5F8-5F2B7406E440}" destId="{442D69AE-2AA3-43A8-B0A8-1B99D350B1CD}" srcOrd="0" destOrd="0" presId="urn:microsoft.com/office/officeart/2005/8/layout/process1"/>
    <dgm:cxn modelId="{322D03C5-9751-4768-AF48-D5AFA3C44424}" type="presOf" srcId="{839BBDF2-42AF-4BE7-BAEA-7868F2FE699A}" destId="{7EF7AFC6-B99A-4491-A65E-9D2026FFC750}" srcOrd="1" destOrd="0" presId="urn:microsoft.com/office/officeart/2005/8/layout/process1"/>
    <dgm:cxn modelId="{822401C7-D2A5-4FDF-80DE-7E63744555EF}" type="presOf" srcId="{BA321D41-C0C7-4594-9506-06CBC8FB73D4}" destId="{F4BEB9B5-3639-43C7-985F-154E22FFA2BD}" srcOrd="0" destOrd="0" presId="urn:microsoft.com/office/officeart/2005/8/layout/process1"/>
    <dgm:cxn modelId="{F11448D6-26A1-4D0E-A1DD-BDBAA8D264B4}" type="presOf" srcId="{E09DC690-BC00-4786-99EB-453396FD4664}" destId="{FB7745AA-2F29-418D-B524-54BE717EEECA}" srcOrd="1" destOrd="0" presId="urn:microsoft.com/office/officeart/2005/8/layout/process1"/>
    <dgm:cxn modelId="{BAEA11DC-3E8C-4407-A122-F2C5B2BFA51F}" type="presOf" srcId="{45EE7182-6BCC-42B1-AF66-AC6407EE74A1}" destId="{5D23EC4C-AAA5-439F-A125-5C3699DC7D4D}" srcOrd="0" destOrd="0" presId="urn:microsoft.com/office/officeart/2005/8/layout/process1"/>
    <dgm:cxn modelId="{E21A18E2-F306-4A3C-AD39-FA6B36C1E8B5}" type="presOf" srcId="{0EE77517-D6EC-4B48-BE3F-43252D63C16A}" destId="{90A3CCA9-6A20-489B-80E7-475206AA2682}" srcOrd="0" destOrd="0" presId="urn:microsoft.com/office/officeart/2005/8/layout/process1"/>
    <dgm:cxn modelId="{ABC733E6-0A35-4DCC-AB82-2B203B9866F2}" type="presOf" srcId="{345EF005-3AD9-4D2A-86AB-F8BB36552678}" destId="{18362668-81DA-4282-BD78-9FA92142FD1C}" srcOrd="1" destOrd="0" presId="urn:microsoft.com/office/officeart/2005/8/layout/process1"/>
    <dgm:cxn modelId="{06680DE9-1501-416F-9840-B3C1991152B9}" srcId="{0B62365D-9689-475A-A5C2-FB9CCAF87182}" destId="{88163833-07F6-4E0C-A5F8-5F2B7406E440}" srcOrd="2" destOrd="0" parTransId="{AB9A7F01-A118-4CC1-88FA-A7CFF370C415}" sibTransId="{45EE7182-6BCC-42B1-AF66-AC6407EE74A1}"/>
    <dgm:cxn modelId="{7E5009F8-2C0E-4D04-BD9A-4017DF8402A4}" type="presParOf" srcId="{26209C40-B573-414E-B236-30EE569A8464}" destId="{F975F9CD-116B-4BF5-B412-260A6313E137}" srcOrd="0" destOrd="0" presId="urn:microsoft.com/office/officeart/2005/8/layout/process1"/>
    <dgm:cxn modelId="{7FFB9C55-DD8A-4539-983A-9D09E06C78EC}" type="presParOf" srcId="{26209C40-B573-414E-B236-30EE569A8464}" destId="{556BFD75-57C1-4B38-99C4-F1DAC5D6897E}" srcOrd="1" destOrd="0" presId="urn:microsoft.com/office/officeart/2005/8/layout/process1"/>
    <dgm:cxn modelId="{02CB7539-28B1-42F3-93F1-FA4150BA66DD}" type="presParOf" srcId="{556BFD75-57C1-4B38-99C4-F1DAC5D6897E}" destId="{7EF7AFC6-B99A-4491-A65E-9D2026FFC750}" srcOrd="0" destOrd="0" presId="urn:microsoft.com/office/officeart/2005/8/layout/process1"/>
    <dgm:cxn modelId="{DA96C49C-7642-4152-8F52-7D5759AAD33B}" type="presParOf" srcId="{26209C40-B573-414E-B236-30EE569A8464}" destId="{7378819D-78CA-4A0F-8C3D-8B2967E39881}" srcOrd="2" destOrd="0" presId="urn:microsoft.com/office/officeart/2005/8/layout/process1"/>
    <dgm:cxn modelId="{9E4F2CA5-3D72-487A-AE55-6285DFFE100C}" type="presParOf" srcId="{26209C40-B573-414E-B236-30EE569A8464}" destId="{F4BEB9B5-3639-43C7-985F-154E22FFA2BD}" srcOrd="3" destOrd="0" presId="urn:microsoft.com/office/officeart/2005/8/layout/process1"/>
    <dgm:cxn modelId="{E91FD0C0-DF0E-4F29-A1DF-26859FE61886}" type="presParOf" srcId="{F4BEB9B5-3639-43C7-985F-154E22FFA2BD}" destId="{22E8CE5D-EB02-4243-968F-2FDE760C7912}" srcOrd="0" destOrd="0" presId="urn:microsoft.com/office/officeart/2005/8/layout/process1"/>
    <dgm:cxn modelId="{1A1D2ACB-2A3A-4E3F-A56B-21190D9836E2}" type="presParOf" srcId="{26209C40-B573-414E-B236-30EE569A8464}" destId="{442D69AE-2AA3-43A8-B0A8-1B99D350B1CD}" srcOrd="4" destOrd="0" presId="urn:microsoft.com/office/officeart/2005/8/layout/process1"/>
    <dgm:cxn modelId="{966CCA6B-5CD5-4E4B-A02B-B119DABD7FFA}" type="presParOf" srcId="{26209C40-B573-414E-B236-30EE569A8464}" destId="{5D23EC4C-AAA5-439F-A125-5C3699DC7D4D}" srcOrd="5" destOrd="0" presId="urn:microsoft.com/office/officeart/2005/8/layout/process1"/>
    <dgm:cxn modelId="{5ACA8C89-F30E-4518-AE75-30065DD71BB0}" type="presParOf" srcId="{5D23EC4C-AAA5-439F-A125-5C3699DC7D4D}" destId="{21F7F8AF-B9D3-4E9A-A4C6-332691AB8332}" srcOrd="0" destOrd="0" presId="urn:microsoft.com/office/officeart/2005/8/layout/process1"/>
    <dgm:cxn modelId="{68B9DBF8-531C-4B34-A011-F805A1A544AA}" type="presParOf" srcId="{26209C40-B573-414E-B236-30EE569A8464}" destId="{16C61EA1-7FBC-4589-901F-D0F425612EF0}" srcOrd="6" destOrd="0" presId="urn:microsoft.com/office/officeart/2005/8/layout/process1"/>
    <dgm:cxn modelId="{EE0F5F67-9474-48FB-9F16-DB347CD7F589}" type="presParOf" srcId="{26209C40-B573-414E-B236-30EE569A8464}" destId="{8D8D983B-8618-43F4-A23B-87318E16F96B}" srcOrd="7" destOrd="0" presId="urn:microsoft.com/office/officeart/2005/8/layout/process1"/>
    <dgm:cxn modelId="{AFB34FB3-BC83-4AFB-886B-17C0E390C328}" type="presParOf" srcId="{8D8D983B-8618-43F4-A23B-87318E16F96B}" destId="{18362668-81DA-4282-BD78-9FA92142FD1C}" srcOrd="0" destOrd="0" presId="urn:microsoft.com/office/officeart/2005/8/layout/process1"/>
    <dgm:cxn modelId="{4B4998F5-1C5B-4F43-9ED6-CD4323921D09}" type="presParOf" srcId="{26209C40-B573-414E-B236-30EE569A8464}" destId="{03F5D0B3-C5A6-4BE2-85CC-0EA416461B28}" srcOrd="8" destOrd="0" presId="urn:microsoft.com/office/officeart/2005/8/layout/process1"/>
    <dgm:cxn modelId="{A089C236-9EBB-4726-A275-54308CBFD5AC}" type="presParOf" srcId="{26209C40-B573-414E-B236-30EE569A8464}" destId="{5AE5A710-AA21-42F8-83CC-A352135B142F}" srcOrd="9" destOrd="0" presId="urn:microsoft.com/office/officeart/2005/8/layout/process1"/>
    <dgm:cxn modelId="{9924ABC7-12D6-4E51-A620-8ADF65BBE1E9}" type="presParOf" srcId="{5AE5A710-AA21-42F8-83CC-A352135B142F}" destId="{FB7745AA-2F29-418D-B524-54BE717EEECA}" srcOrd="0" destOrd="0" presId="urn:microsoft.com/office/officeart/2005/8/layout/process1"/>
    <dgm:cxn modelId="{CB60A317-CEAB-486B-9CAD-A05DD0650478}" type="presParOf" srcId="{26209C40-B573-414E-B236-30EE569A8464}" destId="{90A3CCA9-6A20-489B-80E7-475206AA268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0B62365D-9689-475A-A5C2-FB9CCAF8718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649BBB8-4ABD-455C-9FA5-EA5499E0AA07}">
      <dgm:prSet custT="1"/>
      <dgm:spPr/>
      <dgm:t>
        <a:bodyPr/>
        <a:lstStyle/>
        <a:p>
          <a:r>
            <a:rPr lang="pt-BR" sz="1200" dirty="0">
              <a:solidFill>
                <a:srgbClr val="FFFFFF"/>
              </a:solidFill>
            </a:rPr>
            <a:t>Realiza pagamento da nota de débito para Oi</a:t>
          </a:r>
        </a:p>
      </dgm:t>
    </dgm:pt>
    <dgm:pt modelId="{2C3FBC1B-88C5-4FC9-B54B-29A1A791A4EB}" type="parTrans" cxnId="{5E53481E-ED36-4DD7-8EB9-29EF1A44B044}">
      <dgm:prSet/>
      <dgm:spPr/>
      <dgm:t>
        <a:bodyPr/>
        <a:lstStyle/>
        <a:p>
          <a:endParaRPr lang="pt-BR"/>
        </a:p>
      </dgm:t>
    </dgm:pt>
    <dgm:pt modelId="{BF8587E5-2FDC-44C8-9700-2A0828AC9339}" type="sibTrans" cxnId="{5E53481E-ED36-4DD7-8EB9-29EF1A44B044}">
      <dgm:prSet/>
      <dgm:spPr/>
      <dgm:t>
        <a:bodyPr/>
        <a:lstStyle/>
        <a:p>
          <a:endParaRPr lang="pt-BR"/>
        </a:p>
      </dgm:t>
    </dgm:pt>
    <dgm:pt modelId="{26209C40-B573-414E-B236-30EE569A8464}" type="pres">
      <dgm:prSet presAssocID="{0B62365D-9689-475A-A5C2-FB9CCAF87182}" presName="Name0" presStyleCnt="0">
        <dgm:presLayoutVars>
          <dgm:dir/>
          <dgm:resizeHandles val="exact"/>
        </dgm:presLayoutVars>
      </dgm:prSet>
      <dgm:spPr/>
    </dgm:pt>
    <dgm:pt modelId="{D23F5E83-6B44-4BFF-9DAA-A34BBF94B27E}" type="pres">
      <dgm:prSet presAssocID="{7649BBB8-4ABD-455C-9FA5-EA5499E0AA07}" presName="node" presStyleLbl="node1" presStyleIdx="0" presStyleCnt="1" custScaleY="169729" custLinFactNeighborY="1945">
        <dgm:presLayoutVars>
          <dgm:bulletEnabled val="1"/>
        </dgm:presLayoutVars>
      </dgm:prSet>
      <dgm:spPr/>
    </dgm:pt>
  </dgm:ptLst>
  <dgm:cxnLst>
    <dgm:cxn modelId="{5E53481E-ED36-4DD7-8EB9-29EF1A44B044}" srcId="{0B62365D-9689-475A-A5C2-FB9CCAF87182}" destId="{7649BBB8-4ABD-455C-9FA5-EA5499E0AA07}" srcOrd="0" destOrd="0" parTransId="{2C3FBC1B-88C5-4FC9-B54B-29A1A791A4EB}" sibTransId="{BF8587E5-2FDC-44C8-9700-2A0828AC9339}"/>
    <dgm:cxn modelId="{9FA5E94F-62C2-4502-81DA-D830DF480CAD}" type="presOf" srcId="{0B62365D-9689-475A-A5C2-FB9CCAF87182}" destId="{26209C40-B573-414E-B236-30EE569A8464}" srcOrd="0" destOrd="0" presId="urn:microsoft.com/office/officeart/2005/8/layout/process1"/>
    <dgm:cxn modelId="{8C499776-7822-497E-9DB7-0F5FC6A9743B}" type="presOf" srcId="{7649BBB8-4ABD-455C-9FA5-EA5499E0AA07}" destId="{D23F5E83-6B44-4BFF-9DAA-A34BBF94B27E}" srcOrd="0" destOrd="0" presId="urn:microsoft.com/office/officeart/2005/8/layout/process1"/>
    <dgm:cxn modelId="{6DE0FE1D-4002-4AAC-AE5D-037DD14292B2}" type="presParOf" srcId="{26209C40-B573-414E-B236-30EE569A8464}" destId="{D23F5E83-6B44-4BFF-9DAA-A34BBF94B27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667" y="0"/>
          <a:ext cx="1366006" cy="1103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lista das torres¹ com valores para a cobrança de AEV</a:t>
          </a:r>
        </a:p>
      </dsp:txBody>
      <dsp:txXfrm>
        <a:off x="32999" y="32332"/>
        <a:ext cx="1301342" cy="1039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92" y="0"/>
          <a:ext cx="1263310" cy="112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notas fiscais¹ (PDF) no B1 para cada fatura que consta na lista recebida</a:t>
          </a:r>
        </a:p>
      </dsp:txBody>
      <dsp:txXfrm>
        <a:off x="33657" y="33065"/>
        <a:ext cx="1197180" cy="1062786"/>
      </dsp:txXfrm>
    </dsp:sp>
    <dsp:sp modelId="{80F04ABB-B332-4757-B2E3-398522FAF177}">
      <dsp:nvSpPr>
        <dsp:cNvPr id="0" name=""/>
        <dsp:cNvSpPr/>
      </dsp:nvSpPr>
      <dsp:spPr>
        <a:xfrm>
          <a:off x="1390381" y="407807"/>
          <a:ext cx="268135" cy="3133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 dirty="0"/>
        </a:p>
      </dsp:txBody>
      <dsp:txXfrm>
        <a:off x="1390381" y="470467"/>
        <a:ext cx="187695" cy="187980"/>
      </dsp:txXfrm>
    </dsp:sp>
    <dsp:sp modelId="{F975F9CD-116B-4BF5-B412-260A6313E137}">
      <dsp:nvSpPr>
        <dsp:cNvPr id="0" name=""/>
        <dsp:cNvSpPr/>
      </dsp:nvSpPr>
      <dsp:spPr>
        <a:xfrm>
          <a:off x="1769818" y="0"/>
          <a:ext cx="1263310" cy="11289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notas fiscais³ para pagamento pela Oi</a:t>
          </a:r>
        </a:p>
      </dsp:txBody>
      <dsp:txXfrm>
        <a:off x="1802883" y="33065"/>
        <a:ext cx="1197180" cy="10627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215471"/>
          <a:ext cx="1331627" cy="1167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Valida valores a pagar</a:t>
          </a:r>
        </a:p>
      </dsp:txBody>
      <dsp:txXfrm>
        <a:off x="34184" y="249655"/>
        <a:ext cx="1263259" cy="10987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74472-EC6D-45D4-9FD7-C570EF150DD9}">
      <dsp:nvSpPr>
        <dsp:cNvPr id="0" name=""/>
        <dsp:cNvSpPr/>
      </dsp:nvSpPr>
      <dsp:spPr>
        <a:xfrm>
          <a:off x="0" y="100309"/>
          <a:ext cx="1259706" cy="11101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Consolida valores por UF e gera lista para emissão do faturamento contra Oi</a:t>
          </a:r>
        </a:p>
      </dsp:txBody>
      <dsp:txXfrm>
        <a:off x="32514" y="132823"/>
        <a:ext cx="1194678" cy="10450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299" y="0"/>
          <a:ext cx="1329027" cy="1149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Recebe notas fiscais para pagamento da Oi e proporção do valor das Torres RBR por UF</a:t>
          </a:r>
        </a:p>
      </dsp:txBody>
      <dsp:txXfrm>
        <a:off x="34971" y="33672"/>
        <a:ext cx="1261683" cy="10823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650" y="0"/>
          <a:ext cx="1330326" cy="1111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kern="1200" dirty="0">
              <a:solidFill>
                <a:srgbClr val="FFFFFF"/>
              </a:solidFill>
            </a:rPr>
            <a:t>Indica proporção do aluguel das Torres por UF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(RBR e Não RBR)</a:t>
          </a:r>
        </a:p>
      </dsp:txBody>
      <dsp:txXfrm>
        <a:off x="33202" y="32552"/>
        <a:ext cx="1265222" cy="10463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602" y="0"/>
          <a:ext cx="1283836" cy="1162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Cria pedido no SAP Oi e emite pagamento das notas seguindo proporção por tipo de torre</a:t>
          </a:r>
        </a:p>
      </dsp:txBody>
      <dsp:txXfrm>
        <a:off x="34650" y="34048"/>
        <a:ext cx="1215740" cy="1094403"/>
      </dsp:txXfrm>
    </dsp:sp>
    <dsp:sp modelId="{D19EC6FE-B660-423A-81BF-1473C30DA786}">
      <dsp:nvSpPr>
        <dsp:cNvPr id="0" name=""/>
        <dsp:cNvSpPr/>
      </dsp:nvSpPr>
      <dsp:spPr>
        <a:xfrm>
          <a:off x="1412822" y="422053"/>
          <a:ext cx="272173" cy="31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1412822" y="485731"/>
        <a:ext cx="190521" cy="191035"/>
      </dsp:txXfrm>
    </dsp:sp>
    <dsp:sp modelId="{BF029E12-3AA9-4076-B240-50D67E250874}">
      <dsp:nvSpPr>
        <dsp:cNvPr id="0" name=""/>
        <dsp:cNvSpPr/>
      </dsp:nvSpPr>
      <dsp:spPr>
        <a:xfrm>
          <a:off x="1797973" y="0"/>
          <a:ext cx="1283836" cy="1162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e-mail¹ ao CAP com o descritivo dos valores: nº do pedido, da NF e </a:t>
          </a:r>
          <a:r>
            <a:rPr lang="pt-BR" sz="1200" kern="1200" dirty="0" err="1">
              <a:solidFill>
                <a:srgbClr val="FFFFFF"/>
              </a:solidFill>
            </a:rPr>
            <a:t>vlr</a:t>
          </a:r>
          <a:r>
            <a:rPr lang="pt-BR" sz="1200" kern="1200" dirty="0">
              <a:solidFill>
                <a:srgbClr val="FFFFFF"/>
              </a:solidFill>
            </a:rPr>
            <a:t> cadastrado por tipo de </a:t>
          </a:r>
          <a:r>
            <a:rPr lang="pt-BR" sz="1200" kern="1200" dirty="0" err="1">
              <a:solidFill>
                <a:srgbClr val="FFFFFF"/>
              </a:solidFill>
            </a:rPr>
            <a:t>pgto</a:t>
          </a:r>
          <a:endParaRPr lang="pt-BR" sz="1200" kern="1200" dirty="0">
            <a:solidFill>
              <a:srgbClr val="FFFFFF"/>
            </a:solidFill>
          </a:endParaRPr>
        </a:p>
      </dsp:txBody>
      <dsp:txXfrm>
        <a:off x="1832021" y="34048"/>
        <a:ext cx="1215740" cy="10944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228" y="0"/>
          <a:ext cx="1256656" cy="1111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kern="1200" dirty="0">
              <a:solidFill>
                <a:srgbClr val="FFFFFF"/>
              </a:solidFill>
            </a:rPr>
            <a:t>Solicita liberação dos valores da conta vinculada para Tesouraria</a:t>
          </a:r>
        </a:p>
      </dsp:txBody>
      <dsp:txXfrm>
        <a:off x="33780" y="32552"/>
        <a:ext cx="1191552" cy="10463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6716" y="0"/>
          <a:ext cx="1243334" cy="1111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kern="1200" dirty="0">
              <a:solidFill>
                <a:srgbClr val="FFFFFF"/>
              </a:solidFill>
            </a:rPr>
            <a:t>Realiza pagamentos e registra no controle mensal do </a:t>
          </a:r>
          <a:r>
            <a:rPr lang="pt-BR" sz="1200" kern="1200" dirty="0" err="1">
              <a:solidFill>
                <a:srgbClr val="FFFFFF"/>
              </a:solidFill>
            </a:rPr>
            <a:t>sharepoint</a:t>
          </a:r>
          <a:endParaRPr lang="pt-BR" sz="1200" kern="1200" dirty="0">
            <a:solidFill>
              <a:srgbClr val="FFFFFF"/>
            </a:solidFill>
          </a:endParaRPr>
        </a:p>
      </dsp:txBody>
      <dsp:txXfrm>
        <a:off x="39268" y="32552"/>
        <a:ext cx="1178230" cy="1046306"/>
      </dsp:txXfrm>
    </dsp:sp>
    <dsp:sp modelId="{9C87FF21-5B58-48B5-83D4-9EC2CB3EEE22}">
      <dsp:nvSpPr>
        <dsp:cNvPr id="0" name=""/>
        <dsp:cNvSpPr/>
      </dsp:nvSpPr>
      <dsp:spPr>
        <a:xfrm>
          <a:off x="1374323" y="401531"/>
          <a:ext cx="263457" cy="308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1374323" y="463200"/>
        <a:ext cx="184420" cy="185008"/>
      </dsp:txXfrm>
    </dsp:sp>
    <dsp:sp modelId="{E474B006-70D7-4ADD-803E-0806A350CB4D}">
      <dsp:nvSpPr>
        <dsp:cNvPr id="0" name=""/>
        <dsp:cNvSpPr/>
      </dsp:nvSpPr>
      <dsp:spPr>
        <a:xfrm>
          <a:off x="1747140" y="0"/>
          <a:ext cx="1243334" cy="1111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914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Solicita upload das notas fiscais e/ou notas de débito pagas no </a:t>
          </a:r>
          <a:r>
            <a:rPr lang="pt-BR" sz="1200" kern="1200" dirty="0" err="1">
              <a:solidFill>
                <a:srgbClr val="FFFFFF"/>
              </a:solidFill>
            </a:rPr>
            <a:t>sharepoint</a:t>
          </a:r>
          <a:endParaRPr lang="pt-BR" sz="1200" kern="1200" dirty="0">
            <a:solidFill>
              <a:srgbClr val="FFFFFF"/>
            </a:solidFill>
          </a:endParaRPr>
        </a:p>
      </dsp:txBody>
      <dsp:txXfrm>
        <a:off x="1779692" y="32552"/>
        <a:ext cx="1178230" cy="1046306"/>
      </dsp:txXfrm>
    </dsp:sp>
    <dsp:sp modelId="{DD3A3FE3-9648-49A5-902D-589BB148FA0E}">
      <dsp:nvSpPr>
        <dsp:cNvPr id="0" name=""/>
        <dsp:cNvSpPr/>
      </dsp:nvSpPr>
      <dsp:spPr>
        <a:xfrm>
          <a:off x="3114808" y="401531"/>
          <a:ext cx="263586" cy="308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3114808" y="463200"/>
        <a:ext cx="184510" cy="185008"/>
      </dsp:txXfrm>
    </dsp:sp>
    <dsp:sp modelId="{FFE50B83-35FA-43B2-856F-40AD16A23860}">
      <dsp:nvSpPr>
        <dsp:cNvPr id="0" name=""/>
        <dsp:cNvSpPr/>
      </dsp:nvSpPr>
      <dsp:spPr>
        <a:xfrm>
          <a:off x="3487808" y="0"/>
          <a:ext cx="1243334" cy="1111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914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Baixa e Realiza upload do extrato da conta corrente no </a:t>
          </a:r>
          <a:r>
            <a:rPr lang="pt-BR" sz="1200" kern="1200" dirty="0" err="1">
              <a:solidFill>
                <a:srgbClr val="FFFFFF"/>
              </a:solidFill>
            </a:rPr>
            <a:t>sharepoint</a:t>
          </a:r>
          <a:endParaRPr lang="pt-BR" sz="1200" kern="1200" dirty="0">
            <a:solidFill>
              <a:srgbClr val="FFFFFF"/>
            </a:solidFill>
          </a:endParaRPr>
        </a:p>
      </dsp:txBody>
      <dsp:txXfrm>
        <a:off x="3520360" y="32552"/>
        <a:ext cx="1178230" cy="10463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375" y="37754"/>
          <a:ext cx="1112671" cy="11057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DEINF de cada contrato de compartilhamento das Operadoras</a:t>
          </a:r>
        </a:p>
      </dsp:txBody>
      <dsp:txXfrm>
        <a:off x="37760" y="70139"/>
        <a:ext cx="1047901" cy="1040947"/>
      </dsp:txXfrm>
    </dsp:sp>
    <dsp:sp modelId="{80F04ABB-B332-4757-B2E3-398522FAF177}">
      <dsp:nvSpPr>
        <dsp:cNvPr id="0" name=""/>
        <dsp:cNvSpPr/>
      </dsp:nvSpPr>
      <dsp:spPr>
        <a:xfrm>
          <a:off x="1229313" y="452641"/>
          <a:ext cx="235886" cy="275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1229313" y="507829"/>
        <a:ext cx="165120" cy="165566"/>
      </dsp:txXfrm>
    </dsp:sp>
    <dsp:sp modelId="{F975F9CD-116B-4BF5-B412-260A6313E137}">
      <dsp:nvSpPr>
        <dsp:cNvPr id="0" name=""/>
        <dsp:cNvSpPr/>
      </dsp:nvSpPr>
      <dsp:spPr>
        <a:xfrm>
          <a:off x="1563115" y="37754"/>
          <a:ext cx="1112671" cy="11057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por e-mail </a:t>
          </a:r>
          <a:r>
            <a:rPr lang="pt-BR" sz="1200" kern="1200" dirty="0" err="1">
              <a:solidFill>
                <a:srgbClr val="FFFFFF"/>
              </a:solidFill>
            </a:rPr>
            <a:t>DEINFs</a:t>
          </a:r>
          <a:r>
            <a:rPr lang="pt-BR" sz="1200" kern="1200" dirty="0">
              <a:solidFill>
                <a:srgbClr val="FFFFFF"/>
              </a:solidFill>
            </a:rPr>
            <a:t> para validação das operadoras </a:t>
          </a:r>
        </a:p>
      </dsp:txBody>
      <dsp:txXfrm>
        <a:off x="1595500" y="70139"/>
        <a:ext cx="1047901" cy="1040947"/>
      </dsp:txXfrm>
    </dsp:sp>
    <dsp:sp modelId="{556BFD75-57C1-4B38-99C4-F1DAC5D6897E}">
      <dsp:nvSpPr>
        <dsp:cNvPr id="0" name=""/>
        <dsp:cNvSpPr/>
      </dsp:nvSpPr>
      <dsp:spPr>
        <a:xfrm>
          <a:off x="2787053" y="452641"/>
          <a:ext cx="235886" cy="275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>
            <a:solidFill>
              <a:srgbClr val="FFFFFF"/>
            </a:solidFill>
          </a:endParaRPr>
        </a:p>
      </dsp:txBody>
      <dsp:txXfrm>
        <a:off x="2787053" y="507829"/>
        <a:ext cx="165120" cy="165566"/>
      </dsp:txXfrm>
    </dsp:sp>
    <dsp:sp modelId="{41B605B4-7A69-4514-8DF4-FA074809C3BA}">
      <dsp:nvSpPr>
        <dsp:cNvPr id="0" name=""/>
        <dsp:cNvSpPr/>
      </dsp:nvSpPr>
      <dsp:spPr>
        <a:xfrm>
          <a:off x="3120855" y="37754"/>
          <a:ext cx="1112671" cy="11057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Recebe validação das operadoras</a:t>
          </a:r>
        </a:p>
      </dsp:txBody>
      <dsp:txXfrm>
        <a:off x="3153240" y="70139"/>
        <a:ext cx="1047901" cy="1040947"/>
      </dsp:txXfrm>
    </dsp:sp>
    <dsp:sp modelId="{F7573760-6E59-4091-ACD9-A4F6B8BE8C60}">
      <dsp:nvSpPr>
        <dsp:cNvPr id="0" name=""/>
        <dsp:cNvSpPr/>
      </dsp:nvSpPr>
      <dsp:spPr>
        <a:xfrm>
          <a:off x="4344793" y="452641"/>
          <a:ext cx="235886" cy="275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4344793" y="507829"/>
        <a:ext cx="165120" cy="165566"/>
      </dsp:txXfrm>
    </dsp:sp>
    <dsp:sp modelId="{537B5DF8-9C25-4B14-8299-8C5F82C63A26}">
      <dsp:nvSpPr>
        <dsp:cNvPr id="0" name=""/>
        <dsp:cNvSpPr/>
      </dsp:nvSpPr>
      <dsp:spPr>
        <a:xfrm>
          <a:off x="4678595" y="37754"/>
          <a:ext cx="1112671" cy="11057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lista das faturas¹² com base nos valores validados por operadora</a:t>
          </a:r>
        </a:p>
      </dsp:txBody>
      <dsp:txXfrm>
        <a:off x="4710980" y="70139"/>
        <a:ext cx="1047901" cy="104094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892" y="0"/>
          <a:ext cx="1151967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notas fiscais (PDF) no B1 para cada fatura que consta na lista recebida</a:t>
          </a:r>
        </a:p>
      </dsp:txBody>
      <dsp:txXfrm>
        <a:off x="32870" y="30978"/>
        <a:ext cx="1090011" cy="995697"/>
      </dsp:txXfrm>
    </dsp:sp>
    <dsp:sp modelId="{80F04ABB-B332-4757-B2E3-398522FAF177}">
      <dsp:nvSpPr>
        <dsp:cNvPr id="0" name=""/>
        <dsp:cNvSpPr/>
      </dsp:nvSpPr>
      <dsp:spPr>
        <a:xfrm>
          <a:off x="1264973" y="385982"/>
          <a:ext cx="235561" cy="2856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264973" y="443119"/>
        <a:ext cx="164893" cy="171413"/>
      </dsp:txXfrm>
    </dsp:sp>
    <dsp:sp modelId="{F975F9CD-116B-4BF5-B412-260A6313E137}">
      <dsp:nvSpPr>
        <dsp:cNvPr id="0" name=""/>
        <dsp:cNvSpPr/>
      </dsp:nvSpPr>
      <dsp:spPr>
        <a:xfrm>
          <a:off x="1598315" y="0"/>
          <a:ext cx="1151967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notas fiscais³ para pagamento às operadoras</a:t>
          </a:r>
        </a:p>
      </dsp:txBody>
      <dsp:txXfrm>
        <a:off x="1629293" y="30978"/>
        <a:ext cx="1090011" cy="99569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8831"/>
          <a:ext cx="1184308" cy="982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valores contestados de energia</a:t>
          </a:r>
        </a:p>
      </dsp:txBody>
      <dsp:txXfrm>
        <a:off x="28787" y="37618"/>
        <a:ext cx="1126734" cy="92527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8831"/>
          <a:ext cx="1184308" cy="982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valores contestados de solo Oi</a:t>
          </a:r>
        </a:p>
      </dsp:txBody>
      <dsp:txXfrm>
        <a:off x="28787" y="37618"/>
        <a:ext cx="1126734" cy="9252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33524"/>
          <a:ext cx="1184308" cy="982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valores contestados de Infra</a:t>
          </a:r>
        </a:p>
      </dsp:txBody>
      <dsp:txXfrm>
        <a:off x="28787" y="62311"/>
        <a:ext cx="1126734" cy="92527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532"/>
          <a:ext cx="1183151" cy="10927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valores contestados de solo Terceiros</a:t>
          </a:r>
        </a:p>
      </dsp:txBody>
      <dsp:txXfrm>
        <a:off x="32005" y="32537"/>
        <a:ext cx="1119141" cy="102873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36" y="38098"/>
          <a:ext cx="1144366" cy="110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Valida lista dos contratos de terceiros para pagamento do solo</a:t>
          </a:r>
        </a:p>
      </dsp:txBody>
      <dsp:txXfrm>
        <a:off x="32901" y="70463"/>
        <a:ext cx="1079636" cy="1040299"/>
      </dsp:txXfrm>
    </dsp:sp>
    <dsp:sp modelId="{80F04ABB-B332-4757-B2E3-398522FAF177}">
      <dsp:nvSpPr>
        <dsp:cNvPr id="0" name=""/>
        <dsp:cNvSpPr/>
      </dsp:nvSpPr>
      <dsp:spPr>
        <a:xfrm>
          <a:off x="1259340" y="448711"/>
          <a:ext cx="242605" cy="283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1259340" y="505472"/>
        <a:ext cx="169824" cy="170281"/>
      </dsp:txXfrm>
    </dsp:sp>
    <dsp:sp modelId="{F975F9CD-116B-4BF5-B412-260A6313E137}">
      <dsp:nvSpPr>
        <dsp:cNvPr id="0" name=""/>
        <dsp:cNvSpPr/>
      </dsp:nvSpPr>
      <dsp:spPr>
        <a:xfrm>
          <a:off x="1602650" y="38098"/>
          <a:ext cx="1144366" cy="110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lista de pagamentos por boleto e por depósito em conta</a:t>
          </a:r>
        </a:p>
      </dsp:txBody>
      <dsp:txXfrm>
        <a:off x="1635015" y="70463"/>
        <a:ext cx="1079636" cy="104029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141" y="0"/>
          <a:ext cx="1166701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Cadastra  pedidos de pagamentos no SAP B1 com inserção dos boletos</a:t>
          </a:r>
        </a:p>
      </dsp:txBody>
      <dsp:txXfrm>
        <a:off x="32119" y="30978"/>
        <a:ext cx="1104745" cy="99569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4745" y="0"/>
          <a:ext cx="1116419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Baixa pedido de </a:t>
          </a:r>
          <a:r>
            <a:rPr lang="pt-BR" sz="1200" kern="1200" dirty="0" err="1">
              <a:solidFill>
                <a:srgbClr val="FFFFFF"/>
              </a:solidFill>
            </a:rPr>
            <a:t>pgto</a:t>
          </a:r>
          <a:r>
            <a:rPr lang="pt-BR" sz="1200" kern="1200" dirty="0">
              <a:solidFill>
                <a:srgbClr val="FFFFFF"/>
              </a:solidFill>
            </a:rPr>
            <a:t> do boleto, cadastra no </a:t>
          </a:r>
          <a:r>
            <a:rPr lang="pt-BR" sz="1200" kern="1200" dirty="0" err="1">
              <a:solidFill>
                <a:srgbClr val="FFFFFF"/>
              </a:solidFill>
            </a:rPr>
            <a:t>sharepoint</a:t>
          </a:r>
          <a:r>
            <a:rPr lang="pt-BR" sz="1200" kern="1200" dirty="0">
              <a:solidFill>
                <a:srgbClr val="FFFFFF"/>
              </a:solidFill>
            </a:rPr>
            <a:t> CAP e no banco</a:t>
          </a:r>
        </a:p>
      </dsp:txBody>
      <dsp:txXfrm>
        <a:off x="35723" y="30978"/>
        <a:ext cx="1054463" cy="995697"/>
      </dsp:txXfrm>
    </dsp:sp>
    <dsp:sp modelId="{80F04ABB-B332-4757-B2E3-398522FAF177}">
      <dsp:nvSpPr>
        <dsp:cNvPr id="0" name=""/>
        <dsp:cNvSpPr/>
      </dsp:nvSpPr>
      <dsp:spPr>
        <a:xfrm>
          <a:off x="1232806" y="390390"/>
          <a:ext cx="236680" cy="2768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1232806" y="445764"/>
        <a:ext cx="165676" cy="166123"/>
      </dsp:txXfrm>
    </dsp:sp>
    <dsp:sp modelId="{F61784F1-F66F-41AC-A188-CA0ED0C05A66}">
      <dsp:nvSpPr>
        <dsp:cNvPr id="0" name=""/>
        <dsp:cNvSpPr/>
      </dsp:nvSpPr>
      <dsp:spPr>
        <a:xfrm>
          <a:off x="1567732" y="0"/>
          <a:ext cx="1116419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Baixa arquivo com os pedidos de depósito bancário e cadastra no banco</a:t>
          </a:r>
        </a:p>
      </dsp:txBody>
      <dsp:txXfrm>
        <a:off x="1598710" y="30978"/>
        <a:ext cx="1054463" cy="995697"/>
      </dsp:txXfrm>
    </dsp:sp>
    <dsp:sp modelId="{733BAC91-F8E0-4120-908A-0B3D79EFBA93}">
      <dsp:nvSpPr>
        <dsp:cNvPr id="0" name=""/>
        <dsp:cNvSpPr/>
      </dsp:nvSpPr>
      <dsp:spPr>
        <a:xfrm>
          <a:off x="2795793" y="390390"/>
          <a:ext cx="236680" cy="2768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2795793" y="445764"/>
        <a:ext cx="165676" cy="166123"/>
      </dsp:txXfrm>
    </dsp:sp>
    <dsp:sp modelId="{E6DCAB09-BFE8-421B-AF38-E3E72F4B8C65}">
      <dsp:nvSpPr>
        <dsp:cNvPr id="0" name=""/>
        <dsp:cNvSpPr/>
      </dsp:nvSpPr>
      <dsp:spPr>
        <a:xfrm>
          <a:off x="3130719" y="0"/>
          <a:ext cx="1116419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Baixa Extrato Bancário e relação de pagamentos do SAP B1</a:t>
          </a:r>
        </a:p>
      </dsp:txBody>
      <dsp:txXfrm>
        <a:off x="3161697" y="30978"/>
        <a:ext cx="1054463" cy="995697"/>
      </dsp:txXfrm>
    </dsp:sp>
    <dsp:sp modelId="{D347C60A-1DD7-4283-8B97-A6781FEA2108}">
      <dsp:nvSpPr>
        <dsp:cNvPr id="0" name=""/>
        <dsp:cNvSpPr/>
      </dsp:nvSpPr>
      <dsp:spPr>
        <a:xfrm>
          <a:off x="4354823" y="390390"/>
          <a:ext cx="228292" cy="2768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4354823" y="445764"/>
        <a:ext cx="159804" cy="166123"/>
      </dsp:txXfrm>
    </dsp:sp>
    <dsp:sp modelId="{F975F9CD-116B-4BF5-B412-260A6313E137}">
      <dsp:nvSpPr>
        <dsp:cNvPr id="0" name=""/>
        <dsp:cNvSpPr/>
      </dsp:nvSpPr>
      <dsp:spPr>
        <a:xfrm>
          <a:off x="4677879" y="0"/>
          <a:ext cx="1117714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Realiza a baixa do pagamento no SAP B1</a:t>
          </a:r>
        </a:p>
      </dsp:txBody>
      <dsp:txXfrm>
        <a:off x="4708857" y="30978"/>
        <a:ext cx="1055758" cy="99569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70" y="0"/>
          <a:ext cx="1167842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Apura pedidos cadastrados x pagamentos efetuados</a:t>
          </a:r>
        </a:p>
      </dsp:txBody>
      <dsp:txXfrm>
        <a:off x="31548" y="30978"/>
        <a:ext cx="1105886" cy="99569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574" y="0"/>
          <a:ext cx="1070809" cy="11571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solidFill>
                <a:srgbClr val="FFFFFF"/>
              </a:solidFill>
            </a:rPr>
            <a:t>Apura lista de múltiplos locatários nos terrenos próprios Oi</a:t>
          </a:r>
        </a:p>
      </dsp:txBody>
      <dsp:txXfrm>
        <a:off x="36937" y="31363"/>
        <a:ext cx="1008083" cy="1094394"/>
      </dsp:txXfrm>
    </dsp:sp>
    <dsp:sp modelId="{80F04ABB-B332-4757-B2E3-398522FAF177}">
      <dsp:nvSpPr>
        <dsp:cNvPr id="0" name=""/>
        <dsp:cNvSpPr/>
      </dsp:nvSpPr>
      <dsp:spPr>
        <a:xfrm>
          <a:off x="1183465" y="445779"/>
          <a:ext cx="227011" cy="265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1183465" y="498891"/>
        <a:ext cx="158908" cy="159336"/>
      </dsp:txXfrm>
    </dsp:sp>
    <dsp:sp modelId="{5D7193D8-3437-4506-8B19-694609972E13}">
      <dsp:nvSpPr>
        <dsp:cNvPr id="0" name=""/>
        <dsp:cNvSpPr/>
      </dsp:nvSpPr>
      <dsp:spPr>
        <a:xfrm>
          <a:off x="1504708" y="0"/>
          <a:ext cx="1070809" cy="11571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rgbClr val="FFFFFF"/>
              </a:solidFill>
            </a:rPr>
            <a:t>Realiza </a:t>
          </a:r>
          <a:r>
            <a:rPr lang="pt-BR" sz="1100" kern="1200" dirty="0">
              <a:solidFill>
                <a:srgbClr val="FFFFFF"/>
              </a:solidFill>
            </a:rPr>
            <a:t>o cálculo do aluguel de solo Oi para terreno Oi com múltiplos locatários</a:t>
          </a:r>
        </a:p>
      </dsp:txBody>
      <dsp:txXfrm>
        <a:off x="1536071" y="31363"/>
        <a:ext cx="1008083" cy="1094394"/>
      </dsp:txXfrm>
    </dsp:sp>
    <dsp:sp modelId="{693586EB-36C3-40F5-891B-32C99499B41A}">
      <dsp:nvSpPr>
        <dsp:cNvPr id="0" name=""/>
        <dsp:cNvSpPr/>
      </dsp:nvSpPr>
      <dsp:spPr>
        <a:xfrm>
          <a:off x="2682598" y="445779"/>
          <a:ext cx="227011" cy="265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2682598" y="498891"/>
        <a:ext cx="158908" cy="159336"/>
      </dsp:txXfrm>
    </dsp:sp>
    <dsp:sp modelId="{9ED0CB73-E0E2-4F1B-8CA4-28123C314DD4}">
      <dsp:nvSpPr>
        <dsp:cNvPr id="0" name=""/>
        <dsp:cNvSpPr/>
      </dsp:nvSpPr>
      <dsp:spPr>
        <a:xfrm>
          <a:off x="3003841" y="0"/>
          <a:ext cx="1070809" cy="11571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solidFill>
                <a:srgbClr val="FFFFFF"/>
              </a:solidFill>
            </a:rPr>
            <a:t>Disponibiliza informações para validação da Oi</a:t>
          </a:r>
        </a:p>
      </dsp:txBody>
      <dsp:txXfrm>
        <a:off x="3035204" y="31363"/>
        <a:ext cx="1008083" cy="109439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70" y="0"/>
          <a:ext cx="1167842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Cadastra  pedido de pagamento no SAP B1</a:t>
          </a:r>
          <a:endParaRPr lang="pt-BR" sz="1200" kern="1200" dirty="0">
            <a:solidFill>
              <a:srgbClr val="FF0000"/>
            </a:solidFill>
          </a:endParaRPr>
        </a:p>
      </dsp:txBody>
      <dsp:txXfrm>
        <a:off x="31548" y="30978"/>
        <a:ext cx="1105886" cy="99569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3226" y="0"/>
          <a:ext cx="1166760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solidFill>
                <a:srgbClr val="FFFFFF"/>
              </a:solidFill>
            </a:rPr>
            <a:t>Baixa pedido de </a:t>
          </a:r>
          <a:r>
            <a:rPr lang="pt-BR" sz="1100" kern="1200" dirty="0" err="1">
              <a:solidFill>
                <a:srgbClr val="FFFFFF"/>
              </a:solidFill>
            </a:rPr>
            <a:t>pgto</a:t>
          </a:r>
          <a:r>
            <a:rPr lang="pt-BR" sz="1100" kern="1200" dirty="0">
              <a:solidFill>
                <a:srgbClr val="FFFFFF"/>
              </a:solidFill>
            </a:rPr>
            <a:t> da nota do SAP B1, cadastra no </a:t>
          </a:r>
          <a:r>
            <a:rPr lang="pt-BR" sz="1100" kern="1200" dirty="0" err="1">
              <a:solidFill>
                <a:srgbClr val="FFFFFF"/>
              </a:solidFill>
            </a:rPr>
            <a:t>sharepoint</a:t>
          </a:r>
          <a:r>
            <a:rPr lang="pt-BR" sz="1100" kern="1200" dirty="0">
              <a:solidFill>
                <a:srgbClr val="FFFFFF"/>
              </a:solidFill>
            </a:rPr>
            <a:t> CAP e no banco</a:t>
          </a:r>
        </a:p>
      </dsp:txBody>
      <dsp:txXfrm>
        <a:off x="34204" y="30978"/>
        <a:ext cx="1104804" cy="995697"/>
      </dsp:txXfrm>
    </dsp:sp>
    <dsp:sp modelId="{80F04ABB-B332-4757-B2E3-398522FAF177}">
      <dsp:nvSpPr>
        <dsp:cNvPr id="0" name=""/>
        <dsp:cNvSpPr/>
      </dsp:nvSpPr>
      <dsp:spPr>
        <a:xfrm>
          <a:off x="1286664" y="384148"/>
          <a:ext cx="247353" cy="289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1286664" y="442019"/>
        <a:ext cx="173147" cy="173614"/>
      </dsp:txXfrm>
    </dsp:sp>
    <dsp:sp modelId="{E6DCAB09-BFE8-421B-AF38-E3E72F4B8C65}">
      <dsp:nvSpPr>
        <dsp:cNvPr id="0" name=""/>
        <dsp:cNvSpPr/>
      </dsp:nvSpPr>
      <dsp:spPr>
        <a:xfrm>
          <a:off x="1636692" y="0"/>
          <a:ext cx="1166760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solidFill>
                <a:srgbClr val="FFFFFF"/>
              </a:solidFill>
            </a:rPr>
            <a:t>Baixa Extrato Bancário e relação de pagamentos do SAP B1</a:t>
          </a:r>
        </a:p>
      </dsp:txBody>
      <dsp:txXfrm>
        <a:off x="1667670" y="30978"/>
        <a:ext cx="1104804" cy="995697"/>
      </dsp:txXfrm>
    </dsp:sp>
    <dsp:sp modelId="{D347C60A-1DD7-4283-8B97-A6781FEA2108}">
      <dsp:nvSpPr>
        <dsp:cNvPr id="0" name=""/>
        <dsp:cNvSpPr/>
      </dsp:nvSpPr>
      <dsp:spPr>
        <a:xfrm>
          <a:off x="2915994" y="384148"/>
          <a:ext cx="238587" cy="289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2915994" y="442019"/>
        <a:ext cx="167011" cy="173614"/>
      </dsp:txXfrm>
    </dsp:sp>
    <dsp:sp modelId="{F975F9CD-116B-4BF5-B412-260A6313E137}">
      <dsp:nvSpPr>
        <dsp:cNvPr id="0" name=""/>
        <dsp:cNvSpPr/>
      </dsp:nvSpPr>
      <dsp:spPr>
        <a:xfrm>
          <a:off x="3253617" y="0"/>
          <a:ext cx="1168114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solidFill>
                <a:srgbClr val="FFFFFF"/>
              </a:solidFill>
            </a:rPr>
            <a:t>Realiza a baixa do pagamento no SAP B1</a:t>
          </a:r>
        </a:p>
      </dsp:txBody>
      <dsp:txXfrm>
        <a:off x="3284595" y="30978"/>
        <a:ext cx="1106158" cy="99569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141" y="0"/>
          <a:ext cx="1167842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Apura pedidos cadastrados x pagamentos efetuados</a:t>
          </a:r>
        </a:p>
      </dsp:txBody>
      <dsp:txXfrm>
        <a:off x="32119" y="30978"/>
        <a:ext cx="1105886" cy="99569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0"/>
          <a:ext cx="1141884" cy="11571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Recebe valores validos e nota de débito para pagamento a Oi</a:t>
          </a:r>
        </a:p>
      </dsp:txBody>
      <dsp:txXfrm>
        <a:off x="33445" y="33445"/>
        <a:ext cx="1074994" cy="1090230"/>
      </dsp:txXfrm>
    </dsp:sp>
    <dsp:sp modelId="{573DE5FA-8B4D-4D8D-83D2-568B7F2DB015}">
      <dsp:nvSpPr>
        <dsp:cNvPr id="0" name=""/>
        <dsp:cNvSpPr/>
      </dsp:nvSpPr>
      <dsp:spPr>
        <a:xfrm>
          <a:off x="1256206" y="436966"/>
          <a:ext cx="242363" cy="2831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>
            <a:solidFill>
              <a:srgbClr val="FFFFFF"/>
            </a:solidFill>
          </a:endParaRPr>
        </a:p>
      </dsp:txBody>
      <dsp:txXfrm>
        <a:off x="1256206" y="493603"/>
        <a:ext cx="169654" cy="169913"/>
      </dsp:txXfrm>
    </dsp:sp>
    <dsp:sp modelId="{ED4774A5-275D-4737-9E34-382BDAC3AC53}">
      <dsp:nvSpPr>
        <dsp:cNvPr id="0" name=""/>
        <dsp:cNvSpPr/>
      </dsp:nvSpPr>
      <dsp:spPr>
        <a:xfrm>
          <a:off x="1599173" y="0"/>
          <a:ext cx="1141884" cy="11571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nota de débito para pagamento</a:t>
          </a:r>
        </a:p>
      </dsp:txBody>
      <dsp:txXfrm>
        <a:off x="1632618" y="33445"/>
        <a:ext cx="1074994" cy="109023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553" y="0"/>
          <a:ext cx="1179366" cy="1184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Valida valores de solo Oi com </a:t>
          </a:r>
          <a:r>
            <a:rPr lang="pt-BR" sz="1200" kern="1200" dirty="0" err="1">
              <a:solidFill>
                <a:srgbClr val="FFFFFF"/>
              </a:solidFill>
            </a:rPr>
            <a:t>multilocatários</a:t>
          </a:r>
          <a:r>
            <a:rPr lang="pt-BR" sz="1200" kern="1200" dirty="0">
              <a:solidFill>
                <a:srgbClr val="FFFFFF"/>
              </a:solidFill>
            </a:rPr>
            <a:t> e solicita emissão de nota de débito </a:t>
          </a:r>
        </a:p>
      </dsp:txBody>
      <dsp:txXfrm>
        <a:off x="35095" y="34542"/>
        <a:ext cx="1110282" cy="1115493"/>
      </dsp:txXfrm>
    </dsp:sp>
    <dsp:sp modelId="{7EE7B73E-54FB-45A6-BBA7-D0915D5B3CAF}">
      <dsp:nvSpPr>
        <dsp:cNvPr id="0" name=""/>
        <dsp:cNvSpPr/>
      </dsp:nvSpPr>
      <dsp:spPr>
        <a:xfrm>
          <a:off x="1297855" y="446047"/>
          <a:ext cx="250025" cy="2924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>
            <a:solidFill>
              <a:srgbClr val="FFFFFF"/>
            </a:solidFill>
          </a:endParaRPr>
        </a:p>
      </dsp:txBody>
      <dsp:txXfrm>
        <a:off x="1297855" y="504543"/>
        <a:ext cx="175018" cy="175490"/>
      </dsp:txXfrm>
    </dsp:sp>
    <dsp:sp modelId="{2D11AF7F-E01E-4FD2-B471-F0AAF04FDBEF}">
      <dsp:nvSpPr>
        <dsp:cNvPr id="0" name=""/>
        <dsp:cNvSpPr/>
      </dsp:nvSpPr>
      <dsp:spPr>
        <a:xfrm>
          <a:off x="1651665" y="0"/>
          <a:ext cx="1179366" cy="1184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Emite nota de débito Oi e envia para </a:t>
          </a:r>
          <a:r>
            <a:rPr lang="pt-BR" sz="1200" kern="1200" dirty="0" err="1">
              <a:solidFill>
                <a:srgbClr val="FFFFFF"/>
              </a:solidFill>
            </a:rPr>
            <a:t>Lemvig</a:t>
          </a:r>
          <a:endParaRPr lang="pt-BR" sz="1200" kern="1200" dirty="0">
            <a:solidFill>
              <a:srgbClr val="FFFFFF"/>
            </a:solidFill>
          </a:endParaRPr>
        </a:p>
      </dsp:txBody>
      <dsp:txXfrm>
        <a:off x="1686207" y="34542"/>
        <a:ext cx="1110282" cy="111549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0"/>
          <a:ext cx="1120487" cy="9583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Realiza aferição dos valores de solo</a:t>
          </a:r>
        </a:p>
      </dsp:txBody>
      <dsp:txXfrm>
        <a:off x="28068" y="28068"/>
        <a:ext cx="1064351" cy="90218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9979" y="49120"/>
          <a:ext cx="1125120" cy="1537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Resgata Valores validados de solo pelas Operadoras, receita de aluguel de solo de terceiros e de solo Oi </a:t>
          </a:r>
        </a:p>
      </dsp:txBody>
      <dsp:txXfrm>
        <a:off x="52933" y="82074"/>
        <a:ext cx="1059212" cy="1471140"/>
      </dsp:txXfrm>
    </dsp:sp>
    <dsp:sp modelId="{80F04ABB-B332-4757-B2E3-398522FAF177}">
      <dsp:nvSpPr>
        <dsp:cNvPr id="0" name=""/>
        <dsp:cNvSpPr/>
      </dsp:nvSpPr>
      <dsp:spPr>
        <a:xfrm>
          <a:off x="1253558" y="678130"/>
          <a:ext cx="229931" cy="2790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1253558" y="733936"/>
        <a:ext cx="160952" cy="167417"/>
      </dsp:txXfrm>
    </dsp:sp>
    <dsp:sp modelId="{E038E7F1-FDE5-4AC4-B10A-C780E85B1974}">
      <dsp:nvSpPr>
        <dsp:cNvPr id="0" name=""/>
        <dsp:cNvSpPr/>
      </dsp:nvSpPr>
      <dsp:spPr>
        <a:xfrm>
          <a:off x="1578933" y="37092"/>
          <a:ext cx="1125120" cy="1561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Calcula valor do </a:t>
          </a:r>
          <a:r>
            <a:rPr lang="pt-BR" sz="1200" kern="1200" dirty="0" err="1">
              <a:solidFill>
                <a:srgbClr val="FFFFFF"/>
              </a:solidFill>
            </a:rPr>
            <a:t>Pass</a:t>
          </a:r>
          <a:r>
            <a:rPr lang="pt-BR" sz="1200" kern="1200" dirty="0">
              <a:solidFill>
                <a:srgbClr val="FFFFFF"/>
              </a:solidFill>
            </a:rPr>
            <a:t> </a:t>
          </a:r>
          <a:r>
            <a:rPr lang="pt-BR" sz="1200" kern="1200" dirty="0" err="1">
              <a:solidFill>
                <a:srgbClr val="FFFFFF"/>
              </a:solidFill>
            </a:rPr>
            <a:t>Through</a:t>
          </a:r>
          <a:r>
            <a:rPr lang="pt-BR" sz="1200" kern="1200" dirty="0">
              <a:solidFill>
                <a:srgbClr val="FFFFFF"/>
              </a:solidFill>
            </a:rPr>
            <a:t> de solo e informa p/ Oi</a:t>
          </a:r>
        </a:p>
      </dsp:txBody>
      <dsp:txXfrm>
        <a:off x="1611887" y="70046"/>
        <a:ext cx="1059212" cy="1495197"/>
      </dsp:txXfrm>
    </dsp:sp>
    <dsp:sp modelId="{93465E85-0760-4862-9E0C-80A182C944E8}">
      <dsp:nvSpPr>
        <dsp:cNvPr id="0" name=""/>
        <dsp:cNvSpPr/>
      </dsp:nvSpPr>
      <dsp:spPr>
        <a:xfrm>
          <a:off x="2816566" y="678130"/>
          <a:ext cx="238525" cy="2790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2816566" y="733936"/>
        <a:ext cx="166968" cy="167417"/>
      </dsp:txXfrm>
    </dsp:sp>
    <dsp:sp modelId="{A37BAF9D-1433-4995-85F1-5DBC0C9A411F}">
      <dsp:nvSpPr>
        <dsp:cNvPr id="0" name=""/>
        <dsp:cNvSpPr/>
      </dsp:nvSpPr>
      <dsp:spPr>
        <a:xfrm>
          <a:off x="3154102" y="37092"/>
          <a:ext cx="1125120" cy="1561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Consolida valor do acerto Oi e solicita a criação de nota de débito</a:t>
          </a:r>
        </a:p>
      </dsp:txBody>
      <dsp:txXfrm>
        <a:off x="3187056" y="70046"/>
        <a:ext cx="1059212" cy="149519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54712"/>
          <a:ext cx="1097180" cy="9698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Envia valores de solo validados</a:t>
          </a:r>
        </a:p>
      </dsp:txBody>
      <dsp:txXfrm>
        <a:off x="28407" y="83119"/>
        <a:ext cx="1040366" cy="91308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067EB-D143-4325-82F1-2286B54FBECA}">
      <dsp:nvSpPr>
        <dsp:cNvPr id="0" name=""/>
        <dsp:cNvSpPr/>
      </dsp:nvSpPr>
      <dsp:spPr>
        <a:xfrm>
          <a:off x="533" y="297780"/>
          <a:ext cx="1136875" cy="10018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Gera nota de débito (PDF) no B1 para cada fatura que consta na lista recebida</a:t>
          </a:r>
        </a:p>
      </dsp:txBody>
      <dsp:txXfrm>
        <a:off x="29877" y="327124"/>
        <a:ext cx="1078187" cy="943183"/>
      </dsp:txXfrm>
    </dsp:sp>
    <dsp:sp modelId="{D7A67089-BEB7-42C0-9C05-4DED3A795C45}">
      <dsp:nvSpPr>
        <dsp:cNvPr id="0" name=""/>
        <dsp:cNvSpPr/>
      </dsp:nvSpPr>
      <dsp:spPr>
        <a:xfrm>
          <a:off x="1251096" y="657743"/>
          <a:ext cx="241017" cy="2819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1251096" y="714132"/>
        <a:ext cx="168712" cy="169167"/>
      </dsp:txXfrm>
    </dsp:sp>
    <dsp:sp modelId="{A72299D1-D3FB-48C8-A417-63193AEDC3DF}">
      <dsp:nvSpPr>
        <dsp:cNvPr id="0" name=""/>
        <dsp:cNvSpPr/>
      </dsp:nvSpPr>
      <dsp:spPr>
        <a:xfrm>
          <a:off x="1592159" y="297780"/>
          <a:ext cx="1136875" cy="10018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>
              <a:solidFill>
                <a:srgbClr val="FFFFFF"/>
              </a:solidFill>
            </a:rPr>
            <a:t>Envia nota de débito para pagamento do acerto do rateio de solo</a:t>
          </a:r>
          <a:endParaRPr lang="pt-BR" sz="1200" kern="1200" dirty="0">
            <a:solidFill>
              <a:srgbClr val="FFFFFF"/>
            </a:solidFill>
          </a:endParaRPr>
        </a:p>
      </dsp:txBody>
      <dsp:txXfrm>
        <a:off x="1621503" y="327124"/>
        <a:ext cx="1078187" cy="943183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9248"/>
          <a:ext cx="1097180" cy="10153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Autoriza pagamento da nota de débito</a:t>
          </a:r>
        </a:p>
      </dsp:txBody>
      <dsp:txXfrm>
        <a:off x="29739" y="38987"/>
        <a:ext cx="1037702" cy="95588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0"/>
          <a:ext cx="1183151" cy="1000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Inclui valores de energia Oi no DEINF das operadoras</a:t>
          </a:r>
        </a:p>
      </dsp:txBody>
      <dsp:txXfrm>
        <a:off x="29304" y="29304"/>
        <a:ext cx="1124543" cy="941901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1118" y="0"/>
          <a:ext cx="1143926" cy="985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Gera e Comunica despesa de  energia (medidor) por operadora</a:t>
          </a:r>
          <a:endParaRPr lang="pt-BR" sz="1100" kern="1200" dirty="0">
            <a:solidFill>
              <a:srgbClr val="FFFFFF"/>
            </a:solidFill>
          </a:endParaRPr>
        </a:p>
      </dsp:txBody>
      <dsp:txXfrm>
        <a:off x="29968" y="28850"/>
        <a:ext cx="1086226" cy="92730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0"/>
          <a:ext cx="1156398" cy="11172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Emite nota de débito para </a:t>
          </a:r>
          <a:r>
            <a:rPr lang="pt-BR" sz="1200" kern="1200" dirty="0" err="1">
              <a:solidFill>
                <a:srgbClr val="FFFFFF"/>
              </a:solidFill>
            </a:rPr>
            <a:t>Lemvig</a:t>
          </a:r>
          <a:r>
            <a:rPr lang="pt-BR" sz="1200" kern="1200" dirty="0">
              <a:solidFill>
                <a:srgbClr val="FFFFFF"/>
              </a:solidFill>
            </a:rPr>
            <a:t> referente aos valores de energia validados³</a:t>
          </a:r>
        </a:p>
      </dsp:txBody>
      <dsp:txXfrm>
        <a:off x="32722" y="32722"/>
        <a:ext cx="1090954" cy="105177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0" y="0"/>
          <a:ext cx="1183151" cy="1000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Informa valor de energia validado por operadora</a:t>
          </a:r>
        </a:p>
      </dsp:txBody>
      <dsp:txXfrm>
        <a:off x="29304" y="29304"/>
        <a:ext cx="1124543" cy="94190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70" y="0"/>
          <a:ext cx="1167842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Cadastra  pedido de pagamento no SAP B1</a:t>
          </a:r>
        </a:p>
      </dsp:txBody>
      <dsp:txXfrm>
        <a:off x="31548" y="30978"/>
        <a:ext cx="1105886" cy="995697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604" y="0"/>
          <a:ext cx="1211349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Baixa arquivo com o pedido de depósito bancário e cadastra no banco</a:t>
          </a:r>
        </a:p>
      </dsp:txBody>
      <dsp:txXfrm>
        <a:off x="36582" y="30978"/>
        <a:ext cx="1149393" cy="995697"/>
      </dsp:txXfrm>
    </dsp:sp>
    <dsp:sp modelId="{80F04ABB-B332-4757-B2E3-398522FAF177}">
      <dsp:nvSpPr>
        <dsp:cNvPr id="0" name=""/>
        <dsp:cNvSpPr/>
      </dsp:nvSpPr>
      <dsp:spPr>
        <a:xfrm>
          <a:off x="1338088" y="378619"/>
          <a:ext cx="256806" cy="300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338088" y="438702"/>
        <a:ext cx="179764" cy="180248"/>
      </dsp:txXfrm>
    </dsp:sp>
    <dsp:sp modelId="{E6DCAB09-BFE8-421B-AF38-E3E72F4B8C65}">
      <dsp:nvSpPr>
        <dsp:cNvPr id="0" name=""/>
        <dsp:cNvSpPr/>
      </dsp:nvSpPr>
      <dsp:spPr>
        <a:xfrm>
          <a:off x="1701493" y="0"/>
          <a:ext cx="1211349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Baixa Extrato Bancário e relação de pagamentos do SAP B1</a:t>
          </a:r>
        </a:p>
      </dsp:txBody>
      <dsp:txXfrm>
        <a:off x="1732471" y="30978"/>
        <a:ext cx="1149393" cy="995697"/>
      </dsp:txXfrm>
    </dsp:sp>
    <dsp:sp modelId="{D347C60A-1DD7-4283-8B97-A6781FEA2108}">
      <dsp:nvSpPr>
        <dsp:cNvPr id="0" name=""/>
        <dsp:cNvSpPr/>
      </dsp:nvSpPr>
      <dsp:spPr>
        <a:xfrm>
          <a:off x="3029684" y="378619"/>
          <a:ext cx="247704" cy="300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3029684" y="438702"/>
        <a:ext cx="173393" cy="180248"/>
      </dsp:txXfrm>
    </dsp:sp>
    <dsp:sp modelId="{F975F9CD-116B-4BF5-B412-260A6313E137}">
      <dsp:nvSpPr>
        <dsp:cNvPr id="0" name=""/>
        <dsp:cNvSpPr/>
      </dsp:nvSpPr>
      <dsp:spPr>
        <a:xfrm>
          <a:off x="3380210" y="0"/>
          <a:ext cx="1212754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Realiza a baixa do pagamento no SAP B1</a:t>
          </a:r>
        </a:p>
      </dsp:txBody>
      <dsp:txXfrm>
        <a:off x="3411188" y="30978"/>
        <a:ext cx="1150798" cy="995697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570" y="0"/>
          <a:ext cx="1167842" cy="1057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Apura pedido cadastrado x pagamento efetuado</a:t>
          </a:r>
        </a:p>
      </dsp:txBody>
      <dsp:txXfrm>
        <a:off x="31548" y="30978"/>
        <a:ext cx="1105886" cy="995697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667" y="0"/>
          <a:ext cx="1366006" cy="1103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planilha com faturas  emitidas no SAP B1 para cobrança das empresas </a:t>
          </a:r>
        </a:p>
      </dsp:txBody>
      <dsp:txXfrm>
        <a:off x="32999" y="32332"/>
        <a:ext cx="1301342" cy="103923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22132" y="270947"/>
          <a:ext cx="1334477" cy="93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Acompanha entrada de pagamentos na conta corrente do CAR ou</a:t>
          </a:r>
        </a:p>
      </dsp:txBody>
      <dsp:txXfrm>
        <a:off x="49408" y="298223"/>
        <a:ext cx="1279925" cy="876725"/>
      </dsp:txXfrm>
    </dsp:sp>
    <dsp:sp modelId="{B1FCCD43-EFD5-421A-86CD-0C27F4581C90}">
      <dsp:nvSpPr>
        <dsp:cNvPr id="0" name=""/>
        <dsp:cNvSpPr/>
      </dsp:nvSpPr>
      <dsp:spPr>
        <a:xfrm rot="29714">
          <a:off x="1484831" y="579161"/>
          <a:ext cx="271852" cy="3309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700" kern="1200"/>
        </a:p>
      </dsp:txBody>
      <dsp:txXfrm>
        <a:off x="1484833" y="644999"/>
        <a:ext cx="190296" cy="198570"/>
      </dsp:txXfrm>
    </dsp:sp>
    <dsp:sp modelId="{92B68DCF-E684-4679-A323-9EF5FDB60E03}">
      <dsp:nvSpPr>
        <dsp:cNvPr id="0" name=""/>
        <dsp:cNvSpPr/>
      </dsp:nvSpPr>
      <dsp:spPr>
        <a:xfrm>
          <a:off x="1869519" y="270352"/>
          <a:ext cx="1334477" cy="964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Informa sobre entradas nas contas correntes para time de cobrança</a:t>
          </a:r>
        </a:p>
      </dsp:txBody>
      <dsp:txXfrm>
        <a:off x="1897765" y="298598"/>
        <a:ext cx="1277985" cy="90791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22132" y="270947"/>
          <a:ext cx="1334477" cy="93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Relaciona valores entrantes nas contas correntes com faturas emitidas</a:t>
          </a:r>
        </a:p>
      </dsp:txBody>
      <dsp:txXfrm>
        <a:off x="49408" y="298223"/>
        <a:ext cx="1279925" cy="876725"/>
      </dsp:txXfrm>
    </dsp:sp>
    <dsp:sp modelId="{B1FCCD43-EFD5-421A-86CD-0C27F4581C90}">
      <dsp:nvSpPr>
        <dsp:cNvPr id="0" name=""/>
        <dsp:cNvSpPr/>
      </dsp:nvSpPr>
      <dsp:spPr>
        <a:xfrm rot="29714">
          <a:off x="1484831" y="579161"/>
          <a:ext cx="271852" cy="3309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700" kern="1200"/>
        </a:p>
      </dsp:txBody>
      <dsp:txXfrm>
        <a:off x="1484833" y="644999"/>
        <a:ext cx="190296" cy="198570"/>
      </dsp:txXfrm>
    </dsp:sp>
    <dsp:sp modelId="{92B68DCF-E684-4679-A323-9EF5FDB60E03}">
      <dsp:nvSpPr>
        <dsp:cNvPr id="0" name=""/>
        <dsp:cNvSpPr/>
      </dsp:nvSpPr>
      <dsp:spPr>
        <a:xfrm>
          <a:off x="1869519" y="270352"/>
          <a:ext cx="1334477" cy="964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Disponibiliza conciliação para baixa do pagamento no SAP B1</a:t>
          </a:r>
        </a:p>
      </dsp:txBody>
      <dsp:txXfrm>
        <a:off x="1897765" y="298598"/>
        <a:ext cx="1277985" cy="907911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22132" y="270947"/>
          <a:ext cx="1334477" cy="93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Acessa fatura a fatura no SAP B1 para executar a baixa da fatura emitida</a:t>
          </a:r>
        </a:p>
      </dsp:txBody>
      <dsp:txXfrm>
        <a:off x="49408" y="298223"/>
        <a:ext cx="1279925" cy="876725"/>
      </dsp:txXfrm>
    </dsp:sp>
    <dsp:sp modelId="{B1FCCD43-EFD5-421A-86CD-0C27F4581C90}">
      <dsp:nvSpPr>
        <dsp:cNvPr id="0" name=""/>
        <dsp:cNvSpPr/>
      </dsp:nvSpPr>
      <dsp:spPr>
        <a:xfrm rot="29714">
          <a:off x="1484831" y="579161"/>
          <a:ext cx="271852" cy="3309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700" kern="1200"/>
        </a:p>
      </dsp:txBody>
      <dsp:txXfrm>
        <a:off x="1484833" y="644999"/>
        <a:ext cx="190296" cy="198570"/>
      </dsp:txXfrm>
    </dsp:sp>
    <dsp:sp modelId="{92B68DCF-E684-4679-A323-9EF5FDB60E03}">
      <dsp:nvSpPr>
        <dsp:cNvPr id="0" name=""/>
        <dsp:cNvSpPr/>
      </dsp:nvSpPr>
      <dsp:spPr>
        <a:xfrm>
          <a:off x="1869519" y="270352"/>
          <a:ext cx="1334477" cy="964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Relata conclusão do tratamento das faturas</a:t>
          </a:r>
        </a:p>
      </dsp:txBody>
      <dsp:txXfrm>
        <a:off x="1897765" y="298598"/>
        <a:ext cx="1277985" cy="907911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921A-AE1C-4952-9E44-54E12D049B3E}">
      <dsp:nvSpPr>
        <dsp:cNvPr id="0" name=""/>
        <dsp:cNvSpPr/>
      </dsp:nvSpPr>
      <dsp:spPr>
        <a:xfrm>
          <a:off x="1348" y="0"/>
          <a:ext cx="1379448" cy="10090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Realiza a  conciliação do contas a receber</a:t>
          </a:r>
        </a:p>
      </dsp:txBody>
      <dsp:txXfrm>
        <a:off x="30903" y="29555"/>
        <a:ext cx="1320338" cy="949971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13121"/>
          <a:ext cx="1146164" cy="1333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Gera e Comunica despesa de energia por operadora</a:t>
          </a:r>
          <a:endParaRPr lang="pt-BR" sz="1100" kern="1200" dirty="0">
            <a:solidFill>
              <a:srgbClr val="FFFFFF"/>
            </a:solidFill>
          </a:endParaRPr>
        </a:p>
      </dsp:txBody>
      <dsp:txXfrm>
        <a:off x="33570" y="46691"/>
        <a:ext cx="1079024" cy="1266598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4761"/>
          <a:ext cx="1158660" cy="1401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Emite nota de débito para </a:t>
          </a:r>
          <a:r>
            <a:rPr lang="pt-BR" sz="1200" kern="1200" dirty="0" err="1">
              <a:solidFill>
                <a:srgbClr val="FFFFFF"/>
              </a:solidFill>
            </a:rPr>
            <a:t>Lemvig</a:t>
          </a:r>
          <a:r>
            <a:rPr lang="pt-BR" sz="1200" kern="1200" dirty="0">
              <a:solidFill>
                <a:srgbClr val="FFFFFF"/>
              </a:solidFill>
            </a:rPr>
            <a:t> referente aos valores de energia validados³</a:t>
          </a:r>
        </a:p>
      </dsp:txBody>
      <dsp:txXfrm>
        <a:off x="33936" y="38697"/>
        <a:ext cx="1090788" cy="1334035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4428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 Inclui valores de energia nos </a:t>
          </a:r>
          <a:r>
            <a:rPr lang="pt-BR" sz="1400" kern="1200" dirty="0" err="1">
              <a:solidFill>
                <a:srgbClr val="FFFFFF"/>
              </a:solidFill>
            </a:rPr>
            <a:t>DEINFs</a:t>
          </a:r>
          <a:r>
            <a:rPr lang="pt-BR" sz="1400" kern="1200" dirty="0">
              <a:solidFill>
                <a:srgbClr val="FFFFFF"/>
              </a:solidFill>
            </a:rPr>
            <a:t> dos </a:t>
          </a:r>
          <a:r>
            <a:rPr lang="pt-BR" sz="1400" kern="1200" dirty="0" err="1">
              <a:solidFill>
                <a:srgbClr val="FFFFFF"/>
              </a:solidFill>
            </a:rPr>
            <a:t>ctts</a:t>
          </a:r>
          <a:r>
            <a:rPr lang="pt-BR" sz="1400" kern="1200" dirty="0">
              <a:solidFill>
                <a:srgbClr val="FFFFFF"/>
              </a:solidFill>
            </a:rPr>
            <a:t> de compartilhamento </a:t>
          </a:r>
        </a:p>
      </dsp:txBody>
      <dsp:txXfrm>
        <a:off x="37603" y="33175"/>
        <a:ext cx="1066335" cy="1249742"/>
      </dsp:txXfrm>
    </dsp:sp>
    <dsp:sp modelId="{556BFD75-57C1-4B38-99C4-F1DAC5D6897E}">
      <dsp:nvSpPr>
        <dsp:cNvPr id="0" name=""/>
        <dsp:cNvSpPr/>
      </dsp:nvSpPr>
      <dsp:spPr>
        <a:xfrm>
          <a:off x="1250382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50" kern="1200">
            <a:solidFill>
              <a:srgbClr val="FFFFFF"/>
            </a:solidFill>
          </a:endParaRPr>
        </a:p>
      </dsp:txBody>
      <dsp:txXfrm>
        <a:off x="1250382" y="573774"/>
        <a:ext cx="168090" cy="168543"/>
      </dsp:txXfrm>
    </dsp:sp>
    <dsp:sp modelId="{7378819D-78CA-4A0F-8C3D-8B2967E39881}">
      <dsp:nvSpPr>
        <dsp:cNvPr id="0" name=""/>
        <dsp:cNvSpPr/>
      </dsp:nvSpPr>
      <dsp:spPr>
        <a:xfrm>
          <a:off x="1590188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Envia valores apurados para validação das operadoras</a:t>
          </a:r>
        </a:p>
      </dsp:txBody>
      <dsp:txXfrm>
        <a:off x="1623363" y="33175"/>
        <a:ext cx="1066335" cy="1249742"/>
      </dsp:txXfrm>
    </dsp:sp>
    <dsp:sp modelId="{F4BEB9B5-3639-43C7-985F-154E22FFA2BD}">
      <dsp:nvSpPr>
        <dsp:cNvPr id="0" name=""/>
        <dsp:cNvSpPr/>
      </dsp:nvSpPr>
      <dsp:spPr>
        <a:xfrm>
          <a:off x="2836141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2836141" y="573774"/>
        <a:ext cx="168090" cy="168543"/>
      </dsp:txXfrm>
    </dsp:sp>
    <dsp:sp modelId="{442D69AE-2AA3-43A8-B0A8-1B99D350B1CD}">
      <dsp:nvSpPr>
        <dsp:cNvPr id="0" name=""/>
        <dsp:cNvSpPr/>
      </dsp:nvSpPr>
      <dsp:spPr>
        <a:xfrm>
          <a:off x="3175947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Recebe validação das operadoras</a:t>
          </a:r>
        </a:p>
      </dsp:txBody>
      <dsp:txXfrm>
        <a:off x="3209122" y="33175"/>
        <a:ext cx="1066335" cy="1249742"/>
      </dsp:txXfrm>
    </dsp:sp>
    <dsp:sp modelId="{5D23EC4C-AAA5-439F-A125-5C3699DC7D4D}">
      <dsp:nvSpPr>
        <dsp:cNvPr id="0" name=""/>
        <dsp:cNvSpPr/>
      </dsp:nvSpPr>
      <dsp:spPr>
        <a:xfrm>
          <a:off x="4421900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4421900" y="573774"/>
        <a:ext cx="168090" cy="168543"/>
      </dsp:txXfrm>
    </dsp:sp>
    <dsp:sp modelId="{16C61EA1-7FBC-4589-901F-D0F425612EF0}">
      <dsp:nvSpPr>
        <dsp:cNvPr id="0" name=""/>
        <dsp:cNvSpPr/>
      </dsp:nvSpPr>
      <dsp:spPr>
        <a:xfrm>
          <a:off x="4761706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Informa valores validados pelas operadoras para a Oi</a:t>
          </a:r>
        </a:p>
      </dsp:txBody>
      <dsp:txXfrm>
        <a:off x="4794881" y="33175"/>
        <a:ext cx="1066335" cy="1249742"/>
      </dsp:txXfrm>
    </dsp:sp>
    <dsp:sp modelId="{8D8D983B-8618-43F4-A23B-87318E16F96B}">
      <dsp:nvSpPr>
        <dsp:cNvPr id="0" name=""/>
        <dsp:cNvSpPr/>
      </dsp:nvSpPr>
      <dsp:spPr>
        <a:xfrm>
          <a:off x="6007660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6007660" y="573774"/>
        <a:ext cx="168090" cy="168543"/>
      </dsp:txXfrm>
    </dsp:sp>
    <dsp:sp modelId="{03F5D0B3-C5A6-4BE2-85CC-0EA416461B28}">
      <dsp:nvSpPr>
        <dsp:cNvPr id="0" name=""/>
        <dsp:cNvSpPr/>
      </dsp:nvSpPr>
      <dsp:spPr>
        <a:xfrm>
          <a:off x="6347465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Emite faturamento do valor validado¹² de energia contra as operadoras</a:t>
          </a:r>
        </a:p>
      </dsp:txBody>
      <dsp:txXfrm>
        <a:off x="6380640" y="33175"/>
        <a:ext cx="1066335" cy="1249742"/>
      </dsp:txXfrm>
    </dsp:sp>
    <dsp:sp modelId="{5AE5A710-AA21-42F8-83CC-A352135B142F}">
      <dsp:nvSpPr>
        <dsp:cNvPr id="0" name=""/>
        <dsp:cNvSpPr/>
      </dsp:nvSpPr>
      <dsp:spPr>
        <a:xfrm>
          <a:off x="7593419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7593419" y="573774"/>
        <a:ext cx="168090" cy="168543"/>
      </dsp:txXfrm>
    </dsp:sp>
    <dsp:sp modelId="{90A3CCA9-6A20-489B-80E7-475206AA2682}">
      <dsp:nvSpPr>
        <dsp:cNvPr id="0" name=""/>
        <dsp:cNvSpPr/>
      </dsp:nvSpPr>
      <dsp:spPr>
        <a:xfrm>
          <a:off x="7933224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Recebe pagamento das operadoras</a:t>
          </a:r>
        </a:p>
      </dsp:txBody>
      <dsp:txXfrm>
        <a:off x="7966399" y="33175"/>
        <a:ext cx="1066335" cy="1249742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F5E83-6B44-4BFF-9DAA-A34BBF94B27E}">
      <dsp:nvSpPr>
        <dsp:cNvPr id="0" name=""/>
        <dsp:cNvSpPr/>
      </dsp:nvSpPr>
      <dsp:spPr>
        <a:xfrm>
          <a:off x="590" y="0"/>
          <a:ext cx="1208656" cy="12870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Realiza pagamento da nota de débito para Oi</a:t>
          </a:r>
        </a:p>
      </dsp:txBody>
      <dsp:txXfrm>
        <a:off x="35990" y="35400"/>
        <a:ext cx="1137856" cy="1216205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13121"/>
          <a:ext cx="1146164" cy="1333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Gera e Comunica despesa de energia por operadora</a:t>
          </a:r>
          <a:endParaRPr lang="pt-BR" sz="1100" kern="1200" dirty="0">
            <a:solidFill>
              <a:srgbClr val="FFFFFF"/>
            </a:solidFill>
          </a:endParaRPr>
        </a:p>
      </dsp:txBody>
      <dsp:txXfrm>
        <a:off x="33570" y="46691"/>
        <a:ext cx="1079024" cy="1266598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4761"/>
          <a:ext cx="1158660" cy="1401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Emite nota de débito para </a:t>
          </a:r>
          <a:r>
            <a:rPr lang="pt-BR" sz="1200" kern="1200" dirty="0" err="1">
              <a:solidFill>
                <a:srgbClr val="FFFFFF"/>
              </a:solidFill>
            </a:rPr>
            <a:t>Lemvig</a:t>
          </a:r>
          <a:r>
            <a:rPr lang="pt-BR" sz="1200" kern="1200" dirty="0">
              <a:solidFill>
                <a:srgbClr val="FFFFFF"/>
              </a:solidFill>
            </a:rPr>
            <a:t> referente aos valores de energia validados³</a:t>
          </a:r>
        </a:p>
      </dsp:txBody>
      <dsp:txXfrm>
        <a:off x="33936" y="38697"/>
        <a:ext cx="1090788" cy="1334035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4428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 Inclui valores de energia nos </a:t>
          </a:r>
          <a:r>
            <a:rPr lang="pt-BR" sz="1400" kern="1200" dirty="0" err="1">
              <a:solidFill>
                <a:srgbClr val="FFFFFF"/>
              </a:solidFill>
            </a:rPr>
            <a:t>DEINFs</a:t>
          </a:r>
          <a:r>
            <a:rPr lang="pt-BR" sz="1400" kern="1200" dirty="0">
              <a:solidFill>
                <a:srgbClr val="FFFFFF"/>
              </a:solidFill>
            </a:rPr>
            <a:t> dos </a:t>
          </a:r>
          <a:r>
            <a:rPr lang="pt-BR" sz="1400" kern="1200" dirty="0" err="1">
              <a:solidFill>
                <a:srgbClr val="FFFFFF"/>
              </a:solidFill>
            </a:rPr>
            <a:t>ctts</a:t>
          </a:r>
          <a:r>
            <a:rPr lang="pt-BR" sz="1400" kern="1200" dirty="0">
              <a:solidFill>
                <a:srgbClr val="FFFFFF"/>
              </a:solidFill>
            </a:rPr>
            <a:t> de compartilhamento </a:t>
          </a:r>
        </a:p>
      </dsp:txBody>
      <dsp:txXfrm>
        <a:off x="37603" y="33175"/>
        <a:ext cx="1066335" cy="1249742"/>
      </dsp:txXfrm>
    </dsp:sp>
    <dsp:sp modelId="{556BFD75-57C1-4B38-99C4-F1DAC5D6897E}">
      <dsp:nvSpPr>
        <dsp:cNvPr id="0" name=""/>
        <dsp:cNvSpPr/>
      </dsp:nvSpPr>
      <dsp:spPr>
        <a:xfrm>
          <a:off x="1250382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50" kern="1200">
            <a:solidFill>
              <a:srgbClr val="FFFFFF"/>
            </a:solidFill>
          </a:endParaRPr>
        </a:p>
      </dsp:txBody>
      <dsp:txXfrm>
        <a:off x="1250382" y="573774"/>
        <a:ext cx="168090" cy="168543"/>
      </dsp:txXfrm>
    </dsp:sp>
    <dsp:sp modelId="{7378819D-78CA-4A0F-8C3D-8B2967E39881}">
      <dsp:nvSpPr>
        <dsp:cNvPr id="0" name=""/>
        <dsp:cNvSpPr/>
      </dsp:nvSpPr>
      <dsp:spPr>
        <a:xfrm>
          <a:off x="1590188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Envia valores apurados para validação das operadoras</a:t>
          </a:r>
        </a:p>
      </dsp:txBody>
      <dsp:txXfrm>
        <a:off x="1623363" y="33175"/>
        <a:ext cx="1066335" cy="1249742"/>
      </dsp:txXfrm>
    </dsp:sp>
    <dsp:sp modelId="{F4BEB9B5-3639-43C7-985F-154E22FFA2BD}">
      <dsp:nvSpPr>
        <dsp:cNvPr id="0" name=""/>
        <dsp:cNvSpPr/>
      </dsp:nvSpPr>
      <dsp:spPr>
        <a:xfrm>
          <a:off x="2836141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2836141" y="573774"/>
        <a:ext cx="168090" cy="168543"/>
      </dsp:txXfrm>
    </dsp:sp>
    <dsp:sp modelId="{442D69AE-2AA3-43A8-B0A8-1B99D350B1CD}">
      <dsp:nvSpPr>
        <dsp:cNvPr id="0" name=""/>
        <dsp:cNvSpPr/>
      </dsp:nvSpPr>
      <dsp:spPr>
        <a:xfrm>
          <a:off x="3175947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Recebe validação das operadoras</a:t>
          </a:r>
        </a:p>
      </dsp:txBody>
      <dsp:txXfrm>
        <a:off x="3209122" y="33175"/>
        <a:ext cx="1066335" cy="1249742"/>
      </dsp:txXfrm>
    </dsp:sp>
    <dsp:sp modelId="{5D23EC4C-AAA5-439F-A125-5C3699DC7D4D}">
      <dsp:nvSpPr>
        <dsp:cNvPr id="0" name=""/>
        <dsp:cNvSpPr/>
      </dsp:nvSpPr>
      <dsp:spPr>
        <a:xfrm>
          <a:off x="4421900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4421900" y="573774"/>
        <a:ext cx="168090" cy="168543"/>
      </dsp:txXfrm>
    </dsp:sp>
    <dsp:sp modelId="{16C61EA1-7FBC-4589-901F-D0F425612EF0}">
      <dsp:nvSpPr>
        <dsp:cNvPr id="0" name=""/>
        <dsp:cNvSpPr/>
      </dsp:nvSpPr>
      <dsp:spPr>
        <a:xfrm>
          <a:off x="4761706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Informa valores validados pelas operadoras para a Oi</a:t>
          </a:r>
        </a:p>
      </dsp:txBody>
      <dsp:txXfrm>
        <a:off x="4794881" y="33175"/>
        <a:ext cx="1066335" cy="1249742"/>
      </dsp:txXfrm>
    </dsp:sp>
    <dsp:sp modelId="{8D8D983B-8618-43F4-A23B-87318E16F96B}">
      <dsp:nvSpPr>
        <dsp:cNvPr id="0" name=""/>
        <dsp:cNvSpPr/>
      </dsp:nvSpPr>
      <dsp:spPr>
        <a:xfrm>
          <a:off x="6007660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6007660" y="573774"/>
        <a:ext cx="168090" cy="168543"/>
      </dsp:txXfrm>
    </dsp:sp>
    <dsp:sp modelId="{03F5D0B3-C5A6-4BE2-85CC-0EA416461B28}">
      <dsp:nvSpPr>
        <dsp:cNvPr id="0" name=""/>
        <dsp:cNvSpPr/>
      </dsp:nvSpPr>
      <dsp:spPr>
        <a:xfrm>
          <a:off x="6347465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Emite faturamento do valor validado¹² de energia contra as operadoras</a:t>
          </a:r>
        </a:p>
      </dsp:txBody>
      <dsp:txXfrm>
        <a:off x="6380640" y="33175"/>
        <a:ext cx="1066335" cy="1249742"/>
      </dsp:txXfrm>
    </dsp:sp>
    <dsp:sp modelId="{5AE5A710-AA21-42F8-83CC-A352135B142F}">
      <dsp:nvSpPr>
        <dsp:cNvPr id="0" name=""/>
        <dsp:cNvSpPr/>
      </dsp:nvSpPr>
      <dsp:spPr>
        <a:xfrm>
          <a:off x="7593419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7593419" y="573774"/>
        <a:ext cx="168090" cy="168543"/>
      </dsp:txXfrm>
    </dsp:sp>
    <dsp:sp modelId="{90A3CCA9-6A20-489B-80E7-475206AA2682}">
      <dsp:nvSpPr>
        <dsp:cNvPr id="0" name=""/>
        <dsp:cNvSpPr/>
      </dsp:nvSpPr>
      <dsp:spPr>
        <a:xfrm>
          <a:off x="7933224" y="0"/>
          <a:ext cx="1132685" cy="131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rgbClr val="FFFFFF"/>
              </a:solidFill>
            </a:rPr>
            <a:t>Recebe pagamento das operadoras</a:t>
          </a:r>
        </a:p>
      </dsp:txBody>
      <dsp:txXfrm>
        <a:off x="7966399" y="33175"/>
        <a:ext cx="1066335" cy="1249742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F5E83-6B44-4BFF-9DAA-A34BBF94B27E}">
      <dsp:nvSpPr>
        <dsp:cNvPr id="0" name=""/>
        <dsp:cNvSpPr/>
      </dsp:nvSpPr>
      <dsp:spPr>
        <a:xfrm>
          <a:off x="590" y="0"/>
          <a:ext cx="1208656" cy="12870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Realiza pagamento da nota de débito para Oi</a:t>
          </a:r>
        </a:p>
      </dsp:txBody>
      <dsp:txXfrm>
        <a:off x="35990" y="35400"/>
        <a:ext cx="1137856" cy="1216205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559" y="0"/>
          <a:ext cx="1145044" cy="1359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Gera e Comunica despesa de  energia (medidor) por operadora</a:t>
          </a:r>
          <a:endParaRPr lang="pt-BR" sz="1100" kern="1200" dirty="0">
            <a:solidFill>
              <a:srgbClr val="FFFFFF"/>
            </a:solidFill>
          </a:endParaRPr>
        </a:p>
      </dsp:txBody>
      <dsp:txXfrm>
        <a:off x="34096" y="33537"/>
        <a:ext cx="1077970" cy="1292908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0" y="5"/>
          <a:ext cx="1158660" cy="1401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Emite nota de débito para </a:t>
          </a:r>
          <a:r>
            <a:rPr lang="pt-BR" sz="1200" kern="1200" dirty="0" err="1">
              <a:solidFill>
                <a:srgbClr val="FFFFFF"/>
              </a:solidFill>
            </a:rPr>
            <a:t>Lemvig</a:t>
          </a:r>
          <a:r>
            <a:rPr lang="pt-BR" sz="1200" kern="1200" dirty="0">
              <a:solidFill>
                <a:srgbClr val="FFFFFF"/>
              </a:solidFill>
            </a:rPr>
            <a:t> referente aos valores de energia validados³</a:t>
          </a:r>
        </a:p>
      </dsp:txBody>
      <dsp:txXfrm>
        <a:off x="33936" y="33941"/>
        <a:ext cx="1090788" cy="1334035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F9CD-116B-4BF5-B412-260A6313E137}">
      <dsp:nvSpPr>
        <dsp:cNvPr id="0" name=""/>
        <dsp:cNvSpPr/>
      </dsp:nvSpPr>
      <dsp:spPr>
        <a:xfrm>
          <a:off x="4428" y="95243"/>
          <a:ext cx="1132685" cy="11256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 Inclui valores de energia nos </a:t>
          </a:r>
          <a:r>
            <a:rPr lang="pt-BR" sz="1200" kern="1200" dirty="0" err="1">
              <a:solidFill>
                <a:srgbClr val="FFFFFF"/>
              </a:solidFill>
            </a:rPr>
            <a:t>DEINFs</a:t>
          </a:r>
          <a:r>
            <a:rPr lang="pt-BR" sz="1200" kern="1200" dirty="0">
              <a:solidFill>
                <a:srgbClr val="FFFFFF"/>
              </a:solidFill>
            </a:rPr>
            <a:t> dos </a:t>
          </a:r>
          <a:r>
            <a:rPr lang="pt-BR" sz="1200" kern="1200" dirty="0" err="1">
              <a:solidFill>
                <a:srgbClr val="FFFFFF"/>
              </a:solidFill>
            </a:rPr>
            <a:t>ctts</a:t>
          </a:r>
          <a:r>
            <a:rPr lang="pt-BR" sz="1200" kern="1200" dirty="0">
              <a:solidFill>
                <a:srgbClr val="FFFFFF"/>
              </a:solidFill>
            </a:rPr>
            <a:t> de compartilhamento </a:t>
          </a:r>
        </a:p>
      </dsp:txBody>
      <dsp:txXfrm>
        <a:off x="37396" y="128211"/>
        <a:ext cx="1066749" cy="1059669"/>
      </dsp:txXfrm>
    </dsp:sp>
    <dsp:sp modelId="{556BFD75-57C1-4B38-99C4-F1DAC5D6897E}">
      <dsp:nvSpPr>
        <dsp:cNvPr id="0" name=""/>
        <dsp:cNvSpPr/>
      </dsp:nvSpPr>
      <dsp:spPr>
        <a:xfrm>
          <a:off x="1250382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>
            <a:solidFill>
              <a:srgbClr val="FFFFFF"/>
            </a:solidFill>
          </a:endParaRPr>
        </a:p>
      </dsp:txBody>
      <dsp:txXfrm>
        <a:off x="1250382" y="573774"/>
        <a:ext cx="168090" cy="168543"/>
      </dsp:txXfrm>
    </dsp:sp>
    <dsp:sp modelId="{7378819D-78CA-4A0F-8C3D-8B2967E39881}">
      <dsp:nvSpPr>
        <dsp:cNvPr id="0" name=""/>
        <dsp:cNvSpPr/>
      </dsp:nvSpPr>
      <dsp:spPr>
        <a:xfrm>
          <a:off x="1590188" y="95243"/>
          <a:ext cx="1132685" cy="11256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Envia valores apurados para validação das operadoras</a:t>
          </a:r>
        </a:p>
      </dsp:txBody>
      <dsp:txXfrm>
        <a:off x="1623156" y="128211"/>
        <a:ext cx="1066749" cy="1059669"/>
      </dsp:txXfrm>
    </dsp:sp>
    <dsp:sp modelId="{F4BEB9B5-3639-43C7-985F-154E22FFA2BD}">
      <dsp:nvSpPr>
        <dsp:cNvPr id="0" name=""/>
        <dsp:cNvSpPr/>
      </dsp:nvSpPr>
      <dsp:spPr>
        <a:xfrm>
          <a:off x="2836141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000" kern="1200"/>
        </a:p>
      </dsp:txBody>
      <dsp:txXfrm>
        <a:off x="2836141" y="573774"/>
        <a:ext cx="168090" cy="168543"/>
      </dsp:txXfrm>
    </dsp:sp>
    <dsp:sp modelId="{442D69AE-2AA3-43A8-B0A8-1B99D350B1CD}">
      <dsp:nvSpPr>
        <dsp:cNvPr id="0" name=""/>
        <dsp:cNvSpPr/>
      </dsp:nvSpPr>
      <dsp:spPr>
        <a:xfrm>
          <a:off x="3175947" y="95243"/>
          <a:ext cx="1132685" cy="11256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Recebe validação das operadoras</a:t>
          </a:r>
        </a:p>
      </dsp:txBody>
      <dsp:txXfrm>
        <a:off x="3208915" y="128211"/>
        <a:ext cx="1066749" cy="1059669"/>
      </dsp:txXfrm>
    </dsp:sp>
    <dsp:sp modelId="{5D23EC4C-AAA5-439F-A125-5C3699DC7D4D}">
      <dsp:nvSpPr>
        <dsp:cNvPr id="0" name=""/>
        <dsp:cNvSpPr/>
      </dsp:nvSpPr>
      <dsp:spPr>
        <a:xfrm>
          <a:off x="4421900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000" kern="1200"/>
        </a:p>
      </dsp:txBody>
      <dsp:txXfrm>
        <a:off x="4421900" y="573774"/>
        <a:ext cx="168090" cy="168543"/>
      </dsp:txXfrm>
    </dsp:sp>
    <dsp:sp modelId="{16C61EA1-7FBC-4589-901F-D0F425612EF0}">
      <dsp:nvSpPr>
        <dsp:cNvPr id="0" name=""/>
        <dsp:cNvSpPr/>
      </dsp:nvSpPr>
      <dsp:spPr>
        <a:xfrm>
          <a:off x="4761706" y="95243"/>
          <a:ext cx="1132685" cy="11256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Informa valores validados pelas operadoras para a Oi</a:t>
          </a:r>
        </a:p>
      </dsp:txBody>
      <dsp:txXfrm>
        <a:off x="4794674" y="128211"/>
        <a:ext cx="1066749" cy="1059669"/>
      </dsp:txXfrm>
    </dsp:sp>
    <dsp:sp modelId="{8D8D983B-8618-43F4-A23B-87318E16F96B}">
      <dsp:nvSpPr>
        <dsp:cNvPr id="0" name=""/>
        <dsp:cNvSpPr/>
      </dsp:nvSpPr>
      <dsp:spPr>
        <a:xfrm>
          <a:off x="6007660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000" kern="1200"/>
        </a:p>
      </dsp:txBody>
      <dsp:txXfrm>
        <a:off x="6007660" y="573774"/>
        <a:ext cx="168090" cy="168543"/>
      </dsp:txXfrm>
    </dsp:sp>
    <dsp:sp modelId="{03F5D0B3-C5A6-4BE2-85CC-0EA416461B28}">
      <dsp:nvSpPr>
        <dsp:cNvPr id="0" name=""/>
        <dsp:cNvSpPr/>
      </dsp:nvSpPr>
      <dsp:spPr>
        <a:xfrm>
          <a:off x="6347465" y="95243"/>
          <a:ext cx="1132685" cy="11256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Emite faturamento do valor validado¹² de energia contra as operadoras</a:t>
          </a:r>
        </a:p>
      </dsp:txBody>
      <dsp:txXfrm>
        <a:off x="6380433" y="128211"/>
        <a:ext cx="1066749" cy="1059669"/>
      </dsp:txXfrm>
    </dsp:sp>
    <dsp:sp modelId="{5AE5A710-AA21-42F8-83CC-A352135B142F}">
      <dsp:nvSpPr>
        <dsp:cNvPr id="0" name=""/>
        <dsp:cNvSpPr/>
      </dsp:nvSpPr>
      <dsp:spPr>
        <a:xfrm>
          <a:off x="7593419" y="517593"/>
          <a:ext cx="240129" cy="280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000" kern="1200"/>
        </a:p>
      </dsp:txBody>
      <dsp:txXfrm>
        <a:off x="7593419" y="573774"/>
        <a:ext cx="168090" cy="168543"/>
      </dsp:txXfrm>
    </dsp:sp>
    <dsp:sp modelId="{90A3CCA9-6A20-489B-80E7-475206AA2682}">
      <dsp:nvSpPr>
        <dsp:cNvPr id="0" name=""/>
        <dsp:cNvSpPr/>
      </dsp:nvSpPr>
      <dsp:spPr>
        <a:xfrm>
          <a:off x="7933224" y="95243"/>
          <a:ext cx="1132685" cy="11256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Recebe pagamento das operadoras</a:t>
          </a:r>
        </a:p>
      </dsp:txBody>
      <dsp:txXfrm>
        <a:off x="7966192" y="128211"/>
        <a:ext cx="1066749" cy="1059669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F5E83-6B44-4BFF-9DAA-A34BBF94B27E}">
      <dsp:nvSpPr>
        <dsp:cNvPr id="0" name=""/>
        <dsp:cNvSpPr/>
      </dsp:nvSpPr>
      <dsp:spPr>
        <a:xfrm>
          <a:off x="0" y="6024"/>
          <a:ext cx="1209838" cy="13475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solidFill>
                <a:srgbClr val="FFFFFF"/>
              </a:solidFill>
            </a:rPr>
            <a:t>Realiza pagamento da nota de débito para Oi</a:t>
          </a:r>
        </a:p>
      </dsp:txBody>
      <dsp:txXfrm>
        <a:off x="35435" y="41459"/>
        <a:ext cx="1138968" cy="1276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76174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963034"/>
            <a:ext cx="5250611" cy="86001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840202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15604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930774"/>
            <a:ext cx="11288538" cy="458643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955526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111845" y="2593596"/>
            <a:ext cx="4094493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-19076" y="2594307"/>
            <a:ext cx="4094494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046738" y="2594313"/>
            <a:ext cx="4094493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341854" y="6581724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4"/>
            <a:ext cx="2080484" cy="1548337"/>
            <a:chOff x="0" y="0"/>
            <a:chExt cx="2080482" cy="1548335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 IPSUM DOLOR 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/>
                <a:t>Sit </a:t>
              </a:r>
              <a:r>
                <a:rPr dirty="0" err="1"/>
                <a:t>amet</a:t>
              </a:r>
              <a:r>
                <a:rPr dirty="0"/>
                <a:t>, </a:t>
              </a:r>
              <a:r>
                <a:rPr dirty="0" err="1"/>
                <a:t>consectetur</a:t>
              </a:r>
              <a:r>
                <a:rPr dirty="0"/>
                <a:t> </a:t>
              </a:r>
              <a:r>
                <a:rPr dirty="0" err="1"/>
                <a:t>adipiscing</a:t>
              </a:r>
              <a:r>
                <a:rPr dirty="0"/>
                <a:t> </a:t>
              </a:r>
              <a:r>
                <a:rPr dirty="0" err="1"/>
                <a:t>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</a:t>
              </a:r>
              <a:r>
                <a:rPr dirty="0"/>
                <a:t> sit </a:t>
              </a:r>
              <a:r>
                <a:rPr dirty="0" err="1"/>
                <a:t>amet</a:t>
              </a:r>
              <a:r>
                <a:rPr dirty="0"/>
                <a:t> </a:t>
              </a:r>
              <a:r>
                <a:rPr dirty="0" err="1"/>
                <a:t>tellus</a:t>
              </a:r>
              <a:r>
                <a:rPr dirty="0"/>
                <a:t> sit </a:t>
              </a:r>
              <a:r>
                <a:rPr dirty="0" err="1"/>
                <a:t>amet</a:t>
              </a:r>
              <a:r>
                <a:rPr dirty="0"/>
                <a:t> </a:t>
              </a:r>
              <a:r>
                <a:rPr dirty="0" err="1"/>
                <a:t>eros</a:t>
              </a:r>
              <a:r>
                <a:rPr dirty="0"/>
                <a:t> 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</a:t>
              </a:r>
              <a:r>
                <a:rPr dirty="0"/>
                <a:t> </a:t>
              </a:r>
              <a:r>
                <a:rPr dirty="0" err="1"/>
                <a:t>ultricies</a:t>
              </a:r>
              <a:r>
                <a:rPr dirty="0"/>
                <a:t> </a:t>
              </a:r>
              <a:r>
                <a:rPr dirty="0" err="1"/>
                <a:t>elementum</a:t>
              </a:r>
              <a:r>
                <a:rPr dirty="0"/>
                <a:t> et </a:t>
              </a:r>
              <a:r>
                <a:rPr dirty="0" err="1"/>
                <a:t>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 IPSUM DOLOR 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/>
                <a:t>Sit </a:t>
              </a:r>
              <a:r>
                <a:rPr dirty="0" err="1"/>
                <a:t>amet</a:t>
              </a:r>
              <a:r>
                <a:rPr dirty="0"/>
                <a:t>, </a:t>
              </a:r>
              <a:r>
                <a:rPr dirty="0" err="1"/>
                <a:t>consectetur</a:t>
              </a:r>
              <a:r>
                <a:rPr dirty="0"/>
                <a:t> </a:t>
              </a:r>
              <a:r>
                <a:rPr dirty="0" err="1"/>
                <a:t>adipiscing</a:t>
              </a:r>
              <a:r>
                <a:rPr dirty="0"/>
                <a:t> </a:t>
              </a:r>
              <a:r>
                <a:rPr dirty="0" err="1"/>
                <a:t>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</a:t>
              </a:r>
              <a:r>
                <a:rPr dirty="0"/>
                <a:t> sit </a:t>
              </a:r>
              <a:r>
                <a:rPr dirty="0" err="1"/>
                <a:t>amet</a:t>
              </a:r>
              <a:r>
                <a:rPr dirty="0"/>
                <a:t> </a:t>
              </a:r>
              <a:r>
                <a:rPr dirty="0" err="1"/>
                <a:t>tellus</a:t>
              </a:r>
              <a:r>
                <a:rPr dirty="0"/>
                <a:t> sit </a:t>
              </a:r>
              <a:r>
                <a:rPr dirty="0" err="1"/>
                <a:t>amet</a:t>
              </a:r>
              <a:r>
                <a:rPr dirty="0"/>
                <a:t> </a:t>
              </a:r>
              <a:r>
                <a:rPr dirty="0" err="1"/>
                <a:t>eros</a:t>
              </a:r>
              <a:r>
                <a:rPr dirty="0"/>
                <a:t> 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</a:t>
              </a:r>
              <a:r>
                <a:rPr dirty="0"/>
                <a:t> </a:t>
              </a:r>
              <a:r>
                <a:rPr dirty="0" err="1"/>
                <a:t>ultricies</a:t>
              </a:r>
              <a:r>
                <a:rPr dirty="0"/>
                <a:t> </a:t>
              </a:r>
              <a:r>
                <a:rPr dirty="0" err="1"/>
                <a:t>elementum</a:t>
              </a:r>
              <a:r>
                <a:rPr dirty="0"/>
                <a:t> et </a:t>
              </a:r>
              <a:r>
                <a:rPr dirty="0" err="1"/>
                <a:t>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3"/>
            <a:ext cx="2080483" cy="1548337"/>
            <a:chOff x="0" y="0"/>
            <a:chExt cx="2080482" cy="1548335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DOLOR 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Sit amet, consectetur adipiscing elit</a:t>
              </a:r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Cras sit amet tellus sit amet eros 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dapibus ultricies elementum et odio</a:t>
              </a:r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2"/>
            <a:ext cx="2080483" cy="1548337"/>
            <a:chOff x="0" y="0"/>
            <a:chExt cx="2080482" cy="1548335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DOLOR 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Sit amet, consectetur adipiscing elit</a:t>
              </a:r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Cras sit amet tellus sit amet eros 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dapibus ultricies elementum et odio</a:t>
              </a:r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2" cy="1548336"/>
            <a:chOff x="0" y="0"/>
            <a:chExt cx="2080481" cy="1548335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DOLOR 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Sit amet, consectetur adipiscing elit</a:t>
              </a:r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Cras sit amet tellus sit amet eros 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dapibus ultricies elementum et odio</a:t>
              </a:r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3" cy="1548336"/>
            <a:chOff x="0" y="0"/>
            <a:chExt cx="2080481" cy="1548335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DOLOR 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Sit amet, consectetur adipiscing elit</a:t>
              </a:r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Cras sit amet tellus sit amet eros 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dapibus ultricies elementum et odio</a:t>
              </a:r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3" cy="1548336"/>
            <a:chOff x="0" y="0"/>
            <a:chExt cx="2080481" cy="1548335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DOLOR 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Sit amet, consectetur adipiscing elit</a:t>
              </a:r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Cras sit amet tellus sit amet eros 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dapibus ultricies elementum et odio</a:t>
              </a:r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3" cy="1548336"/>
            <a:chOff x="0" y="0"/>
            <a:chExt cx="2080481" cy="1548335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38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DOLOR 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Sit amet, consectetur adipiscing elit</a:t>
              </a:r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Cras sit amet tellus sit amet eros 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t>dapibus ultricies elementum et odio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 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 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 IPSUM 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1" cy="383289"/>
            <a:chOff x="0" y="0"/>
            <a:chExt cx="2948160" cy="383288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6" cy="375951"/>
              <a:chOff x="0" y="0"/>
              <a:chExt cx="2882175" cy="375949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t>lorem ipsum</a:t>
                </a:r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sit amet, consectetur adipiscing elit. cras sit amet tellus sit amet eros dapibus ultricies elementum et 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1" cy="378136"/>
            <a:chOff x="0" y="0"/>
            <a:chExt cx="2948160" cy="37813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6" cy="378135"/>
              <a:chOff x="0" y="0"/>
              <a:chExt cx="2891775" cy="378134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t>lorem ipsum</a:t>
                </a:r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sit amet, consectetur adipiscing elit. cras sit amet tellus sit amet eros dapibus ultricies elementum et 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2"/>
            <a:ext cx="2872641" cy="403526"/>
            <a:chOff x="0" y="0"/>
            <a:chExt cx="2872639" cy="403525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1" cy="403527"/>
              <a:chOff x="0" y="0"/>
              <a:chExt cx="2836730" cy="403524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t>lorem ipsum</a:t>
                </a:r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 ipsum dolor sit </a:t>
                </a:r>
                <a:r>
                  <a:rPr dirty="0" err="1"/>
                  <a:t>amet</a:t>
                </a:r>
                <a:r>
                  <a:rPr dirty="0"/>
                  <a:t>, </a:t>
                </a:r>
                <a:r>
                  <a:rPr dirty="0" err="1"/>
                  <a:t>consectetur</a:t>
                </a:r>
                <a:r>
                  <a:rPr dirty="0"/>
                  <a:t> </a:t>
                </a:r>
                <a:r>
                  <a:rPr dirty="0" err="1"/>
                  <a:t>adipiscing</a:t>
                </a:r>
                <a:r>
                  <a:rPr dirty="0"/>
                  <a:t> </a:t>
                </a:r>
                <a:r>
                  <a:rPr dirty="0" err="1"/>
                  <a:t>elit</a:t>
                </a:r>
                <a:r>
                  <a:rPr dirty="0"/>
                  <a:t>. </a:t>
                </a:r>
                <a:r>
                  <a:rPr dirty="0" err="1"/>
                  <a:t>cras</a:t>
                </a:r>
                <a:r>
                  <a:rPr dirty="0"/>
                  <a:t> sit </a:t>
                </a:r>
                <a:r>
                  <a:rPr dirty="0" err="1"/>
                  <a:t>amet</a:t>
                </a:r>
                <a:r>
                  <a:rPr dirty="0"/>
                  <a:t> </a:t>
                </a:r>
                <a:r>
                  <a:rPr dirty="0" err="1"/>
                  <a:t>tellus</a:t>
                </a:r>
                <a:r>
                  <a:rPr dirty="0"/>
                  <a:t> sit </a:t>
                </a:r>
                <a:r>
                  <a:rPr dirty="0" err="1"/>
                  <a:t>amet</a:t>
                </a:r>
                <a:r>
                  <a:rPr dirty="0"/>
                  <a:t> </a:t>
                </a:r>
                <a:r>
                  <a:rPr dirty="0" err="1"/>
                  <a:t>eros</a:t>
                </a:r>
                <a:r>
                  <a:rPr dirty="0"/>
                  <a:t> </a:t>
                </a:r>
                <a:r>
                  <a:rPr dirty="0" err="1"/>
                  <a:t>dapibus</a:t>
                </a:r>
                <a:r>
                  <a:rPr dirty="0"/>
                  <a:t> </a:t>
                </a:r>
                <a:r>
                  <a:rPr dirty="0" err="1"/>
                  <a:t>ultricies</a:t>
                </a:r>
                <a:r>
                  <a:rPr dirty="0"/>
                  <a:t> </a:t>
                </a:r>
                <a:r>
                  <a:rPr dirty="0" err="1"/>
                  <a:t>elementum</a:t>
                </a:r>
                <a:r>
                  <a:rPr dirty="0"/>
                  <a:t> et </a:t>
                </a:r>
                <a:r>
                  <a:rPr dirty="0" err="1"/>
                  <a:t>odio</a:t>
                </a:r>
                <a:endParaRPr dirty="0"/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1" cy="406783"/>
            <a:chOff x="0" y="0"/>
            <a:chExt cx="2872639" cy="40678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0" cy="379476"/>
              <a:chOff x="0" y="0"/>
              <a:chExt cx="2872639" cy="379475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 ipsum dolor sit </a:t>
                </a:r>
                <a:r>
                  <a:rPr dirty="0" err="1"/>
                  <a:t>amet</a:t>
                </a:r>
                <a:r>
                  <a:rPr dirty="0"/>
                  <a:t>, </a:t>
                </a:r>
                <a:r>
                  <a:rPr dirty="0" err="1"/>
                  <a:t>consectetur</a:t>
                </a:r>
                <a:r>
                  <a:rPr dirty="0"/>
                  <a:t> </a:t>
                </a:r>
                <a:r>
                  <a:rPr dirty="0" err="1"/>
                  <a:t>adipiscing</a:t>
                </a:r>
                <a:r>
                  <a:rPr dirty="0"/>
                  <a:t> </a:t>
                </a:r>
                <a:r>
                  <a:rPr dirty="0" err="1"/>
                  <a:t>elit</a:t>
                </a:r>
                <a:r>
                  <a:rPr dirty="0"/>
                  <a:t>. </a:t>
                </a:r>
                <a:r>
                  <a:rPr dirty="0" err="1"/>
                  <a:t>cras</a:t>
                </a:r>
                <a:r>
                  <a:rPr dirty="0"/>
                  <a:t> sit </a:t>
                </a:r>
                <a:r>
                  <a:rPr dirty="0" err="1"/>
                  <a:t>amet</a:t>
                </a:r>
                <a:r>
                  <a:rPr dirty="0"/>
                  <a:t> </a:t>
                </a:r>
                <a:r>
                  <a:rPr dirty="0" err="1"/>
                  <a:t>tellus</a:t>
                </a:r>
                <a:r>
                  <a:rPr dirty="0"/>
                  <a:t> sit </a:t>
                </a:r>
                <a:r>
                  <a:rPr dirty="0" err="1"/>
                  <a:t>amet</a:t>
                </a:r>
                <a:r>
                  <a:rPr dirty="0"/>
                  <a:t> </a:t>
                </a:r>
                <a:r>
                  <a:rPr dirty="0" err="1"/>
                  <a:t>eros</a:t>
                </a:r>
                <a:r>
                  <a:rPr dirty="0"/>
                  <a:t> </a:t>
                </a:r>
                <a:r>
                  <a:rPr dirty="0" err="1"/>
                  <a:t>dapibus</a:t>
                </a:r>
                <a:r>
                  <a:rPr dirty="0"/>
                  <a:t> </a:t>
                </a:r>
                <a:r>
                  <a:rPr dirty="0" err="1"/>
                  <a:t>ultricies</a:t>
                </a:r>
                <a:r>
                  <a:rPr dirty="0"/>
                  <a:t> </a:t>
                </a:r>
                <a:r>
                  <a:rPr dirty="0" err="1"/>
                  <a:t>elementum</a:t>
                </a:r>
                <a:r>
                  <a:rPr dirty="0"/>
                  <a:t> et </a:t>
                </a:r>
                <a:r>
                  <a:rPr dirty="0" err="1"/>
                  <a:t>odio</a:t>
                </a:r>
                <a:endParaRPr dirty="0"/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G.158 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 G.255 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 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4"/>
            <a:ext cx="6660238" cy="5487433"/>
            <a:chOff x="0" y="0"/>
            <a:chExt cx="6660236" cy="5487433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003032"/>
              <a:ext cx="2317910" cy="1547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</a:t>
              </a:r>
              <a:r>
                <a:rPr dirty="0"/>
                <a:t> dolor</a:t>
              </a:r>
              <a:br>
                <a:rPr dirty="0"/>
              </a:br>
              <a:r>
                <a:rPr dirty="0"/>
                <a:t>lorem ipsum</a:t>
              </a:r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 ipsum dolor sit </a:t>
              </a:r>
              <a:r>
                <a:rPr dirty="0" err="1"/>
                <a:t>amet</a:t>
              </a:r>
              <a:r>
                <a:rPr dirty="0"/>
                <a:t>, </a:t>
              </a:r>
              <a:r>
                <a:rPr dirty="0" err="1"/>
                <a:t>consectetur</a:t>
              </a:r>
              <a:r>
                <a:rPr dirty="0"/>
                <a:t> </a:t>
              </a:r>
              <a:r>
                <a:rPr dirty="0" err="1"/>
                <a:t>adipiscing</a:t>
              </a:r>
              <a:r>
                <a:rPr dirty="0"/>
                <a:t> </a:t>
              </a:r>
              <a:r>
                <a:rPr dirty="0" err="1"/>
                <a:t>elit</a:t>
              </a:r>
              <a:r>
                <a:rPr dirty="0"/>
                <a:t>. Nam non lorem </a:t>
              </a:r>
              <a:r>
                <a:rPr dirty="0" err="1"/>
                <a:t>luctus</a:t>
              </a:r>
              <a:r>
                <a:rPr dirty="0"/>
                <a:t>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0" cy="794001"/>
              <a:chOff x="0" y="0"/>
              <a:chExt cx="1585198" cy="793999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112540"/>
                <a:ext cx="1585199" cy="5689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 ipsum dolor </a:t>
                </a:r>
                <a:r>
                  <a:rPr dirty="0" err="1"/>
                  <a:t>amet</a:t>
                </a:r>
                <a:r>
                  <a:rPr dirty="0"/>
                  <a:t> </a:t>
                </a:r>
                <a:r>
                  <a:rPr dirty="0" err="1"/>
                  <a:t>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0" cy="794001"/>
              <a:chOff x="0" y="0"/>
              <a:chExt cx="1585198" cy="793999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112540"/>
                <a:ext cx="1585199" cy="5689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amet alurum</a:t>
                </a:r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0" cy="794001"/>
              <a:chOff x="0" y="0"/>
              <a:chExt cx="1585198" cy="793999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112540"/>
                <a:ext cx="1585199" cy="5689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amet alurum</a:t>
                </a:r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0" cy="794001"/>
              <a:chOff x="0" y="0"/>
              <a:chExt cx="1585198" cy="793999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112540"/>
                <a:ext cx="1585199" cy="5689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amet alurum</a:t>
                </a:r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0" cy="794001"/>
              <a:chOff x="0" y="0"/>
              <a:chExt cx="1585198" cy="793999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112540"/>
                <a:ext cx="1585199" cy="5689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amet alurum</a:t>
                </a:r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0" cy="794001"/>
              <a:chOff x="0" y="0"/>
              <a:chExt cx="1585198" cy="793999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112540"/>
                <a:ext cx="1585199" cy="5689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t>lorem ipsum dolor amet alurum</a:t>
                </a:r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24982"/>
              <a:ext cx="1858000" cy="595201"/>
              <a:chOff x="0" y="0"/>
              <a:chExt cx="1857998" cy="59520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13139"/>
                <a:ext cx="1857999" cy="5689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t>lorem ipsum dolor amet dolor</a:t>
                </a:r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90866"/>
              <a:ext cx="1858000" cy="595201"/>
              <a:chOff x="0" y="0"/>
              <a:chExt cx="1857998" cy="59520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13139"/>
                <a:ext cx="1857999" cy="5689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t>lorem ipsum dolor amet dolor</a:t>
                </a:r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8" cy="2342968"/>
            <a:chOff x="0" y="0"/>
            <a:chExt cx="3440076" cy="2342966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161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</a:t>
              </a:r>
              <a:r>
                <a:rPr dirty="0"/>
                <a:t> </a:t>
              </a:r>
              <a:r>
                <a:rPr dirty="0" err="1"/>
                <a:t>em</a:t>
              </a:r>
              <a:r>
                <a:rPr dirty="0"/>
                <a:t> 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1163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 complementar em poucas linhas para auxiliar no desenvolvimento da ideia principal do 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Simplon Oi Headline" pitchFamily="2" charset="0"/>
              <a:ea typeface="+mj-ea"/>
              <a:cs typeface="+mj-cs"/>
              <a:sym typeface="Simplon Oi Headline" pitchFamily="2" charset="0"/>
            </a:endParaRP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491012"/>
            <a:ext cx="10933350" cy="553998"/>
          </a:xfr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613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1" imgH="423" progId="TCLayout.ActiveDocument.1">
                  <p:embed/>
                </p:oleObj>
              </mc:Choice>
              <mc:Fallback>
                <p:oleObj name="think-cell Slide" r:id="rId15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 / 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4D4D4D"/>
                </a:solidFill>
              </a:rPr>
              <a:t>Simplon bp regular  </a:t>
            </a:r>
            <a:r>
              <a:rPr lang="en-US">
                <a:solidFill>
                  <a:schemeClr val="accent1"/>
                </a:solidFill>
              </a:rPr>
              <a:t>simplon bp Bold</a:t>
            </a: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4D4D4D"/>
                </a:solidFill>
              </a:rPr>
              <a:t>Simplon bp regular  </a:t>
            </a:r>
            <a:r>
              <a:rPr lang="en-US">
                <a:solidFill>
                  <a:schemeClr val="accent1"/>
                </a:solidFill>
              </a:rPr>
              <a:t>simplon bp Bold</a:t>
            </a: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4D4D4D"/>
                </a:solidFill>
              </a:rPr>
              <a:t>Simplon bp regular  </a:t>
            </a:r>
            <a:r>
              <a:rPr lang="en-US">
                <a:solidFill>
                  <a:schemeClr val="accent1"/>
                </a:solidFill>
              </a:rPr>
              <a:t>simplon bp Bold</a:t>
            </a: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4D4D4D"/>
                </a:solidFill>
              </a:rPr>
              <a:t>Simplon bp regular  </a:t>
            </a:r>
            <a:r>
              <a:rPr lang="en-US">
                <a:solidFill>
                  <a:schemeClr val="accent1"/>
                </a:solidFill>
              </a:rPr>
              <a:t>simplon bp 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4D4D4D"/>
                </a:solidFill>
              </a:rPr>
              <a:t>Simplon bp regular  </a:t>
            </a:r>
            <a:r>
              <a:rPr lang="en-US">
                <a:solidFill>
                  <a:schemeClr val="accent1"/>
                </a:solidFill>
              </a:rPr>
              <a:t>simplon bp Bold</a:t>
            </a: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4D4D4D"/>
                </a:solidFill>
              </a:rPr>
              <a:t>Simplon bp regular  </a:t>
            </a:r>
            <a:r>
              <a:rPr lang="en-US">
                <a:solidFill>
                  <a:schemeClr val="accent1"/>
                </a:solidFill>
              </a:rPr>
              <a:t>simplon bp 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90" r:id="rId3"/>
    <p:sldLayoutId id="2147483755" r:id="rId4"/>
    <p:sldLayoutId id="2147483791" r:id="rId5"/>
    <p:sldLayoutId id="2147483799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800" r:id="rId12"/>
  </p:sldLayoutIdLst>
  <p:transition spd="med"/>
  <p:hf hd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24.xml"/><Relationship Id="rId3" Type="http://schemas.openxmlformats.org/officeDocument/2006/relationships/oleObject" Target="../embeddings/oleObject17.bin"/><Relationship Id="rId7" Type="http://schemas.openxmlformats.org/officeDocument/2006/relationships/slide" Target="slide16.xml"/><Relationship Id="rId12" Type="http://schemas.openxmlformats.org/officeDocument/2006/relationships/slide" Target="slide23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31.xml"/><Relationship Id="rId1" Type="http://schemas.openxmlformats.org/officeDocument/2006/relationships/tags" Target="../tags/tag19.xml"/><Relationship Id="rId6" Type="http://schemas.openxmlformats.org/officeDocument/2006/relationships/slide" Target="slide9.xml"/><Relationship Id="rId11" Type="http://schemas.openxmlformats.org/officeDocument/2006/relationships/slide" Target="slide22.xml"/><Relationship Id="rId5" Type="http://schemas.openxmlformats.org/officeDocument/2006/relationships/slide" Target="slide8.xml"/><Relationship Id="rId15" Type="http://schemas.openxmlformats.org/officeDocument/2006/relationships/slide" Target="slide28.xml"/><Relationship Id="rId10" Type="http://schemas.openxmlformats.org/officeDocument/2006/relationships/slide" Target="slide21.xml"/><Relationship Id="rId4" Type="http://schemas.openxmlformats.org/officeDocument/2006/relationships/image" Target="../media/image1.emf"/><Relationship Id="rId9" Type="http://schemas.openxmlformats.org/officeDocument/2006/relationships/slide" Target="slide18.xml"/><Relationship Id="rId14" Type="http://schemas.openxmlformats.org/officeDocument/2006/relationships/slide" Target="slide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26" Type="http://schemas.openxmlformats.org/officeDocument/2006/relationships/diagramLayout" Target="../diagrams/layout5.xml"/><Relationship Id="rId39" Type="http://schemas.openxmlformats.org/officeDocument/2006/relationships/slide" Target="slide38.xml"/><Relationship Id="rId21" Type="http://schemas.openxmlformats.org/officeDocument/2006/relationships/diagramLayout" Target="../diagrams/layout4.xml"/><Relationship Id="rId34" Type="http://schemas.microsoft.com/office/2007/relationships/diagramDrawing" Target="../diagrams/drawing6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29" Type="http://schemas.microsoft.com/office/2007/relationships/diagramDrawing" Target="../diagrams/drawing5.xml"/><Relationship Id="rId41" Type="http://schemas.openxmlformats.org/officeDocument/2006/relationships/slide" Target="slide4.xml"/><Relationship Id="rId1" Type="http://schemas.openxmlformats.org/officeDocument/2006/relationships/tags" Target="../tags/tag23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32" Type="http://schemas.openxmlformats.org/officeDocument/2006/relationships/diagramQuickStyle" Target="../diagrams/quickStyle6.xml"/><Relationship Id="rId37" Type="http://schemas.openxmlformats.org/officeDocument/2006/relationships/slide" Target="slide36.xml"/><Relationship Id="rId40" Type="http://schemas.openxmlformats.org/officeDocument/2006/relationships/slide" Target="slide31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28" Type="http://schemas.openxmlformats.org/officeDocument/2006/relationships/diagramColors" Target="../diagrams/colors5.xml"/><Relationship Id="rId36" Type="http://schemas.openxmlformats.org/officeDocument/2006/relationships/slide" Target="slide35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31" Type="http://schemas.openxmlformats.org/officeDocument/2006/relationships/diagramLayout" Target="../diagrams/layout6.xml"/><Relationship Id="rId4" Type="http://schemas.openxmlformats.org/officeDocument/2006/relationships/image" Target="../media/image1.emf"/><Relationship Id="rId9" Type="http://schemas.microsoft.com/office/2007/relationships/diagramDrawing" Target="../diagrams/drawing1.xml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Relationship Id="rId27" Type="http://schemas.openxmlformats.org/officeDocument/2006/relationships/diagramQuickStyle" Target="../diagrams/quickStyle5.xml"/><Relationship Id="rId30" Type="http://schemas.openxmlformats.org/officeDocument/2006/relationships/diagramData" Target="../diagrams/data6.xml"/><Relationship Id="rId35" Type="http://schemas.openxmlformats.org/officeDocument/2006/relationships/slide" Target="slide9.xml"/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21.bin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5" Type="http://schemas.openxmlformats.org/officeDocument/2006/relationships/diagramData" Target="../diagrams/data5.xml"/><Relationship Id="rId33" Type="http://schemas.openxmlformats.org/officeDocument/2006/relationships/diagramColors" Target="../diagrams/colors6.xml"/><Relationship Id="rId38" Type="http://schemas.openxmlformats.org/officeDocument/2006/relationships/slide" Target="slide3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13" Type="http://schemas.openxmlformats.org/officeDocument/2006/relationships/diagramColors" Target="../diagrams/colors8.xml"/><Relationship Id="rId18" Type="http://schemas.openxmlformats.org/officeDocument/2006/relationships/diagramQuickStyle" Target="../diagrams/quickStyle9.xml"/><Relationship Id="rId3" Type="http://schemas.openxmlformats.org/officeDocument/2006/relationships/oleObject" Target="../embeddings/oleObject22.bin"/><Relationship Id="rId21" Type="http://schemas.openxmlformats.org/officeDocument/2006/relationships/slide" Target="slide37.xml"/><Relationship Id="rId7" Type="http://schemas.openxmlformats.org/officeDocument/2006/relationships/diagramQuickStyle" Target="../diagrams/quickStyle7.xml"/><Relationship Id="rId12" Type="http://schemas.openxmlformats.org/officeDocument/2006/relationships/diagramQuickStyle" Target="../diagrams/quickStyle8.xml"/><Relationship Id="rId17" Type="http://schemas.openxmlformats.org/officeDocument/2006/relationships/diagramLayout" Target="../diagrams/layout9.xml"/><Relationship Id="rId2" Type="http://schemas.openxmlformats.org/officeDocument/2006/relationships/slideLayout" Target="../slideLayouts/slideLayout2.xml"/><Relationship Id="rId16" Type="http://schemas.openxmlformats.org/officeDocument/2006/relationships/diagramData" Target="../diagrams/data9.xml"/><Relationship Id="rId20" Type="http://schemas.microsoft.com/office/2007/relationships/diagramDrawing" Target="../diagrams/drawing9.xml"/><Relationship Id="rId1" Type="http://schemas.openxmlformats.org/officeDocument/2006/relationships/tags" Target="../tags/tag24.xml"/><Relationship Id="rId6" Type="http://schemas.openxmlformats.org/officeDocument/2006/relationships/diagramLayout" Target="../diagrams/layout7.xml"/><Relationship Id="rId11" Type="http://schemas.openxmlformats.org/officeDocument/2006/relationships/diagramLayout" Target="../diagrams/layout8.xml"/><Relationship Id="rId24" Type="http://schemas.openxmlformats.org/officeDocument/2006/relationships/slide" Target="slide4.xml"/><Relationship Id="rId5" Type="http://schemas.openxmlformats.org/officeDocument/2006/relationships/diagramData" Target="../diagrams/data7.xml"/><Relationship Id="rId15" Type="http://schemas.openxmlformats.org/officeDocument/2006/relationships/slide" Target="slide8.xml"/><Relationship Id="rId23" Type="http://schemas.openxmlformats.org/officeDocument/2006/relationships/slide" Target="slide31.xml"/><Relationship Id="rId10" Type="http://schemas.openxmlformats.org/officeDocument/2006/relationships/diagramData" Target="../diagrams/data8.xml"/><Relationship Id="rId19" Type="http://schemas.openxmlformats.org/officeDocument/2006/relationships/diagramColors" Target="../diagrams/colors9.xml"/><Relationship Id="rId4" Type="http://schemas.openxmlformats.org/officeDocument/2006/relationships/image" Target="../media/image1.emf"/><Relationship Id="rId9" Type="http://schemas.microsoft.com/office/2007/relationships/diagramDrawing" Target="../diagrams/drawing7.xml"/><Relationship Id="rId14" Type="http://schemas.microsoft.com/office/2007/relationships/diagramDrawing" Target="../diagrams/drawing8.xml"/><Relationship Id="rId22" Type="http://schemas.openxmlformats.org/officeDocument/2006/relationships/slide" Target="slide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slide" Target="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slide" Target="slide12.xml"/><Relationship Id="rId5" Type="http://schemas.openxmlformats.org/officeDocument/2006/relationships/image" Target="../media/image36.png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slide" Target="slide10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slide" Target="slide10.xml"/><Relationship Id="rId5" Type="http://schemas.openxmlformats.org/officeDocument/2006/relationships/image" Target="../media/image37.png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13" Type="http://schemas.openxmlformats.org/officeDocument/2006/relationships/diagramColors" Target="../diagrams/colors11.xml"/><Relationship Id="rId18" Type="http://schemas.openxmlformats.org/officeDocument/2006/relationships/slide" Target="slide17.xml"/><Relationship Id="rId26" Type="http://schemas.openxmlformats.org/officeDocument/2006/relationships/slide" Target="slide4.xml"/><Relationship Id="rId3" Type="http://schemas.openxmlformats.org/officeDocument/2006/relationships/oleObject" Target="../embeddings/oleObject29.bin"/><Relationship Id="rId21" Type="http://schemas.openxmlformats.org/officeDocument/2006/relationships/slide" Target="slide40.xml"/><Relationship Id="rId7" Type="http://schemas.openxmlformats.org/officeDocument/2006/relationships/diagramQuickStyle" Target="../diagrams/quickStyle10.xml"/><Relationship Id="rId12" Type="http://schemas.openxmlformats.org/officeDocument/2006/relationships/diagramQuickStyle" Target="../diagrams/quickStyle11.xml"/><Relationship Id="rId17" Type="http://schemas.openxmlformats.org/officeDocument/2006/relationships/slide" Target="slide27.xml"/><Relationship Id="rId25" Type="http://schemas.openxmlformats.org/officeDocument/2006/relationships/slide" Target="slide31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22.xml"/><Relationship Id="rId20" Type="http://schemas.openxmlformats.org/officeDocument/2006/relationships/slide" Target="slide39.xml"/><Relationship Id="rId1" Type="http://schemas.openxmlformats.org/officeDocument/2006/relationships/tags" Target="../tags/tag31.xml"/><Relationship Id="rId6" Type="http://schemas.openxmlformats.org/officeDocument/2006/relationships/diagramLayout" Target="../diagrams/layout10.xml"/><Relationship Id="rId11" Type="http://schemas.openxmlformats.org/officeDocument/2006/relationships/diagramLayout" Target="../diagrams/layout11.xml"/><Relationship Id="rId24" Type="http://schemas.openxmlformats.org/officeDocument/2006/relationships/slide" Target="slide43.xml"/><Relationship Id="rId5" Type="http://schemas.openxmlformats.org/officeDocument/2006/relationships/diagramData" Target="../diagrams/data10.xml"/><Relationship Id="rId15" Type="http://schemas.openxmlformats.org/officeDocument/2006/relationships/slide" Target="slide24.xml"/><Relationship Id="rId23" Type="http://schemas.openxmlformats.org/officeDocument/2006/relationships/slide" Target="slide42.xml"/><Relationship Id="rId10" Type="http://schemas.openxmlformats.org/officeDocument/2006/relationships/diagramData" Target="../diagrams/data11.xml"/><Relationship Id="rId19" Type="http://schemas.openxmlformats.org/officeDocument/2006/relationships/slide" Target="slide18.xml"/><Relationship Id="rId4" Type="http://schemas.openxmlformats.org/officeDocument/2006/relationships/image" Target="../media/image1.emf"/><Relationship Id="rId9" Type="http://schemas.microsoft.com/office/2007/relationships/diagramDrawing" Target="../diagrams/drawing10.xml"/><Relationship Id="rId14" Type="http://schemas.microsoft.com/office/2007/relationships/diagramDrawing" Target="../diagrams/drawing11.xml"/><Relationship Id="rId22" Type="http://schemas.openxmlformats.org/officeDocument/2006/relationships/slide" Target="slide41.xml"/><Relationship Id="rId27" Type="http://schemas.openxmlformats.org/officeDocument/2006/relationships/slide" Target="slide2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13" Type="http://schemas.openxmlformats.org/officeDocument/2006/relationships/diagramColors" Target="../diagrams/colors13.xml"/><Relationship Id="rId3" Type="http://schemas.openxmlformats.org/officeDocument/2006/relationships/oleObject" Target="../embeddings/oleObject30.bin"/><Relationship Id="rId7" Type="http://schemas.openxmlformats.org/officeDocument/2006/relationships/diagramQuickStyle" Target="../diagrams/quickStyle12.xml"/><Relationship Id="rId12" Type="http://schemas.openxmlformats.org/officeDocument/2006/relationships/diagramQuickStyle" Target="../diagrams/quickStyle13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40.xml"/><Relationship Id="rId1" Type="http://schemas.openxmlformats.org/officeDocument/2006/relationships/tags" Target="../tags/tag32.xml"/><Relationship Id="rId6" Type="http://schemas.openxmlformats.org/officeDocument/2006/relationships/diagramLayout" Target="../diagrams/layout12.xml"/><Relationship Id="rId11" Type="http://schemas.openxmlformats.org/officeDocument/2006/relationships/diagramLayout" Target="../diagrams/layout13.xml"/><Relationship Id="rId5" Type="http://schemas.openxmlformats.org/officeDocument/2006/relationships/diagramData" Target="../diagrams/data12.xml"/><Relationship Id="rId15" Type="http://schemas.openxmlformats.org/officeDocument/2006/relationships/slide" Target="slide4.xml"/><Relationship Id="rId10" Type="http://schemas.openxmlformats.org/officeDocument/2006/relationships/diagramData" Target="../diagrams/data13.xml"/><Relationship Id="rId4" Type="http://schemas.openxmlformats.org/officeDocument/2006/relationships/image" Target="../media/image1.emf"/><Relationship Id="rId9" Type="http://schemas.microsoft.com/office/2007/relationships/diagramDrawing" Target="../diagrams/drawing12.xml"/><Relationship Id="rId14" Type="http://schemas.microsoft.com/office/2007/relationships/diagramDrawing" Target="../diagrams/drawing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4.xml"/><Relationship Id="rId13" Type="http://schemas.openxmlformats.org/officeDocument/2006/relationships/diagramColors" Target="../diagrams/colors15.xml"/><Relationship Id="rId3" Type="http://schemas.openxmlformats.org/officeDocument/2006/relationships/oleObject" Target="../embeddings/oleObject31.bin"/><Relationship Id="rId7" Type="http://schemas.openxmlformats.org/officeDocument/2006/relationships/diagramQuickStyle" Target="../diagrams/quickStyle14.xml"/><Relationship Id="rId12" Type="http://schemas.openxmlformats.org/officeDocument/2006/relationships/diagramQuickStyle" Target="../diagrams/quickStyle15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40.xml"/><Relationship Id="rId1" Type="http://schemas.openxmlformats.org/officeDocument/2006/relationships/tags" Target="../tags/tag33.xml"/><Relationship Id="rId6" Type="http://schemas.openxmlformats.org/officeDocument/2006/relationships/diagramLayout" Target="../diagrams/layout14.xml"/><Relationship Id="rId11" Type="http://schemas.openxmlformats.org/officeDocument/2006/relationships/diagramLayout" Target="../diagrams/layout15.xml"/><Relationship Id="rId5" Type="http://schemas.openxmlformats.org/officeDocument/2006/relationships/diagramData" Target="../diagrams/data14.xml"/><Relationship Id="rId15" Type="http://schemas.openxmlformats.org/officeDocument/2006/relationships/slide" Target="slide4.xml"/><Relationship Id="rId10" Type="http://schemas.openxmlformats.org/officeDocument/2006/relationships/diagramData" Target="../diagrams/data15.xml"/><Relationship Id="rId4" Type="http://schemas.openxmlformats.org/officeDocument/2006/relationships/image" Target="../media/image1.emf"/><Relationship Id="rId9" Type="http://schemas.microsoft.com/office/2007/relationships/diagramDrawing" Target="../diagrams/drawing14.xml"/><Relationship Id="rId14" Type="http://schemas.microsoft.com/office/2007/relationships/diagramDrawing" Target="../diagrams/drawin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6.xml"/><Relationship Id="rId13" Type="http://schemas.openxmlformats.org/officeDocument/2006/relationships/diagramColors" Target="../diagrams/colors17.xml"/><Relationship Id="rId18" Type="http://schemas.openxmlformats.org/officeDocument/2006/relationships/diagramColors" Target="../diagrams/colors18.xml"/><Relationship Id="rId26" Type="http://schemas.openxmlformats.org/officeDocument/2006/relationships/slide" Target="slide4.xml"/><Relationship Id="rId3" Type="http://schemas.openxmlformats.org/officeDocument/2006/relationships/oleObject" Target="../embeddings/oleObject34.bin"/><Relationship Id="rId21" Type="http://schemas.openxmlformats.org/officeDocument/2006/relationships/diagramLayout" Target="../diagrams/layout19.xml"/><Relationship Id="rId7" Type="http://schemas.openxmlformats.org/officeDocument/2006/relationships/diagramQuickStyle" Target="../diagrams/quickStyle16.xml"/><Relationship Id="rId12" Type="http://schemas.openxmlformats.org/officeDocument/2006/relationships/diagramQuickStyle" Target="../diagrams/quickStyle17.xml"/><Relationship Id="rId17" Type="http://schemas.openxmlformats.org/officeDocument/2006/relationships/diagramQuickStyle" Target="../diagrams/quickStyle18.xml"/><Relationship Id="rId25" Type="http://schemas.openxmlformats.org/officeDocument/2006/relationships/slide" Target="slide35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18.xml"/><Relationship Id="rId20" Type="http://schemas.openxmlformats.org/officeDocument/2006/relationships/diagramData" Target="../diagrams/data19.xml"/><Relationship Id="rId1" Type="http://schemas.openxmlformats.org/officeDocument/2006/relationships/tags" Target="../tags/tag36.xml"/><Relationship Id="rId6" Type="http://schemas.openxmlformats.org/officeDocument/2006/relationships/diagramLayout" Target="../diagrams/layout16.xml"/><Relationship Id="rId11" Type="http://schemas.openxmlformats.org/officeDocument/2006/relationships/diagramLayout" Target="../diagrams/layout17.xml"/><Relationship Id="rId24" Type="http://schemas.microsoft.com/office/2007/relationships/diagramDrawing" Target="../diagrams/drawing19.xml"/><Relationship Id="rId5" Type="http://schemas.openxmlformats.org/officeDocument/2006/relationships/diagramData" Target="../diagrams/data16.xml"/><Relationship Id="rId15" Type="http://schemas.openxmlformats.org/officeDocument/2006/relationships/diagramData" Target="../diagrams/data18.xml"/><Relationship Id="rId23" Type="http://schemas.openxmlformats.org/officeDocument/2006/relationships/diagramColors" Target="../diagrams/colors19.xml"/><Relationship Id="rId10" Type="http://schemas.openxmlformats.org/officeDocument/2006/relationships/diagramData" Target="../diagrams/data17.xml"/><Relationship Id="rId19" Type="http://schemas.microsoft.com/office/2007/relationships/diagramDrawing" Target="../diagrams/drawing18.xml"/><Relationship Id="rId4" Type="http://schemas.openxmlformats.org/officeDocument/2006/relationships/image" Target="../media/image1.emf"/><Relationship Id="rId9" Type="http://schemas.microsoft.com/office/2007/relationships/diagramDrawing" Target="../diagrams/drawing16.xml"/><Relationship Id="rId14" Type="http://schemas.microsoft.com/office/2007/relationships/diagramDrawing" Target="../diagrams/drawing17.xml"/><Relationship Id="rId22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diagramColors" Target="../diagrams/colors21.xml"/><Relationship Id="rId18" Type="http://schemas.openxmlformats.org/officeDocument/2006/relationships/diagramColors" Target="../diagrams/colors22.xml"/><Relationship Id="rId26" Type="http://schemas.openxmlformats.org/officeDocument/2006/relationships/diagramLayout" Target="../diagrams/layout24.xml"/><Relationship Id="rId39" Type="http://schemas.microsoft.com/office/2007/relationships/diagramDrawing" Target="../diagrams/drawing26.xml"/><Relationship Id="rId21" Type="http://schemas.openxmlformats.org/officeDocument/2006/relationships/diagramLayout" Target="../diagrams/layout23.xml"/><Relationship Id="rId34" Type="http://schemas.microsoft.com/office/2007/relationships/diagramDrawing" Target="../diagrams/drawing25.xml"/><Relationship Id="rId42" Type="http://schemas.openxmlformats.org/officeDocument/2006/relationships/slide" Target="slide40.xml"/><Relationship Id="rId7" Type="http://schemas.openxmlformats.org/officeDocument/2006/relationships/diagramQuickStyle" Target="../diagrams/quickStyle20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22.xml"/><Relationship Id="rId20" Type="http://schemas.openxmlformats.org/officeDocument/2006/relationships/diagramData" Target="../diagrams/data23.xml"/><Relationship Id="rId29" Type="http://schemas.microsoft.com/office/2007/relationships/diagramDrawing" Target="../diagrams/drawing24.xml"/><Relationship Id="rId41" Type="http://schemas.openxmlformats.org/officeDocument/2006/relationships/slide" Target="slide35.xml"/><Relationship Id="rId1" Type="http://schemas.openxmlformats.org/officeDocument/2006/relationships/tags" Target="../tags/tag37.xml"/><Relationship Id="rId6" Type="http://schemas.openxmlformats.org/officeDocument/2006/relationships/diagramLayout" Target="../diagrams/layout20.xml"/><Relationship Id="rId11" Type="http://schemas.openxmlformats.org/officeDocument/2006/relationships/diagramLayout" Target="../diagrams/layout21.xml"/><Relationship Id="rId24" Type="http://schemas.microsoft.com/office/2007/relationships/diagramDrawing" Target="../diagrams/drawing23.xml"/><Relationship Id="rId32" Type="http://schemas.openxmlformats.org/officeDocument/2006/relationships/diagramQuickStyle" Target="../diagrams/quickStyle25.xml"/><Relationship Id="rId37" Type="http://schemas.openxmlformats.org/officeDocument/2006/relationships/diagramQuickStyle" Target="../diagrams/quickStyle26.xml"/><Relationship Id="rId40" Type="http://schemas.openxmlformats.org/officeDocument/2006/relationships/slide" Target="slide23.xml"/><Relationship Id="rId5" Type="http://schemas.openxmlformats.org/officeDocument/2006/relationships/diagramData" Target="../diagrams/data20.xml"/><Relationship Id="rId15" Type="http://schemas.openxmlformats.org/officeDocument/2006/relationships/diagramData" Target="../diagrams/data22.xml"/><Relationship Id="rId23" Type="http://schemas.openxmlformats.org/officeDocument/2006/relationships/diagramColors" Target="../diagrams/colors23.xml"/><Relationship Id="rId28" Type="http://schemas.openxmlformats.org/officeDocument/2006/relationships/diagramColors" Target="../diagrams/colors24.xml"/><Relationship Id="rId36" Type="http://schemas.openxmlformats.org/officeDocument/2006/relationships/diagramLayout" Target="../diagrams/layout26.xml"/><Relationship Id="rId10" Type="http://schemas.openxmlformats.org/officeDocument/2006/relationships/diagramData" Target="../diagrams/data21.xml"/><Relationship Id="rId19" Type="http://schemas.microsoft.com/office/2007/relationships/diagramDrawing" Target="../diagrams/drawing22.xml"/><Relationship Id="rId31" Type="http://schemas.openxmlformats.org/officeDocument/2006/relationships/diagramLayout" Target="../diagrams/layout25.xml"/><Relationship Id="rId44" Type="http://schemas.openxmlformats.org/officeDocument/2006/relationships/slide" Target="slide4.xml"/><Relationship Id="rId4" Type="http://schemas.openxmlformats.org/officeDocument/2006/relationships/image" Target="../media/image1.emf"/><Relationship Id="rId9" Type="http://schemas.microsoft.com/office/2007/relationships/diagramDrawing" Target="../diagrams/drawing20.xml"/><Relationship Id="rId14" Type="http://schemas.microsoft.com/office/2007/relationships/diagramDrawing" Target="../diagrams/drawing21.xml"/><Relationship Id="rId22" Type="http://schemas.openxmlformats.org/officeDocument/2006/relationships/diagramQuickStyle" Target="../diagrams/quickStyle23.xml"/><Relationship Id="rId27" Type="http://schemas.openxmlformats.org/officeDocument/2006/relationships/diagramQuickStyle" Target="../diagrams/quickStyle24.xml"/><Relationship Id="rId30" Type="http://schemas.openxmlformats.org/officeDocument/2006/relationships/diagramData" Target="../diagrams/data25.xml"/><Relationship Id="rId35" Type="http://schemas.openxmlformats.org/officeDocument/2006/relationships/diagramData" Target="../diagrams/data26.xml"/><Relationship Id="rId43" Type="http://schemas.openxmlformats.org/officeDocument/2006/relationships/slide" Target="slide41.xml"/><Relationship Id="rId8" Type="http://schemas.openxmlformats.org/officeDocument/2006/relationships/diagramColors" Target="../diagrams/colors20.xml"/><Relationship Id="rId3" Type="http://schemas.openxmlformats.org/officeDocument/2006/relationships/oleObject" Target="../embeddings/oleObject35.bin"/><Relationship Id="rId12" Type="http://schemas.openxmlformats.org/officeDocument/2006/relationships/diagramQuickStyle" Target="../diagrams/quickStyle21.xml"/><Relationship Id="rId17" Type="http://schemas.openxmlformats.org/officeDocument/2006/relationships/diagramQuickStyle" Target="../diagrams/quickStyle22.xml"/><Relationship Id="rId25" Type="http://schemas.openxmlformats.org/officeDocument/2006/relationships/diagramData" Target="../diagrams/data24.xml"/><Relationship Id="rId33" Type="http://schemas.openxmlformats.org/officeDocument/2006/relationships/diagramColors" Target="../diagrams/colors25.xml"/><Relationship Id="rId38" Type="http://schemas.openxmlformats.org/officeDocument/2006/relationships/diagramColors" Target="../diagrams/colors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16.xml"/><Relationship Id="rId3" Type="http://schemas.openxmlformats.org/officeDocument/2006/relationships/oleObject" Target="../embeddings/oleObject36.bin"/><Relationship Id="rId7" Type="http://schemas.openxmlformats.org/officeDocument/2006/relationships/slide" Target="slide40.xml"/><Relationship Id="rId12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slide" Target="slide39.xml"/><Relationship Id="rId11" Type="http://schemas.openxmlformats.org/officeDocument/2006/relationships/slide" Target="slide31.xml"/><Relationship Id="rId5" Type="http://schemas.openxmlformats.org/officeDocument/2006/relationships/slide" Target="slide24.xml"/><Relationship Id="rId10" Type="http://schemas.openxmlformats.org/officeDocument/2006/relationships/slide" Target="slide43.xml"/><Relationship Id="rId4" Type="http://schemas.openxmlformats.org/officeDocument/2006/relationships/image" Target="../media/image1.emf"/><Relationship Id="rId9" Type="http://schemas.openxmlformats.org/officeDocument/2006/relationships/slide" Target="slide4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diagramData" Target="../diagrams/data28.xml"/><Relationship Id="rId18" Type="http://schemas.openxmlformats.org/officeDocument/2006/relationships/diagramData" Target="../diagrams/data29.xml"/><Relationship Id="rId26" Type="http://schemas.openxmlformats.org/officeDocument/2006/relationships/diagramColors" Target="../diagrams/colors30.xml"/><Relationship Id="rId21" Type="http://schemas.openxmlformats.org/officeDocument/2006/relationships/diagramColors" Target="../diagrams/colors29.xml"/><Relationship Id="rId34" Type="http://schemas.openxmlformats.org/officeDocument/2006/relationships/slide" Target="slide40.xml"/><Relationship Id="rId7" Type="http://schemas.openxmlformats.org/officeDocument/2006/relationships/diagramQuickStyle" Target="../diagrams/quickStyle27.xml"/><Relationship Id="rId12" Type="http://schemas.openxmlformats.org/officeDocument/2006/relationships/slide" Target="slide22.xml"/><Relationship Id="rId17" Type="http://schemas.microsoft.com/office/2007/relationships/diagramDrawing" Target="../diagrams/drawing28.xml"/><Relationship Id="rId25" Type="http://schemas.openxmlformats.org/officeDocument/2006/relationships/diagramQuickStyle" Target="../diagrams/quickStyle30.xml"/><Relationship Id="rId33" Type="http://schemas.openxmlformats.org/officeDocument/2006/relationships/slide" Target="slide35.xml"/><Relationship Id="rId2" Type="http://schemas.openxmlformats.org/officeDocument/2006/relationships/slideLayout" Target="../slideLayouts/slideLayout2.xml"/><Relationship Id="rId16" Type="http://schemas.openxmlformats.org/officeDocument/2006/relationships/diagramColors" Target="../diagrams/colors28.xml"/><Relationship Id="rId20" Type="http://schemas.openxmlformats.org/officeDocument/2006/relationships/diagramQuickStyle" Target="../diagrams/quickStyle29.xml"/><Relationship Id="rId29" Type="http://schemas.openxmlformats.org/officeDocument/2006/relationships/diagramLayout" Target="../diagrams/layout31.xml"/><Relationship Id="rId1" Type="http://schemas.openxmlformats.org/officeDocument/2006/relationships/tags" Target="../tags/tag39.xml"/><Relationship Id="rId6" Type="http://schemas.openxmlformats.org/officeDocument/2006/relationships/diagramLayout" Target="../diagrams/layout27.xml"/><Relationship Id="rId11" Type="http://schemas.openxmlformats.org/officeDocument/2006/relationships/slide" Target="slide21.xml"/><Relationship Id="rId24" Type="http://schemas.openxmlformats.org/officeDocument/2006/relationships/diagramLayout" Target="../diagrams/layout30.xml"/><Relationship Id="rId32" Type="http://schemas.microsoft.com/office/2007/relationships/diagramDrawing" Target="../diagrams/drawing31.xml"/><Relationship Id="rId37" Type="http://schemas.openxmlformats.org/officeDocument/2006/relationships/slide" Target="slide4.xml"/><Relationship Id="rId5" Type="http://schemas.openxmlformats.org/officeDocument/2006/relationships/diagramData" Target="../diagrams/data27.xml"/><Relationship Id="rId15" Type="http://schemas.openxmlformats.org/officeDocument/2006/relationships/diagramQuickStyle" Target="../diagrams/quickStyle28.xml"/><Relationship Id="rId23" Type="http://schemas.openxmlformats.org/officeDocument/2006/relationships/diagramData" Target="../diagrams/data30.xml"/><Relationship Id="rId28" Type="http://schemas.openxmlformats.org/officeDocument/2006/relationships/diagramData" Target="../diagrams/data31.xml"/><Relationship Id="rId36" Type="http://schemas.openxmlformats.org/officeDocument/2006/relationships/slide" Target="slide31.xml"/><Relationship Id="rId10" Type="http://schemas.openxmlformats.org/officeDocument/2006/relationships/slide" Target="slide23.xml"/><Relationship Id="rId19" Type="http://schemas.openxmlformats.org/officeDocument/2006/relationships/diagramLayout" Target="../diagrams/layout29.xml"/><Relationship Id="rId31" Type="http://schemas.openxmlformats.org/officeDocument/2006/relationships/diagramColors" Target="../diagrams/colors31.xml"/><Relationship Id="rId4" Type="http://schemas.openxmlformats.org/officeDocument/2006/relationships/image" Target="../media/image1.emf"/><Relationship Id="rId9" Type="http://schemas.microsoft.com/office/2007/relationships/diagramDrawing" Target="../diagrams/drawing27.xml"/><Relationship Id="rId14" Type="http://schemas.openxmlformats.org/officeDocument/2006/relationships/diagramLayout" Target="../diagrams/layout28.xml"/><Relationship Id="rId22" Type="http://schemas.microsoft.com/office/2007/relationships/diagramDrawing" Target="../diagrams/drawing29.xml"/><Relationship Id="rId27" Type="http://schemas.microsoft.com/office/2007/relationships/diagramDrawing" Target="../diagrams/drawing30.xml"/><Relationship Id="rId30" Type="http://schemas.openxmlformats.org/officeDocument/2006/relationships/diagramQuickStyle" Target="../diagrams/quickStyle31.xml"/><Relationship Id="rId35" Type="http://schemas.openxmlformats.org/officeDocument/2006/relationships/slide" Target="slide41.xml"/><Relationship Id="rId8" Type="http://schemas.openxmlformats.org/officeDocument/2006/relationships/diagramColors" Target="../diagrams/colors27.xml"/><Relationship Id="rId3" Type="http://schemas.openxmlformats.org/officeDocument/2006/relationships/oleObject" Target="../embeddings/oleObject3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2.xml"/><Relationship Id="rId13" Type="http://schemas.openxmlformats.org/officeDocument/2006/relationships/diagramColors" Target="../diagrams/colors33.xml"/><Relationship Id="rId18" Type="http://schemas.openxmlformats.org/officeDocument/2006/relationships/diagramColors" Target="../diagrams/colors34.xml"/><Relationship Id="rId26" Type="http://schemas.openxmlformats.org/officeDocument/2006/relationships/slide" Target="slide40.xml"/><Relationship Id="rId3" Type="http://schemas.openxmlformats.org/officeDocument/2006/relationships/oleObject" Target="../embeddings/oleObject40.bin"/><Relationship Id="rId21" Type="http://schemas.openxmlformats.org/officeDocument/2006/relationships/diagramLayout" Target="../diagrams/layout35.xml"/><Relationship Id="rId7" Type="http://schemas.openxmlformats.org/officeDocument/2006/relationships/diagramQuickStyle" Target="../diagrams/quickStyle32.xml"/><Relationship Id="rId12" Type="http://schemas.openxmlformats.org/officeDocument/2006/relationships/diagramQuickStyle" Target="../diagrams/quickStyle33.xml"/><Relationship Id="rId17" Type="http://schemas.openxmlformats.org/officeDocument/2006/relationships/diagramQuickStyle" Target="../diagrams/quickStyle34.xml"/><Relationship Id="rId25" Type="http://schemas.openxmlformats.org/officeDocument/2006/relationships/slide" Target="slide39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34.xml"/><Relationship Id="rId20" Type="http://schemas.openxmlformats.org/officeDocument/2006/relationships/diagramData" Target="../diagrams/data35.xml"/><Relationship Id="rId29" Type="http://schemas.openxmlformats.org/officeDocument/2006/relationships/slide" Target="slide4.xml"/><Relationship Id="rId1" Type="http://schemas.openxmlformats.org/officeDocument/2006/relationships/tags" Target="../tags/tag42.xml"/><Relationship Id="rId6" Type="http://schemas.openxmlformats.org/officeDocument/2006/relationships/diagramLayout" Target="../diagrams/layout32.xml"/><Relationship Id="rId11" Type="http://schemas.openxmlformats.org/officeDocument/2006/relationships/diagramLayout" Target="../diagrams/layout33.xml"/><Relationship Id="rId24" Type="http://schemas.microsoft.com/office/2007/relationships/diagramDrawing" Target="../diagrams/drawing35.xml"/><Relationship Id="rId5" Type="http://schemas.openxmlformats.org/officeDocument/2006/relationships/diagramData" Target="../diagrams/data32.xml"/><Relationship Id="rId15" Type="http://schemas.openxmlformats.org/officeDocument/2006/relationships/diagramData" Target="../diagrams/data34.xml"/><Relationship Id="rId23" Type="http://schemas.openxmlformats.org/officeDocument/2006/relationships/diagramColors" Target="../diagrams/colors35.xml"/><Relationship Id="rId28" Type="http://schemas.openxmlformats.org/officeDocument/2006/relationships/slide" Target="slide45.xml"/><Relationship Id="rId10" Type="http://schemas.openxmlformats.org/officeDocument/2006/relationships/diagramData" Target="../diagrams/data33.xml"/><Relationship Id="rId19" Type="http://schemas.microsoft.com/office/2007/relationships/diagramDrawing" Target="../diagrams/drawing34.xml"/><Relationship Id="rId31" Type="http://schemas.openxmlformats.org/officeDocument/2006/relationships/slide" Target="slide28.xml"/><Relationship Id="rId4" Type="http://schemas.openxmlformats.org/officeDocument/2006/relationships/image" Target="../media/image1.emf"/><Relationship Id="rId9" Type="http://schemas.microsoft.com/office/2007/relationships/diagramDrawing" Target="../diagrams/drawing32.xml"/><Relationship Id="rId14" Type="http://schemas.microsoft.com/office/2007/relationships/diagramDrawing" Target="../diagrams/drawing33.xml"/><Relationship Id="rId22" Type="http://schemas.openxmlformats.org/officeDocument/2006/relationships/diagramQuickStyle" Target="../diagrams/quickStyle35.xml"/><Relationship Id="rId27" Type="http://schemas.openxmlformats.org/officeDocument/2006/relationships/slide" Target="slide44.xml"/><Relationship Id="rId30" Type="http://schemas.openxmlformats.org/officeDocument/2006/relationships/slide" Target="slide1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6.xml"/><Relationship Id="rId13" Type="http://schemas.openxmlformats.org/officeDocument/2006/relationships/diagramColors" Target="../diagrams/colors37.xml"/><Relationship Id="rId18" Type="http://schemas.openxmlformats.org/officeDocument/2006/relationships/diagramColors" Target="../diagrams/colors38.xml"/><Relationship Id="rId26" Type="http://schemas.openxmlformats.org/officeDocument/2006/relationships/slide" Target="slide4.xml"/><Relationship Id="rId3" Type="http://schemas.openxmlformats.org/officeDocument/2006/relationships/oleObject" Target="../embeddings/oleObject41.bin"/><Relationship Id="rId21" Type="http://schemas.openxmlformats.org/officeDocument/2006/relationships/diagramLayout" Target="../diagrams/layout39.xml"/><Relationship Id="rId7" Type="http://schemas.openxmlformats.org/officeDocument/2006/relationships/diagramQuickStyle" Target="../diagrams/quickStyle36.xml"/><Relationship Id="rId12" Type="http://schemas.openxmlformats.org/officeDocument/2006/relationships/diagramQuickStyle" Target="../diagrams/quickStyle37.xml"/><Relationship Id="rId17" Type="http://schemas.openxmlformats.org/officeDocument/2006/relationships/diagramQuickStyle" Target="../diagrams/quickStyle38.xml"/><Relationship Id="rId25" Type="http://schemas.openxmlformats.org/officeDocument/2006/relationships/slide" Target="slide45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38.xml"/><Relationship Id="rId20" Type="http://schemas.openxmlformats.org/officeDocument/2006/relationships/diagramData" Target="../diagrams/data39.xml"/><Relationship Id="rId1" Type="http://schemas.openxmlformats.org/officeDocument/2006/relationships/tags" Target="../tags/tag43.xml"/><Relationship Id="rId6" Type="http://schemas.openxmlformats.org/officeDocument/2006/relationships/diagramLayout" Target="../diagrams/layout36.xml"/><Relationship Id="rId11" Type="http://schemas.openxmlformats.org/officeDocument/2006/relationships/diagramLayout" Target="../diagrams/layout37.xml"/><Relationship Id="rId24" Type="http://schemas.microsoft.com/office/2007/relationships/diagramDrawing" Target="../diagrams/drawing39.xml"/><Relationship Id="rId5" Type="http://schemas.openxmlformats.org/officeDocument/2006/relationships/diagramData" Target="../diagrams/data36.xml"/><Relationship Id="rId15" Type="http://schemas.openxmlformats.org/officeDocument/2006/relationships/diagramData" Target="../diagrams/data38.xml"/><Relationship Id="rId23" Type="http://schemas.openxmlformats.org/officeDocument/2006/relationships/diagramColors" Target="../diagrams/colors39.xml"/><Relationship Id="rId10" Type="http://schemas.openxmlformats.org/officeDocument/2006/relationships/diagramData" Target="../diagrams/data37.xml"/><Relationship Id="rId19" Type="http://schemas.microsoft.com/office/2007/relationships/diagramDrawing" Target="../diagrams/drawing38.xml"/><Relationship Id="rId4" Type="http://schemas.openxmlformats.org/officeDocument/2006/relationships/image" Target="../media/image1.emf"/><Relationship Id="rId9" Type="http://schemas.microsoft.com/office/2007/relationships/diagramDrawing" Target="../diagrams/drawing36.xml"/><Relationship Id="rId14" Type="http://schemas.microsoft.com/office/2007/relationships/diagramDrawing" Target="../diagrams/drawing37.xml"/><Relationship Id="rId22" Type="http://schemas.openxmlformats.org/officeDocument/2006/relationships/diagramQuickStyle" Target="../diagrams/quickStyle39.xml"/><Relationship Id="rId27" Type="http://schemas.openxmlformats.org/officeDocument/2006/relationships/slide" Target="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diagramColors" Target="../diagrams/colors41.xml"/><Relationship Id="rId18" Type="http://schemas.openxmlformats.org/officeDocument/2006/relationships/diagramColors" Target="../diagrams/colors42.xml"/><Relationship Id="rId26" Type="http://schemas.openxmlformats.org/officeDocument/2006/relationships/diagramLayout" Target="../diagrams/layout44.xml"/><Relationship Id="rId21" Type="http://schemas.openxmlformats.org/officeDocument/2006/relationships/diagramLayout" Target="../diagrams/layout43.xml"/><Relationship Id="rId34" Type="http://schemas.openxmlformats.org/officeDocument/2006/relationships/slide" Target="slide24.xml"/><Relationship Id="rId7" Type="http://schemas.openxmlformats.org/officeDocument/2006/relationships/diagramQuickStyle" Target="../diagrams/quickStyle40.xml"/><Relationship Id="rId12" Type="http://schemas.openxmlformats.org/officeDocument/2006/relationships/diagramQuickStyle" Target="../diagrams/quickStyle41.xml"/><Relationship Id="rId17" Type="http://schemas.openxmlformats.org/officeDocument/2006/relationships/diagramQuickStyle" Target="../diagrams/quickStyle42.xml"/><Relationship Id="rId25" Type="http://schemas.openxmlformats.org/officeDocument/2006/relationships/diagramData" Target="../diagrams/data44.xml"/><Relationship Id="rId33" Type="http://schemas.openxmlformats.org/officeDocument/2006/relationships/slide" Target="slide9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42.xml"/><Relationship Id="rId20" Type="http://schemas.openxmlformats.org/officeDocument/2006/relationships/diagramData" Target="../diagrams/data43.xml"/><Relationship Id="rId29" Type="http://schemas.microsoft.com/office/2007/relationships/diagramDrawing" Target="../diagrams/drawing44.xml"/><Relationship Id="rId1" Type="http://schemas.openxmlformats.org/officeDocument/2006/relationships/tags" Target="../tags/tag46.xml"/><Relationship Id="rId6" Type="http://schemas.openxmlformats.org/officeDocument/2006/relationships/diagramLayout" Target="../diagrams/layout40.xml"/><Relationship Id="rId11" Type="http://schemas.openxmlformats.org/officeDocument/2006/relationships/diagramLayout" Target="../diagrams/layout41.xml"/><Relationship Id="rId24" Type="http://schemas.microsoft.com/office/2007/relationships/diagramDrawing" Target="../diagrams/drawing43.xml"/><Relationship Id="rId32" Type="http://schemas.openxmlformats.org/officeDocument/2006/relationships/slide" Target="slide23.xml"/><Relationship Id="rId37" Type="http://schemas.openxmlformats.org/officeDocument/2006/relationships/slide" Target="slide42.xml"/><Relationship Id="rId5" Type="http://schemas.openxmlformats.org/officeDocument/2006/relationships/diagramData" Target="../diagrams/data40.xml"/><Relationship Id="rId15" Type="http://schemas.openxmlformats.org/officeDocument/2006/relationships/diagramData" Target="../diagrams/data42.xml"/><Relationship Id="rId23" Type="http://schemas.openxmlformats.org/officeDocument/2006/relationships/diagramColors" Target="../diagrams/colors43.xml"/><Relationship Id="rId28" Type="http://schemas.openxmlformats.org/officeDocument/2006/relationships/diagramColors" Target="../diagrams/colors44.xml"/><Relationship Id="rId36" Type="http://schemas.openxmlformats.org/officeDocument/2006/relationships/slide" Target="slide36.xml"/><Relationship Id="rId10" Type="http://schemas.openxmlformats.org/officeDocument/2006/relationships/diagramData" Target="../diagrams/data41.xml"/><Relationship Id="rId19" Type="http://schemas.microsoft.com/office/2007/relationships/diagramDrawing" Target="../diagrams/drawing42.xml"/><Relationship Id="rId31" Type="http://schemas.openxmlformats.org/officeDocument/2006/relationships/slide" Target="slide16.xml"/><Relationship Id="rId4" Type="http://schemas.openxmlformats.org/officeDocument/2006/relationships/image" Target="../media/image1.emf"/><Relationship Id="rId9" Type="http://schemas.microsoft.com/office/2007/relationships/diagramDrawing" Target="../diagrams/drawing40.xml"/><Relationship Id="rId14" Type="http://schemas.microsoft.com/office/2007/relationships/diagramDrawing" Target="../diagrams/drawing41.xml"/><Relationship Id="rId22" Type="http://schemas.openxmlformats.org/officeDocument/2006/relationships/diagramQuickStyle" Target="../diagrams/quickStyle43.xml"/><Relationship Id="rId27" Type="http://schemas.openxmlformats.org/officeDocument/2006/relationships/diagramQuickStyle" Target="../diagrams/quickStyle44.xml"/><Relationship Id="rId30" Type="http://schemas.openxmlformats.org/officeDocument/2006/relationships/slide" Target="slide8.xml"/><Relationship Id="rId35" Type="http://schemas.openxmlformats.org/officeDocument/2006/relationships/slide" Target="slide4.xml"/><Relationship Id="rId8" Type="http://schemas.openxmlformats.org/officeDocument/2006/relationships/diagramColors" Target="../diagrams/colors40.xml"/><Relationship Id="rId3" Type="http://schemas.openxmlformats.org/officeDocument/2006/relationships/oleObject" Target="../embeddings/oleObject4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8.xml"/><Relationship Id="rId18" Type="http://schemas.openxmlformats.org/officeDocument/2006/relationships/slide" Target="slide35.xml"/><Relationship Id="rId26" Type="http://schemas.openxmlformats.org/officeDocument/2006/relationships/slide" Target="slide43.xml"/><Relationship Id="rId3" Type="http://schemas.openxmlformats.org/officeDocument/2006/relationships/oleObject" Target="../embeddings/oleObject46.bin"/><Relationship Id="rId21" Type="http://schemas.openxmlformats.org/officeDocument/2006/relationships/slide" Target="slide38.xml"/><Relationship Id="rId7" Type="http://schemas.openxmlformats.org/officeDocument/2006/relationships/slide" Target="slide24.xml"/><Relationship Id="rId12" Type="http://schemas.openxmlformats.org/officeDocument/2006/relationships/slide" Target="slide17.xml"/><Relationship Id="rId17" Type="http://schemas.openxmlformats.org/officeDocument/2006/relationships/slide" Target="slide31.xml"/><Relationship Id="rId25" Type="http://schemas.openxmlformats.org/officeDocument/2006/relationships/slide" Target="slide42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4.xml"/><Relationship Id="rId20" Type="http://schemas.openxmlformats.org/officeDocument/2006/relationships/slide" Target="slide37.xml"/><Relationship Id="rId1" Type="http://schemas.openxmlformats.org/officeDocument/2006/relationships/tags" Target="../tags/tag48.xml"/><Relationship Id="rId6" Type="http://schemas.openxmlformats.org/officeDocument/2006/relationships/slide" Target="slide22.xml"/><Relationship Id="rId11" Type="http://schemas.openxmlformats.org/officeDocument/2006/relationships/slide" Target="slide16.xml"/><Relationship Id="rId24" Type="http://schemas.openxmlformats.org/officeDocument/2006/relationships/slide" Target="slide40.xml"/><Relationship Id="rId5" Type="http://schemas.openxmlformats.org/officeDocument/2006/relationships/slide" Target="slide21.xml"/><Relationship Id="rId15" Type="http://schemas.openxmlformats.org/officeDocument/2006/relationships/slide" Target="slide27.xml"/><Relationship Id="rId23" Type="http://schemas.openxmlformats.org/officeDocument/2006/relationships/slide" Target="slide39.xml"/><Relationship Id="rId28" Type="http://schemas.openxmlformats.org/officeDocument/2006/relationships/slide" Target="slide45.xml"/><Relationship Id="rId10" Type="http://schemas.openxmlformats.org/officeDocument/2006/relationships/slide" Target="slide23.xml"/><Relationship Id="rId19" Type="http://schemas.openxmlformats.org/officeDocument/2006/relationships/slide" Target="slide36.xml"/><Relationship Id="rId4" Type="http://schemas.openxmlformats.org/officeDocument/2006/relationships/image" Target="../media/image1.emf"/><Relationship Id="rId9" Type="http://schemas.openxmlformats.org/officeDocument/2006/relationships/slide" Target="slide9.xml"/><Relationship Id="rId14" Type="http://schemas.openxmlformats.org/officeDocument/2006/relationships/slide" Target="slide28.xml"/><Relationship Id="rId22" Type="http://schemas.openxmlformats.org/officeDocument/2006/relationships/slide" Target="slide41.xml"/><Relationship Id="rId27" Type="http://schemas.openxmlformats.org/officeDocument/2006/relationships/slide" Target="slide4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4" Type="http://schemas.openxmlformats.org/officeDocument/2006/relationships/image" Target="../media/image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6" Type="http://schemas.openxmlformats.org/officeDocument/2006/relationships/slide" Target="slide33.xml"/><Relationship Id="rId5" Type="http://schemas.openxmlformats.org/officeDocument/2006/relationships/image" Target="../media/image38.png"/><Relationship Id="rId4" Type="http://schemas.openxmlformats.org/officeDocument/2006/relationships/image" Target="../media/image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6" Type="http://schemas.openxmlformats.org/officeDocument/2006/relationships/slide" Target="slide33.xml"/><Relationship Id="rId5" Type="http://schemas.openxmlformats.org/officeDocument/2006/relationships/image" Target="../media/image39.png"/><Relationship Id="rId4" Type="http://schemas.openxmlformats.org/officeDocument/2006/relationships/image" Target="../media/image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7" Type="http://schemas.openxmlformats.org/officeDocument/2006/relationships/slide" Target="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7" Type="http://schemas.openxmlformats.org/officeDocument/2006/relationships/image" Target="../media/image4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6" Type="http://schemas.openxmlformats.org/officeDocument/2006/relationships/image" Target="../media/image42.png"/><Relationship Id="rId5" Type="http://schemas.openxmlformats.org/officeDocument/2006/relationships/slide" Target="slide33.xml"/><Relationship Id="rId4" Type="http://schemas.openxmlformats.org/officeDocument/2006/relationships/image" Target="../media/image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slide" Target="slide33.xml"/><Relationship Id="rId5" Type="http://schemas.openxmlformats.org/officeDocument/2006/relationships/image" Target="../media/image44.png"/><Relationship Id="rId4" Type="http://schemas.openxmlformats.org/officeDocument/2006/relationships/image" Target="../media/image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slide" Target="slide33.xml"/><Relationship Id="rId5" Type="http://schemas.openxmlformats.org/officeDocument/2006/relationships/image" Target="../media/image45.png"/><Relationship Id="rId4" Type="http://schemas.openxmlformats.org/officeDocument/2006/relationships/image" Target="../media/image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slide" Target="slide33.xml"/><Relationship Id="rId5" Type="http://schemas.openxmlformats.org/officeDocument/2006/relationships/image" Target="../media/image46.png"/><Relationship Id="rId4" Type="http://schemas.openxmlformats.org/officeDocument/2006/relationships/image" Target="../media/image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slide" Target="slide33.xml"/><Relationship Id="rId5" Type="http://schemas.openxmlformats.org/officeDocument/2006/relationships/image" Target="../media/image47.png"/><Relationship Id="rId4" Type="http://schemas.openxmlformats.org/officeDocument/2006/relationships/image" Target="../media/image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slide" Target="slide33.xml"/><Relationship Id="rId5" Type="http://schemas.openxmlformats.org/officeDocument/2006/relationships/image" Target="../media/image48.png"/><Relationship Id="rId4" Type="http://schemas.openxmlformats.org/officeDocument/2006/relationships/image" Target="../media/image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5" Type="http://schemas.openxmlformats.org/officeDocument/2006/relationships/slide" Target="slide33.xml"/><Relationship Id="rId4" Type="http://schemas.openxmlformats.org/officeDocument/2006/relationships/image" Target="../media/image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image" Target="../media/image49.png"/><Relationship Id="rId5" Type="http://schemas.openxmlformats.org/officeDocument/2006/relationships/slide" Target="slide33.xml"/><Relationship Id="rId4" Type="http://schemas.openxmlformats.org/officeDocument/2006/relationships/image" Target="../media/image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1.xml"/><Relationship Id="rId4" Type="http://schemas.openxmlformats.org/officeDocument/2006/relationships/image" Target="../media/image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2.xml"/><Relationship Id="rId4" Type="http://schemas.openxmlformats.org/officeDocument/2006/relationships/image" Target="../media/image1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5.xml"/><Relationship Id="rId13" Type="http://schemas.openxmlformats.org/officeDocument/2006/relationships/diagramColors" Target="../diagrams/colors46.xml"/><Relationship Id="rId18" Type="http://schemas.openxmlformats.org/officeDocument/2006/relationships/diagramColors" Target="../diagrams/colors47.xml"/><Relationship Id="rId3" Type="http://schemas.openxmlformats.org/officeDocument/2006/relationships/oleObject" Target="../embeddings/oleObject61.bin"/><Relationship Id="rId21" Type="http://schemas.openxmlformats.org/officeDocument/2006/relationships/diagramLayout" Target="../diagrams/layout48.xml"/><Relationship Id="rId7" Type="http://schemas.openxmlformats.org/officeDocument/2006/relationships/diagramQuickStyle" Target="../diagrams/quickStyle45.xml"/><Relationship Id="rId12" Type="http://schemas.openxmlformats.org/officeDocument/2006/relationships/diagramQuickStyle" Target="../diagrams/quickStyle46.xml"/><Relationship Id="rId17" Type="http://schemas.openxmlformats.org/officeDocument/2006/relationships/diagramQuickStyle" Target="../diagrams/quickStyle47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47.xml"/><Relationship Id="rId20" Type="http://schemas.openxmlformats.org/officeDocument/2006/relationships/diagramData" Target="../diagrams/data48.xml"/><Relationship Id="rId1" Type="http://schemas.openxmlformats.org/officeDocument/2006/relationships/tags" Target="../tags/tag63.xml"/><Relationship Id="rId6" Type="http://schemas.openxmlformats.org/officeDocument/2006/relationships/diagramLayout" Target="../diagrams/layout45.xml"/><Relationship Id="rId11" Type="http://schemas.openxmlformats.org/officeDocument/2006/relationships/diagramLayout" Target="../diagrams/layout46.xml"/><Relationship Id="rId24" Type="http://schemas.microsoft.com/office/2007/relationships/diagramDrawing" Target="../diagrams/drawing48.xml"/><Relationship Id="rId5" Type="http://schemas.openxmlformats.org/officeDocument/2006/relationships/diagramData" Target="../diagrams/data45.xml"/><Relationship Id="rId15" Type="http://schemas.openxmlformats.org/officeDocument/2006/relationships/diagramData" Target="../diagrams/data47.xml"/><Relationship Id="rId23" Type="http://schemas.openxmlformats.org/officeDocument/2006/relationships/diagramColors" Target="../diagrams/colors48.xml"/><Relationship Id="rId10" Type="http://schemas.openxmlformats.org/officeDocument/2006/relationships/diagramData" Target="../diagrams/data46.xml"/><Relationship Id="rId19" Type="http://schemas.microsoft.com/office/2007/relationships/diagramDrawing" Target="../diagrams/drawing47.xml"/><Relationship Id="rId4" Type="http://schemas.openxmlformats.org/officeDocument/2006/relationships/image" Target="../media/image1.emf"/><Relationship Id="rId9" Type="http://schemas.microsoft.com/office/2007/relationships/diagramDrawing" Target="../diagrams/drawing45.xml"/><Relationship Id="rId14" Type="http://schemas.microsoft.com/office/2007/relationships/diagramDrawing" Target="../diagrams/drawing46.xml"/><Relationship Id="rId22" Type="http://schemas.openxmlformats.org/officeDocument/2006/relationships/diagramQuickStyle" Target="../diagrams/quickStyle4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9.xml"/><Relationship Id="rId13" Type="http://schemas.openxmlformats.org/officeDocument/2006/relationships/diagramColors" Target="../diagrams/colors50.xml"/><Relationship Id="rId18" Type="http://schemas.openxmlformats.org/officeDocument/2006/relationships/diagramColors" Target="../diagrams/colors51.xml"/><Relationship Id="rId3" Type="http://schemas.openxmlformats.org/officeDocument/2006/relationships/oleObject" Target="../embeddings/oleObject62.bin"/><Relationship Id="rId21" Type="http://schemas.openxmlformats.org/officeDocument/2006/relationships/diagramLayout" Target="../diagrams/layout52.xml"/><Relationship Id="rId7" Type="http://schemas.openxmlformats.org/officeDocument/2006/relationships/diagramQuickStyle" Target="../diagrams/quickStyle49.xml"/><Relationship Id="rId12" Type="http://schemas.openxmlformats.org/officeDocument/2006/relationships/diagramQuickStyle" Target="../diagrams/quickStyle50.xml"/><Relationship Id="rId17" Type="http://schemas.openxmlformats.org/officeDocument/2006/relationships/diagramQuickStyle" Target="../diagrams/quickStyle51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51.xml"/><Relationship Id="rId20" Type="http://schemas.openxmlformats.org/officeDocument/2006/relationships/diagramData" Target="../diagrams/data52.xml"/><Relationship Id="rId1" Type="http://schemas.openxmlformats.org/officeDocument/2006/relationships/tags" Target="../tags/tag64.xml"/><Relationship Id="rId6" Type="http://schemas.openxmlformats.org/officeDocument/2006/relationships/diagramLayout" Target="../diagrams/layout49.xml"/><Relationship Id="rId11" Type="http://schemas.openxmlformats.org/officeDocument/2006/relationships/diagramLayout" Target="../diagrams/layout50.xml"/><Relationship Id="rId24" Type="http://schemas.microsoft.com/office/2007/relationships/diagramDrawing" Target="../diagrams/drawing52.xml"/><Relationship Id="rId5" Type="http://schemas.openxmlformats.org/officeDocument/2006/relationships/diagramData" Target="../diagrams/data49.xml"/><Relationship Id="rId15" Type="http://schemas.openxmlformats.org/officeDocument/2006/relationships/diagramData" Target="../diagrams/data51.xml"/><Relationship Id="rId23" Type="http://schemas.openxmlformats.org/officeDocument/2006/relationships/diagramColors" Target="../diagrams/colors52.xml"/><Relationship Id="rId10" Type="http://schemas.openxmlformats.org/officeDocument/2006/relationships/diagramData" Target="../diagrams/data50.xml"/><Relationship Id="rId19" Type="http://schemas.microsoft.com/office/2007/relationships/diagramDrawing" Target="../diagrams/drawing51.xml"/><Relationship Id="rId4" Type="http://schemas.openxmlformats.org/officeDocument/2006/relationships/image" Target="../media/image1.emf"/><Relationship Id="rId9" Type="http://schemas.microsoft.com/office/2007/relationships/diagramDrawing" Target="../diagrams/drawing49.xml"/><Relationship Id="rId14" Type="http://schemas.microsoft.com/office/2007/relationships/diagramDrawing" Target="../diagrams/drawing50.xml"/><Relationship Id="rId22" Type="http://schemas.openxmlformats.org/officeDocument/2006/relationships/diagramQuickStyle" Target="../diagrams/quickStyle5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3.xml"/><Relationship Id="rId13" Type="http://schemas.openxmlformats.org/officeDocument/2006/relationships/diagramColors" Target="../diagrams/colors54.xml"/><Relationship Id="rId18" Type="http://schemas.openxmlformats.org/officeDocument/2006/relationships/diagramColors" Target="../diagrams/colors55.xml"/><Relationship Id="rId3" Type="http://schemas.openxmlformats.org/officeDocument/2006/relationships/oleObject" Target="../embeddings/oleObject63.bin"/><Relationship Id="rId21" Type="http://schemas.openxmlformats.org/officeDocument/2006/relationships/diagramLayout" Target="../diagrams/layout56.xml"/><Relationship Id="rId7" Type="http://schemas.openxmlformats.org/officeDocument/2006/relationships/diagramQuickStyle" Target="../diagrams/quickStyle53.xml"/><Relationship Id="rId12" Type="http://schemas.openxmlformats.org/officeDocument/2006/relationships/diagramQuickStyle" Target="../diagrams/quickStyle54.xml"/><Relationship Id="rId17" Type="http://schemas.openxmlformats.org/officeDocument/2006/relationships/diagramQuickStyle" Target="../diagrams/quickStyle55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55.xml"/><Relationship Id="rId20" Type="http://schemas.openxmlformats.org/officeDocument/2006/relationships/diagramData" Target="../diagrams/data56.xml"/><Relationship Id="rId1" Type="http://schemas.openxmlformats.org/officeDocument/2006/relationships/tags" Target="../tags/tag65.xml"/><Relationship Id="rId6" Type="http://schemas.openxmlformats.org/officeDocument/2006/relationships/diagramLayout" Target="../diagrams/layout53.xml"/><Relationship Id="rId11" Type="http://schemas.openxmlformats.org/officeDocument/2006/relationships/diagramLayout" Target="../diagrams/layout54.xml"/><Relationship Id="rId24" Type="http://schemas.microsoft.com/office/2007/relationships/diagramDrawing" Target="../diagrams/drawing56.xml"/><Relationship Id="rId5" Type="http://schemas.openxmlformats.org/officeDocument/2006/relationships/diagramData" Target="../diagrams/data53.xml"/><Relationship Id="rId15" Type="http://schemas.openxmlformats.org/officeDocument/2006/relationships/diagramData" Target="../diagrams/data55.xml"/><Relationship Id="rId23" Type="http://schemas.openxmlformats.org/officeDocument/2006/relationships/diagramColors" Target="../diagrams/colors56.xml"/><Relationship Id="rId10" Type="http://schemas.openxmlformats.org/officeDocument/2006/relationships/diagramData" Target="../diagrams/data54.xml"/><Relationship Id="rId19" Type="http://schemas.microsoft.com/office/2007/relationships/diagramDrawing" Target="../diagrams/drawing55.xml"/><Relationship Id="rId4" Type="http://schemas.openxmlformats.org/officeDocument/2006/relationships/image" Target="../media/image1.emf"/><Relationship Id="rId9" Type="http://schemas.microsoft.com/office/2007/relationships/diagramDrawing" Target="../diagrams/drawing53.xml"/><Relationship Id="rId14" Type="http://schemas.microsoft.com/office/2007/relationships/diagramDrawing" Target="../diagrams/drawing54.xml"/><Relationship Id="rId22" Type="http://schemas.openxmlformats.org/officeDocument/2006/relationships/diagramQuickStyle" Target="../diagrams/quickStyl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1977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847696"/>
            <a:ext cx="5923700" cy="791776"/>
          </a:xfrm>
        </p:spPr>
        <p:txBody>
          <a:bodyPr vert="horz"/>
          <a:lstStyle/>
          <a:p>
            <a:r>
              <a:rPr lang="en-US" dirty="0"/>
              <a:t>Venus II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Implantação</a:t>
            </a:r>
            <a:r>
              <a:rPr lang="en-US" dirty="0"/>
              <a:t> M&amp;A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23 Mar 2023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220121" y="1816449"/>
            <a:ext cx="7805892" cy="899192"/>
          </a:xfrm>
        </p:spPr>
        <p:txBody>
          <a:bodyPr/>
          <a:lstStyle/>
          <a:p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pagamentos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Obje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Sumário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>
          <a:xfrm>
            <a:off x="314182" y="925418"/>
            <a:ext cx="11286580" cy="4583016"/>
          </a:xfrm>
        </p:spPr>
        <p:txBody>
          <a:bodyPr numCol="2"/>
          <a:lstStyle/>
          <a:p>
            <a:r>
              <a:rPr lang="en-US" dirty="0">
                <a:solidFill>
                  <a:srgbClr val="00D318"/>
                </a:solidFill>
              </a:rPr>
              <a:t>0. </a:t>
            </a:r>
            <a:r>
              <a:rPr lang="en-US" sz="1600" dirty="0" err="1"/>
              <a:t>Resumo</a:t>
            </a:r>
            <a:r>
              <a:rPr lang="en-US" sz="1600" dirty="0"/>
              <a:t> - </a:t>
            </a:r>
            <a:r>
              <a:rPr lang="en-US" sz="1600" dirty="0" err="1"/>
              <a:t>Receitas</a:t>
            </a:r>
            <a:r>
              <a:rPr lang="en-US" sz="1600" dirty="0"/>
              <a:t> e </a:t>
            </a:r>
            <a:r>
              <a:rPr lang="en-US" sz="1600" dirty="0" err="1"/>
              <a:t>Despesas</a:t>
            </a:r>
            <a:r>
              <a:rPr lang="en-US" sz="1600" dirty="0"/>
              <a:t> </a:t>
            </a:r>
            <a:r>
              <a:rPr lang="en-US" sz="1600" dirty="0" err="1"/>
              <a:t>Lemvig</a:t>
            </a:r>
            <a:endParaRPr lang="en-US" sz="1600" dirty="0"/>
          </a:p>
          <a:p>
            <a:pPr marL="530225" indent="-257175">
              <a:buFont typeface="+mj-lt"/>
              <a:buAutoNum type="arabicPeriod"/>
            </a:pPr>
            <a:r>
              <a:rPr lang="en-US" sz="1600" dirty="0" err="1"/>
              <a:t>Receita</a:t>
            </a:r>
            <a:r>
              <a:rPr lang="en-US" sz="1600" dirty="0"/>
              <a:t> – Base fee das 8.000 Torres (pela Oi) </a:t>
            </a:r>
          </a:p>
          <a:p>
            <a:pPr marL="530225"/>
            <a:r>
              <a:rPr lang="en-US" sz="1600" dirty="0">
                <a:solidFill>
                  <a:srgbClr val="00D318"/>
                </a:solidFill>
              </a:rPr>
              <a:t>1a.  </a:t>
            </a:r>
            <a:r>
              <a:rPr lang="en-US" sz="1600" dirty="0" err="1"/>
              <a:t>Pagamento</a:t>
            </a:r>
            <a:r>
              <a:rPr lang="en-US" sz="1600" dirty="0"/>
              <a:t> do </a:t>
            </a:r>
            <a:r>
              <a:rPr lang="en-US" sz="1600" dirty="0" err="1"/>
              <a:t>Aluguel</a:t>
            </a:r>
            <a:r>
              <a:rPr lang="en-US" sz="1600" dirty="0"/>
              <a:t> das Torres com </a:t>
            </a:r>
            <a:r>
              <a:rPr lang="en-US" sz="1600" dirty="0" err="1"/>
              <a:t>conta</a:t>
            </a:r>
            <a:r>
              <a:rPr lang="en-US" sz="1600" dirty="0"/>
              <a:t> </a:t>
            </a:r>
            <a:r>
              <a:rPr lang="en-US" sz="1600" dirty="0" err="1"/>
              <a:t>vinculada</a:t>
            </a:r>
            <a:r>
              <a:rPr lang="en-US" sz="1600" dirty="0"/>
              <a:t>  </a:t>
            </a:r>
          </a:p>
          <a:p>
            <a:pPr marL="530225" lvl="3" indent="0">
              <a:buNone/>
            </a:pPr>
            <a:r>
              <a:rPr lang="en-US" sz="1600" dirty="0">
                <a:solidFill>
                  <a:srgbClr val="00D318"/>
                </a:solidFill>
              </a:rPr>
              <a:t>1b. </a:t>
            </a:r>
            <a:r>
              <a:rPr lang="en-US" sz="1600" dirty="0" err="1"/>
              <a:t>Fluxo</a:t>
            </a:r>
            <a:r>
              <a:rPr lang="en-US" sz="1600" dirty="0"/>
              <a:t> </a:t>
            </a:r>
            <a:r>
              <a:rPr lang="en-US" sz="1600" dirty="0" err="1"/>
              <a:t>Financeiro</a:t>
            </a:r>
            <a:r>
              <a:rPr lang="en-US" sz="1600" dirty="0"/>
              <a:t> da </a:t>
            </a:r>
            <a:r>
              <a:rPr lang="en-US" sz="1600" dirty="0" err="1"/>
              <a:t>conta</a:t>
            </a:r>
            <a:r>
              <a:rPr lang="en-US" sz="1600" dirty="0"/>
              <a:t> </a:t>
            </a:r>
            <a:r>
              <a:rPr lang="en-US" sz="1600" dirty="0" err="1"/>
              <a:t>vinculada</a:t>
            </a:r>
            <a:endParaRPr lang="en-US" sz="1600" dirty="0"/>
          </a:p>
          <a:p>
            <a:r>
              <a:rPr lang="en-US" sz="1600" dirty="0">
                <a:solidFill>
                  <a:srgbClr val="00D318"/>
                </a:solidFill>
              </a:rPr>
              <a:t>2.</a:t>
            </a:r>
            <a:r>
              <a:rPr lang="en-US" sz="1600" dirty="0"/>
              <a:t>  </a:t>
            </a:r>
            <a:r>
              <a:rPr lang="en-US" sz="1600" dirty="0" err="1"/>
              <a:t>Receita</a:t>
            </a:r>
            <a:r>
              <a:rPr lang="en-US" sz="1600" dirty="0"/>
              <a:t> de </a:t>
            </a:r>
            <a:r>
              <a:rPr lang="en-US" sz="1600" dirty="0" err="1"/>
              <a:t>Atacado</a:t>
            </a:r>
            <a:r>
              <a:rPr lang="en-US" sz="1600" dirty="0"/>
              <a:t> – </a:t>
            </a:r>
            <a:r>
              <a:rPr lang="en-US" sz="1600" dirty="0" err="1"/>
              <a:t>Contratos</a:t>
            </a:r>
            <a:r>
              <a:rPr lang="en-US" sz="1600" dirty="0"/>
              <a:t> de </a:t>
            </a:r>
            <a:r>
              <a:rPr lang="en-US" sz="1600" dirty="0" err="1"/>
              <a:t>Compartilhamento</a:t>
            </a:r>
            <a:endParaRPr lang="en-US" sz="1600" dirty="0"/>
          </a:p>
          <a:p>
            <a:pPr marL="811213" lvl="1" indent="-280988">
              <a:buNone/>
            </a:pPr>
            <a:r>
              <a:rPr lang="en-US" sz="1600" dirty="0">
                <a:solidFill>
                  <a:srgbClr val="00D318"/>
                </a:solidFill>
              </a:rPr>
              <a:t>2a. </a:t>
            </a:r>
            <a:r>
              <a:rPr lang="en-US" sz="1600" dirty="0" err="1"/>
              <a:t>Contestação</a:t>
            </a:r>
            <a:r>
              <a:rPr lang="en-US" sz="1600" dirty="0"/>
              <a:t> de </a:t>
            </a:r>
            <a:r>
              <a:rPr lang="en-US" sz="1600" dirty="0" err="1"/>
              <a:t>valores</a:t>
            </a:r>
            <a:r>
              <a:rPr lang="en-US" sz="1600" dirty="0"/>
              <a:t> </a:t>
            </a:r>
            <a:r>
              <a:rPr lang="en-US" sz="1600" dirty="0" err="1"/>
              <a:t>Energia</a:t>
            </a:r>
            <a:r>
              <a:rPr lang="en-US" sz="1600" dirty="0"/>
              <a:t> e solo Oi</a:t>
            </a:r>
          </a:p>
          <a:p>
            <a:pPr marL="811213" lvl="1" indent="-280988">
              <a:buNone/>
            </a:pPr>
            <a:r>
              <a:rPr lang="en-US" sz="1600" dirty="0">
                <a:solidFill>
                  <a:srgbClr val="00D318"/>
                </a:solidFill>
              </a:rPr>
              <a:t>2b. </a:t>
            </a:r>
            <a:r>
              <a:rPr lang="en-US" sz="1600" dirty="0" err="1"/>
              <a:t>Contestação</a:t>
            </a:r>
            <a:r>
              <a:rPr lang="en-US" sz="1600" dirty="0"/>
              <a:t> de </a:t>
            </a:r>
            <a:r>
              <a:rPr lang="en-US" sz="1600" dirty="0" err="1"/>
              <a:t>valores</a:t>
            </a:r>
            <a:r>
              <a:rPr lang="en-US" sz="1600" dirty="0"/>
              <a:t> Infra e solo </a:t>
            </a:r>
            <a:r>
              <a:rPr lang="en-US" sz="1600" dirty="0" err="1"/>
              <a:t>Terceiros</a:t>
            </a:r>
            <a:endParaRPr lang="en-US" sz="1600" dirty="0"/>
          </a:p>
          <a:p>
            <a:r>
              <a:rPr lang="en-US" sz="1600" dirty="0">
                <a:solidFill>
                  <a:srgbClr val="00D318"/>
                </a:solidFill>
              </a:rPr>
              <a:t>3.</a:t>
            </a:r>
            <a:r>
              <a:rPr lang="en-US" sz="1600" dirty="0"/>
              <a:t>  Pass through de Solo</a:t>
            </a:r>
          </a:p>
          <a:p>
            <a:pPr marL="711200" lvl="1" indent="-180975">
              <a:buNone/>
            </a:pPr>
            <a:r>
              <a:rPr lang="en-US" sz="1600" dirty="0">
                <a:solidFill>
                  <a:srgbClr val="00D318"/>
                </a:solidFill>
              </a:rPr>
              <a:t>3a. </a:t>
            </a:r>
            <a:r>
              <a:rPr lang="en-US" sz="1600" dirty="0" err="1"/>
              <a:t>Despesa</a:t>
            </a:r>
            <a:r>
              <a:rPr lang="en-US" sz="1600" dirty="0"/>
              <a:t> de </a:t>
            </a:r>
            <a:r>
              <a:rPr lang="en-US" sz="1600" dirty="0" err="1"/>
              <a:t>aluguel</a:t>
            </a:r>
            <a:r>
              <a:rPr lang="en-US" sz="1600" dirty="0"/>
              <a:t> de solo de </a:t>
            </a:r>
            <a:r>
              <a:rPr lang="en-US" sz="1600" dirty="0" err="1"/>
              <a:t>terceiros</a:t>
            </a:r>
            <a:endParaRPr lang="en-US" sz="1600" dirty="0"/>
          </a:p>
          <a:p>
            <a:pPr marL="711200" lvl="1" indent="-180975">
              <a:buNone/>
            </a:pPr>
            <a:r>
              <a:rPr lang="en-US" sz="1600" dirty="0">
                <a:solidFill>
                  <a:srgbClr val="00D318"/>
                </a:solidFill>
              </a:rPr>
              <a:t>3b. </a:t>
            </a:r>
            <a:r>
              <a:rPr lang="en-US" sz="1600" dirty="0" err="1"/>
              <a:t>Despesa</a:t>
            </a:r>
            <a:r>
              <a:rPr lang="en-US" sz="1600" dirty="0"/>
              <a:t> de </a:t>
            </a:r>
            <a:r>
              <a:rPr lang="en-US" sz="1600" dirty="0" err="1"/>
              <a:t>aluguel</a:t>
            </a:r>
            <a:r>
              <a:rPr lang="en-US" sz="1600" dirty="0"/>
              <a:t> de solo Oi com </a:t>
            </a:r>
            <a:r>
              <a:rPr lang="en-US" sz="1600" dirty="0" err="1"/>
              <a:t>multilocatários</a:t>
            </a:r>
            <a:endParaRPr lang="en-US" sz="1600" dirty="0"/>
          </a:p>
          <a:p>
            <a:pPr marL="711200" lvl="1" indent="-180975">
              <a:buNone/>
            </a:pPr>
            <a:r>
              <a:rPr lang="en-US" sz="1600" dirty="0">
                <a:solidFill>
                  <a:srgbClr val="00D318"/>
                </a:solidFill>
              </a:rPr>
              <a:t>3c.</a:t>
            </a:r>
            <a:r>
              <a:rPr lang="en-US" sz="1600" dirty="0"/>
              <a:t> </a:t>
            </a:r>
            <a:r>
              <a:rPr lang="en-US" sz="1600" dirty="0" err="1"/>
              <a:t>Receita</a:t>
            </a:r>
            <a:r>
              <a:rPr lang="en-US" sz="1600" dirty="0"/>
              <a:t> de </a:t>
            </a:r>
            <a:r>
              <a:rPr lang="en-US" sz="1600" dirty="0" err="1"/>
              <a:t>aluguel</a:t>
            </a:r>
            <a:r>
              <a:rPr lang="en-US" sz="1600" dirty="0"/>
              <a:t> de solo dos </a:t>
            </a:r>
            <a:r>
              <a:rPr lang="en-US" sz="1600" dirty="0" err="1"/>
              <a:t>contratos</a:t>
            </a:r>
            <a:r>
              <a:rPr lang="en-US" sz="1600" dirty="0"/>
              <a:t> de </a:t>
            </a:r>
            <a:r>
              <a:rPr lang="en-US" sz="1600" dirty="0" err="1"/>
              <a:t>compartilhamento</a:t>
            </a:r>
            <a:endParaRPr lang="en-US" sz="1600" dirty="0"/>
          </a:p>
          <a:p>
            <a:pPr marL="711200" lvl="1" indent="-180975">
              <a:buNone/>
            </a:pPr>
            <a:r>
              <a:rPr lang="en-US" sz="1600" dirty="0">
                <a:solidFill>
                  <a:srgbClr val="00D318"/>
                </a:solidFill>
              </a:rPr>
              <a:t>3d.</a:t>
            </a:r>
            <a:r>
              <a:rPr lang="en-US" sz="1600" dirty="0"/>
              <a:t> </a:t>
            </a:r>
            <a:r>
              <a:rPr lang="en-US" sz="1600" dirty="0" err="1"/>
              <a:t>Receita</a:t>
            </a:r>
            <a:r>
              <a:rPr lang="en-US" sz="1600" dirty="0"/>
              <a:t> de </a:t>
            </a:r>
            <a:r>
              <a:rPr lang="en-US" sz="1600" dirty="0" err="1"/>
              <a:t>rateio</a:t>
            </a:r>
            <a:r>
              <a:rPr lang="en-US" sz="1600" dirty="0"/>
              <a:t> de solo </a:t>
            </a:r>
          </a:p>
          <a:p>
            <a:r>
              <a:rPr lang="en-US" sz="1600" dirty="0">
                <a:solidFill>
                  <a:srgbClr val="00D318"/>
                </a:solidFill>
              </a:rPr>
              <a:t>4.</a:t>
            </a:r>
            <a:r>
              <a:rPr lang="en-US" sz="1600" dirty="0"/>
              <a:t> Pass through de </a:t>
            </a:r>
            <a:r>
              <a:rPr lang="en-US" sz="1600" dirty="0" err="1"/>
              <a:t>energia</a:t>
            </a:r>
            <a:r>
              <a:rPr lang="en-US" sz="1600" dirty="0"/>
              <a:t> </a:t>
            </a:r>
          </a:p>
          <a:p>
            <a:pPr lvl="1" indent="0">
              <a:buNone/>
            </a:pPr>
            <a:r>
              <a:rPr lang="en-US" sz="1600" dirty="0">
                <a:solidFill>
                  <a:srgbClr val="00D318"/>
                </a:solidFill>
              </a:rPr>
              <a:t>4a.</a:t>
            </a:r>
            <a:r>
              <a:rPr lang="en-US" sz="1600" dirty="0"/>
              <a:t> </a:t>
            </a:r>
            <a:r>
              <a:rPr lang="en-US" sz="1600" dirty="0" err="1"/>
              <a:t>Repasse</a:t>
            </a:r>
            <a:r>
              <a:rPr lang="en-US" sz="1600" dirty="0"/>
              <a:t> de </a:t>
            </a:r>
            <a:r>
              <a:rPr lang="en-US" sz="1600" dirty="0" err="1"/>
              <a:t>energia</a:t>
            </a:r>
            <a:r>
              <a:rPr lang="en-US" sz="1600" dirty="0"/>
              <a:t> </a:t>
            </a:r>
          </a:p>
          <a:p>
            <a:r>
              <a:rPr lang="en-US" sz="1600" dirty="0">
                <a:solidFill>
                  <a:srgbClr val="00D318"/>
                </a:solidFill>
              </a:rPr>
              <a:t>5. </a:t>
            </a:r>
            <a:r>
              <a:rPr lang="en-US" sz="1600" dirty="0" err="1"/>
              <a:t>Conciliação</a:t>
            </a:r>
            <a:r>
              <a:rPr lang="en-US" sz="1600" dirty="0"/>
              <a:t> do </a:t>
            </a:r>
            <a:r>
              <a:rPr lang="en-US" sz="1600" dirty="0" err="1"/>
              <a:t>contas</a:t>
            </a:r>
            <a:r>
              <a:rPr lang="en-US" sz="1600" dirty="0"/>
              <a:t> a </a:t>
            </a:r>
            <a:r>
              <a:rPr lang="en-US" sz="1600" dirty="0" err="1"/>
              <a:t>receber</a:t>
            </a:r>
            <a:r>
              <a:rPr lang="en-US" sz="1600" dirty="0"/>
              <a:t> da </a:t>
            </a:r>
            <a:r>
              <a:rPr lang="en-US" sz="1600" dirty="0" err="1"/>
              <a:t>Lemvig</a:t>
            </a:r>
            <a:endParaRPr lang="en-US" sz="1600" dirty="0"/>
          </a:p>
          <a:p>
            <a:r>
              <a:rPr lang="en-US" sz="1600" dirty="0">
                <a:solidFill>
                  <a:srgbClr val="00D318"/>
                </a:solidFill>
              </a:rPr>
              <a:t>6. </a:t>
            </a:r>
            <a:r>
              <a:rPr lang="en-US" sz="1600" dirty="0" err="1"/>
              <a:t>Arquivos</a:t>
            </a:r>
            <a:r>
              <a:rPr lang="en-US" sz="1600" dirty="0"/>
              <a:t> do </a:t>
            </a:r>
            <a:r>
              <a:rPr lang="en-US" sz="1600" dirty="0" err="1"/>
              <a:t>processo</a:t>
            </a:r>
            <a:endParaRPr lang="en-US" sz="1600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4294967295"/>
          </p:nvPr>
        </p:nvSpPr>
        <p:spPr>
          <a:xfrm>
            <a:off x="5948243" y="6580188"/>
            <a:ext cx="317500" cy="277812"/>
          </a:xfrm>
        </p:spPr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7234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1259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 err="1"/>
              <a:t>Resumo</a:t>
            </a:r>
            <a:r>
              <a:rPr lang="en-US" dirty="0"/>
              <a:t> dos </a:t>
            </a:r>
            <a:r>
              <a:rPr lang="en-US" dirty="0" err="1"/>
              <a:t>processos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85354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6027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tângulo 63"/>
          <p:cNvSpPr/>
          <p:nvPr/>
        </p:nvSpPr>
        <p:spPr>
          <a:xfrm>
            <a:off x="108198" y="2134058"/>
            <a:ext cx="11952000" cy="12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2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5102" y="523007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3422985"/>
            <a:ext cx="11952000" cy="172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832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 err="1"/>
              <a:t>Resumo</a:t>
            </a:r>
            <a:r>
              <a:rPr lang="en-US" dirty="0"/>
              <a:t> dos </a:t>
            </a:r>
            <a:r>
              <a:rPr lang="en-US" dirty="0" err="1"/>
              <a:t>processos</a:t>
            </a:r>
            <a:endParaRPr lang="en-US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175290" y="5716627"/>
            <a:ext cx="118735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/>
              <a:t>Pass through de </a:t>
            </a:r>
            <a:r>
              <a:rPr lang="en-US" dirty="0" err="1"/>
              <a:t>energia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600809" y="6097509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83844" y="1169062"/>
            <a:ext cx="780199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Receita</a:t>
            </a:r>
            <a:r>
              <a:rPr lang="en-US" dirty="0"/>
              <a:t> – Base fee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02" name="CaixaDeTexto 101"/>
          <p:cNvSpPr txBox="1"/>
          <p:nvPr/>
        </p:nvSpPr>
        <p:spPr>
          <a:xfrm>
            <a:off x="175290" y="4105463"/>
            <a:ext cx="1065647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/>
              <a:t>Pass through de Solo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sp>
        <p:nvSpPr>
          <p:cNvPr id="212" name="CaixaDeTexto 211"/>
          <p:cNvSpPr txBox="1"/>
          <p:nvPr/>
        </p:nvSpPr>
        <p:spPr>
          <a:xfrm>
            <a:off x="1132575" y="3698129"/>
            <a:ext cx="1850033" cy="10447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kern="1200" dirty="0">
                <a:solidFill>
                  <a:srgbClr val="00D318"/>
                </a:solidFill>
              </a:rPr>
              <a:t> 3a  +  3b  –  </a:t>
            </a:r>
            <a:r>
              <a:rPr lang="pt-BR" kern="1200" dirty="0">
                <a:solidFill>
                  <a:srgbClr val="00D318"/>
                </a:solidFill>
              </a:rPr>
              <a:t>3c</a:t>
            </a:r>
            <a:r>
              <a:rPr lang="pt-BR" sz="1400" kern="1200" dirty="0">
                <a:solidFill>
                  <a:srgbClr val="00D318"/>
                </a:solidFill>
              </a:rPr>
              <a:t>  = 3d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kern="1200" dirty="0">
                <a:solidFill>
                  <a:srgbClr val="00D318"/>
                </a:solidFill>
              </a:rPr>
              <a:t>Valor de rateio de solo que a Oi S/A deve pagar para a </a:t>
            </a:r>
            <a:r>
              <a:rPr lang="pt-BR" sz="1400" kern="1200" dirty="0" err="1">
                <a:solidFill>
                  <a:srgbClr val="00D318"/>
                </a:solidFill>
              </a:rPr>
              <a:t>Lemvig</a:t>
            </a:r>
            <a:r>
              <a:rPr lang="pt-BR" sz="1400" kern="1200" dirty="0">
                <a:solidFill>
                  <a:srgbClr val="00D318"/>
                </a:solidFill>
              </a:rPr>
              <a:t> </a:t>
            </a:r>
          </a:p>
        </p:txBody>
      </p:sp>
      <p:grpSp>
        <p:nvGrpSpPr>
          <p:cNvPr id="47" name="Agrupar 46"/>
          <p:cNvGrpSpPr/>
          <p:nvPr/>
        </p:nvGrpSpPr>
        <p:grpSpPr>
          <a:xfrm>
            <a:off x="5528748" y="3459186"/>
            <a:ext cx="2285984" cy="795677"/>
            <a:chOff x="4511878" y="1092387"/>
            <a:chExt cx="2285984" cy="795677"/>
          </a:xfrm>
        </p:grpSpPr>
        <p:sp>
          <p:nvSpPr>
            <p:cNvPr id="48" name="Retângulo Arredondado 47"/>
            <p:cNvSpPr/>
            <p:nvPr/>
          </p:nvSpPr>
          <p:spPr>
            <a:xfrm>
              <a:off x="4837358" y="1172975"/>
              <a:ext cx="1960504" cy="715089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en-US" dirty="0" err="1">
                  <a:solidFill>
                    <a:srgbClr val="FFFFFF"/>
                  </a:solidFill>
                </a:rPr>
                <a:t>Receita</a:t>
              </a:r>
              <a:r>
                <a:rPr lang="en-US" dirty="0">
                  <a:solidFill>
                    <a:srgbClr val="FFFFFF"/>
                  </a:solidFill>
                </a:rPr>
                <a:t> de </a:t>
              </a:r>
              <a:r>
                <a:rPr lang="en-US" dirty="0" err="1">
                  <a:solidFill>
                    <a:srgbClr val="FFFFFF"/>
                  </a:solidFill>
                </a:rPr>
                <a:t>Aluguel</a:t>
              </a:r>
              <a:r>
                <a:rPr lang="en-US" dirty="0">
                  <a:solidFill>
                    <a:srgbClr val="FFFFFF"/>
                  </a:solidFill>
                </a:rPr>
                <a:t> de Solo dos </a:t>
              </a:r>
              <a:r>
                <a:rPr lang="en-US" dirty="0" err="1">
                  <a:solidFill>
                    <a:srgbClr val="FFFFFF"/>
                  </a:solidFill>
                </a:rPr>
                <a:t>contratos</a:t>
              </a:r>
              <a:r>
                <a:rPr lang="en-US" dirty="0">
                  <a:solidFill>
                    <a:srgbClr val="FFFFFF"/>
                  </a:solidFill>
                </a:rPr>
                <a:t> de </a:t>
              </a:r>
              <a:r>
                <a:rPr lang="en-US" dirty="0" err="1">
                  <a:solidFill>
                    <a:srgbClr val="FFFFFF"/>
                  </a:solidFill>
                </a:rPr>
                <a:t>compartilhamento</a:t>
              </a: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52" name="Elipse 51"/>
            <p:cNvSpPr/>
            <p:nvPr/>
          </p:nvSpPr>
          <p:spPr>
            <a:xfrm>
              <a:off x="4511878" y="1092387"/>
              <a:ext cx="410366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3c</a:t>
              </a: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endParaRPr>
            </a:p>
          </p:txBody>
        </p:sp>
      </p:grpSp>
      <p:grpSp>
        <p:nvGrpSpPr>
          <p:cNvPr id="57" name="Agrupar 56"/>
          <p:cNvGrpSpPr/>
          <p:nvPr/>
        </p:nvGrpSpPr>
        <p:grpSpPr>
          <a:xfrm>
            <a:off x="5516079" y="4499406"/>
            <a:ext cx="2312655" cy="569397"/>
            <a:chOff x="4488767" y="1080304"/>
            <a:chExt cx="2260013" cy="569397"/>
          </a:xfrm>
        </p:grpSpPr>
        <p:sp>
          <p:nvSpPr>
            <p:cNvPr id="58" name="Retângulo Arredondado 57"/>
            <p:cNvSpPr/>
            <p:nvPr/>
          </p:nvSpPr>
          <p:spPr>
            <a:xfrm>
              <a:off x="4812143" y="1172975"/>
              <a:ext cx="1936637" cy="476726"/>
            </a:xfrm>
            <a:prstGeom prst="roundRect">
              <a:avLst/>
            </a:prstGeom>
            <a:solidFill>
              <a:srgbClr val="C00000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Despesa</a:t>
              </a:r>
              <a:r>
                <a:rPr lang="en-US" dirty="0">
                  <a:solidFill>
                    <a:schemeClr val="bg1"/>
                  </a:solidFill>
                </a:rPr>
                <a:t> de </a:t>
              </a:r>
              <a:r>
                <a:rPr lang="en-US" dirty="0" err="1">
                  <a:solidFill>
                    <a:schemeClr val="bg1"/>
                  </a:solidFill>
                </a:rPr>
                <a:t>aluguel</a:t>
              </a:r>
              <a:r>
                <a:rPr lang="en-US" dirty="0">
                  <a:solidFill>
                    <a:schemeClr val="bg1"/>
                  </a:solidFill>
                </a:rPr>
                <a:t> de solo de </a:t>
              </a:r>
              <a:r>
                <a:rPr lang="en-US" dirty="0" err="1">
                  <a:solidFill>
                    <a:schemeClr val="bg1"/>
                  </a:solidFill>
                </a:rPr>
                <a:t>Terceiros</a:t>
              </a: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59" name="Elipse 58"/>
            <p:cNvSpPr/>
            <p:nvPr/>
          </p:nvSpPr>
          <p:spPr>
            <a:xfrm>
              <a:off x="4488767" y="1080304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3a</a:t>
              </a:r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058300" y="3883864"/>
            <a:ext cx="1936964" cy="872190"/>
            <a:chOff x="1432213" y="4193931"/>
            <a:chExt cx="1936964" cy="872190"/>
          </a:xfrm>
        </p:grpSpPr>
        <p:sp>
          <p:nvSpPr>
            <p:cNvPr id="60" name="Retângulo Arredondado 59"/>
            <p:cNvSpPr/>
            <p:nvPr/>
          </p:nvSpPr>
          <p:spPr>
            <a:xfrm>
              <a:off x="1691931" y="4351032"/>
              <a:ext cx="1677246" cy="715089"/>
            </a:xfrm>
            <a:prstGeom prst="roundRect">
              <a:avLst/>
            </a:prstGeom>
            <a:solidFill>
              <a:srgbClr val="C00000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Despesa</a:t>
              </a:r>
              <a:r>
                <a:rPr lang="en-US" dirty="0">
                  <a:solidFill>
                    <a:schemeClr val="bg1"/>
                  </a:solidFill>
                </a:rPr>
                <a:t> de </a:t>
              </a:r>
              <a:r>
                <a:rPr lang="en-US" dirty="0" err="1">
                  <a:solidFill>
                    <a:schemeClr val="bg1"/>
                  </a:solidFill>
                </a:rPr>
                <a:t>aluguel</a:t>
              </a:r>
              <a:r>
                <a:rPr lang="en-US" dirty="0">
                  <a:solidFill>
                    <a:schemeClr val="bg1"/>
                  </a:solidFill>
                </a:rPr>
                <a:t> de solo Oi com </a:t>
              </a:r>
              <a:r>
                <a:rPr lang="en-US" dirty="0" err="1">
                  <a:solidFill>
                    <a:schemeClr val="bg1"/>
                  </a:solidFill>
                </a:rPr>
                <a:t>multilocatários</a:t>
              </a: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61" name="Elipse 60"/>
            <p:cNvSpPr/>
            <p:nvPr/>
          </p:nvSpPr>
          <p:spPr>
            <a:xfrm>
              <a:off x="1432213" y="4193931"/>
              <a:ext cx="383454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3b</a:t>
              </a:r>
            </a:p>
          </p:txBody>
        </p:sp>
      </p:grpSp>
      <p:sp>
        <p:nvSpPr>
          <p:cNvPr id="65" name="CaixaDeTexto 64"/>
          <p:cNvSpPr txBox="1"/>
          <p:nvPr/>
        </p:nvSpPr>
        <p:spPr>
          <a:xfrm>
            <a:off x="175290" y="2434918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Atacado</a:t>
            </a:r>
            <a:r>
              <a:rPr lang="en-US" dirty="0"/>
              <a:t> </a:t>
            </a:r>
            <a:r>
              <a:rPr lang="en-US" dirty="0" err="1"/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21" name="Agrupar 20"/>
          <p:cNvGrpSpPr/>
          <p:nvPr/>
        </p:nvGrpSpPr>
        <p:grpSpPr>
          <a:xfrm>
            <a:off x="8349555" y="3984443"/>
            <a:ext cx="1860061" cy="666688"/>
            <a:chOff x="8627459" y="3816701"/>
            <a:chExt cx="1860061" cy="666688"/>
          </a:xfrm>
        </p:grpSpPr>
        <p:sp>
          <p:nvSpPr>
            <p:cNvPr id="88" name="Retângulo Arredondado 87"/>
            <p:cNvSpPr/>
            <p:nvPr/>
          </p:nvSpPr>
          <p:spPr>
            <a:xfrm>
              <a:off x="8818297" y="4006663"/>
              <a:ext cx="1669223" cy="476726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Receita</a:t>
              </a:r>
              <a:r>
                <a:rPr lang="en-US" dirty="0">
                  <a:solidFill>
                    <a:schemeClr val="bg1"/>
                  </a:solidFill>
                </a:rPr>
                <a:t> do </a:t>
              </a:r>
            </a:p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Rateio</a:t>
              </a:r>
              <a:r>
                <a:rPr lang="en-US" dirty="0">
                  <a:solidFill>
                    <a:schemeClr val="bg1"/>
                  </a:solidFill>
                </a:rPr>
                <a:t> de Solo </a:t>
              </a: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113" name="Elipse 112"/>
            <p:cNvSpPr/>
            <p:nvPr/>
          </p:nvSpPr>
          <p:spPr>
            <a:xfrm>
              <a:off x="8627459" y="3816701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3d</a:t>
              </a:r>
            </a:p>
          </p:txBody>
        </p:sp>
      </p:grpSp>
      <p:grpSp>
        <p:nvGrpSpPr>
          <p:cNvPr id="114" name="Agrupar 113"/>
          <p:cNvGrpSpPr/>
          <p:nvPr/>
        </p:nvGrpSpPr>
        <p:grpSpPr>
          <a:xfrm>
            <a:off x="6584972" y="5450732"/>
            <a:ext cx="1659868" cy="930602"/>
            <a:chOff x="4767032" y="957462"/>
            <a:chExt cx="1981748" cy="930602"/>
          </a:xfrm>
        </p:grpSpPr>
        <p:sp>
          <p:nvSpPr>
            <p:cNvPr id="115" name="Retângulo Arredondado 114"/>
            <p:cNvSpPr/>
            <p:nvPr/>
          </p:nvSpPr>
          <p:spPr>
            <a:xfrm>
              <a:off x="4980144" y="1172975"/>
              <a:ext cx="1768636" cy="715089"/>
            </a:xfrm>
            <a:prstGeom prst="roundRect">
              <a:avLst/>
            </a:prstGeom>
            <a:solidFill>
              <a:srgbClr val="C00000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Repasse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de </a:t>
              </a: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16" name="Elipse 115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4a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17" name="Agrupar 116"/>
          <p:cNvGrpSpPr/>
          <p:nvPr/>
        </p:nvGrpSpPr>
        <p:grpSpPr>
          <a:xfrm>
            <a:off x="4292388" y="5333055"/>
            <a:ext cx="1981748" cy="1168966"/>
            <a:chOff x="4767032" y="957462"/>
            <a:chExt cx="1981748" cy="1168966"/>
          </a:xfrm>
        </p:grpSpPr>
        <p:sp>
          <p:nvSpPr>
            <p:cNvPr id="118" name="Retângulo Arredondado 117"/>
            <p:cNvSpPr/>
            <p:nvPr/>
          </p:nvSpPr>
          <p:spPr>
            <a:xfrm>
              <a:off x="4980144" y="1172975"/>
              <a:ext cx="1768636" cy="953453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lang="pt-BR" dirty="0">
                  <a:solidFill>
                    <a:schemeClr val="bg1"/>
                  </a:solidFill>
                </a:rPr>
                <a:t>Repasse da </a:t>
              </a:r>
            </a:p>
            <a:p>
              <a:pPr algn="ctr"/>
              <a:r>
                <a:rPr lang="pt-BR" dirty="0">
                  <a:solidFill>
                    <a:schemeClr val="bg1"/>
                  </a:solidFill>
                </a:rPr>
                <a:t>Receita de Energia </a:t>
              </a:r>
              <a:r>
                <a:rPr lang="en-US" dirty="0">
                  <a:solidFill>
                    <a:srgbClr val="FFFFFF"/>
                  </a:solidFill>
                </a:rPr>
                <a:t>dos </a:t>
              </a:r>
              <a:r>
                <a:rPr lang="en-US" dirty="0" err="1">
                  <a:solidFill>
                    <a:srgbClr val="FFFFFF"/>
                  </a:solidFill>
                </a:rPr>
                <a:t>contratos</a:t>
              </a:r>
              <a:r>
                <a:rPr lang="en-US" dirty="0">
                  <a:solidFill>
                    <a:srgbClr val="FFFFFF"/>
                  </a:solidFill>
                </a:rPr>
                <a:t> de </a:t>
              </a:r>
              <a:r>
                <a:rPr lang="en-US" dirty="0" err="1">
                  <a:solidFill>
                    <a:srgbClr val="FFFFFF"/>
                  </a:solidFill>
                </a:rPr>
                <a:t>compartilhamento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9" name="Elipse 118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20" name="Agrupar 119"/>
          <p:cNvGrpSpPr/>
          <p:nvPr/>
        </p:nvGrpSpPr>
        <p:grpSpPr>
          <a:xfrm>
            <a:off x="1535577" y="897847"/>
            <a:ext cx="1981748" cy="930602"/>
            <a:chOff x="4767032" y="957462"/>
            <a:chExt cx="1981748" cy="930602"/>
          </a:xfrm>
        </p:grpSpPr>
        <p:sp>
          <p:nvSpPr>
            <p:cNvPr id="121" name="Retângulo Arredondado 120"/>
            <p:cNvSpPr/>
            <p:nvPr/>
          </p:nvSpPr>
          <p:spPr>
            <a:xfrm>
              <a:off x="4980144" y="1172975"/>
              <a:ext cx="1768636" cy="715089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Receita de </a:t>
              </a:r>
            </a:p>
            <a:p>
              <a:pPr algn="ctr"/>
              <a:r>
                <a:rPr lang="pt-BR" dirty="0">
                  <a:solidFill>
                    <a:schemeClr val="bg1"/>
                  </a:solidFill>
                </a:rPr>
                <a:t>Base </a:t>
              </a:r>
              <a:r>
                <a:rPr lang="pt-BR" dirty="0" err="1">
                  <a:solidFill>
                    <a:schemeClr val="bg1"/>
                  </a:solidFill>
                </a:rPr>
                <a:t>fee</a:t>
              </a:r>
              <a:r>
                <a:rPr lang="pt-BR" dirty="0">
                  <a:solidFill>
                    <a:schemeClr val="bg1"/>
                  </a:solidFill>
                </a:rPr>
                <a:t> das 8.000 Torres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22" name="Elipse 121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1</a:t>
              </a:r>
            </a:p>
          </p:txBody>
        </p:sp>
      </p:grpSp>
      <p:grpSp>
        <p:nvGrpSpPr>
          <p:cNvPr id="123" name="Agrupar 122"/>
          <p:cNvGrpSpPr/>
          <p:nvPr/>
        </p:nvGrpSpPr>
        <p:grpSpPr>
          <a:xfrm>
            <a:off x="2973177" y="2230084"/>
            <a:ext cx="1981748" cy="930602"/>
            <a:chOff x="4767032" y="957462"/>
            <a:chExt cx="1981748" cy="930602"/>
          </a:xfrm>
        </p:grpSpPr>
        <p:sp>
          <p:nvSpPr>
            <p:cNvPr id="124" name="Retângulo Arredondado 123"/>
            <p:cNvSpPr/>
            <p:nvPr/>
          </p:nvSpPr>
          <p:spPr>
            <a:xfrm>
              <a:off x="4980144" y="1172975"/>
              <a:ext cx="1768636" cy="715089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lang="pt-BR" dirty="0">
                  <a:solidFill>
                    <a:schemeClr val="bg1"/>
                  </a:solidFill>
                </a:rPr>
                <a:t>Receita dos </a:t>
              </a:r>
            </a:p>
            <a:p>
              <a:pPr algn="ctr"/>
              <a:r>
                <a:rPr lang="pt-BR" dirty="0">
                  <a:solidFill>
                    <a:schemeClr val="bg1"/>
                  </a:solidFill>
                </a:rPr>
                <a:t>contratos de compartilhamento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25" name="Elipse 124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28" name="Agrupar 127"/>
          <p:cNvGrpSpPr/>
          <p:nvPr/>
        </p:nvGrpSpPr>
        <p:grpSpPr>
          <a:xfrm>
            <a:off x="3789062" y="897871"/>
            <a:ext cx="2281212" cy="930602"/>
            <a:chOff x="4767032" y="957462"/>
            <a:chExt cx="2281212" cy="930602"/>
          </a:xfrm>
        </p:grpSpPr>
        <p:sp>
          <p:nvSpPr>
            <p:cNvPr id="129" name="Retângulo Arredondado 128"/>
            <p:cNvSpPr/>
            <p:nvPr/>
          </p:nvSpPr>
          <p:spPr>
            <a:xfrm>
              <a:off x="4980143" y="1172975"/>
              <a:ext cx="2068101" cy="715089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Pagamento Oi p/ </a:t>
              </a:r>
              <a:r>
                <a:rPr lang="pt-BR" dirty="0" err="1">
                  <a:solidFill>
                    <a:schemeClr val="bg1"/>
                  </a:solidFill>
                </a:rPr>
                <a:t>Lemvig</a:t>
              </a:r>
              <a:r>
                <a:rPr lang="pt-BR" dirty="0">
                  <a:solidFill>
                    <a:schemeClr val="bg1"/>
                  </a:solidFill>
                </a:rPr>
                <a:t> com uso de valores </a:t>
              </a:r>
              <a:br>
                <a:rPr lang="pt-BR" dirty="0">
                  <a:solidFill>
                    <a:schemeClr val="bg1"/>
                  </a:solidFill>
                </a:rPr>
              </a:br>
              <a:r>
                <a:rPr lang="pt-BR" dirty="0">
                  <a:solidFill>
                    <a:schemeClr val="bg1"/>
                  </a:solidFill>
                </a:rPr>
                <a:t>da conta vinculada</a:t>
              </a: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1a</a:t>
              </a:r>
            </a:p>
          </p:txBody>
        </p:sp>
      </p:grpSp>
      <p:cxnSp>
        <p:nvCxnSpPr>
          <p:cNvPr id="131" name="Conector Angulado 130"/>
          <p:cNvCxnSpPr>
            <a:stCxn id="124" idx="3"/>
            <a:endCxn id="48" idx="1"/>
          </p:cNvCxnSpPr>
          <p:nvPr/>
        </p:nvCxnSpPr>
        <p:spPr>
          <a:xfrm>
            <a:off x="4954925" y="2768852"/>
            <a:ext cx="899303" cy="1170032"/>
          </a:xfrm>
          <a:prstGeom prst="bentConnector3">
            <a:avLst>
              <a:gd name="adj1" fmla="val 50001"/>
            </a:avLst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2" name="Conector Angulado 131"/>
          <p:cNvCxnSpPr>
            <a:stCxn id="60" idx="3"/>
            <a:endCxn id="88" idx="1"/>
          </p:cNvCxnSpPr>
          <p:nvPr/>
        </p:nvCxnSpPr>
        <p:spPr>
          <a:xfrm>
            <a:off x="4995264" y="4398510"/>
            <a:ext cx="3545129" cy="0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C0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3" name="Conector Angulado 132"/>
          <p:cNvCxnSpPr>
            <a:stCxn id="48" idx="3"/>
            <a:endCxn id="88" idx="1"/>
          </p:cNvCxnSpPr>
          <p:nvPr/>
        </p:nvCxnSpPr>
        <p:spPr>
          <a:xfrm>
            <a:off x="7814732" y="3897319"/>
            <a:ext cx="725661" cy="515449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C0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4" name="Conector Angulado 133"/>
          <p:cNvCxnSpPr>
            <a:stCxn id="58" idx="3"/>
            <a:endCxn id="88" idx="1"/>
          </p:cNvCxnSpPr>
          <p:nvPr/>
        </p:nvCxnSpPr>
        <p:spPr>
          <a:xfrm flipV="1">
            <a:off x="7828734" y="4412768"/>
            <a:ext cx="711659" cy="417672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C0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5" name="Conector Angulado 134"/>
          <p:cNvCxnSpPr>
            <a:stCxn id="118" idx="1"/>
            <a:endCxn id="124" idx="1"/>
          </p:cNvCxnSpPr>
          <p:nvPr/>
        </p:nvCxnSpPr>
        <p:spPr>
          <a:xfrm rot="10800000">
            <a:off x="3186290" y="2803143"/>
            <a:ext cx="1319211" cy="3222153"/>
          </a:xfrm>
          <a:prstGeom prst="bentConnector3">
            <a:avLst>
              <a:gd name="adj1" fmla="val 115951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4" name="Conector Angulado 143"/>
          <p:cNvCxnSpPr>
            <a:stCxn id="118" idx="3"/>
            <a:endCxn id="115" idx="1"/>
          </p:cNvCxnSpPr>
          <p:nvPr/>
        </p:nvCxnSpPr>
        <p:spPr>
          <a:xfrm flipV="1">
            <a:off x="6274136" y="6023790"/>
            <a:ext cx="489334" cy="150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5" name="Conector Angulado 154"/>
          <p:cNvCxnSpPr>
            <a:stCxn id="121" idx="3"/>
            <a:endCxn id="129" idx="1"/>
          </p:cNvCxnSpPr>
          <p:nvPr/>
        </p:nvCxnSpPr>
        <p:spPr>
          <a:xfrm>
            <a:off x="3517325" y="1470905"/>
            <a:ext cx="484848" cy="2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0" name="Conector Angulado 159"/>
          <p:cNvCxnSpPr>
            <a:stCxn id="124" idx="3"/>
            <a:endCxn id="118" idx="0"/>
          </p:cNvCxnSpPr>
          <p:nvPr/>
        </p:nvCxnSpPr>
        <p:spPr>
          <a:xfrm>
            <a:off x="4954925" y="2803142"/>
            <a:ext cx="434893" cy="2745426"/>
          </a:xfrm>
          <a:prstGeom prst="bentConnector2">
            <a:avLst/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6" name="CaixaDeTexto 165"/>
          <p:cNvSpPr txBox="1"/>
          <p:nvPr/>
        </p:nvSpPr>
        <p:spPr>
          <a:xfrm>
            <a:off x="8547555" y="5441604"/>
            <a:ext cx="1850033" cy="10447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kern="1200" dirty="0">
                <a:solidFill>
                  <a:srgbClr val="00D318"/>
                </a:solidFill>
              </a:rPr>
              <a:t> 4  - 2 = 4a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kern="1200" dirty="0">
                <a:solidFill>
                  <a:srgbClr val="00D318"/>
                </a:solidFill>
              </a:rPr>
              <a:t>Valor do repasse de energia</a:t>
            </a:r>
          </a:p>
        </p:txBody>
      </p:sp>
      <p:cxnSp>
        <p:nvCxnSpPr>
          <p:cNvPr id="62" name="Conector Angulado 61"/>
          <p:cNvCxnSpPr>
            <a:stCxn id="124" idx="3"/>
            <a:endCxn id="60" idx="0"/>
          </p:cNvCxnSpPr>
          <p:nvPr/>
        </p:nvCxnSpPr>
        <p:spPr>
          <a:xfrm flipH="1">
            <a:off x="4156641" y="2803142"/>
            <a:ext cx="798284" cy="1237823"/>
          </a:xfrm>
          <a:prstGeom prst="bentConnector4">
            <a:avLst>
              <a:gd name="adj1" fmla="val -56405"/>
              <a:gd name="adj2" fmla="val 64442"/>
            </a:avLst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3" name="Agrupar 62"/>
          <p:cNvGrpSpPr/>
          <p:nvPr/>
        </p:nvGrpSpPr>
        <p:grpSpPr>
          <a:xfrm>
            <a:off x="6565807" y="2239341"/>
            <a:ext cx="2967936" cy="453876"/>
            <a:chOff x="4767032" y="957462"/>
            <a:chExt cx="2967936" cy="453876"/>
          </a:xfrm>
        </p:grpSpPr>
        <p:sp>
          <p:nvSpPr>
            <p:cNvPr id="66" name="Retângulo Arredondado 65"/>
            <p:cNvSpPr/>
            <p:nvPr/>
          </p:nvSpPr>
          <p:spPr>
            <a:xfrm>
              <a:off x="4980143" y="1172975"/>
              <a:ext cx="2754825" cy="238363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lang="pt-BR" dirty="0">
                  <a:solidFill>
                    <a:schemeClr val="bg1"/>
                  </a:solidFill>
                </a:rPr>
                <a:t>Contestação Energia e Solo Oi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67" name="Elipse 66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2a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68" name="Retângulo Arredondado 67"/>
          <p:cNvSpPr/>
          <p:nvPr/>
        </p:nvSpPr>
        <p:spPr>
          <a:xfrm>
            <a:off x="6815188" y="3003023"/>
            <a:ext cx="2754825" cy="238363"/>
          </a:xfrm>
          <a:prstGeom prst="roundRect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pt-BR" dirty="0">
                <a:solidFill>
                  <a:schemeClr val="bg1"/>
                </a:solidFill>
              </a:rPr>
              <a:t>Contestação Infra e Solo Terceiros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9" name="Elipse 68"/>
          <p:cNvSpPr/>
          <p:nvPr/>
        </p:nvSpPr>
        <p:spPr>
          <a:xfrm>
            <a:off x="6602077" y="2787510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70" name="Conector Angulado 69"/>
          <p:cNvCxnSpPr>
            <a:stCxn id="124" idx="3"/>
            <a:endCxn id="66" idx="1"/>
          </p:cNvCxnSpPr>
          <p:nvPr/>
        </p:nvCxnSpPr>
        <p:spPr>
          <a:xfrm flipV="1">
            <a:off x="4954925" y="2574036"/>
            <a:ext cx="1823993" cy="229106"/>
          </a:xfrm>
          <a:prstGeom prst="bentConnector3">
            <a:avLst>
              <a:gd name="adj1" fmla="val 50000"/>
            </a:avLst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1" name="Conector Angulado 70"/>
          <p:cNvCxnSpPr>
            <a:stCxn id="124" idx="3"/>
            <a:endCxn id="68" idx="1"/>
          </p:cNvCxnSpPr>
          <p:nvPr/>
        </p:nvCxnSpPr>
        <p:spPr>
          <a:xfrm>
            <a:off x="4954925" y="2803142"/>
            <a:ext cx="1860263" cy="319063"/>
          </a:xfrm>
          <a:prstGeom prst="bentConnector3">
            <a:avLst>
              <a:gd name="adj1" fmla="val 50000"/>
            </a:avLst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3" name="Conector Angulado 72"/>
          <p:cNvCxnSpPr>
            <a:stCxn id="68" idx="3"/>
            <a:endCxn id="124" idx="0"/>
          </p:cNvCxnSpPr>
          <p:nvPr/>
        </p:nvCxnSpPr>
        <p:spPr>
          <a:xfrm flipH="1" flipV="1">
            <a:off x="4070607" y="2445597"/>
            <a:ext cx="5499406" cy="676608"/>
          </a:xfrm>
          <a:prstGeom prst="bentConnector4">
            <a:avLst>
              <a:gd name="adj1" fmla="val -3741"/>
              <a:gd name="adj2" fmla="val 142233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Conector Angulado 75"/>
          <p:cNvCxnSpPr>
            <a:stCxn id="66" idx="3"/>
            <a:endCxn id="124" idx="0"/>
          </p:cNvCxnSpPr>
          <p:nvPr/>
        </p:nvCxnSpPr>
        <p:spPr>
          <a:xfrm flipH="1" flipV="1">
            <a:off x="4070607" y="2445597"/>
            <a:ext cx="5463136" cy="128439"/>
          </a:xfrm>
          <a:prstGeom prst="bentConnector4">
            <a:avLst>
              <a:gd name="adj1" fmla="val -4184"/>
              <a:gd name="adj2" fmla="val 304681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2" name="Agrupar 71"/>
          <p:cNvGrpSpPr/>
          <p:nvPr/>
        </p:nvGrpSpPr>
        <p:grpSpPr>
          <a:xfrm>
            <a:off x="9813617" y="1019220"/>
            <a:ext cx="1981748" cy="692239"/>
            <a:chOff x="4767032" y="957462"/>
            <a:chExt cx="1981748" cy="692239"/>
          </a:xfrm>
        </p:grpSpPr>
        <p:sp>
          <p:nvSpPr>
            <p:cNvPr id="74" name="Retângulo Arredondado 73"/>
            <p:cNvSpPr/>
            <p:nvPr/>
          </p:nvSpPr>
          <p:spPr>
            <a:xfrm>
              <a:off x="4980144" y="1172975"/>
              <a:ext cx="1768636" cy="476726"/>
            </a:xfrm>
            <a:prstGeom prst="roundRect">
              <a:avLst/>
            </a:prstGeom>
            <a:solidFill>
              <a:srgbClr val="00D318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Conciliação</a:t>
              </a:r>
              <a:r>
                <a:rPr lang="en-US" dirty="0">
                  <a:solidFill>
                    <a:schemeClr val="bg1"/>
                  </a:solidFill>
                </a:rPr>
                <a:t> da </a:t>
              </a:r>
              <a:r>
                <a:rPr lang="en-US" dirty="0" err="1">
                  <a:solidFill>
                    <a:schemeClr val="bg1"/>
                  </a:solidFill>
                </a:rPr>
                <a:t>receita</a:t>
              </a:r>
              <a:r>
                <a:rPr lang="en-US" dirty="0">
                  <a:solidFill>
                    <a:schemeClr val="bg1"/>
                  </a:solidFill>
                </a:rPr>
                <a:t>  da </a:t>
              </a:r>
              <a:r>
                <a:rPr lang="en-US" dirty="0" err="1">
                  <a:solidFill>
                    <a:schemeClr val="bg1"/>
                  </a:solidFill>
                </a:rPr>
                <a:t>Lemvig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75" name="Elipse 74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5</a:t>
              </a:r>
            </a:p>
          </p:txBody>
        </p:sp>
      </p:grpSp>
      <p:cxnSp>
        <p:nvCxnSpPr>
          <p:cNvPr id="77" name="Conector Angulado 76"/>
          <p:cNvCxnSpPr>
            <a:stCxn id="129" idx="3"/>
            <a:endCxn id="74" idx="1"/>
          </p:cNvCxnSpPr>
          <p:nvPr/>
        </p:nvCxnSpPr>
        <p:spPr>
          <a:xfrm>
            <a:off x="6070274" y="1470929"/>
            <a:ext cx="3956455" cy="2167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CC00CC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Conector Angulado 77"/>
          <p:cNvCxnSpPr>
            <a:stCxn id="124" idx="3"/>
          </p:cNvCxnSpPr>
          <p:nvPr/>
        </p:nvCxnSpPr>
        <p:spPr>
          <a:xfrm flipV="1">
            <a:off x="4954925" y="1486011"/>
            <a:ext cx="5056692" cy="1317131"/>
          </a:xfrm>
          <a:prstGeom prst="bentConnector3">
            <a:avLst>
              <a:gd name="adj1" fmla="val 26549"/>
            </a:avLst>
          </a:prstGeom>
          <a:noFill/>
          <a:ln w="25400" cap="flat">
            <a:solidFill>
              <a:srgbClr val="CC00CC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Conector Angulado 88"/>
          <p:cNvCxnSpPr>
            <a:stCxn id="48" idx="3"/>
            <a:endCxn id="74" idx="2"/>
          </p:cNvCxnSpPr>
          <p:nvPr/>
        </p:nvCxnSpPr>
        <p:spPr>
          <a:xfrm flipV="1">
            <a:off x="7814732" y="1711459"/>
            <a:ext cx="3096315" cy="2185860"/>
          </a:xfrm>
          <a:prstGeom prst="bentConnector2">
            <a:avLst/>
          </a:prstGeom>
          <a:noFill/>
          <a:ln w="25400" cap="flat">
            <a:solidFill>
              <a:srgbClr val="CC00CC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Conector Angulado 91"/>
          <p:cNvCxnSpPr>
            <a:stCxn id="88" idx="3"/>
          </p:cNvCxnSpPr>
          <p:nvPr/>
        </p:nvCxnSpPr>
        <p:spPr>
          <a:xfrm flipV="1">
            <a:off x="10209616" y="1742258"/>
            <a:ext cx="701431" cy="2670510"/>
          </a:xfrm>
          <a:prstGeom prst="bentConnector2">
            <a:avLst/>
          </a:prstGeom>
          <a:noFill/>
          <a:ln w="25400" cap="flat">
            <a:solidFill>
              <a:srgbClr val="CC00CC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Elipse 37">
            <a:hlinkClick r:id="rId5" action="ppaction://hlinksldjump"/>
          </p:cNvPr>
          <p:cNvSpPr/>
          <p:nvPr/>
        </p:nvSpPr>
        <p:spPr>
          <a:xfrm>
            <a:off x="1535577" y="814651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Elipse 107">
            <a:hlinkClick r:id="rId6" action="ppaction://hlinksldjump"/>
          </p:cNvPr>
          <p:cNvSpPr/>
          <p:nvPr/>
        </p:nvSpPr>
        <p:spPr>
          <a:xfrm>
            <a:off x="3832623" y="884277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9" name="Elipse 108">
            <a:hlinkClick r:id="rId7" action="ppaction://hlinksldjump"/>
          </p:cNvPr>
          <p:cNvSpPr/>
          <p:nvPr/>
        </p:nvSpPr>
        <p:spPr>
          <a:xfrm>
            <a:off x="2940434" y="2122705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0" name="Elipse 109">
            <a:hlinkClick r:id="rId8" action="ppaction://hlinksldjump"/>
          </p:cNvPr>
          <p:cNvSpPr/>
          <p:nvPr/>
        </p:nvSpPr>
        <p:spPr>
          <a:xfrm>
            <a:off x="6536046" y="2104480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1" name="Elipse 110">
            <a:hlinkClick r:id="rId9" action="ppaction://hlinksldjump"/>
          </p:cNvPr>
          <p:cNvSpPr/>
          <p:nvPr/>
        </p:nvSpPr>
        <p:spPr>
          <a:xfrm>
            <a:off x="6574144" y="2699798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2" name="Elipse 111">
            <a:hlinkClick r:id="rId10" action="ppaction://hlinksldjump"/>
          </p:cNvPr>
          <p:cNvSpPr/>
          <p:nvPr/>
        </p:nvSpPr>
        <p:spPr>
          <a:xfrm>
            <a:off x="5426247" y="4412768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6" name="Elipse 125">
            <a:hlinkClick r:id="rId11" action="ppaction://hlinksldjump"/>
          </p:cNvPr>
          <p:cNvSpPr/>
          <p:nvPr/>
        </p:nvSpPr>
        <p:spPr>
          <a:xfrm>
            <a:off x="2949427" y="3807080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7" name="Elipse 126">
            <a:hlinkClick r:id="rId12" action="ppaction://hlinksldjump"/>
          </p:cNvPr>
          <p:cNvSpPr/>
          <p:nvPr/>
        </p:nvSpPr>
        <p:spPr>
          <a:xfrm>
            <a:off x="5489276" y="3374570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6" name="Elipse 135">
            <a:hlinkClick r:id="rId13" action="ppaction://hlinksldjump"/>
          </p:cNvPr>
          <p:cNvSpPr/>
          <p:nvPr/>
        </p:nvSpPr>
        <p:spPr>
          <a:xfrm>
            <a:off x="8257699" y="3883864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Elipse 136">
            <a:hlinkClick r:id="rId14" action="ppaction://hlinksldjump"/>
          </p:cNvPr>
          <p:cNvSpPr/>
          <p:nvPr/>
        </p:nvSpPr>
        <p:spPr>
          <a:xfrm>
            <a:off x="4210484" y="5250668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8" name="Elipse 137">
            <a:hlinkClick r:id="rId15" action="ppaction://hlinksldjump"/>
          </p:cNvPr>
          <p:cNvSpPr/>
          <p:nvPr/>
        </p:nvSpPr>
        <p:spPr>
          <a:xfrm>
            <a:off x="6521364" y="5356849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9" name="Elipse 138">
            <a:hlinkClick r:id="rId16" action="ppaction://hlinksldjump"/>
          </p:cNvPr>
          <p:cNvSpPr/>
          <p:nvPr/>
        </p:nvSpPr>
        <p:spPr>
          <a:xfrm>
            <a:off x="9750610" y="865763"/>
            <a:ext cx="522014" cy="50752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777316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Obje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     </a:t>
            </a:r>
            <a:r>
              <a:rPr lang="en-US" dirty="0" err="1"/>
              <a:t>Pontos</a:t>
            </a:r>
            <a:r>
              <a:rPr lang="en-US" dirty="0"/>
              <a:t>      </a:t>
            </a:r>
            <a:r>
              <a:rPr lang="en-US" dirty="0" err="1">
                <a:solidFill>
                  <a:srgbClr val="00D318"/>
                </a:solidFill>
              </a:rPr>
              <a:t>Definidos</a:t>
            </a:r>
            <a:endParaRPr lang="en-US" dirty="0">
              <a:solidFill>
                <a:srgbClr val="00D318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>
          <a:xfrm>
            <a:off x="314325" y="907989"/>
            <a:ext cx="11543378" cy="4713827"/>
          </a:xfrm>
          <a:solidFill>
            <a:schemeClr val="accent2"/>
          </a:solidFill>
          <a:ln>
            <a:solidFill>
              <a:srgbClr val="00D318"/>
            </a:solidFill>
          </a:ln>
        </p:spPr>
        <p:txBody>
          <a:bodyPr/>
          <a:lstStyle/>
          <a:p>
            <a:pPr marL="442913" indent="-1698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Valores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Climatização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serão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cobrados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embutidos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conforme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contratos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atuais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 marL="442913" indent="-1698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Valores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apurado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pelo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medidor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seriam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divulgado</a:t>
            </a:r>
            <a:r>
              <a:rPr lang="en-US" sz="1600" dirty="0">
                <a:solidFill>
                  <a:schemeClr val="bg1"/>
                </a:solidFill>
              </a:rPr>
              <a:t> para o time de </a:t>
            </a:r>
            <a:r>
              <a:rPr lang="en-US" sz="1600" dirty="0" err="1">
                <a:solidFill>
                  <a:schemeClr val="bg1"/>
                </a:solidFill>
              </a:rPr>
              <a:t>Atacado</a:t>
            </a:r>
            <a:r>
              <a:rPr lang="en-US" sz="1600" dirty="0">
                <a:solidFill>
                  <a:schemeClr val="bg1"/>
                </a:solidFill>
              </a:rPr>
              <a:t> Oi </a:t>
            </a:r>
            <a:r>
              <a:rPr lang="en-US" sz="1600" dirty="0" err="1">
                <a:solidFill>
                  <a:schemeClr val="bg1"/>
                </a:solidFill>
              </a:rPr>
              <a:t>avaliar</a:t>
            </a:r>
            <a:r>
              <a:rPr lang="en-US" sz="1600" dirty="0">
                <a:solidFill>
                  <a:schemeClr val="bg1"/>
                </a:solidFill>
              </a:rPr>
              <a:t> se a </a:t>
            </a:r>
            <a:r>
              <a:rPr lang="en-US" sz="1400" dirty="0" err="1">
                <a:solidFill>
                  <a:schemeClr val="bg1"/>
                </a:solidFill>
              </a:rPr>
              <a:t>e</a:t>
            </a:r>
            <a:r>
              <a:rPr lang="en-US" sz="1600" dirty="0" err="1">
                <a:solidFill>
                  <a:schemeClr val="bg1"/>
                </a:solidFill>
              </a:rPr>
              <a:t>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prevista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contrato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compartilhamento</a:t>
            </a:r>
            <a:r>
              <a:rPr lang="en-US" sz="1600" dirty="0">
                <a:solidFill>
                  <a:schemeClr val="bg1"/>
                </a:solidFill>
              </a:rPr>
              <a:t> é </a:t>
            </a:r>
            <a:r>
              <a:rPr lang="en-US" sz="1600" dirty="0" err="1">
                <a:solidFill>
                  <a:schemeClr val="bg1"/>
                </a:solidFill>
              </a:rPr>
              <a:t>menor</a:t>
            </a:r>
            <a:r>
              <a:rPr lang="en-US" sz="1600" dirty="0">
                <a:solidFill>
                  <a:schemeClr val="bg1"/>
                </a:solidFill>
              </a:rPr>
              <a:t> que a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apurada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pelo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medidor</a:t>
            </a:r>
            <a:endParaRPr lang="en-US" sz="1600" dirty="0">
              <a:solidFill>
                <a:schemeClr val="bg1"/>
              </a:solidFill>
            </a:endParaRPr>
          </a:p>
          <a:p>
            <a:pPr marL="442913" indent="-169863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4294967295"/>
          </p:nvPr>
        </p:nvSpPr>
        <p:spPr>
          <a:xfrm>
            <a:off x="5948243" y="6580188"/>
            <a:ext cx="317500" cy="277812"/>
          </a:xfrm>
        </p:spPr>
        <p:txBody>
          <a:bodyPr/>
          <a:lstStyle/>
          <a:p>
            <a:fld id="{86CB4B4D-7CA3-9044-876B-883B54F8677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7939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Obje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     </a:t>
            </a:r>
            <a:r>
              <a:rPr lang="en-US" dirty="0" err="1"/>
              <a:t>Pontos</a:t>
            </a:r>
            <a:r>
              <a:rPr lang="en-US" dirty="0"/>
              <a:t>      </a:t>
            </a:r>
            <a:r>
              <a:rPr lang="en-US" dirty="0">
                <a:solidFill>
                  <a:srgbClr val="00D318"/>
                </a:solidFill>
              </a:rPr>
              <a:t>a resolver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>
          <a:xfrm>
            <a:off x="300470" y="907989"/>
            <a:ext cx="11543378" cy="4713827"/>
          </a:xfrm>
          <a:solidFill>
            <a:schemeClr val="accent2"/>
          </a:solidFill>
          <a:ln>
            <a:solidFill>
              <a:srgbClr val="00D318"/>
            </a:solidFill>
          </a:ln>
        </p:spPr>
        <p:txBody>
          <a:bodyPr/>
          <a:lstStyle/>
          <a:p>
            <a:pPr marL="442913" indent="-1698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Padronizar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planilhas</a:t>
            </a:r>
            <a:r>
              <a:rPr lang="en-US" sz="1600" dirty="0">
                <a:solidFill>
                  <a:schemeClr val="bg1"/>
                </a:solidFill>
              </a:rPr>
              <a:t> dos </a:t>
            </a:r>
            <a:r>
              <a:rPr lang="en-US" sz="1600" dirty="0" err="1">
                <a:solidFill>
                  <a:schemeClr val="bg1"/>
                </a:solidFill>
              </a:rPr>
              <a:t>contratos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compartilhamento</a:t>
            </a:r>
            <a:r>
              <a:rPr lang="en-US" sz="1600" dirty="0">
                <a:solidFill>
                  <a:schemeClr val="bg1"/>
                </a:solidFill>
              </a:rPr>
              <a:t> das SPEs e </a:t>
            </a:r>
            <a:r>
              <a:rPr lang="en-US" sz="1600" dirty="0" err="1">
                <a:solidFill>
                  <a:schemeClr val="bg1"/>
                </a:solidFill>
              </a:rPr>
              <a:t>incluir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planilha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consolidada</a:t>
            </a:r>
            <a:r>
              <a:rPr lang="en-US" sz="1600" dirty="0">
                <a:solidFill>
                  <a:schemeClr val="bg1"/>
                </a:solidFill>
              </a:rPr>
              <a:t> para </a:t>
            </a:r>
            <a:r>
              <a:rPr lang="en-US" sz="1600" dirty="0" err="1">
                <a:solidFill>
                  <a:schemeClr val="bg1"/>
                </a:solidFill>
              </a:rPr>
              <a:t>faturamento</a:t>
            </a:r>
            <a:r>
              <a:rPr lang="en-US" sz="1600" dirty="0">
                <a:solidFill>
                  <a:schemeClr val="bg1"/>
                </a:solidFill>
              </a:rPr>
              <a:t> pela </a:t>
            </a:r>
            <a:r>
              <a:rPr lang="en-US" sz="1600" dirty="0" err="1">
                <a:solidFill>
                  <a:schemeClr val="bg1"/>
                </a:solidFill>
              </a:rPr>
              <a:t>Lemvig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 marL="442913" indent="-1698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Caso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- Tim: ( I ) </a:t>
            </a:r>
            <a:r>
              <a:rPr lang="en-US" sz="1600" dirty="0" err="1">
                <a:solidFill>
                  <a:schemeClr val="bg1"/>
                </a:solidFill>
              </a:rPr>
              <a:t>Manutenção</a:t>
            </a:r>
            <a:r>
              <a:rPr lang="en-US" sz="1600" dirty="0">
                <a:solidFill>
                  <a:schemeClr val="bg1"/>
                </a:solidFill>
              </a:rPr>
              <a:t> do </a:t>
            </a:r>
            <a:r>
              <a:rPr lang="en-US" sz="1600" dirty="0" err="1">
                <a:solidFill>
                  <a:schemeClr val="bg1"/>
                </a:solidFill>
              </a:rPr>
              <a:t>faturamento</a:t>
            </a:r>
            <a:r>
              <a:rPr lang="en-US" sz="1600" dirty="0">
                <a:solidFill>
                  <a:schemeClr val="bg1"/>
                </a:solidFill>
              </a:rPr>
              <a:t> full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alterar</a:t>
            </a:r>
            <a:r>
              <a:rPr lang="en-US" sz="1600" dirty="0">
                <a:solidFill>
                  <a:schemeClr val="bg1"/>
                </a:solidFill>
              </a:rPr>
              <a:t> para </a:t>
            </a:r>
            <a:r>
              <a:rPr lang="en-US" sz="1600" dirty="0" err="1">
                <a:solidFill>
                  <a:schemeClr val="bg1"/>
                </a:solidFill>
              </a:rPr>
              <a:t>validado</a:t>
            </a:r>
            <a:r>
              <a:rPr lang="en-US" sz="1600" dirty="0">
                <a:solidFill>
                  <a:schemeClr val="bg1"/>
                </a:solidFill>
              </a:rPr>
              <a:t>? (II) </a:t>
            </a:r>
            <a:r>
              <a:rPr lang="en-US" sz="1600" dirty="0" err="1">
                <a:solidFill>
                  <a:schemeClr val="bg1"/>
                </a:solidFill>
              </a:rPr>
              <a:t>Lemvig</a:t>
            </a:r>
            <a:r>
              <a:rPr lang="en-US" sz="1600" dirty="0">
                <a:solidFill>
                  <a:schemeClr val="bg1"/>
                </a:solidFill>
              </a:rPr>
              <a:t>/HL </a:t>
            </a:r>
            <a:r>
              <a:rPr lang="en-US" sz="1600" dirty="0" err="1">
                <a:solidFill>
                  <a:schemeClr val="bg1"/>
                </a:solidFill>
              </a:rPr>
              <a:t>emitirá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fatura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recolhendo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imposto</a:t>
            </a:r>
            <a:r>
              <a:rPr lang="en-US" sz="1600" dirty="0">
                <a:solidFill>
                  <a:schemeClr val="bg1"/>
                </a:solidFill>
              </a:rPr>
              <a:t> (PIS/COFINS) para nota que </a:t>
            </a:r>
            <a:r>
              <a:rPr lang="en-US" sz="1600" dirty="0" err="1">
                <a:solidFill>
                  <a:schemeClr val="bg1"/>
                </a:solidFill>
              </a:rPr>
              <a:t>não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será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paga</a:t>
            </a:r>
            <a:r>
              <a:rPr lang="en-US" sz="1600" dirty="0">
                <a:solidFill>
                  <a:schemeClr val="bg1"/>
                </a:solidFill>
              </a:rPr>
              <a:t>? (III) Como </a:t>
            </a:r>
            <a:r>
              <a:rPr lang="en-US" sz="1600" dirty="0" err="1">
                <a:solidFill>
                  <a:schemeClr val="bg1"/>
                </a:solidFill>
              </a:rPr>
              <a:t>fica</a:t>
            </a:r>
            <a:r>
              <a:rPr lang="en-US" sz="1600" dirty="0">
                <a:solidFill>
                  <a:schemeClr val="bg1"/>
                </a:solidFill>
              </a:rPr>
              <a:t> o </a:t>
            </a:r>
            <a:r>
              <a:rPr lang="en-US" sz="1600" dirty="0" err="1">
                <a:solidFill>
                  <a:schemeClr val="bg1"/>
                </a:solidFill>
              </a:rPr>
              <a:t>processo</a:t>
            </a:r>
            <a:r>
              <a:rPr lang="en-US" sz="1600" dirty="0">
                <a:solidFill>
                  <a:schemeClr val="bg1"/>
                </a:solidFill>
              </a:rPr>
              <a:t> judicial com a Tim </a:t>
            </a:r>
            <a:r>
              <a:rPr lang="en-US" sz="1600" dirty="0" err="1">
                <a:solidFill>
                  <a:schemeClr val="bg1"/>
                </a:solidFill>
              </a:rPr>
              <a:t>após</a:t>
            </a:r>
            <a:r>
              <a:rPr lang="en-US" sz="1600" dirty="0">
                <a:solidFill>
                  <a:schemeClr val="bg1"/>
                </a:solidFill>
              </a:rPr>
              <a:t> o closing?</a:t>
            </a:r>
          </a:p>
          <a:p>
            <a:pPr marL="442913" indent="-1698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Prever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processo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contestação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/ solo: </a:t>
            </a:r>
            <a:r>
              <a:rPr lang="en-US" sz="1600" dirty="0" err="1">
                <a:solidFill>
                  <a:schemeClr val="bg1"/>
                </a:solidFill>
              </a:rPr>
              <a:t>análise</a:t>
            </a:r>
            <a:r>
              <a:rPr lang="en-US" sz="1600" dirty="0">
                <a:solidFill>
                  <a:schemeClr val="bg1"/>
                </a:solidFill>
              </a:rPr>
              <a:t> dos </a:t>
            </a:r>
            <a:r>
              <a:rPr lang="en-US" sz="1600" dirty="0" err="1">
                <a:solidFill>
                  <a:schemeClr val="bg1"/>
                </a:solidFill>
              </a:rPr>
              <a:t>valores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não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validados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geração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argumentação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geração</a:t>
            </a:r>
            <a:r>
              <a:rPr lang="en-US" sz="1600" dirty="0">
                <a:solidFill>
                  <a:schemeClr val="bg1"/>
                </a:solidFill>
              </a:rPr>
              <a:t> de nova </a:t>
            </a:r>
            <a:r>
              <a:rPr lang="en-US" sz="1600" dirty="0" err="1">
                <a:solidFill>
                  <a:schemeClr val="bg1"/>
                </a:solidFill>
              </a:rPr>
              <a:t>cobrança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cancelamento</a:t>
            </a:r>
            <a:r>
              <a:rPr lang="en-US" sz="1600" dirty="0">
                <a:solidFill>
                  <a:schemeClr val="bg1"/>
                </a:solidFill>
              </a:rPr>
              <a:t> da </a:t>
            </a:r>
            <a:r>
              <a:rPr lang="en-US" sz="1600" dirty="0" err="1">
                <a:solidFill>
                  <a:schemeClr val="bg1"/>
                </a:solidFill>
              </a:rPr>
              <a:t>cobrança</a:t>
            </a:r>
            <a:r>
              <a:rPr lang="en-US" sz="1600" dirty="0">
                <a:solidFill>
                  <a:schemeClr val="bg1"/>
                </a:solidFill>
              </a:rPr>
              <a:t> para </a:t>
            </a:r>
            <a:r>
              <a:rPr lang="en-US" sz="1600" dirty="0" err="1">
                <a:solidFill>
                  <a:schemeClr val="bg1"/>
                </a:solidFill>
              </a:rPr>
              <a:t>Lemvig</a:t>
            </a:r>
            <a:r>
              <a:rPr lang="en-US" sz="1600" dirty="0">
                <a:solidFill>
                  <a:schemeClr val="bg1"/>
                </a:solidFill>
              </a:rPr>
              <a:t>/ </a:t>
            </a:r>
            <a:r>
              <a:rPr lang="en-US" sz="1600" dirty="0" err="1">
                <a:solidFill>
                  <a:schemeClr val="bg1"/>
                </a:solidFill>
              </a:rPr>
              <a:t>Operadoras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destes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valores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 marL="442913" indent="-169863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Incluir</a:t>
            </a:r>
            <a:r>
              <a:rPr lang="en-US" sz="1600" dirty="0">
                <a:solidFill>
                  <a:schemeClr val="bg1"/>
                </a:solidFill>
              </a:rPr>
              <a:t> a </a:t>
            </a:r>
            <a:r>
              <a:rPr lang="en-US" sz="1600" dirty="0" err="1">
                <a:solidFill>
                  <a:schemeClr val="bg1"/>
                </a:solidFill>
              </a:rPr>
              <a:t>cobrança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para </a:t>
            </a:r>
            <a:r>
              <a:rPr lang="en-US" sz="1600" dirty="0" err="1">
                <a:solidFill>
                  <a:schemeClr val="bg1"/>
                </a:solidFill>
              </a:rPr>
              <a:t>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contratos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compartilhamento</a:t>
            </a:r>
            <a:r>
              <a:rPr lang="en-US" sz="1600" dirty="0">
                <a:solidFill>
                  <a:schemeClr val="bg1"/>
                </a:solidFill>
              </a:rPr>
              <a:t> da SPE’s; </a:t>
            </a:r>
            <a:r>
              <a:rPr lang="en-US" sz="1600" dirty="0" err="1">
                <a:solidFill>
                  <a:schemeClr val="bg1"/>
                </a:solidFill>
              </a:rPr>
              <a:t>Necessário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avaliar</a:t>
            </a:r>
            <a:r>
              <a:rPr lang="en-US" sz="1600" dirty="0">
                <a:solidFill>
                  <a:schemeClr val="bg1"/>
                </a:solidFill>
              </a:rPr>
              <a:t> se a Oi </a:t>
            </a:r>
            <a:r>
              <a:rPr lang="en-US" sz="1600" dirty="0" err="1">
                <a:solidFill>
                  <a:schemeClr val="bg1"/>
                </a:solidFill>
              </a:rPr>
              <a:t>cobrou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estes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valores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diretamente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uma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vez</a:t>
            </a:r>
            <a:r>
              <a:rPr lang="en-US" sz="1600" dirty="0">
                <a:solidFill>
                  <a:schemeClr val="bg1"/>
                </a:solidFill>
              </a:rPr>
              <a:t> que a </a:t>
            </a:r>
            <a:r>
              <a:rPr lang="en-US" sz="1600" dirty="0" err="1">
                <a:solidFill>
                  <a:schemeClr val="bg1"/>
                </a:solidFill>
              </a:rPr>
              <a:t>Lemvig</a:t>
            </a:r>
            <a:r>
              <a:rPr lang="en-US" sz="1600" dirty="0">
                <a:solidFill>
                  <a:schemeClr val="bg1"/>
                </a:solidFill>
              </a:rPr>
              <a:t> é </a:t>
            </a:r>
            <a:r>
              <a:rPr lang="en-US" sz="1600" dirty="0" err="1">
                <a:solidFill>
                  <a:schemeClr val="bg1"/>
                </a:solidFill>
              </a:rPr>
              <a:t>dona</a:t>
            </a:r>
            <a:r>
              <a:rPr lang="en-US" sz="1600" dirty="0">
                <a:solidFill>
                  <a:schemeClr val="bg1"/>
                </a:solidFill>
              </a:rPr>
              <a:t> das Torres </a:t>
            </a:r>
            <a:r>
              <a:rPr lang="en-US" sz="1600" dirty="0" err="1">
                <a:solidFill>
                  <a:schemeClr val="bg1"/>
                </a:solidFill>
              </a:rPr>
              <a:t>desde</a:t>
            </a:r>
            <a:r>
              <a:rPr lang="en-US" sz="1600" dirty="0">
                <a:solidFill>
                  <a:schemeClr val="bg1"/>
                </a:solidFill>
              </a:rPr>
              <a:t> 02/</a:t>
            </a:r>
            <a:r>
              <a:rPr lang="en-US" sz="1600" dirty="0" err="1">
                <a:solidFill>
                  <a:schemeClr val="bg1"/>
                </a:solidFill>
              </a:rPr>
              <a:t>jan</a:t>
            </a:r>
            <a:r>
              <a:rPr lang="en-US" sz="1600" dirty="0">
                <a:solidFill>
                  <a:schemeClr val="bg1"/>
                </a:solidFill>
              </a:rPr>
              <a:t>/2023. </a:t>
            </a:r>
          </a:p>
          <a:p>
            <a:pPr marL="442913" indent="-169863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Verificar</a:t>
            </a:r>
            <a:r>
              <a:rPr lang="en-US" sz="1600" dirty="0">
                <a:solidFill>
                  <a:schemeClr val="bg1"/>
                </a:solidFill>
              </a:rPr>
              <a:t> com a HL </a:t>
            </a:r>
            <a:r>
              <a:rPr lang="en-US" sz="1600" dirty="0" err="1">
                <a:solidFill>
                  <a:schemeClr val="bg1"/>
                </a:solidFill>
              </a:rPr>
              <a:t>como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será</a:t>
            </a:r>
            <a:r>
              <a:rPr lang="en-US" sz="1600" dirty="0">
                <a:solidFill>
                  <a:schemeClr val="bg1"/>
                </a:solidFill>
              </a:rPr>
              <a:t> a </a:t>
            </a:r>
            <a:r>
              <a:rPr lang="en-US" sz="1600" dirty="0" err="1">
                <a:solidFill>
                  <a:schemeClr val="bg1"/>
                </a:solidFill>
              </a:rPr>
              <a:t>implantação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medidores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energia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nome</a:t>
            </a:r>
            <a:r>
              <a:rPr lang="en-US" sz="1600" dirty="0">
                <a:solidFill>
                  <a:schemeClr val="bg1"/>
                </a:solidFill>
              </a:rPr>
              <a:t> das </a:t>
            </a:r>
            <a:r>
              <a:rPr lang="en-US" sz="1600" dirty="0" err="1">
                <a:solidFill>
                  <a:schemeClr val="bg1"/>
                </a:solidFill>
              </a:rPr>
              <a:t>demais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operadoras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 marL="442913" indent="-169863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4294967295"/>
          </p:nvPr>
        </p:nvSpPr>
        <p:spPr>
          <a:xfrm>
            <a:off x="5948243" y="6580188"/>
            <a:ext cx="317500" cy="277812"/>
          </a:xfrm>
        </p:spPr>
        <p:txBody>
          <a:bodyPr/>
          <a:lstStyle/>
          <a:p>
            <a:fld id="{86CB4B4D-7CA3-9044-876B-883B54F8677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5618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3463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7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 err="1"/>
              <a:t>Aluguel</a:t>
            </a:r>
            <a:r>
              <a:rPr lang="en-US" dirty="0"/>
              <a:t> das Torres</a:t>
            </a:r>
            <a:br>
              <a:rPr lang="en-US" dirty="0"/>
            </a:b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005084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6802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Retângulo 183"/>
          <p:cNvSpPr/>
          <p:nvPr/>
        </p:nvSpPr>
        <p:spPr>
          <a:xfrm>
            <a:off x="76318" y="520292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5102" y="375179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26578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796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8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</a:t>
            </a:r>
            <a:r>
              <a:rPr lang="en-US" dirty="0" err="1"/>
              <a:t>Receita</a:t>
            </a:r>
            <a:r>
              <a:rPr lang="en-US" dirty="0"/>
              <a:t> de Base fee das 8.000 Torres (</a:t>
            </a:r>
            <a:r>
              <a:rPr lang="en-US" dirty="0" err="1"/>
              <a:t>Aluguel</a:t>
            </a:r>
            <a:r>
              <a:rPr lang="en-US" dirty="0"/>
              <a:t> das Torres da </a:t>
            </a:r>
            <a:r>
              <a:rPr lang="en-US" dirty="0" err="1"/>
              <a:t>Lemvig</a:t>
            </a:r>
            <a:r>
              <a:rPr lang="en-US" dirty="0"/>
              <a:t> - </a:t>
            </a:r>
            <a:r>
              <a:rPr lang="en-US" dirty="0" err="1"/>
              <a:t>Pagamento</a:t>
            </a:r>
            <a:r>
              <a:rPr lang="en-US" dirty="0"/>
              <a:t> Oi)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08456" y="2538241"/>
            <a:ext cx="1065647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Faturamento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tx2"/>
                </a:solidFill>
              </a:rPr>
              <a:t>Iara</a:t>
            </a:r>
            <a:endParaRPr lang="en-US" dirty="0">
              <a:solidFill>
                <a:schemeClr val="tx2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205986" y="1243841"/>
            <a:ext cx="67486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tx2"/>
                </a:solidFill>
              </a:rPr>
              <a:t>Atacado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4274198026"/>
              </p:ext>
            </p:extLst>
          </p:nvPr>
        </p:nvGraphicFramePr>
        <p:xfrm>
          <a:off x="1557053" y="983789"/>
          <a:ext cx="1367342" cy="1103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8" name="CaixaDeTexto 97"/>
          <p:cNvSpPr txBox="1"/>
          <p:nvPr/>
        </p:nvSpPr>
        <p:spPr>
          <a:xfrm>
            <a:off x="222159" y="4148388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Tatiana Cardozo</a:t>
            </a:r>
          </a:p>
        </p:txBody>
      </p:sp>
      <p:graphicFrame>
        <p:nvGraphicFramePr>
          <p:cNvPr id="71" name="Diagrama 70"/>
          <p:cNvGraphicFramePr/>
          <p:nvPr>
            <p:extLst>
              <p:ext uri="{D42A27DB-BD31-4B8C-83A1-F6EECF244321}">
                <p14:modId xmlns:p14="http://schemas.microsoft.com/office/powerpoint/2010/main" val="1649308033"/>
              </p:ext>
            </p:extLst>
          </p:nvPr>
        </p:nvGraphicFramePr>
        <p:xfrm>
          <a:off x="4624159" y="2411705"/>
          <a:ext cx="3033129" cy="1128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78" name="Diagrama 77"/>
          <p:cNvGraphicFramePr/>
          <p:nvPr>
            <p:extLst>
              <p:ext uri="{D42A27DB-BD31-4B8C-83A1-F6EECF244321}">
                <p14:modId xmlns:p14="http://schemas.microsoft.com/office/powerpoint/2010/main" val="3775797152"/>
              </p:ext>
            </p:extLst>
          </p:nvPr>
        </p:nvGraphicFramePr>
        <p:xfrm>
          <a:off x="1592768" y="5131662"/>
          <a:ext cx="1331627" cy="138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pSp>
        <p:nvGrpSpPr>
          <p:cNvPr id="79" name="Agrupar 78"/>
          <p:cNvGrpSpPr/>
          <p:nvPr/>
        </p:nvGrpSpPr>
        <p:grpSpPr>
          <a:xfrm rot="5400000" flipV="1">
            <a:off x="687046" y="3559325"/>
            <a:ext cx="3060000" cy="326674"/>
            <a:chOff x="6413377" y="679347"/>
            <a:chExt cx="256379" cy="299915"/>
          </a:xfrm>
        </p:grpSpPr>
        <p:sp>
          <p:nvSpPr>
            <p:cNvPr id="80" name="Seta para a Direita 7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aphicFrame>
        <p:nvGraphicFramePr>
          <p:cNvPr id="82" name="Diagrama 81"/>
          <p:cNvGraphicFramePr/>
          <p:nvPr>
            <p:extLst>
              <p:ext uri="{D42A27DB-BD31-4B8C-83A1-F6EECF244321}">
                <p14:modId xmlns:p14="http://schemas.microsoft.com/office/powerpoint/2010/main" val="3430868438"/>
              </p:ext>
            </p:extLst>
          </p:nvPr>
        </p:nvGraphicFramePr>
        <p:xfrm>
          <a:off x="3186844" y="873034"/>
          <a:ext cx="1259706" cy="131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pSp>
        <p:nvGrpSpPr>
          <p:cNvPr id="83" name="Agrupar 82"/>
          <p:cNvGrpSpPr/>
          <p:nvPr/>
        </p:nvGrpSpPr>
        <p:grpSpPr>
          <a:xfrm rot="16200000">
            <a:off x="1946678" y="3838244"/>
            <a:ext cx="3708000" cy="326674"/>
            <a:chOff x="6413377" y="679347"/>
            <a:chExt cx="256379" cy="299915"/>
          </a:xfrm>
        </p:grpSpPr>
        <p:sp>
          <p:nvSpPr>
            <p:cNvPr id="84" name="Seta para a Direita 83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5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86" name="Retângulo 85"/>
          <p:cNvSpPr/>
          <p:nvPr/>
        </p:nvSpPr>
        <p:spPr>
          <a:xfrm>
            <a:off x="2976128" y="5862050"/>
            <a:ext cx="936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7" name="Agrupar 86"/>
          <p:cNvGrpSpPr/>
          <p:nvPr/>
        </p:nvGrpSpPr>
        <p:grpSpPr>
          <a:xfrm rot="5400000" flipV="1">
            <a:off x="4900189" y="1806357"/>
            <a:ext cx="720000" cy="326674"/>
            <a:chOff x="6413377" y="679347"/>
            <a:chExt cx="256379" cy="299915"/>
          </a:xfrm>
        </p:grpSpPr>
        <p:sp>
          <p:nvSpPr>
            <p:cNvPr id="88" name="Seta para a Direita 87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9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90" name="Retângulo 89"/>
          <p:cNvSpPr/>
          <p:nvPr/>
        </p:nvSpPr>
        <p:spPr>
          <a:xfrm>
            <a:off x="4508939" y="1392771"/>
            <a:ext cx="864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91" name="Diagrama 90"/>
          <p:cNvGraphicFramePr/>
          <p:nvPr>
            <p:extLst>
              <p:ext uri="{D42A27DB-BD31-4B8C-83A1-F6EECF244321}">
                <p14:modId xmlns:p14="http://schemas.microsoft.com/office/powerpoint/2010/main" val="2599105212"/>
              </p:ext>
            </p:extLst>
          </p:nvPr>
        </p:nvGraphicFramePr>
        <p:xfrm>
          <a:off x="7510169" y="3891523"/>
          <a:ext cx="1331627" cy="1149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sp>
        <p:nvSpPr>
          <p:cNvPr id="111" name="CaixaDeTexto 110"/>
          <p:cNvSpPr txBox="1"/>
          <p:nvPr/>
        </p:nvSpPr>
        <p:spPr>
          <a:xfrm flipH="1">
            <a:off x="92958" y="6632527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 </a:t>
            </a:r>
            <a:r>
              <a:rPr lang="en-US" sz="1100" dirty="0">
                <a:solidFill>
                  <a:srgbClr val="4D4D4D"/>
                </a:solidFill>
              </a:rPr>
              <a:t>1: Torres </a:t>
            </a:r>
            <a:r>
              <a:rPr lang="en-US" sz="1100" dirty="0" err="1">
                <a:solidFill>
                  <a:srgbClr val="4D4D4D"/>
                </a:solidFill>
              </a:rPr>
              <a:t>deverão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segregadas</a:t>
            </a:r>
            <a:r>
              <a:rPr lang="en-US" sz="1100" dirty="0">
                <a:solidFill>
                  <a:srgbClr val="4D4D4D"/>
                </a:solidFill>
              </a:rPr>
              <a:t> entre RBR e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RBR para </a:t>
            </a:r>
            <a:r>
              <a:rPr lang="en-US" sz="1100" dirty="0" err="1">
                <a:solidFill>
                  <a:srgbClr val="4D4D4D"/>
                </a:solidFill>
              </a:rPr>
              <a:t>atendimento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ao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Despacho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Anatel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notas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fiscias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deverão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emitidas</a:t>
            </a:r>
            <a:r>
              <a:rPr lang="en-US" sz="1100" dirty="0">
                <a:solidFill>
                  <a:srgbClr val="4D4D4D"/>
                </a:solidFill>
              </a:rPr>
              <a:t> de forma </a:t>
            </a:r>
            <a:r>
              <a:rPr lang="en-US" sz="1100" dirty="0" err="1">
                <a:solidFill>
                  <a:srgbClr val="4D4D4D"/>
                </a:solidFill>
              </a:rPr>
              <a:t>segregada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também</a:t>
            </a:r>
            <a:r>
              <a:rPr lang="en-US" sz="1100" dirty="0">
                <a:solidFill>
                  <a:srgbClr val="4D4D4D"/>
                </a:solidFill>
              </a:rPr>
              <a:t>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85" name="Agrupar 184"/>
          <p:cNvGrpSpPr/>
          <p:nvPr/>
        </p:nvGrpSpPr>
        <p:grpSpPr>
          <a:xfrm>
            <a:off x="9166431" y="3891524"/>
            <a:ext cx="1276267" cy="1147000"/>
            <a:chOff x="0" y="0"/>
            <a:chExt cx="1145044" cy="1147000"/>
          </a:xfrm>
        </p:grpSpPr>
        <p:sp>
          <p:nvSpPr>
            <p:cNvPr id="186" name="Retângulo Arredondado 185"/>
            <p:cNvSpPr/>
            <p:nvPr/>
          </p:nvSpPr>
          <p:spPr>
            <a:xfrm>
              <a:off x="0" y="0"/>
              <a:ext cx="1145044" cy="1147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7" name="CaixaDeTexto 186"/>
            <p:cNvSpPr txBox="1"/>
            <p:nvPr/>
          </p:nvSpPr>
          <p:spPr>
            <a:xfrm>
              <a:off x="33537" y="33537"/>
              <a:ext cx="1077970" cy="10799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Inicia processo de pagamento - internalização das notas fiscais e valores </a:t>
              </a:r>
            </a:p>
          </p:txBody>
        </p:sp>
      </p:grpSp>
      <p:sp>
        <p:nvSpPr>
          <p:cNvPr id="191" name="CaixaDeTexto 190"/>
          <p:cNvSpPr txBox="1"/>
          <p:nvPr/>
        </p:nvSpPr>
        <p:spPr>
          <a:xfrm>
            <a:off x="222269" y="5661275"/>
            <a:ext cx="131876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Patrimônio</a:t>
            </a:r>
            <a:r>
              <a:rPr lang="en-US" dirty="0"/>
              <a:t> Oi:  Rodrigo </a:t>
            </a:r>
            <a:r>
              <a:rPr lang="en-US" dirty="0" err="1"/>
              <a:t>Godinho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92" name="Agrupar 191"/>
          <p:cNvGrpSpPr/>
          <p:nvPr/>
        </p:nvGrpSpPr>
        <p:grpSpPr>
          <a:xfrm>
            <a:off x="8894535" y="4339856"/>
            <a:ext cx="244217" cy="285687"/>
            <a:chOff x="1269055" y="385982"/>
            <a:chExt cx="244217" cy="285687"/>
          </a:xfrm>
        </p:grpSpPr>
        <p:sp>
          <p:nvSpPr>
            <p:cNvPr id="193" name="Seta para a Direita 192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4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18" name="CaixaDeTexto 17"/>
          <p:cNvSpPr txBox="1"/>
          <p:nvPr/>
        </p:nvSpPr>
        <p:spPr>
          <a:xfrm>
            <a:off x="10423669" y="3975458"/>
            <a:ext cx="1246349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…</a:t>
            </a:r>
          </a:p>
        </p:txBody>
      </p:sp>
      <p:grpSp>
        <p:nvGrpSpPr>
          <p:cNvPr id="202" name="Agrupar 201"/>
          <p:cNvGrpSpPr/>
          <p:nvPr/>
        </p:nvGrpSpPr>
        <p:grpSpPr>
          <a:xfrm>
            <a:off x="1227675" y="1337963"/>
            <a:ext cx="262347" cy="29888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203" name="Canto Dobrado 20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04" name="Conector reto 20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5" name="Conector reto 20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6" name="Conector reto 20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65" name="Agrupar 64"/>
          <p:cNvGrpSpPr/>
          <p:nvPr/>
        </p:nvGrpSpPr>
        <p:grpSpPr>
          <a:xfrm>
            <a:off x="4332314" y="1960777"/>
            <a:ext cx="262347" cy="298880"/>
            <a:chOff x="3722405" y="2929355"/>
            <a:chExt cx="504000" cy="684000"/>
          </a:xfrm>
          <a:solidFill>
            <a:srgbClr val="FF99FF"/>
          </a:solidFill>
        </p:grpSpPr>
        <p:sp>
          <p:nvSpPr>
            <p:cNvPr id="66" name="Canto Dobrado 6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7" name="Conector reto 6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Conector reto 6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9" name="Conector reto 6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75" name="Diagrama 74"/>
          <p:cNvGraphicFramePr/>
          <p:nvPr>
            <p:extLst>
              <p:ext uri="{D42A27DB-BD31-4B8C-83A1-F6EECF244321}">
                <p14:modId xmlns:p14="http://schemas.microsoft.com/office/powerpoint/2010/main" val="2804091157"/>
              </p:ext>
            </p:extLst>
          </p:nvPr>
        </p:nvGraphicFramePr>
        <p:xfrm>
          <a:off x="7524920" y="5366311"/>
          <a:ext cx="1331627" cy="1111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0" r:lo="rId31" r:qs="rId32" r:cs="rId33"/>
          </a:graphicData>
        </a:graphic>
      </p:graphicFrame>
      <p:sp>
        <p:nvSpPr>
          <p:cNvPr id="76" name="Retângulo 75"/>
          <p:cNvSpPr/>
          <p:nvPr/>
        </p:nvSpPr>
        <p:spPr>
          <a:xfrm rot="16200000">
            <a:off x="5656212" y="4901134"/>
            <a:ext cx="2772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7" name="Agrupar 76"/>
          <p:cNvGrpSpPr/>
          <p:nvPr/>
        </p:nvGrpSpPr>
        <p:grpSpPr>
          <a:xfrm>
            <a:off x="7158004" y="4319616"/>
            <a:ext cx="244217" cy="285687"/>
            <a:chOff x="1269055" y="385982"/>
            <a:chExt cx="244217" cy="285687"/>
          </a:xfrm>
        </p:grpSpPr>
        <p:sp>
          <p:nvSpPr>
            <p:cNvPr id="94" name="Seta para a Direita 9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99" name="Agrupar 98"/>
          <p:cNvGrpSpPr/>
          <p:nvPr/>
        </p:nvGrpSpPr>
        <p:grpSpPr>
          <a:xfrm>
            <a:off x="7158033" y="5780871"/>
            <a:ext cx="244217" cy="285687"/>
            <a:chOff x="1269055" y="385982"/>
            <a:chExt cx="244217" cy="285687"/>
          </a:xfrm>
        </p:grpSpPr>
        <p:sp>
          <p:nvSpPr>
            <p:cNvPr id="100" name="Seta para a Direita 99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3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04" name="Agrupar 103"/>
          <p:cNvGrpSpPr/>
          <p:nvPr/>
        </p:nvGrpSpPr>
        <p:grpSpPr>
          <a:xfrm>
            <a:off x="10517940" y="4331140"/>
            <a:ext cx="244217" cy="285687"/>
            <a:chOff x="1269055" y="385982"/>
            <a:chExt cx="244217" cy="285687"/>
          </a:xfrm>
        </p:grpSpPr>
        <p:sp>
          <p:nvSpPr>
            <p:cNvPr id="105" name="Seta para a Direita 104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61" name="Agrupar 60"/>
          <p:cNvGrpSpPr/>
          <p:nvPr/>
        </p:nvGrpSpPr>
        <p:grpSpPr>
          <a:xfrm rot="16200000" flipV="1">
            <a:off x="8068624" y="5063583"/>
            <a:ext cx="244217" cy="285687"/>
            <a:chOff x="1269055" y="385982"/>
            <a:chExt cx="244217" cy="285687"/>
          </a:xfrm>
        </p:grpSpPr>
        <p:sp>
          <p:nvSpPr>
            <p:cNvPr id="62" name="Seta para a Direita 61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92" name="Elipse 91">
            <a:hlinkClick r:id="rId35" action="ppaction://hlinksldjump"/>
          </p:cNvPr>
          <p:cNvSpPr/>
          <p:nvPr/>
        </p:nvSpPr>
        <p:spPr>
          <a:xfrm>
            <a:off x="10900607" y="4310981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1a</a:t>
            </a:r>
          </a:p>
        </p:txBody>
      </p:sp>
      <p:grpSp>
        <p:nvGrpSpPr>
          <p:cNvPr id="93" name="Agrupar 92"/>
          <p:cNvGrpSpPr/>
          <p:nvPr/>
        </p:nvGrpSpPr>
        <p:grpSpPr>
          <a:xfrm>
            <a:off x="5801746" y="3413988"/>
            <a:ext cx="262347" cy="298880"/>
            <a:chOff x="3722405" y="2929355"/>
            <a:chExt cx="504000" cy="684000"/>
          </a:xfrm>
          <a:solidFill>
            <a:srgbClr val="CC00CC"/>
          </a:solidFill>
        </p:grpSpPr>
        <p:sp>
          <p:nvSpPr>
            <p:cNvPr id="101" name="Canto Dobrado 100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2" name="Conector reto 10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" name="Conector reto 10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9" name="Agrupar 108"/>
          <p:cNvGrpSpPr/>
          <p:nvPr/>
        </p:nvGrpSpPr>
        <p:grpSpPr>
          <a:xfrm>
            <a:off x="7503992" y="3405132"/>
            <a:ext cx="262347" cy="298880"/>
            <a:chOff x="3722405" y="2929355"/>
            <a:chExt cx="504000" cy="684000"/>
          </a:xfrm>
          <a:solidFill>
            <a:srgbClr val="CC00CC"/>
          </a:solidFill>
        </p:grpSpPr>
        <p:sp>
          <p:nvSpPr>
            <p:cNvPr id="110" name="Canto Dobrado 10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2" name="Conector reto 11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" name="Conector reto 11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Conector reto 11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2" name="Agrupar 121"/>
          <p:cNvGrpSpPr/>
          <p:nvPr/>
        </p:nvGrpSpPr>
        <p:grpSpPr>
          <a:xfrm>
            <a:off x="3298790" y="495963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123" name="Canto Dobrado 12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24" name="Conector reto 12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5" name="Conector reto 12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6" name="Conector reto 12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7" name="Agrupar 126"/>
          <p:cNvGrpSpPr/>
          <p:nvPr/>
        </p:nvGrpSpPr>
        <p:grpSpPr>
          <a:xfrm>
            <a:off x="4611106" y="507008"/>
            <a:ext cx="180000" cy="252000"/>
            <a:chOff x="3722403" y="2929357"/>
            <a:chExt cx="504000" cy="684000"/>
          </a:xfrm>
          <a:solidFill>
            <a:srgbClr val="FF99FF"/>
          </a:solidFill>
        </p:grpSpPr>
        <p:sp>
          <p:nvSpPr>
            <p:cNvPr id="128" name="Canto Dobrado 127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29" name="Conector reto 128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0" name="Conector reto 129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1" name="Conector reto 13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32" name="Agrupar 131"/>
          <p:cNvGrpSpPr/>
          <p:nvPr/>
        </p:nvGrpSpPr>
        <p:grpSpPr>
          <a:xfrm>
            <a:off x="8519807" y="514205"/>
            <a:ext cx="298222" cy="373686"/>
            <a:chOff x="211236" y="2870010"/>
            <a:chExt cx="298222" cy="373686"/>
          </a:xfrm>
        </p:grpSpPr>
        <p:grpSp>
          <p:nvGrpSpPr>
            <p:cNvPr id="133" name="Agrupar 132"/>
            <p:cNvGrpSpPr/>
            <p:nvPr/>
          </p:nvGrpSpPr>
          <p:grpSpPr>
            <a:xfrm>
              <a:off x="211236" y="2870010"/>
              <a:ext cx="180000" cy="252000"/>
              <a:chOff x="3722405" y="2929355"/>
              <a:chExt cx="504000" cy="684000"/>
            </a:xfrm>
          </p:grpSpPr>
          <p:sp>
            <p:nvSpPr>
              <p:cNvPr id="135" name="Canto Dobrado 134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36" name="Conector reto 135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7" name="Conector reto 136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8" name="Conector reto 137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34" name="Elipse 133"/>
            <p:cNvSpPr/>
            <p:nvPr/>
          </p:nvSpPr>
          <p:spPr>
            <a:xfrm>
              <a:off x="365458" y="3092219"/>
              <a:ext cx="144000" cy="151477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39" name="Agrupar 138"/>
          <p:cNvGrpSpPr/>
          <p:nvPr/>
        </p:nvGrpSpPr>
        <p:grpSpPr>
          <a:xfrm>
            <a:off x="6865807" y="510711"/>
            <a:ext cx="180000" cy="252000"/>
            <a:chOff x="3722405" y="2929355"/>
            <a:chExt cx="504000" cy="684000"/>
          </a:xfrm>
          <a:solidFill>
            <a:srgbClr val="CC00CC"/>
          </a:solidFill>
        </p:grpSpPr>
        <p:sp>
          <p:nvSpPr>
            <p:cNvPr id="141" name="Canto Dobrado 140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2" name="Conector reto 14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3" name="Conector reto 14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4" name="Conector reto 14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45" name="CaixaDeTexto 144"/>
          <p:cNvSpPr txBox="1"/>
          <p:nvPr/>
        </p:nvSpPr>
        <p:spPr>
          <a:xfrm>
            <a:off x="3571968" y="584918"/>
            <a:ext cx="952383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 MLA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4862729" y="594290"/>
            <a:ext cx="1955272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100" dirty="0">
                <a:solidFill>
                  <a:srgbClr val="4D4D4D"/>
                </a:solidFill>
              </a:rPr>
              <a:t>Input_VenusII_SB1_AAAAMMDD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47" name="Retângulo 146"/>
          <p:cNvSpPr/>
          <p:nvPr/>
        </p:nvSpPr>
        <p:spPr>
          <a:xfrm>
            <a:off x="8733012" y="538590"/>
            <a:ext cx="2697218" cy="261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Pagamento_ContaVinculada_AAAAMMDD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48" name="CaixaDeTexto 147"/>
          <p:cNvSpPr txBox="1"/>
          <p:nvPr/>
        </p:nvSpPr>
        <p:spPr>
          <a:xfrm>
            <a:off x="7117430" y="587254"/>
            <a:ext cx="1198307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100" dirty="0">
                <a:solidFill>
                  <a:srgbClr val="4D4D4D"/>
                </a:solidFill>
              </a:rPr>
              <a:t>Nota fiscal </a:t>
            </a:r>
            <a:r>
              <a:rPr lang="en-US" sz="1100" dirty="0" err="1">
                <a:solidFill>
                  <a:srgbClr val="4D4D4D"/>
                </a:solidFill>
              </a:rPr>
              <a:t>emitida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49" name="Elipse 148">
            <a:hlinkClick r:id="rId36" action="ppaction://hlinksldjump"/>
          </p:cNvPr>
          <p:cNvSpPr/>
          <p:nvPr/>
        </p:nvSpPr>
        <p:spPr>
          <a:xfrm>
            <a:off x="3298790" y="545691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0" name="Elipse 149">
            <a:hlinkClick r:id="rId37" action="ppaction://hlinksldjump"/>
          </p:cNvPr>
          <p:cNvSpPr/>
          <p:nvPr/>
        </p:nvSpPr>
        <p:spPr>
          <a:xfrm>
            <a:off x="4601567" y="565356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1" name="Elipse 150">
            <a:hlinkClick r:id="rId38" action="ppaction://hlinksldjump"/>
          </p:cNvPr>
          <p:cNvSpPr/>
          <p:nvPr/>
        </p:nvSpPr>
        <p:spPr>
          <a:xfrm>
            <a:off x="6862988" y="570272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2" name="Elipse 151">
            <a:hlinkClick r:id="rId39" action="ppaction://hlinksldjump"/>
          </p:cNvPr>
          <p:cNvSpPr/>
          <p:nvPr/>
        </p:nvSpPr>
        <p:spPr>
          <a:xfrm>
            <a:off x="8519723" y="575188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15" name="Agrupar 114"/>
          <p:cNvGrpSpPr/>
          <p:nvPr/>
        </p:nvGrpSpPr>
        <p:grpSpPr>
          <a:xfrm rot="16200000">
            <a:off x="10570358" y="3548173"/>
            <a:ext cx="972000" cy="285687"/>
            <a:chOff x="1269055" y="385982"/>
            <a:chExt cx="244217" cy="285687"/>
          </a:xfrm>
        </p:grpSpPr>
        <p:sp>
          <p:nvSpPr>
            <p:cNvPr id="116" name="Seta para a Direita 115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7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118" name="Elipse 117">
            <a:hlinkClick r:id="rId40" action="ppaction://hlinksldjump"/>
          </p:cNvPr>
          <p:cNvSpPr/>
          <p:nvPr/>
        </p:nvSpPr>
        <p:spPr>
          <a:xfrm>
            <a:off x="10886754" y="2842393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</a:t>
            </a:r>
          </a:p>
        </p:txBody>
      </p:sp>
      <p:sp>
        <p:nvSpPr>
          <p:cNvPr id="7" name="Botão de ação: Retornar 6">
            <a:hlinkClick r:id="rId41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19" name="Agrupar 118"/>
          <p:cNvGrpSpPr/>
          <p:nvPr/>
        </p:nvGrpSpPr>
        <p:grpSpPr>
          <a:xfrm>
            <a:off x="8897647" y="4877404"/>
            <a:ext cx="383776" cy="450736"/>
            <a:chOff x="1460542" y="2510839"/>
            <a:chExt cx="421302" cy="597202"/>
          </a:xfrm>
        </p:grpSpPr>
        <p:grpSp>
          <p:nvGrpSpPr>
            <p:cNvPr id="120" name="Agrupar 119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53" name="Canto Dobrado 152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54" name="Conector reto 153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55" name="Conector reto 154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56" name="Conector reto 155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21" name="Elipse 120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57" name="Agrupar 156"/>
          <p:cNvGrpSpPr/>
          <p:nvPr/>
        </p:nvGrpSpPr>
        <p:grpSpPr>
          <a:xfrm>
            <a:off x="8939207" y="6082753"/>
            <a:ext cx="383776" cy="450736"/>
            <a:chOff x="1460542" y="2510839"/>
            <a:chExt cx="421302" cy="597202"/>
          </a:xfrm>
        </p:grpSpPr>
        <p:grpSp>
          <p:nvGrpSpPr>
            <p:cNvPr id="158" name="Agrupar 157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60" name="Canto Dobrado 159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1" name="Conector reto 160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2" name="Conector reto 161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3" name="Conector reto 162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59" name="Elipse 158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64" name="Agrupar 163"/>
          <p:cNvGrpSpPr/>
          <p:nvPr/>
        </p:nvGrpSpPr>
        <p:grpSpPr>
          <a:xfrm>
            <a:off x="10518636" y="4835839"/>
            <a:ext cx="383776" cy="450736"/>
            <a:chOff x="1460542" y="2510839"/>
            <a:chExt cx="421302" cy="597202"/>
          </a:xfrm>
        </p:grpSpPr>
        <p:grpSp>
          <p:nvGrpSpPr>
            <p:cNvPr id="165" name="Agrupar 164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67" name="Canto Dobrado 166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8" name="Conector reto 167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9" name="Conector reto 168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0" name="Conector reto 169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66" name="Elipse 165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22096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6970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Retângulo 183"/>
          <p:cNvSpPr/>
          <p:nvPr/>
        </p:nvSpPr>
        <p:spPr>
          <a:xfrm>
            <a:off x="76318" y="520292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5102" y="3737043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26578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796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</a:t>
            </a:r>
            <a:r>
              <a:rPr lang="en-US" dirty="0" err="1"/>
              <a:t>Fluxo</a:t>
            </a:r>
            <a:r>
              <a:rPr lang="en-US" dirty="0"/>
              <a:t> de </a:t>
            </a:r>
            <a:r>
              <a:rPr lang="en-US" dirty="0" err="1"/>
              <a:t>Pagamento</a:t>
            </a:r>
            <a:r>
              <a:rPr lang="en-US" dirty="0"/>
              <a:t> Oi para </a:t>
            </a:r>
            <a:r>
              <a:rPr lang="en-US" dirty="0" err="1"/>
              <a:t>Lemvig</a:t>
            </a:r>
            <a:r>
              <a:rPr lang="en-US" dirty="0"/>
              <a:t> com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 da </a:t>
            </a:r>
            <a:r>
              <a:rPr lang="en-US" dirty="0" err="1"/>
              <a:t>conta</a:t>
            </a:r>
            <a:r>
              <a:rPr lang="en-US" dirty="0"/>
              <a:t> </a:t>
            </a:r>
            <a:r>
              <a:rPr lang="en-US" dirty="0" err="1"/>
              <a:t>vinculada</a:t>
            </a:r>
            <a:endParaRPr lang="en-US" dirty="0"/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1a</a:t>
            </a:r>
          </a:p>
        </p:txBody>
      </p:sp>
      <p:sp>
        <p:nvSpPr>
          <p:cNvPr id="98" name="CaixaDeTexto 97"/>
          <p:cNvSpPr txBox="1"/>
          <p:nvPr/>
        </p:nvSpPr>
        <p:spPr>
          <a:xfrm>
            <a:off x="222159" y="1213572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Tatiana Cardozo</a:t>
            </a:r>
          </a:p>
        </p:txBody>
      </p:sp>
      <p:graphicFrame>
        <p:nvGraphicFramePr>
          <p:cNvPr id="91" name="Diagrama 90"/>
          <p:cNvGraphicFramePr/>
          <p:nvPr>
            <p:extLst>
              <p:ext uri="{D42A27DB-BD31-4B8C-83A1-F6EECF244321}">
                <p14:modId xmlns:p14="http://schemas.microsoft.com/office/powerpoint/2010/main" val="3807027605"/>
              </p:ext>
            </p:extLst>
          </p:nvPr>
        </p:nvGraphicFramePr>
        <p:xfrm>
          <a:off x="2064776" y="928979"/>
          <a:ext cx="3082412" cy="116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1" name="CaixaDeTexto 110"/>
          <p:cNvSpPr txBox="1"/>
          <p:nvPr/>
        </p:nvSpPr>
        <p:spPr>
          <a:xfrm flipH="1">
            <a:off x="92958" y="6632527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 </a:t>
            </a:r>
            <a:r>
              <a:rPr lang="en-US" sz="1100" dirty="0">
                <a:solidFill>
                  <a:srgbClr val="4D4D4D"/>
                </a:solidFill>
              </a:rPr>
              <a:t>1: E-mail </a:t>
            </a:r>
            <a:r>
              <a:rPr lang="en-US" sz="1100" dirty="0" err="1">
                <a:solidFill>
                  <a:srgbClr val="4D4D4D"/>
                </a:solidFill>
              </a:rPr>
              <a:t>deverá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indicar</a:t>
            </a:r>
            <a:r>
              <a:rPr lang="en-US" sz="1100" dirty="0">
                <a:solidFill>
                  <a:srgbClr val="4D4D4D"/>
                </a:solidFill>
              </a:rPr>
              <a:t> o valor dos </a:t>
            </a:r>
            <a:r>
              <a:rPr lang="en-US" sz="1100" dirty="0" err="1">
                <a:solidFill>
                  <a:srgbClr val="4D4D4D"/>
                </a:solidFill>
              </a:rPr>
              <a:t>pedidos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correspondem</a:t>
            </a:r>
            <a:r>
              <a:rPr lang="en-US" sz="1100" dirty="0">
                <a:solidFill>
                  <a:srgbClr val="4D4D4D"/>
                </a:solidFill>
              </a:rPr>
              <a:t> as Torres que </a:t>
            </a:r>
            <a:r>
              <a:rPr lang="en-US" sz="1100" dirty="0" err="1">
                <a:solidFill>
                  <a:srgbClr val="4D4D4D"/>
                </a:solidFill>
              </a:rPr>
              <a:t>são</a:t>
            </a:r>
            <a:r>
              <a:rPr lang="en-US" sz="1100" dirty="0">
                <a:solidFill>
                  <a:srgbClr val="4D4D4D"/>
                </a:solidFill>
              </a:rPr>
              <a:t> da RBR. </a:t>
            </a:r>
            <a:r>
              <a:rPr lang="en-US" sz="1100" dirty="0" err="1">
                <a:solidFill>
                  <a:srgbClr val="4D4D4D"/>
                </a:solidFill>
              </a:rPr>
              <a:t>Esse</a:t>
            </a:r>
            <a:r>
              <a:rPr lang="en-US" sz="1100" dirty="0">
                <a:solidFill>
                  <a:srgbClr val="4D4D4D"/>
                </a:solidFill>
              </a:rPr>
              <a:t> valor </a:t>
            </a:r>
            <a:r>
              <a:rPr lang="en-US" sz="1100" dirty="0" err="1">
                <a:solidFill>
                  <a:srgbClr val="4D4D4D"/>
                </a:solidFill>
              </a:rPr>
              <a:t>deverá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informado</a:t>
            </a:r>
            <a:r>
              <a:rPr lang="en-US" sz="1100" dirty="0">
                <a:solidFill>
                  <a:srgbClr val="4D4D4D"/>
                </a:solidFill>
              </a:rPr>
              <a:t> para a </a:t>
            </a:r>
            <a:r>
              <a:rPr lang="en-US" sz="1100" dirty="0" err="1">
                <a:solidFill>
                  <a:srgbClr val="4D4D4D"/>
                </a:solidFill>
              </a:rPr>
              <a:t>retirada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mesma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quantia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conta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vinculada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91" name="CaixaDeTexto 190"/>
          <p:cNvSpPr txBox="1"/>
          <p:nvPr/>
        </p:nvSpPr>
        <p:spPr>
          <a:xfrm>
            <a:off x="-1321745" y="6280528"/>
            <a:ext cx="111153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Patrimônio</a:t>
            </a:r>
            <a:r>
              <a:rPr lang="en-US" dirty="0"/>
              <a:t> Oi:  Rodrigo </a:t>
            </a:r>
            <a:r>
              <a:rPr lang="en-US" dirty="0" err="1"/>
              <a:t>Godinho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50723" y="2485088"/>
            <a:ext cx="10892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D318"/>
                </a:solidFill>
              </a:rPr>
              <a:t>CAP Oi:  </a:t>
            </a:r>
          </a:p>
          <a:p>
            <a:r>
              <a:rPr lang="en-US" dirty="0">
                <a:solidFill>
                  <a:srgbClr val="00D318"/>
                </a:solidFill>
              </a:rPr>
              <a:t>Manuela Grande/ </a:t>
            </a:r>
            <a:r>
              <a:rPr lang="en-US" dirty="0" err="1">
                <a:solidFill>
                  <a:srgbClr val="00D318"/>
                </a:solidFill>
              </a:rPr>
              <a:t>Vitor</a:t>
            </a:r>
            <a:r>
              <a:rPr lang="en-US" dirty="0">
                <a:solidFill>
                  <a:srgbClr val="00D318"/>
                </a:solidFill>
              </a:rPr>
              <a:t> </a:t>
            </a:r>
            <a:r>
              <a:rPr lang="en-US" dirty="0" err="1">
                <a:solidFill>
                  <a:srgbClr val="00D318"/>
                </a:solidFill>
              </a:rPr>
              <a:t>Galvão</a:t>
            </a:r>
            <a:endParaRPr lang="en-US" dirty="0">
              <a:solidFill>
                <a:srgbClr val="00D318"/>
              </a:solidFill>
            </a:endParaRPr>
          </a:p>
        </p:txBody>
      </p:sp>
      <p:graphicFrame>
        <p:nvGraphicFramePr>
          <p:cNvPr id="74" name="Diagrama 73"/>
          <p:cNvGraphicFramePr/>
          <p:nvPr>
            <p:extLst>
              <p:ext uri="{D42A27DB-BD31-4B8C-83A1-F6EECF244321}">
                <p14:modId xmlns:p14="http://schemas.microsoft.com/office/powerpoint/2010/main" val="857179890"/>
              </p:ext>
            </p:extLst>
          </p:nvPr>
        </p:nvGraphicFramePr>
        <p:xfrm>
          <a:off x="3889304" y="2410780"/>
          <a:ext cx="1257885" cy="1111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92" name="Retângulo 91"/>
          <p:cNvSpPr/>
          <p:nvPr/>
        </p:nvSpPr>
        <p:spPr>
          <a:xfrm>
            <a:off x="176638" y="3815634"/>
            <a:ext cx="12392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D318"/>
                </a:solidFill>
              </a:rPr>
              <a:t>Tesouraria</a:t>
            </a:r>
            <a:r>
              <a:rPr lang="en-US" dirty="0">
                <a:solidFill>
                  <a:srgbClr val="00D318"/>
                </a:solidFill>
              </a:rPr>
              <a:t> Oi:</a:t>
            </a:r>
          </a:p>
          <a:p>
            <a:r>
              <a:rPr lang="en-US" dirty="0">
                <a:solidFill>
                  <a:srgbClr val="00D318"/>
                </a:solidFill>
              </a:rPr>
              <a:t>Carolina </a:t>
            </a:r>
            <a:r>
              <a:rPr lang="en-US" dirty="0" err="1">
                <a:solidFill>
                  <a:srgbClr val="00D318"/>
                </a:solidFill>
              </a:rPr>
              <a:t>Gava</a:t>
            </a:r>
            <a:r>
              <a:rPr lang="en-US" dirty="0">
                <a:solidFill>
                  <a:srgbClr val="00D318"/>
                </a:solidFill>
              </a:rPr>
              <a:t>/ </a:t>
            </a:r>
          </a:p>
          <a:p>
            <a:r>
              <a:rPr lang="en-US" dirty="0">
                <a:solidFill>
                  <a:srgbClr val="00D318"/>
                </a:solidFill>
              </a:rPr>
              <a:t>Daniele </a:t>
            </a:r>
            <a:r>
              <a:rPr lang="en-US" dirty="0" err="1">
                <a:solidFill>
                  <a:srgbClr val="00D318"/>
                </a:solidFill>
              </a:rPr>
              <a:t>Gouvea</a:t>
            </a:r>
            <a:endParaRPr lang="en-US" dirty="0">
              <a:solidFill>
                <a:srgbClr val="00D318"/>
              </a:solidFill>
            </a:endParaRPr>
          </a:p>
        </p:txBody>
      </p:sp>
      <p:sp>
        <p:nvSpPr>
          <p:cNvPr id="93" name="Elipse 92">
            <a:hlinkClick r:id="rId15" action="ppaction://hlinksldjump"/>
          </p:cNvPr>
          <p:cNvSpPr/>
          <p:nvPr/>
        </p:nvSpPr>
        <p:spPr>
          <a:xfrm>
            <a:off x="1355446" y="1375819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grpSp>
        <p:nvGrpSpPr>
          <p:cNvPr id="101" name="Agrupar 100"/>
          <p:cNvGrpSpPr/>
          <p:nvPr/>
        </p:nvGrpSpPr>
        <p:grpSpPr>
          <a:xfrm>
            <a:off x="3889304" y="3908847"/>
            <a:ext cx="1256656" cy="1111410"/>
            <a:chOff x="1228" y="0"/>
            <a:chExt cx="1256656" cy="1111410"/>
          </a:xfrm>
        </p:grpSpPr>
        <p:sp>
          <p:nvSpPr>
            <p:cNvPr id="102" name="Retângulo Arredondado 101"/>
            <p:cNvSpPr/>
            <p:nvPr/>
          </p:nvSpPr>
          <p:spPr>
            <a:xfrm>
              <a:off x="1228" y="0"/>
              <a:ext cx="1256656" cy="111141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7" name="CaixaDeTexto 106"/>
            <p:cNvSpPr txBox="1"/>
            <p:nvPr/>
          </p:nvSpPr>
          <p:spPr>
            <a:xfrm>
              <a:off x="33780" y="32552"/>
              <a:ext cx="1191552" cy="1046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/>
              <a:r>
                <a:rPr lang="pt-BR" sz="1200" dirty="0">
                  <a:solidFill>
                    <a:srgbClr val="FFFFFF"/>
                  </a:solidFill>
                </a:rPr>
                <a:t>Libera recursos seguindo fluxo financeiro aprovado pela Anatel </a:t>
              </a:r>
            </a:p>
          </p:txBody>
        </p:sp>
      </p:grpSp>
      <p:graphicFrame>
        <p:nvGraphicFramePr>
          <p:cNvPr id="110" name="Diagrama 109"/>
          <p:cNvGraphicFramePr/>
          <p:nvPr>
            <p:extLst>
              <p:ext uri="{D42A27DB-BD31-4B8C-83A1-F6EECF244321}">
                <p14:modId xmlns:p14="http://schemas.microsoft.com/office/powerpoint/2010/main" val="3099042111"/>
              </p:ext>
            </p:extLst>
          </p:nvPr>
        </p:nvGraphicFramePr>
        <p:xfrm>
          <a:off x="5442639" y="2416384"/>
          <a:ext cx="4737616" cy="1111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pSp>
        <p:nvGrpSpPr>
          <p:cNvPr id="112" name="Agrupar 111"/>
          <p:cNvGrpSpPr/>
          <p:nvPr/>
        </p:nvGrpSpPr>
        <p:grpSpPr>
          <a:xfrm>
            <a:off x="7208923" y="960151"/>
            <a:ext cx="1256656" cy="1111410"/>
            <a:chOff x="1228" y="0"/>
            <a:chExt cx="1256656" cy="1111410"/>
          </a:xfrm>
        </p:grpSpPr>
        <p:sp>
          <p:nvSpPr>
            <p:cNvPr id="113" name="Retângulo Arredondado 112"/>
            <p:cNvSpPr/>
            <p:nvPr/>
          </p:nvSpPr>
          <p:spPr>
            <a:xfrm>
              <a:off x="1228" y="0"/>
              <a:ext cx="1256656" cy="111141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4" name="CaixaDeTexto 113"/>
            <p:cNvSpPr txBox="1"/>
            <p:nvPr/>
          </p:nvSpPr>
          <p:spPr>
            <a:xfrm>
              <a:off x="33780" y="32552"/>
              <a:ext cx="1191552" cy="1046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/>
              <a:r>
                <a:rPr lang="pt-BR" sz="1200" dirty="0">
                  <a:solidFill>
                    <a:srgbClr val="FFFFFF"/>
                  </a:solidFill>
                </a:rPr>
                <a:t>Realiza upload das notas fiscais e/ou notas de débito pagas no </a:t>
              </a:r>
              <a:r>
                <a:rPr lang="pt-BR" sz="1200" dirty="0" err="1">
                  <a:solidFill>
                    <a:srgbClr val="FFFFFF"/>
                  </a:solidFill>
                </a:rPr>
                <a:t>sharepoint</a:t>
              </a:r>
              <a:endParaRPr lang="pt-BR"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5" name="Agrupar 114"/>
          <p:cNvGrpSpPr/>
          <p:nvPr/>
        </p:nvGrpSpPr>
        <p:grpSpPr>
          <a:xfrm rot="16200000" flipV="1">
            <a:off x="7715142" y="2098126"/>
            <a:ext cx="244217" cy="285687"/>
            <a:chOff x="1269055" y="385982"/>
            <a:chExt cx="244217" cy="285687"/>
          </a:xfrm>
        </p:grpSpPr>
        <p:sp>
          <p:nvSpPr>
            <p:cNvPr id="116" name="Seta para a Direita 115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7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18" name="Agrupar 117"/>
          <p:cNvGrpSpPr/>
          <p:nvPr/>
        </p:nvGrpSpPr>
        <p:grpSpPr>
          <a:xfrm rot="16200000" flipV="1">
            <a:off x="5640477" y="3816223"/>
            <a:ext cx="792000" cy="313200"/>
            <a:chOff x="1269055" y="385982"/>
            <a:chExt cx="244217" cy="285687"/>
          </a:xfrm>
        </p:grpSpPr>
        <p:sp>
          <p:nvSpPr>
            <p:cNvPr id="119" name="Seta para a Direita 11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0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121" name="Agrupar 120"/>
          <p:cNvGrpSpPr/>
          <p:nvPr/>
        </p:nvGrpSpPr>
        <p:grpSpPr>
          <a:xfrm rot="5400000">
            <a:off x="4395523" y="2102629"/>
            <a:ext cx="244217" cy="285687"/>
            <a:chOff x="1269055" y="385982"/>
            <a:chExt cx="244217" cy="285687"/>
          </a:xfrm>
        </p:grpSpPr>
        <p:sp>
          <p:nvSpPr>
            <p:cNvPr id="122" name="Seta para a Direita 121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3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24" name="Agrupar 123"/>
          <p:cNvGrpSpPr/>
          <p:nvPr/>
        </p:nvGrpSpPr>
        <p:grpSpPr>
          <a:xfrm rot="5400000">
            <a:off x="4395522" y="3551839"/>
            <a:ext cx="244217" cy="285687"/>
            <a:chOff x="1269055" y="385982"/>
            <a:chExt cx="244217" cy="285687"/>
          </a:xfrm>
        </p:grpSpPr>
        <p:sp>
          <p:nvSpPr>
            <p:cNvPr id="125" name="Seta para a Direita 124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28" name="Agrupar 127"/>
          <p:cNvGrpSpPr/>
          <p:nvPr/>
        </p:nvGrpSpPr>
        <p:grpSpPr>
          <a:xfrm>
            <a:off x="1715915" y="1384416"/>
            <a:ext cx="244217" cy="285687"/>
            <a:chOff x="1269055" y="385982"/>
            <a:chExt cx="244217" cy="285687"/>
          </a:xfrm>
        </p:grpSpPr>
        <p:sp>
          <p:nvSpPr>
            <p:cNvPr id="129" name="Seta para a Direita 12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0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31" name="Agrupar 130"/>
          <p:cNvGrpSpPr/>
          <p:nvPr/>
        </p:nvGrpSpPr>
        <p:grpSpPr>
          <a:xfrm>
            <a:off x="8923599" y="3883338"/>
            <a:ext cx="1256656" cy="1111410"/>
            <a:chOff x="1228" y="0"/>
            <a:chExt cx="1256656" cy="1111410"/>
          </a:xfrm>
        </p:grpSpPr>
        <p:sp>
          <p:nvSpPr>
            <p:cNvPr id="132" name="Retângulo Arredondado 131"/>
            <p:cNvSpPr/>
            <p:nvPr/>
          </p:nvSpPr>
          <p:spPr>
            <a:xfrm>
              <a:off x="1228" y="0"/>
              <a:ext cx="1256656" cy="111141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" name="CaixaDeTexto 132"/>
            <p:cNvSpPr txBox="1"/>
            <p:nvPr/>
          </p:nvSpPr>
          <p:spPr>
            <a:xfrm>
              <a:off x="33780" y="32552"/>
              <a:ext cx="1191552" cy="1046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/>
              <a:r>
                <a:rPr lang="pt-BR" sz="1200" dirty="0">
                  <a:solidFill>
                    <a:srgbClr val="FFFFFF"/>
                  </a:solidFill>
                </a:rPr>
                <a:t>Baixa e Realiza upload do extrato do fundo no </a:t>
              </a:r>
              <a:r>
                <a:rPr lang="pt-BR" sz="1200" dirty="0" err="1">
                  <a:solidFill>
                    <a:srgbClr val="FFFFFF"/>
                  </a:solidFill>
                </a:rPr>
                <a:t>sharepoint</a:t>
              </a:r>
              <a:endParaRPr lang="pt-BR"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4" name="Agrupar 133"/>
          <p:cNvGrpSpPr/>
          <p:nvPr/>
        </p:nvGrpSpPr>
        <p:grpSpPr>
          <a:xfrm>
            <a:off x="10565587" y="5367177"/>
            <a:ext cx="1256656" cy="1111410"/>
            <a:chOff x="1228" y="0"/>
            <a:chExt cx="1256656" cy="1111410"/>
          </a:xfrm>
        </p:grpSpPr>
        <p:sp>
          <p:nvSpPr>
            <p:cNvPr id="135" name="Retângulo Arredondado 134"/>
            <p:cNvSpPr/>
            <p:nvPr/>
          </p:nvSpPr>
          <p:spPr>
            <a:xfrm>
              <a:off x="1228" y="0"/>
              <a:ext cx="1256656" cy="111141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6" name="CaixaDeTexto 135"/>
            <p:cNvSpPr txBox="1"/>
            <p:nvPr/>
          </p:nvSpPr>
          <p:spPr>
            <a:xfrm>
              <a:off x="33780" y="32552"/>
              <a:ext cx="1191552" cy="1046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/>
              <a:r>
                <a:rPr lang="pt-BR" sz="1200" dirty="0">
                  <a:solidFill>
                    <a:srgbClr val="FFFFFF"/>
                  </a:solidFill>
                </a:rPr>
                <a:t>Baixa extratos e notas fiscais do </a:t>
              </a:r>
              <a:r>
                <a:rPr lang="pt-BR" sz="1200" dirty="0" err="1">
                  <a:solidFill>
                    <a:srgbClr val="FFFFFF"/>
                  </a:solidFill>
                </a:rPr>
                <a:t>sharepoint</a:t>
              </a:r>
              <a:r>
                <a:rPr lang="pt-BR" sz="1200" dirty="0">
                  <a:solidFill>
                    <a:srgbClr val="FFFFFF"/>
                  </a:solidFill>
                </a:rPr>
                <a:t> para envio a Anatel</a:t>
              </a:r>
            </a:p>
          </p:txBody>
        </p:sp>
      </p:grpSp>
      <p:sp>
        <p:nvSpPr>
          <p:cNvPr id="137" name="Retângulo 136"/>
          <p:cNvSpPr/>
          <p:nvPr/>
        </p:nvSpPr>
        <p:spPr>
          <a:xfrm>
            <a:off x="176638" y="5583918"/>
            <a:ext cx="1294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D318"/>
                </a:solidFill>
              </a:rPr>
              <a:t>Regulatório</a:t>
            </a:r>
            <a:r>
              <a:rPr lang="en-US" dirty="0">
                <a:solidFill>
                  <a:srgbClr val="00D318"/>
                </a:solidFill>
              </a:rPr>
              <a:t> Oi:</a:t>
            </a:r>
          </a:p>
          <a:p>
            <a:r>
              <a:rPr lang="en-US" dirty="0">
                <a:solidFill>
                  <a:srgbClr val="00D318"/>
                </a:solidFill>
              </a:rPr>
              <a:t>Carlos </a:t>
            </a:r>
            <a:r>
              <a:rPr lang="en-US" dirty="0" err="1">
                <a:solidFill>
                  <a:srgbClr val="00D318"/>
                </a:solidFill>
              </a:rPr>
              <a:t>Galvão</a:t>
            </a:r>
            <a:r>
              <a:rPr lang="en-US" dirty="0">
                <a:solidFill>
                  <a:srgbClr val="00D318"/>
                </a:solidFill>
              </a:rPr>
              <a:t>/</a:t>
            </a:r>
          </a:p>
          <a:p>
            <a:r>
              <a:rPr lang="pt-BR" dirty="0">
                <a:solidFill>
                  <a:srgbClr val="00D318"/>
                </a:solidFill>
              </a:rPr>
              <a:t>Renata Tumba</a:t>
            </a:r>
            <a:endParaRPr lang="en-US" dirty="0">
              <a:solidFill>
                <a:srgbClr val="00D318"/>
              </a:solidFill>
            </a:endParaRPr>
          </a:p>
        </p:txBody>
      </p:sp>
      <p:grpSp>
        <p:nvGrpSpPr>
          <p:cNvPr id="138" name="Agrupar 137"/>
          <p:cNvGrpSpPr/>
          <p:nvPr/>
        </p:nvGrpSpPr>
        <p:grpSpPr>
          <a:xfrm rot="5400000">
            <a:off x="9171946" y="3152650"/>
            <a:ext cx="3924000" cy="370337"/>
            <a:chOff x="1269055" y="385982"/>
            <a:chExt cx="244217" cy="370337"/>
          </a:xfrm>
        </p:grpSpPr>
        <p:sp>
          <p:nvSpPr>
            <p:cNvPr id="139" name="Seta para a Direita 13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1" name="Seta para a Direita 4"/>
            <p:cNvSpPr txBox="1"/>
            <p:nvPr/>
          </p:nvSpPr>
          <p:spPr>
            <a:xfrm>
              <a:off x="1269055" y="443119"/>
              <a:ext cx="170952" cy="313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142" name="Retângulo 141"/>
          <p:cNvSpPr/>
          <p:nvPr/>
        </p:nvSpPr>
        <p:spPr>
          <a:xfrm>
            <a:off x="10336491" y="4338546"/>
            <a:ext cx="756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3" name="Retângulo 142"/>
          <p:cNvSpPr/>
          <p:nvPr/>
        </p:nvSpPr>
        <p:spPr>
          <a:xfrm>
            <a:off x="10336491" y="2886272"/>
            <a:ext cx="756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4" name="Retângulo 143"/>
          <p:cNvSpPr/>
          <p:nvPr/>
        </p:nvSpPr>
        <p:spPr>
          <a:xfrm>
            <a:off x="8640426" y="1372592"/>
            <a:ext cx="2448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45" name="Agrupar 144"/>
          <p:cNvGrpSpPr/>
          <p:nvPr/>
        </p:nvGrpSpPr>
        <p:grpSpPr>
          <a:xfrm>
            <a:off x="5313980" y="4299528"/>
            <a:ext cx="3456000" cy="320400"/>
            <a:chOff x="1269055" y="385982"/>
            <a:chExt cx="244217" cy="285687"/>
          </a:xfrm>
        </p:grpSpPr>
        <p:sp>
          <p:nvSpPr>
            <p:cNvPr id="146" name="Seta para a Direita 145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7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48" name="Agrupar 147"/>
          <p:cNvGrpSpPr/>
          <p:nvPr/>
        </p:nvGrpSpPr>
        <p:grpSpPr>
          <a:xfrm>
            <a:off x="5059944" y="1884823"/>
            <a:ext cx="383776" cy="450736"/>
            <a:chOff x="1460542" y="2510839"/>
            <a:chExt cx="421302" cy="597202"/>
          </a:xfrm>
        </p:grpSpPr>
        <p:grpSp>
          <p:nvGrpSpPr>
            <p:cNvPr id="149" name="Agrupar 148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51" name="Canto Dobrado 150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52" name="Conector reto 151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53" name="Conector reto 152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54" name="Conector reto 153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50" name="Elipse 149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56" name="Retângulo 155"/>
          <p:cNvSpPr/>
          <p:nvPr/>
        </p:nvSpPr>
        <p:spPr>
          <a:xfrm>
            <a:off x="1614404" y="3466335"/>
            <a:ext cx="1857467" cy="430887"/>
          </a:xfrm>
          <a:prstGeom prst="rect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/>
              <a:t>Sharepoint</a:t>
            </a:r>
            <a:r>
              <a:rPr lang="en-US" dirty="0"/>
              <a:t> CAP – end: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7" name="Elipse 156"/>
          <p:cNvSpPr/>
          <p:nvPr/>
        </p:nvSpPr>
        <p:spPr>
          <a:xfrm>
            <a:off x="4947678" y="4726143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1b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1558044" y="2229521"/>
            <a:ext cx="225018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Lista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distribuição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do @: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Vitor Galvão;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Manuela Sá;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Daniele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Gouvea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Carolina Gava;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9" name="Agrupar 158"/>
          <p:cNvGrpSpPr/>
          <p:nvPr/>
        </p:nvGrpSpPr>
        <p:grpSpPr>
          <a:xfrm>
            <a:off x="5046750" y="3396769"/>
            <a:ext cx="383776" cy="450736"/>
            <a:chOff x="1460542" y="2510839"/>
            <a:chExt cx="421302" cy="597202"/>
          </a:xfrm>
        </p:grpSpPr>
        <p:grpSp>
          <p:nvGrpSpPr>
            <p:cNvPr id="160" name="Agrupar 159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62" name="Canto Dobrado 161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3" name="Conector reto 162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4" name="Conector reto 163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5" name="Conector reto 164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61" name="Elipse 160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66" name="Agrupar 165"/>
          <p:cNvGrpSpPr/>
          <p:nvPr/>
        </p:nvGrpSpPr>
        <p:grpSpPr>
          <a:xfrm>
            <a:off x="8330034" y="1869241"/>
            <a:ext cx="262347" cy="298880"/>
            <a:chOff x="3722405" y="2929355"/>
            <a:chExt cx="504000" cy="684000"/>
          </a:xfrm>
          <a:solidFill>
            <a:srgbClr val="CC00CC"/>
          </a:solidFill>
        </p:grpSpPr>
        <p:sp>
          <p:nvSpPr>
            <p:cNvPr id="167" name="Canto Dobrado 166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68" name="Conector reto 16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9" name="Conector reto 16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0" name="Conector reto 16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81" name="Agrupar 180"/>
          <p:cNvGrpSpPr/>
          <p:nvPr/>
        </p:nvGrpSpPr>
        <p:grpSpPr>
          <a:xfrm>
            <a:off x="8519807" y="514205"/>
            <a:ext cx="298222" cy="373686"/>
            <a:chOff x="211236" y="2870010"/>
            <a:chExt cx="298222" cy="373686"/>
          </a:xfrm>
        </p:grpSpPr>
        <p:grpSp>
          <p:nvGrpSpPr>
            <p:cNvPr id="182" name="Agrupar 181"/>
            <p:cNvGrpSpPr/>
            <p:nvPr/>
          </p:nvGrpSpPr>
          <p:grpSpPr>
            <a:xfrm>
              <a:off x="211236" y="2870010"/>
              <a:ext cx="180000" cy="252000"/>
              <a:chOff x="3722405" y="2929355"/>
              <a:chExt cx="504000" cy="684000"/>
            </a:xfrm>
          </p:grpSpPr>
          <p:sp>
            <p:nvSpPr>
              <p:cNvPr id="188" name="Canto Dobrado 187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89" name="Conector reto 188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90" name="Conector reto 189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95" name="Conector reto 194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83" name="Elipse 182"/>
            <p:cNvSpPr/>
            <p:nvPr/>
          </p:nvSpPr>
          <p:spPr>
            <a:xfrm>
              <a:off x="365458" y="3092219"/>
              <a:ext cx="144000" cy="151477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196" name="Agrupar 195"/>
          <p:cNvGrpSpPr/>
          <p:nvPr/>
        </p:nvGrpSpPr>
        <p:grpSpPr>
          <a:xfrm>
            <a:off x="6865807" y="510711"/>
            <a:ext cx="180000" cy="252000"/>
            <a:chOff x="3722405" y="2929355"/>
            <a:chExt cx="504000" cy="684000"/>
          </a:xfrm>
          <a:solidFill>
            <a:srgbClr val="CC00CC"/>
          </a:solidFill>
        </p:grpSpPr>
        <p:sp>
          <p:nvSpPr>
            <p:cNvPr id="197" name="Canto Dobrado 196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98" name="Conector reto 19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9" name="Conector reto 19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0" name="Conector reto 19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08" name="Retângulo 207"/>
          <p:cNvSpPr/>
          <p:nvPr/>
        </p:nvSpPr>
        <p:spPr>
          <a:xfrm>
            <a:off x="8733012" y="538590"/>
            <a:ext cx="2697218" cy="261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Pagamento_ContaVinculada_AAAAMMDD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209" name="CaixaDeTexto 208"/>
          <p:cNvSpPr txBox="1"/>
          <p:nvPr/>
        </p:nvSpPr>
        <p:spPr>
          <a:xfrm>
            <a:off x="7117430" y="587254"/>
            <a:ext cx="1198307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100" dirty="0">
                <a:solidFill>
                  <a:srgbClr val="4D4D4D"/>
                </a:solidFill>
              </a:rPr>
              <a:t>Nota fiscal </a:t>
            </a:r>
            <a:r>
              <a:rPr lang="en-US" sz="1100" dirty="0" err="1">
                <a:solidFill>
                  <a:srgbClr val="4D4D4D"/>
                </a:solidFill>
              </a:rPr>
              <a:t>emitida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212" name="Elipse 211">
            <a:hlinkClick r:id="rId21" action="ppaction://hlinksldjump"/>
          </p:cNvPr>
          <p:cNvSpPr/>
          <p:nvPr/>
        </p:nvSpPr>
        <p:spPr>
          <a:xfrm>
            <a:off x="6862988" y="570272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13" name="Elipse 212">
            <a:hlinkClick r:id="rId22" action="ppaction://hlinksldjump"/>
          </p:cNvPr>
          <p:cNvSpPr/>
          <p:nvPr/>
        </p:nvSpPr>
        <p:spPr>
          <a:xfrm>
            <a:off x="8519723" y="575188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5" name="Elipse 154">
            <a:hlinkClick r:id="rId23" action="ppaction://hlinksldjump"/>
          </p:cNvPr>
          <p:cNvSpPr/>
          <p:nvPr/>
        </p:nvSpPr>
        <p:spPr>
          <a:xfrm>
            <a:off x="5883759" y="1760577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</a:t>
            </a:r>
          </a:p>
        </p:txBody>
      </p:sp>
      <p:grpSp>
        <p:nvGrpSpPr>
          <p:cNvPr id="158" name="Agrupar 157"/>
          <p:cNvGrpSpPr/>
          <p:nvPr/>
        </p:nvGrpSpPr>
        <p:grpSpPr>
          <a:xfrm rot="16200000" flipV="1">
            <a:off x="5916545" y="2084247"/>
            <a:ext cx="244217" cy="285687"/>
            <a:chOff x="1269055" y="385982"/>
            <a:chExt cx="244217" cy="285687"/>
          </a:xfrm>
        </p:grpSpPr>
        <p:sp>
          <p:nvSpPr>
            <p:cNvPr id="185" name="Seta para a Direita 184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127" name="Botão de ação: Retornar 126">
            <a:hlinkClick r:id="rId24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40" name="Agrupar 139"/>
          <p:cNvGrpSpPr/>
          <p:nvPr/>
        </p:nvGrpSpPr>
        <p:grpSpPr>
          <a:xfrm>
            <a:off x="1624027" y="873438"/>
            <a:ext cx="383776" cy="450736"/>
            <a:chOff x="1460542" y="2510839"/>
            <a:chExt cx="421302" cy="597202"/>
          </a:xfrm>
        </p:grpSpPr>
        <p:grpSp>
          <p:nvGrpSpPr>
            <p:cNvPr id="187" name="Agrupar 186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93" name="Canto Dobrado 192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94" name="Conector reto 193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02" name="Conector reto 201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03" name="Conector reto 202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92" name="Elipse 191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08" name="Texto Explicativo Retangular com Cantos Arredondados 107"/>
          <p:cNvSpPr/>
          <p:nvPr/>
        </p:nvSpPr>
        <p:spPr>
          <a:xfrm>
            <a:off x="10439448" y="915341"/>
            <a:ext cx="1447753" cy="238363"/>
          </a:xfrm>
          <a:prstGeom prst="wedgeRoundRectCallout">
            <a:avLst>
              <a:gd name="adj1" fmla="val -40762"/>
              <a:gd name="adj2" fmla="val 91584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SLA</a:t>
            </a:r>
          </a:p>
        </p:txBody>
      </p:sp>
    </p:spTree>
    <p:extLst>
      <p:ext uri="{BB962C8B-B14F-4D97-AF65-F5344CB8AC3E}">
        <p14:creationId xmlns:p14="http://schemas.microsoft.com/office/powerpoint/2010/main" val="3172912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8616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etângulo 49"/>
          <p:cNvSpPr/>
          <p:nvPr/>
        </p:nvSpPr>
        <p:spPr>
          <a:xfrm>
            <a:off x="5954190" y="777175"/>
            <a:ext cx="5750227" cy="40680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5954190" y="4917286"/>
            <a:ext cx="5750227" cy="12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10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Fluxo</a:t>
            </a:r>
            <a:r>
              <a:rPr lang="en-US" dirty="0"/>
              <a:t> </a:t>
            </a:r>
            <a:r>
              <a:rPr lang="en-US" dirty="0" err="1"/>
              <a:t>financeiro</a:t>
            </a:r>
            <a:r>
              <a:rPr lang="en-US" dirty="0"/>
              <a:t> para </a:t>
            </a:r>
            <a:r>
              <a:rPr lang="en-US" dirty="0" err="1"/>
              <a:t>tratamento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vinculados</a:t>
            </a:r>
            <a:r>
              <a:rPr lang="en-US" dirty="0"/>
              <a:t> </a:t>
            </a:r>
            <a:r>
              <a:rPr lang="en-US" dirty="0" err="1"/>
              <a:t>acordado</a:t>
            </a:r>
            <a:r>
              <a:rPr lang="en-US" dirty="0"/>
              <a:t> com </a:t>
            </a:r>
            <a:r>
              <a:rPr lang="en-US" dirty="0" err="1"/>
              <a:t>Anatel</a:t>
            </a:r>
            <a:endParaRPr lang="en-US" dirty="0"/>
          </a:p>
        </p:txBody>
      </p:sp>
      <p:grpSp>
        <p:nvGrpSpPr>
          <p:cNvPr id="24" name="Agrupar 23"/>
          <p:cNvGrpSpPr/>
          <p:nvPr/>
        </p:nvGrpSpPr>
        <p:grpSpPr>
          <a:xfrm>
            <a:off x="437605" y="1121973"/>
            <a:ext cx="5192972" cy="4783537"/>
            <a:chOff x="363863" y="1650060"/>
            <a:chExt cx="5192972" cy="4783537"/>
          </a:xfrm>
          <a:solidFill>
            <a:srgbClr val="00D318"/>
          </a:solidFill>
        </p:grpSpPr>
        <p:sp>
          <p:nvSpPr>
            <p:cNvPr id="25" name="Retângulo Arredondado 24"/>
            <p:cNvSpPr/>
            <p:nvPr/>
          </p:nvSpPr>
          <p:spPr>
            <a:xfrm>
              <a:off x="2465627" y="3017110"/>
              <a:ext cx="1146412" cy="682388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  <a:latin typeface="Simplon BP Regular" pitchFamily="50" charset="0"/>
                </a:rPr>
                <a:t>Conta  Corrente*</a:t>
              </a:r>
            </a:p>
          </p:txBody>
        </p:sp>
        <p:sp>
          <p:nvSpPr>
            <p:cNvPr id="26" name="Retângulo Arredondado 25"/>
            <p:cNvSpPr/>
            <p:nvPr/>
          </p:nvSpPr>
          <p:spPr>
            <a:xfrm>
              <a:off x="4364935" y="4384160"/>
              <a:ext cx="1146412" cy="682388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  <a:latin typeface="Simplon BP Regular" pitchFamily="50" charset="0"/>
                </a:rPr>
                <a:t>Conta Contas a Pagar</a:t>
              </a:r>
            </a:p>
          </p:txBody>
        </p:sp>
        <p:sp>
          <p:nvSpPr>
            <p:cNvPr id="27" name="Retângulo Arredondado 26"/>
            <p:cNvSpPr/>
            <p:nvPr/>
          </p:nvSpPr>
          <p:spPr>
            <a:xfrm>
              <a:off x="4364935" y="1650060"/>
              <a:ext cx="1146412" cy="682388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  <a:latin typeface="Simplon BP Regular" pitchFamily="50" charset="0"/>
                </a:rPr>
                <a:t>Fundo de Investimento</a:t>
              </a:r>
            </a:p>
          </p:txBody>
        </p:sp>
        <p:sp>
          <p:nvSpPr>
            <p:cNvPr id="28" name="Retângulo Arredondado 27"/>
            <p:cNvSpPr/>
            <p:nvPr/>
          </p:nvSpPr>
          <p:spPr>
            <a:xfrm>
              <a:off x="4364934" y="3017109"/>
              <a:ext cx="1146412" cy="682388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  <a:latin typeface="Simplon BP Regular" pitchFamily="50" charset="0"/>
                </a:rPr>
                <a:t>Centralizadora de Tesouraria</a:t>
              </a:r>
            </a:p>
          </p:txBody>
        </p:sp>
        <p:cxnSp>
          <p:nvCxnSpPr>
            <p:cNvPr id="29" name="Conector de Seta Reta 28"/>
            <p:cNvCxnSpPr/>
            <p:nvPr/>
          </p:nvCxnSpPr>
          <p:spPr>
            <a:xfrm>
              <a:off x="1510275" y="3358304"/>
              <a:ext cx="955352" cy="0"/>
            </a:xfrm>
            <a:prstGeom prst="straightConnector1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Angulado 29"/>
            <p:cNvCxnSpPr>
              <a:stCxn id="25" idx="0"/>
              <a:endCxn id="27" idx="1"/>
            </p:cNvCxnSpPr>
            <p:nvPr/>
          </p:nvCxnSpPr>
          <p:spPr>
            <a:xfrm rot="5400000" flipH="1" flipV="1">
              <a:off x="3188956" y="1841131"/>
              <a:ext cx="1025856" cy="1326102"/>
            </a:xfrm>
            <a:prstGeom prst="bentConnector2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Angulado 30"/>
            <p:cNvCxnSpPr>
              <a:stCxn id="27" idx="2"/>
              <a:endCxn id="28" idx="0"/>
            </p:cNvCxnSpPr>
            <p:nvPr/>
          </p:nvCxnSpPr>
          <p:spPr>
            <a:xfrm rot="5400000">
              <a:off x="4595811" y="2674778"/>
              <a:ext cx="684661" cy="1"/>
            </a:xfrm>
            <a:prstGeom prst="bentConnector3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Angulado 31"/>
            <p:cNvCxnSpPr>
              <a:stCxn id="28" idx="1"/>
              <a:endCxn id="25" idx="3"/>
            </p:cNvCxnSpPr>
            <p:nvPr/>
          </p:nvCxnSpPr>
          <p:spPr>
            <a:xfrm rot="10800000" flipV="1">
              <a:off x="3612040" y="3358302"/>
              <a:ext cx="752895" cy="1"/>
            </a:xfrm>
            <a:prstGeom prst="bentConnector3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Angulado 32"/>
            <p:cNvCxnSpPr/>
            <p:nvPr/>
          </p:nvCxnSpPr>
          <p:spPr>
            <a:xfrm rot="5400000">
              <a:off x="4641299" y="5396368"/>
              <a:ext cx="684661" cy="1"/>
            </a:xfrm>
            <a:prstGeom prst="bentConnector3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tângulo Arredondado 33"/>
            <p:cNvSpPr/>
            <p:nvPr/>
          </p:nvSpPr>
          <p:spPr>
            <a:xfrm>
              <a:off x="4410423" y="5751209"/>
              <a:ext cx="1146412" cy="682388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  <a:latin typeface="Simplon BP Regular" pitchFamily="50" charset="0"/>
                </a:rPr>
                <a:t>Fornecedores</a:t>
              </a:r>
            </a:p>
          </p:txBody>
        </p:sp>
        <p:cxnSp>
          <p:nvCxnSpPr>
            <p:cNvPr id="35" name="Conector Angulado 34"/>
            <p:cNvCxnSpPr>
              <a:stCxn id="25" idx="2"/>
              <a:endCxn id="26" idx="1"/>
            </p:cNvCxnSpPr>
            <p:nvPr/>
          </p:nvCxnSpPr>
          <p:spPr>
            <a:xfrm rot="16200000" flipH="1">
              <a:off x="3188956" y="3549375"/>
              <a:ext cx="1025856" cy="1326102"/>
            </a:xfrm>
            <a:prstGeom prst="bentConnector2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Agrupar 35"/>
            <p:cNvGrpSpPr/>
            <p:nvPr/>
          </p:nvGrpSpPr>
          <p:grpSpPr>
            <a:xfrm>
              <a:off x="363863" y="2060442"/>
              <a:ext cx="1025015" cy="2595720"/>
              <a:chOff x="7927256" y="2556495"/>
              <a:chExt cx="1025015" cy="2595720"/>
            </a:xfrm>
            <a:grpFill/>
          </p:grpSpPr>
          <p:pic>
            <p:nvPicPr>
              <p:cNvPr id="37" name="Imagem 36"/>
              <p:cNvPicPr>
                <a:picLocks noChangeAspect="1"/>
              </p:cNvPicPr>
              <p:nvPr/>
            </p:nvPicPr>
            <p:blipFill rotWithShape="1">
              <a:blip r:embed="rId5"/>
              <a:srcRect l="62771" t="57964" r="29804" b="29737"/>
              <a:stretch/>
            </p:blipFill>
            <p:spPr>
              <a:xfrm>
                <a:off x="7971500" y="2556495"/>
                <a:ext cx="966019" cy="899652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38" name="Imagem 37"/>
              <p:cNvPicPr>
                <a:picLocks noChangeAspect="1"/>
              </p:cNvPicPr>
              <p:nvPr/>
            </p:nvPicPr>
            <p:blipFill rotWithShape="1">
              <a:blip r:embed="rId5"/>
              <a:srcRect l="75693" t="57964" r="16429" b="29737"/>
              <a:stretch/>
            </p:blipFill>
            <p:spPr>
              <a:xfrm>
                <a:off x="7927256" y="3352911"/>
                <a:ext cx="1025015" cy="899652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39" name="Imagem 38"/>
              <p:cNvPicPr>
                <a:picLocks noChangeAspect="1"/>
              </p:cNvPicPr>
              <p:nvPr/>
            </p:nvPicPr>
            <p:blipFill rotWithShape="1">
              <a:blip r:embed="rId5"/>
              <a:srcRect l="83061" t="57964" r="10138" b="29737"/>
              <a:stretch/>
            </p:blipFill>
            <p:spPr>
              <a:xfrm>
                <a:off x="8008372" y="4252563"/>
                <a:ext cx="884900" cy="899652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</p:grpSp>
      <p:sp>
        <p:nvSpPr>
          <p:cNvPr id="40" name="Elipse 39"/>
          <p:cNvSpPr/>
          <p:nvPr/>
        </p:nvSpPr>
        <p:spPr>
          <a:xfrm>
            <a:off x="1898394" y="2489022"/>
            <a:ext cx="205200" cy="20390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D4D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b="1" dirty="0">
                <a:solidFill>
                  <a:schemeClr val="bg1"/>
                </a:solidFill>
                <a:latin typeface="Simplon BP Regular" pitchFamily="50" charset="0"/>
              </a:rPr>
              <a:t>1</a:t>
            </a:r>
          </a:p>
        </p:txBody>
      </p:sp>
      <p:sp>
        <p:nvSpPr>
          <p:cNvPr id="41" name="Elipse 40"/>
          <p:cNvSpPr/>
          <p:nvPr/>
        </p:nvSpPr>
        <p:spPr>
          <a:xfrm>
            <a:off x="3959628" y="1131150"/>
            <a:ext cx="205200" cy="20390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D4D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b="1" dirty="0">
                <a:solidFill>
                  <a:schemeClr val="bg1"/>
                </a:solidFill>
                <a:latin typeface="Simplon BP Regular" pitchFamily="50" charset="0"/>
              </a:rPr>
              <a:t>2</a:t>
            </a:r>
          </a:p>
        </p:txBody>
      </p:sp>
      <p:sp>
        <p:nvSpPr>
          <p:cNvPr id="42" name="Elipse 41"/>
          <p:cNvSpPr/>
          <p:nvPr/>
        </p:nvSpPr>
        <p:spPr>
          <a:xfrm>
            <a:off x="4659237" y="2045630"/>
            <a:ext cx="205200" cy="20390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D4D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b="1" dirty="0">
                <a:solidFill>
                  <a:schemeClr val="bg1"/>
                </a:solidFill>
                <a:latin typeface="Simplon BP Regular" pitchFamily="50" charset="0"/>
              </a:rPr>
              <a:t>3</a:t>
            </a:r>
          </a:p>
        </p:txBody>
      </p:sp>
      <p:sp>
        <p:nvSpPr>
          <p:cNvPr id="43" name="Elipse 42"/>
          <p:cNvSpPr/>
          <p:nvPr/>
        </p:nvSpPr>
        <p:spPr>
          <a:xfrm>
            <a:off x="3959628" y="2489021"/>
            <a:ext cx="205200" cy="20390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D4D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b="1" dirty="0">
                <a:solidFill>
                  <a:schemeClr val="bg1"/>
                </a:solidFill>
                <a:latin typeface="Simplon BP Regular" pitchFamily="50" charset="0"/>
              </a:rPr>
              <a:t>4</a:t>
            </a:r>
          </a:p>
        </p:txBody>
      </p:sp>
      <p:sp>
        <p:nvSpPr>
          <p:cNvPr id="44" name="Elipse 43"/>
          <p:cNvSpPr/>
          <p:nvPr/>
        </p:nvSpPr>
        <p:spPr>
          <a:xfrm>
            <a:off x="3959628" y="3901822"/>
            <a:ext cx="205200" cy="20390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D4D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b="1" dirty="0">
                <a:solidFill>
                  <a:schemeClr val="bg1"/>
                </a:solidFill>
                <a:latin typeface="Simplon BP Regular" pitchFamily="50" charset="0"/>
              </a:rPr>
              <a:t>5</a:t>
            </a:r>
          </a:p>
        </p:txBody>
      </p:sp>
      <p:sp>
        <p:nvSpPr>
          <p:cNvPr id="45" name="Elipse 44"/>
          <p:cNvSpPr/>
          <p:nvPr/>
        </p:nvSpPr>
        <p:spPr>
          <a:xfrm>
            <a:off x="4659237" y="4810058"/>
            <a:ext cx="205200" cy="203903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D4D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b="1" dirty="0">
                <a:solidFill>
                  <a:schemeClr val="bg1"/>
                </a:solidFill>
                <a:latin typeface="Simplon BP Regular" pitchFamily="50" charset="0"/>
              </a:rPr>
              <a:t>6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5967694" y="762427"/>
            <a:ext cx="5795715" cy="4462679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  <a:effectLst/>
        </p:spPr>
        <p:txBody>
          <a:bodyPr lIns="108000" tIns="108000" rIns="108000" bIns="108000" anchor="t"/>
          <a:lstStyle>
            <a:defPPr>
              <a:defRPr lang="en-GB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1pPr>
            <a:lvl2pPr marL="742950" indent="-28575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2pPr>
            <a:lvl3pPr marL="1143000" indent="-228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3pPr>
            <a:lvl4pPr marL="1600200" indent="-228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4pPr>
            <a:lvl5pPr marL="2057400" indent="-228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Gothic" pitchFamily="49" charset="-128"/>
                <a:cs typeface="+mn-cs"/>
              </a:defRPr>
            </a:lvl9pPr>
          </a:lstStyle>
          <a:p>
            <a:pPr marL="0" lvl="1" indent="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pt-BR" sz="1400" b="1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Descrição do Fluxo:</a:t>
            </a:r>
          </a:p>
          <a:p>
            <a:pPr marL="228600" lvl="1" indent="-22860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Oi recebe recursos relativos à alienação dos bens reversíveis na conta corrente;</a:t>
            </a:r>
          </a:p>
          <a:p>
            <a:pPr marL="228600" lvl="1" indent="-22860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Os recursos são aplicados em fundo de investimento** exclusivo da Companhia até a sua utilização. </a:t>
            </a:r>
          </a:p>
          <a:p>
            <a:pPr marL="176213" lvl="1" indent="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Esta etapa garante a remuneração dos recursos, bem como </a:t>
            </a:r>
            <a:r>
              <a:rPr lang="pt-BR" sz="1400" b="1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reduz</a:t>
            </a: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 significativamente o </a:t>
            </a:r>
            <a:r>
              <a:rPr lang="pt-BR" sz="1400" b="1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risco de bloqueios judiciais</a:t>
            </a: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.</a:t>
            </a:r>
          </a:p>
          <a:p>
            <a:pPr marL="176213" lvl="1" indent="-176213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+mj-lt"/>
              <a:buAutoNum type="arabicPeriod" startAt="3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Oi resgata recursos do fundo gradualmente, conforme a execução de pagamentos autorizados. Os recursos precisam circular pela conta de Tesouraria, conta vinculada ao fundo para resgates.</a:t>
            </a:r>
          </a:p>
          <a:p>
            <a:pPr marL="176213" lvl="1" indent="-176213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+mj-lt"/>
              <a:buAutoNum type="arabicPeriod" startAt="3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Os recursos relativos aos pagamentos são transferidos para a conta corrente para registro do fluxo financeiro para comprovação.</a:t>
            </a:r>
          </a:p>
          <a:p>
            <a:pPr marL="176213" lvl="1" indent="-176213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+mj-lt"/>
              <a:buAutoNum type="arabicPeriod" startAt="3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Os recursos são transferidos para a conta do Contas a Pagar para a execução dos pagamentos</a:t>
            </a:r>
          </a:p>
          <a:p>
            <a:pPr marL="176213" lvl="1" indent="-176213" algn="just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rabicPeriod" startAt="3"/>
              <a:defRPr/>
            </a:pPr>
            <a:r>
              <a:rPr lang="pt-BR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 Contas a Pagar irá realizar os pagamentos para os serviços autorizados pela Anatel</a:t>
            </a:r>
          </a:p>
          <a:p>
            <a:pPr marL="0" lvl="1" indent="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pt-BR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Informações que serão levantadas e compartilhadas:</a:t>
            </a:r>
          </a:p>
          <a:p>
            <a:pPr marL="88900" lvl="1" indent="-8890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Extrato Conta Corrente; </a:t>
            </a:r>
          </a:p>
          <a:p>
            <a:pPr marL="88900" lvl="1" indent="-8890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sz="1400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Extrato do Fundo;</a:t>
            </a:r>
          </a:p>
          <a:p>
            <a:pPr marL="88900" lvl="1" indent="-88900" algn="just" hangingPunc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Comprovantes de </a:t>
            </a:r>
            <a:r>
              <a:rPr lang="pt-BR" dirty="0" err="1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pgto</a:t>
            </a:r>
            <a:r>
              <a:rPr lang="pt-BR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 – </a:t>
            </a:r>
            <a:r>
              <a:rPr lang="pt-BR" dirty="0" err="1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NFs</a:t>
            </a:r>
            <a:r>
              <a:rPr lang="pt-BR" dirty="0">
                <a:solidFill>
                  <a:srgbClr val="4D4D4D"/>
                </a:solidFill>
                <a:latin typeface="Simplon BP Regular" pitchFamily="2" charset="0"/>
                <a:cs typeface="Arial" pitchFamily="34" charset="0"/>
              </a:rPr>
              <a:t> e/ou Notas de Débito</a:t>
            </a:r>
            <a:endParaRPr lang="pt-BR" sz="1400" dirty="0">
              <a:solidFill>
                <a:srgbClr val="4D4D4D"/>
              </a:solidFill>
              <a:latin typeface="Simplon BP Regular" pitchFamily="2" charset="0"/>
              <a:cs typeface="Arial" pitchFamily="34" charset="0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73740" y="6234088"/>
            <a:ext cx="12118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rgbClr val="4D4D4D"/>
                </a:solidFill>
                <a:ea typeface="Calibri" panose="020F0502020204030204" pitchFamily="34" charset="0"/>
              </a:rPr>
              <a:t>*Nova Conta Corrente para receber os recursos. </a:t>
            </a:r>
            <a:r>
              <a:rPr lang="pt-BR" sz="1000" dirty="0">
                <a:solidFill>
                  <a:srgbClr val="4D4D4D"/>
                </a:solidFill>
              </a:rPr>
              <a:t>Banco do Brasil (001) / Agência: 3064-3 / Conta Corrente: 997.308-7</a:t>
            </a:r>
          </a:p>
          <a:p>
            <a:pPr>
              <a:spcAft>
                <a:spcPts val="0"/>
              </a:spcAft>
            </a:pPr>
            <a:r>
              <a:rPr lang="pt-BR" sz="1000" dirty="0">
                <a:solidFill>
                  <a:srgbClr val="4D4D4D"/>
                </a:solidFill>
                <a:ea typeface="Calibri" panose="020F0502020204030204" pitchFamily="34" charset="0"/>
              </a:rPr>
              <a:t>** Fundo de Investimento aplicado em compromissado com lastro a título publico federal de curto prazo (1D) “</a:t>
            </a:r>
            <a:r>
              <a:rPr lang="pt-BR" sz="1000" dirty="0" err="1">
                <a:solidFill>
                  <a:srgbClr val="4D4D4D"/>
                </a:solidFill>
                <a:ea typeface="Calibri" panose="020F0502020204030204" pitchFamily="34" charset="0"/>
              </a:rPr>
              <a:t>Joatinga</a:t>
            </a:r>
            <a:r>
              <a:rPr lang="pt-BR" sz="1000" dirty="0">
                <a:solidFill>
                  <a:srgbClr val="4D4D4D"/>
                </a:solidFill>
                <a:ea typeface="Calibri" panose="020F0502020204030204" pitchFamily="34" charset="0"/>
              </a:rPr>
              <a:t>”</a:t>
            </a:r>
          </a:p>
        </p:txBody>
      </p:sp>
      <p:sp>
        <p:nvSpPr>
          <p:cNvPr id="4" name="Elipse 3"/>
          <p:cNvSpPr/>
          <p:nvPr/>
        </p:nvSpPr>
        <p:spPr>
          <a:xfrm>
            <a:off x="73740" y="148866"/>
            <a:ext cx="288000" cy="25967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1b</a:t>
            </a:r>
          </a:p>
        </p:txBody>
      </p:sp>
      <p:sp>
        <p:nvSpPr>
          <p:cNvPr id="12" name="CaixaDeTexto 11">
            <a:hlinkClick r:id="rId6" action="ppaction://hlinksldjump"/>
          </p:cNvPr>
          <p:cNvSpPr txBox="1"/>
          <p:nvPr/>
        </p:nvSpPr>
        <p:spPr>
          <a:xfrm>
            <a:off x="168734" y="5132386"/>
            <a:ext cx="1584873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Despacho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Anatel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8" name="CaixaDeTexto 47">
            <a:hlinkClick r:id="rId7" action="ppaction://hlinksldjump"/>
          </p:cNvPr>
          <p:cNvSpPr txBox="1"/>
          <p:nvPr/>
        </p:nvSpPr>
        <p:spPr>
          <a:xfrm>
            <a:off x="157675" y="5477283"/>
            <a:ext cx="352810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Pedidos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Uso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relacionados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Concessão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9434818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tângulo 11"/>
          <p:cNvSpPr/>
          <p:nvPr/>
        </p:nvSpPr>
        <p:spPr>
          <a:xfrm>
            <a:off x="450228" y="1152559"/>
            <a:ext cx="5213153" cy="11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11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Papéis</a:t>
            </a:r>
            <a:r>
              <a:rPr lang="en-US" dirty="0"/>
              <a:t> e </a:t>
            </a:r>
            <a:r>
              <a:rPr lang="en-US" dirty="0" err="1"/>
              <a:t>Responsabilidades</a:t>
            </a:r>
            <a:r>
              <a:rPr lang="en-US" dirty="0"/>
              <a:t> –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Financeiro</a:t>
            </a:r>
            <a:endParaRPr lang="en-US" dirty="0"/>
          </a:p>
        </p:txBody>
      </p:sp>
      <p:sp>
        <p:nvSpPr>
          <p:cNvPr id="8" name="Retângulo 7"/>
          <p:cNvSpPr/>
          <p:nvPr/>
        </p:nvSpPr>
        <p:spPr>
          <a:xfrm>
            <a:off x="501006" y="1176993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Contas a pagar</a:t>
            </a:r>
          </a:p>
        </p:txBody>
      </p:sp>
      <p:grpSp>
        <p:nvGrpSpPr>
          <p:cNvPr id="7" name="Agrupar 6"/>
          <p:cNvGrpSpPr/>
          <p:nvPr/>
        </p:nvGrpSpPr>
        <p:grpSpPr>
          <a:xfrm>
            <a:off x="5820226" y="1280168"/>
            <a:ext cx="366450" cy="428677"/>
            <a:chOff x="9166830" y="912698"/>
            <a:chExt cx="366450" cy="428677"/>
          </a:xfrm>
        </p:grpSpPr>
        <p:sp>
          <p:nvSpPr>
            <p:cNvPr id="9" name="Seta para a Direita 8"/>
            <p:cNvSpPr/>
            <p:nvPr/>
          </p:nvSpPr>
          <p:spPr>
            <a:xfrm>
              <a:off x="9166830" y="912698"/>
              <a:ext cx="366450" cy="42867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Seta para a Direita 4"/>
            <p:cNvSpPr txBox="1"/>
            <p:nvPr/>
          </p:nvSpPr>
          <p:spPr>
            <a:xfrm>
              <a:off x="9166830" y="998433"/>
              <a:ext cx="256515" cy="257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200" kern="1200"/>
            </a:p>
          </p:txBody>
        </p:sp>
      </p:grpSp>
      <p:sp>
        <p:nvSpPr>
          <p:cNvPr id="11" name="Retângulo 10"/>
          <p:cNvSpPr/>
          <p:nvPr/>
        </p:nvSpPr>
        <p:spPr>
          <a:xfrm>
            <a:off x="6241966" y="1152559"/>
            <a:ext cx="55599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D4D4D"/>
                </a:solidFill>
              </a:rPr>
              <a:t>Gestão da movimentação da conta e seu tratamento administrativo, isto é: Baixa do extrato, Conciliação dos valores do extrato e conta contábil, atuação em respostas para auditoria junto a contabilidade;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D318"/>
                </a:solidFill>
              </a:rPr>
              <a:t>Extrato Mensal da conta corrente: </a:t>
            </a:r>
            <a:r>
              <a:rPr lang="pt-BR" dirty="0">
                <a:solidFill>
                  <a:srgbClr val="4D4D4D"/>
                </a:solidFill>
              </a:rPr>
              <a:t>Banco do Brasil (001) / Agência: 3064-3 / Conta Corrente: 997.308-7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pt-BR" dirty="0">
              <a:solidFill>
                <a:srgbClr val="00D318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6245146" y="2440767"/>
            <a:ext cx="57337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D4D4D"/>
                </a:solidFill>
              </a:rPr>
              <a:t>Aplicação e resgate dos recursos da conta;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D318"/>
                </a:solidFill>
              </a:rPr>
              <a:t>Extrato da Movimentação do Fundo de Investimento;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240283" y="1149138"/>
            <a:ext cx="5508000" cy="1188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6245146" y="2419252"/>
            <a:ext cx="5508000" cy="54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30" name="Agrupar 29"/>
          <p:cNvGrpSpPr/>
          <p:nvPr/>
        </p:nvGrpSpPr>
        <p:grpSpPr>
          <a:xfrm>
            <a:off x="5820226" y="2471199"/>
            <a:ext cx="366450" cy="428677"/>
            <a:chOff x="9166830" y="912698"/>
            <a:chExt cx="366450" cy="428677"/>
          </a:xfrm>
        </p:grpSpPr>
        <p:sp>
          <p:nvSpPr>
            <p:cNvPr id="31" name="Seta para a Direita 30"/>
            <p:cNvSpPr/>
            <p:nvPr/>
          </p:nvSpPr>
          <p:spPr>
            <a:xfrm>
              <a:off x="9166830" y="912698"/>
              <a:ext cx="366450" cy="42867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Seta para a Direita 4"/>
            <p:cNvSpPr txBox="1"/>
            <p:nvPr/>
          </p:nvSpPr>
          <p:spPr>
            <a:xfrm>
              <a:off x="9166830" y="998433"/>
              <a:ext cx="256515" cy="257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200" kern="1200" dirty="0"/>
            </a:p>
          </p:txBody>
        </p:sp>
      </p:grpSp>
      <p:sp>
        <p:nvSpPr>
          <p:cNvPr id="36" name="Retângulo 35"/>
          <p:cNvSpPr/>
          <p:nvPr/>
        </p:nvSpPr>
        <p:spPr>
          <a:xfrm>
            <a:off x="450227" y="2426019"/>
            <a:ext cx="521315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461627" y="2514268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4D4D4D"/>
                </a:solidFill>
              </a:rPr>
              <a:t>Tesouraria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447399" y="708824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4D4D4D"/>
                </a:solidFill>
              </a:rPr>
              <a:t>Responsável</a:t>
            </a:r>
            <a:endParaRPr lang="en-US" b="1" dirty="0">
              <a:solidFill>
                <a:srgbClr val="4D4D4D"/>
              </a:solidFill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6186678" y="725636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4D4D4D"/>
                </a:solidFill>
              </a:rPr>
              <a:t>Atividade</a:t>
            </a:r>
            <a:endParaRPr lang="en-US" b="1" dirty="0">
              <a:solidFill>
                <a:srgbClr val="4D4D4D"/>
              </a:solidFill>
            </a:endParaRPr>
          </a:p>
        </p:txBody>
      </p:sp>
      <p:sp>
        <p:nvSpPr>
          <p:cNvPr id="62" name="Retângulo 61"/>
          <p:cNvSpPr/>
          <p:nvPr/>
        </p:nvSpPr>
        <p:spPr>
          <a:xfrm>
            <a:off x="6242318" y="3085635"/>
            <a:ext cx="53960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D4D4D"/>
                </a:solidFill>
              </a:rPr>
              <a:t>Disponibilização das </a:t>
            </a:r>
            <a:r>
              <a:rPr lang="pt-BR" dirty="0">
                <a:solidFill>
                  <a:srgbClr val="00D318"/>
                </a:solidFill>
              </a:rPr>
              <a:t>notas fiscais referentes aos pagamentos de aluguéis </a:t>
            </a:r>
            <a:r>
              <a:rPr lang="pt-BR" dirty="0">
                <a:solidFill>
                  <a:srgbClr val="4D4D4D"/>
                </a:solidFill>
              </a:rPr>
              <a:t>das Torres da </a:t>
            </a:r>
            <a:r>
              <a:rPr lang="pt-BR" dirty="0" err="1">
                <a:solidFill>
                  <a:srgbClr val="4D4D4D"/>
                </a:solidFill>
              </a:rPr>
              <a:t>Lemvig</a:t>
            </a:r>
            <a:r>
              <a:rPr lang="pt-BR" dirty="0">
                <a:solidFill>
                  <a:srgbClr val="4D4D4D"/>
                </a:solidFill>
              </a:rPr>
              <a:t> (marcadas na RBR);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D318"/>
                </a:solidFill>
              </a:rPr>
              <a:t>Descritivo </a:t>
            </a:r>
            <a:r>
              <a:rPr lang="pt-BR" dirty="0" err="1">
                <a:solidFill>
                  <a:srgbClr val="00D318"/>
                </a:solidFill>
              </a:rPr>
              <a:t>excel</a:t>
            </a:r>
            <a:r>
              <a:rPr lang="pt-BR" dirty="0">
                <a:solidFill>
                  <a:srgbClr val="00D318"/>
                </a:solidFill>
              </a:rPr>
              <a:t> dos pagamentos solicitados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pt-BR" dirty="0">
              <a:solidFill>
                <a:srgbClr val="4D4D4D"/>
              </a:solidFill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6242318" y="3064120"/>
            <a:ext cx="5508000" cy="792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64" name="Agrupar 63"/>
          <p:cNvGrpSpPr/>
          <p:nvPr/>
        </p:nvGrpSpPr>
        <p:grpSpPr>
          <a:xfrm>
            <a:off x="5817398" y="3116067"/>
            <a:ext cx="366450" cy="428677"/>
            <a:chOff x="9166830" y="912698"/>
            <a:chExt cx="366450" cy="428677"/>
          </a:xfrm>
        </p:grpSpPr>
        <p:sp>
          <p:nvSpPr>
            <p:cNvPr id="65" name="Seta para a Direita 64"/>
            <p:cNvSpPr/>
            <p:nvPr/>
          </p:nvSpPr>
          <p:spPr>
            <a:xfrm>
              <a:off x="9166830" y="912698"/>
              <a:ext cx="366450" cy="42867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6" name="Seta para a Direita 4"/>
            <p:cNvSpPr txBox="1"/>
            <p:nvPr/>
          </p:nvSpPr>
          <p:spPr>
            <a:xfrm>
              <a:off x="9166830" y="998433"/>
              <a:ext cx="256515" cy="257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200" kern="1200" dirty="0"/>
            </a:p>
          </p:txBody>
        </p:sp>
      </p:grpSp>
      <p:sp>
        <p:nvSpPr>
          <p:cNvPr id="67" name="Retângulo 66"/>
          <p:cNvSpPr/>
          <p:nvPr/>
        </p:nvSpPr>
        <p:spPr>
          <a:xfrm>
            <a:off x="447399" y="3070887"/>
            <a:ext cx="5213153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458799" y="3159136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4D4D4D"/>
                </a:solidFill>
              </a:rPr>
              <a:t>Patrimônio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6240283" y="3975386"/>
            <a:ext cx="53960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D4D4D"/>
                </a:solidFill>
              </a:rPr>
              <a:t>Disponibilização das </a:t>
            </a:r>
            <a:r>
              <a:rPr lang="pt-BR" dirty="0">
                <a:solidFill>
                  <a:srgbClr val="00D318"/>
                </a:solidFill>
              </a:rPr>
              <a:t>notas fiscais referentes aos pagamentos dos demais serviços da concessão</a:t>
            </a:r>
            <a:r>
              <a:rPr lang="pt-BR" dirty="0">
                <a:solidFill>
                  <a:srgbClr val="4D4D4D"/>
                </a:solidFill>
              </a:rPr>
              <a:t>* a ser negociado junto a Anatel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6240283" y="3953871"/>
            <a:ext cx="5508000" cy="54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1" name="Agrupar 70"/>
          <p:cNvGrpSpPr/>
          <p:nvPr/>
        </p:nvGrpSpPr>
        <p:grpSpPr>
          <a:xfrm>
            <a:off x="5815363" y="4005818"/>
            <a:ext cx="366450" cy="428677"/>
            <a:chOff x="9166830" y="912698"/>
            <a:chExt cx="366450" cy="428677"/>
          </a:xfrm>
        </p:grpSpPr>
        <p:sp>
          <p:nvSpPr>
            <p:cNvPr id="72" name="Seta para a Direita 71"/>
            <p:cNvSpPr/>
            <p:nvPr/>
          </p:nvSpPr>
          <p:spPr>
            <a:xfrm>
              <a:off x="9166830" y="912698"/>
              <a:ext cx="366450" cy="42867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3" name="Seta para a Direita 4"/>
            <p:cNvSpPr txBox="1"/>
            <p:nvPr/>
          </p:nvSpPr>
          <p:spPr>
            <a:xfrm>
              <a:off x="9166830" y="998433"/>
              <a:ext cx="256515" cy="257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200" kern="1200" dirty="0"/>
            </a:p>
          </p:txBody>
        </p:sp>
      </p:grpSp>
      <p:sp>
        <p:nvSpPr>
          <p:cNvPr id="74" name="Retângulo 73"/>
          <p:cNvSpPr/>
          <p:nvPr/>
        </p:nvSpPr>
        <p:spPr>
          <a:xfrm>
            <a:off x="445364" y="3960638"/>
            <a:ext cx="521315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456764" y="4048887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4D4D4D"/>
                </a:solidFill>
              </a:rPr>
              <a:t>Patrimônio / Legado / Jurídico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6240283" y="4635824"/>
            <a:ext cx="57337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D4D4D"/>
                </a:solidFill>
              </a:rPr>
              <a:t>Envio dos Extratos da conta corrente e do fundo para Anatel;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D4D4D"/>
                </a:solidFill>
              </a:rPr>
              <a:t>Envio dos comprovantes de </a:t>
            </a:r>
            <a:r>
              <a:rPr lang="pt-BR" dirty="0" err="1">
                <a:solidFill>
                  <a:srgbClr val="4D4D4D"/>
                </a:solidFill>
              </a:rPr>
              <a:t>pgto</a:t>
            </a:r>
            <a:r>
              <a:rPr lang="pt-BR" dirty="0">
                <a:solidFill>
                  <a:srgbClr val="4D4D4D"/>
                </a:solidFill>
              </a:rPr>
              <a:t> com recursos da conta corrente;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6240283" y="4629057"/>
            <a:ext cx="5508000" cy="54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8" name="Agrupar 77"/>
          <p:cNvGrpSpPr/>
          <p:nvPr/>
        </p:nvGrpSpPr>
        <p:grpSpPr>
          <a:xfrm>
            <a:off x="5815363" y="4666256"/>
            <a:ext cx="366450" cy="428677"/>
            <a:chOff x="9166830" y="912698"/>
            <a:chExt cx="366450" cy="428677"/>
          </a:xfrm>
        </p:grpSpPr>
        <p:sp>
          <p:nvSpPr>
            <p:cNvPr id="79" name="Seta para a Direita 78"/>
            <p:cNvSpPr/>
            <p:nvPr/>
          </p:nvSpPr>
          <p:spPr>
            <a:xfrm>
              <a:off x="9166830" y="912698"/>
              <a:ext cx="366450" cy="42867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Seta para a Direita 4"/>
            <p:cNvSpPr txBox="1"/>
            <p:nvPr/>
          </p:nvSpPr>
          <p:spPr>
            <a:xfrm>
              <a:off x="9166830" y="998433"/>
              <a:ext cx="256515" cy="257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200" kern="1200" dirty="0"/>
            </a:p>
          </p:txBody>
        </p:sp>
      </p:grpSp>
      <p:sp>
        <p:nvSpPr>
          <p:cNvPr id="81" name="Retângulo 80"/>
          <p:cNvSpPr/>
          <p:nvPr/>
        </p:nvSpPr>
        <p:spPr>
          <a:xfrm>
            <a:off x="445364" y="4621076"/>
            <a:ext cx="521315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2" name="Retângulo 81"/>
          <p:cNvSpPr/>
          <p:nvPr/>
        </p:nvSpPr>
        <p:spPr>
          <a:xfrm>
            <a:off x="456764" y="4709325"/>
            <a:ext cx="54516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4D4D4D"/>
                </a:solidFill>
              </a:rPr>
              <a:t>Regulatório</a:t>
            </a:r>
            <a:endParaRPr lang="en-US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15478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tângulo 11"/>
          <p:cNvSpPr/>
          <p:nvPr/>
        </p:nvSpPr>
        <p:spPr>
          <a:xfrm>
            <a:off x="450228" y="1061884"/>
            <a:ext cx="11046542" cy="5353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12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Despacho</a:t>
            </a:r>
            <a:r>
              <a:rPr lang="en-US" dirty="0"/>
              <a:t> </a:t>
            </a:r>
            <a:r>
              <a:rPr lang="en-US" dirty="0" err="1"/>
              <a:t>Anatel</a:t>
            </a:r>
            <a:endParaRPr lang="en-US" dirty="0"/>
          </a:p>
        </p:txBody>
      </p:sp>
      <p:sp>
        <p:nvSpPr>
          <p:cNvPr id="8" name="Retângulo 7"/>
          <p:cNvSpPr/>
          <p:nvPr/>
        </p:nvSpPr>
        <p:spPr>
          <a:xfrm>
            <a:off x="629264" y="1250100"/>
            <a:ext cx="10867506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D4D4D"/>
                </a:solidFill>
              </a:rPr>
              <a:t>DESPACHO DECISÓRIO Nº 14/2023/COUN/SCO</a:t>
            </a:r>
          </a:p>
          <a:p>
            <a:r>
              <a:rPr lang="en-US" sz="1800" dirty="0" err="1">
                <a:solidFill>
                  <a:srgbClr val="4D4D4D"/>
                </a:solidFill>
              </a:rPr>
              <a:t>Processo</a:t>
            </a:r>
            <a:r>
              <a:rPr lang="en-US" sz="1800" dirty="0">
                <a:solidFill>
                  <a:srgbClr val="4D4D4D"/>
                </a:solidFill>
              </a:rPr>
              <a:t> nº 53500.320283/2022-52</a:t>
            </a:r>
          </a:p>
          <a:p>
            <a:endParaRPr lang="en-US" sz="1800" dirty="0">
              <a:solidFill>
                <a:srgbClr val="4D4D4D"/>
              </a:solidFill>
            </a:endParaRPr>
          </a:p>
          <a:p>
            <a:pPr>
              <a:spcAft>
                <a:spcPts val="1200"/>
              </a:spcAft>
            </a:pPr>
            <a:r>
              <a:rPr lang="pt-BR" sz="1800" dirty="0">
                <a:solidFill>
                  <a:srgbClr val="4D4D4D"/>
                </a:solidFill>
              </a:rPr>
              <a:t>Determinação para que a Oi S.A. - Em recuperação Judicial, de forma excepcional, e em deferência ao trabalho em trâmite no Tribunal de Contas da União - </a:t>
            </a:r>
            <a:r>
              <a:rPr lang="en-US" sz="1800" dirty="0">
                <a:solidFill>
                  <a:srgbClr val="4D4D4D"/>
                </a:solidFill>
              </a:rPr>
              <a:t>TCU:</a:t>
            </a:r>
          </a:p>
          <a:p>
            <a:pPr>
              <a:spcAft>
                <a:spcPts val="1200"/>
              </a:spcAft>
            </a:pPr>
            <a:r>
              <a:rPr lang="pt-BR" sz="1800" dirty="0">
                <a:solidFill>
                  <a:srgbClr val="4D4D4D"/>
                </a:solidFill>
              </a:rPr>
              <a:t>I - abrir conta bancária específica para o recebimentos dos valores relacionados com a presente alienação, devendo encaminhar suas informações em até 5 (cinco) dias, após sua abertura (instituição bancária, agência e número);</a:t>
            </a:r>
          </a:p>
          <a:p>
            <a:pPr>
              <a:spcAft>
                <a:spcPts val="1200"/>
              </a:spcAft>
            </a:pPr>
            <a:r>
              <a:rPr lang="pt-BR" sz="1800" dirty="0">
                <a:solidFill>
                  <a:srgbClr val="4D4D4D"/>
                </a:solidFill>
              </a:rPr>
              <a:t>II - depositar todos os valores recebidos na conta bancária específica e a cada depósito a Agência deve ser informada em até 5 (cinco) dias;</a:t>
            </a:r>
          </a:p>
          <a:p>
            <a:pPr>
              <a:spcAft>
                <a:spcPts val="1200"/>
              </a:spcAft>
            </a:pPr>
            <a:r>
              <a:rPr lang="pt-BR" sz="1800" dirty="0">
                <a:solidFill>
                  <a:srgbClr val="4D4D4D"/>
                </a:solidFill>
              </a:rPr>
              <a:t>III - não movimentar os valores depositados, até que devidamente autorizado pela Anatel, exceto quanto aos valores relativos aos aluguéis mensais pela utilização dos respectivos ativos, e à sua aplicação em título público do Tesouro Direto de curta liquidação, sem marcação à mercado, para atualização </a:t>
            </a:r>
            <a:r>
              <a:rPr lang="en-US" sz="1800" dirty="0" err="1">
                <a:solidFill>
                  <a:srgbClr val="4D4D4D"/>
                </a:solidFill>
              </a:rPr>
              <a:t>monetária</a:t>
            </a:r>
            <a:r>
              <a:rPr lang="en-US" sz="1800" dirty="0">
                <a:solidFill>
                  <a:srgbClr val="4D4D4D"/>
                </a:solidFill>
              </a:rPr>
              <a:t>; e,</a:t>
            </a:r>
          </a:p>
          <a:p>
            <a:pPr>
              <a:spcAft>
                <a:spcPts val="1200"/>
              </a:spcAft>
            </a:pPr>
            <a:r>
              <a:rPr lang="pt-BR" sz="1800" dirty="0">
                <a:solidFill>
                  <a:srgbClr val="4D4D4D"/>
                </a:solidFill>
              </a:rPr>
              <a:t>IV - encaminhar mensalmente à Anatel os comprovantes dos pagamentos dos aluguéis e extrato da conta bancária, para acompanhamento.</a:t>
            </a:r>
            <a:endParaRPr lang="en-US" sz="1800" dirty="0">
              <a:solidFill>
                <a:srgbClr val="4D4D4D"/>
              </a:solidFill>
            </a:endParaRPr>
          </a:p>
        </p:txBody>
      </p:sp>
      <p:sp>
        <p:nvSpPr>
          <p:cNvPr id="7" name="Botão de ação: Início 6">
            <a:hlinkClick r:id="rId5" action="ppaction://hlinksldjump" highlightClick="1"/>
          </p:cNvPr>
          <p:cNvSpPr/>
          <p:nvPr/>
        </p:nvSpPr>
        <p:spPr>
          <a:xfrm>
            <a:off x="11579941" y="6441907"/>
            <a:ext cx="216000" cy="215444"/>
          </a:xfrm>
          <a:prstGeom prst="actionButtonBeginning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18620401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tângulo 11"/>
          <p:cNvSpPr/>
          <p:nvPr/>
        </p:nvSpPr>
        <p:spPr>
          <a:xfrm>
            <a:off x="450228" y="1061884"/>
            <a:ext cx="11046542" cy="535366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13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Premissa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dos </a:t>
            </a:r>
            <a:r>
              <a:rPr lang="en-US" dirty="0" err="1"/>
              <a:t>recursos</a:t>
            </a:r>
            <a:r>
              <a:rPr lang="en-US" dirty="0"/>
              <a:t> da </a:t>
            </a:r>
            <a:r>
              <a:rPr lang="en-US" dirty="0" err="1"/>
              <a:t>conta</a:t>
            </a:r>
            <a:r>
              <a:rPr lang="en-US" dirty="0"/>
              <a:t> </a:t>
            </a:r>
            <a:r>
              <a:rPr lang="en-US" dirty="0" err="1"/>
              <a:t>corrente</a:t>
            </a:r>
            <a:r>
              <a:rPr lang="en-US" dirty="0"/>
              <a:t> </a:t>
            </a:r>
            <a:r>
              <a:rPr lang="en-US" dirty="0" err="1"/>
              <a:t>vinculada</a:t>
            </a:r>
            <a:endParaRPr lang="en-US" dirty="0"/>
          </a:p>
        </p:txBody>
      </p:sp>
      <p:sp>
        <p:nvSpPr>
          <p:cNvPr id="8" name="Retângulo 7"/>
          <p:cNvSpPr/>
          <p:nvPr/>
        </p:nvSpPr>
        <p:spPr>
          <a:xfrm>
            <a:off x="629264" y="1250100"/>
            <a:ext cx="108675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4D4D4D"/>
                </a:solidFill>
              </a:rPr>
              <a:t>Pré</a:t>
            </a:r>
            <a:r>
              <a:rPr lang="en-US" sz="1800" b="1" dirty="0">
                <a:solidFill>
                  <a:srgbClr val="4D4D4D"/>
                </a:solidFill>
              </a:rPr>
              <a:t>- </a:t>
            </a:r>
            <a:r>
              <a:rPr lang="en-US" sz="1800" b="1" dirty="0" err="1">
                <a:solidFill>
                  <a:srgbClr val="4D4D4D"/>
                </a:solidFill>
              </a:rPr>
              <a:t>aprovado</a:t>
            </a:r>
            <a:r>
              <a:rPr lang="en-US" sz="1800" b="1" dirty="0">
                <a:solidFill>
                  <a:srgbClr val="4D4D4D"/>
                </a:solidFill>
              </a:rPr>
              <a:t> </a:t>
            </a:r>
            <a:r>
              <a:rPr lang="en-US" sz="1800" b="1" dirty="0" err="1">
                <a:solidFill>
                  <a:srgbClr val="4D4D4D"/>
                </a:solidFill>
              </a:rPr>
              <a:t>pelo</a:t>
            </a:r>
            <a:r>
              <a:rPr lang="en-US" sz="1800" b="1" dirty="0">
                <a:solidFill>
                  <a:srgbClr val="4D4D4D"/>
                </a:solidFill>
              </a:rPr>
              <a:t> DESPACHO DECISÓRIO Nº 14/2023/COUN/SCO</a:t>
            </a:r>
          </a:p>
          <a:p>
            <a:r>
              <a:rPr lang="en-US" sz="1800" b="1" dirty="0" err="1">
                <a:solidFill>
                  <a:srgbClr val="4D4D4D"/>
                </a:solidFill>
              </a:rPr>
              <a:t>Processo</a:t>
            </a:r>
            <a:r>
              <a:rPr lang="en-US" sz="1800" b="1" dirty="0">
                <a:solidFill>
                  <a:srgbClr val="4D4D4D"/>
                </a:solidFill>
              </a:rPr>
              <a:t> nº 53500.320283/2022-52</a:t>
            </a:r>
          </a:p>
          <a:p>
            <a:endParaRPr lang="en-US" sz="1800" dirty="0">
              <a:solidFill>
                <a:srgbClr val="4D4D4D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4D4D4D"/>
                </a:solidFill>
              </a:rPr>
              <a:t>Pagamento de aluguéis mensais pela utilização dos respectivos ativos - Torres da </a:t>
            </a:r>
            <a:r>
              <a:rPr lang="pt-BR" sz="1800" dirty="0" err="1">
                <a:solidFill>
                  <a:srgbClr val="4D4D4D"/>
                </a:solidFill>
              </a:rPr>
              <a:t>Lemvig</a:t>
            </a:r>
            <a:r>
              <a:rPr lang="pt-BR" sz="1800" dirty="0">
                <a:solidFill>
                  <a:srgbClr val="4D4D4D"/>
                </a:solidFill>
              </a:rPr>
              <a:t> listadas na RBR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4D4D4D"/>
              </a:solidFill>
            </a:endParaRPr>
          </a:p>
          <a:p>
            <a:r>
              <a:rPr lang="pt-BR" sz="1800" b="1" dirty="0">
                <a:solidFill>
                  <a:srgbClr val="4D4D4D"/>
                </a:solidFill>
              </a:rPr>
              <a:t>Pedidos em aprovação pela Anatel:</a:t>
            </a:r>
          </a:p>
        </p:txBody>
      </p:sp>
      <p:pic>
        <p:nvPicPr>
          <p:cNvPr id="40965" name="Imagem 40964"/>
          <p:cNvPicPr>
            <a:picLocks noChangeAspect="1"/>
          </p:cNvPicPr>
          <p:nvPr/>
        </p:nvPicPr>
        <p:blipFill rotWithShape="1">
          <a:blip r:embed="rId5"/>
          <a:srcRect l="30545" t="49735" r="26454" b="23358"/>
          <a:stretch/>
        </p:blipFill>
        <p:spPr>
          <a:xfrm>
            <a:off x="723357" y="3192642"/>
            <a:ext cx="8017891" cy="2820700"/>
          </a:xfrm>
          <a:prstGeom prst="rect">
            <a:avLst/>
          </a:prstGeom>
        </p:spPr>
      </p:pic>
      <p:sp>
        <p:nvSpPr>
          <p:cNvPr id="5" name="Botão de ação: Início 4">
            <a:hlinkClick r:id="rId6" action="ppaction://hlinksldjump" highlightClick="1"/>
          </p:cNvPr>
          <p:cNvSpPr/>
          <p:nvPr/>
        </p:nvSpPr>
        <p:spPr>
          <a:xfrm>
            <a:off x="11579941" y="6441907"/>
            <a:ext cx="216000" cy="215444"/>
          </a:xfrm>
          <a:prstGeom prst="actionButtonBeginning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0705582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14</a:t>
            </a:fld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62001" y="613176"/>
            <a:ext cx="10742490" cy="518283"/>
          </a:xfrm>
        </p:spPr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faturados</a:t>
            </a:r>
            <a:r>
              <a:rPr lang="en-US" dirty="0"/>
              <a:t>, </a:t>
            </a:r>
            <a:r>
              <a:rPr lang="en-US" dirty="0" err="1"/>
              <a:t>Apurados</a:t>
            </a:r>
            <a:r>
              <a:rPr lang="en-US" dirty="0"/>
              <a:t> e </a:t>
            </a:r>
            <a:r>
              <a:rPr lang="en-US" dirty="0" err="1"/>
              <a:t>Acertos</a:t>
            </a:r>
            <a:r>
              <a:rPr lang="en-US" dirty="0"/>
              <a:t> a </a:t>
            </a:r>
            <a:r>
              <a:rPr lang="en-US" dirty="0" err="1"/>
              <a:t>executar</a:t>
            </a:r>
            <a:r>
              <a:rPr lang="en-US" dirty="0"/>
              <a:t> entre Oi e </a:t>
            </a:r>
            <a:r>
              <a:rPr lang="en-US" dirty="0" err="1"/>
              <a:t>Lemvig</a:t>
            </a:r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Fev</a:t>
            </a:r>
            <a:r>
              <a:rPr lang="en-US" dirty="0"/>
              <a:t>/23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Mar/23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Jan/23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>
          <a:xfrm>
            <a:off x="4145280" y="2856460"/>
            <a:ext cx="3674745" cy="2608840"/>
          </a:xfrm>
        </p:spPr>
        <p:txBody>
          <a:bodyPr/>
          <a:lstStyle/>
          <a:p>
            <a:r>
              <a:rPr lang="en-US" dirty="0" err="1"/>
              <a:t>Qtde</a:t>
            </a:r>
            <a:r>
              <a:rPr lang="en-US" dirty="0"/>
              <a:t> de Torres: 8.000 x </a:t>
            </a:r>
          </a:p>
          <a:p>
            <a:r>
              <a:rPr lang="en-US" dirty="0"/>
              <a:t>Valor </a:t>
            </a:r>
            <a:r>
              <a:rPr lang="en-US" dirty="0" err="1"/>
              <a:t>unitário</a:t>
            </a:r>
            <a:r>
              <a:rPr lang="en-US" dirty="0"/>
              <a:t>:   R$ 3.000 + </a:t>
            </a:r>
          </a:p>
          <a:p>
            <a:r>
              <a:rPr lang="en-US" dirty="0" err="1"/>
              <a:t>Imposto</a:t>
            </a:r>
            <a:r>
              <a:rPr lang="en-US" dirty="0"/>
              <a:t> (</a:t>
            </a:r>
            <a:r>
              <a:rPr lang="en-US" dirty="0" err="1"/>
              <a:t>Pis</a:t>
            </a:r>
            <a:r>
              <a:rPr lang="en-US" dirty="0"/>
              <a:t>/</a:t>
            </a:r>
            <a:r>
              <a:rPr lang="en-US" dirty="0" err="1"/>
              <a:t>Cofins</a:t>
            </a:r>
            <a:r>
              <a:rPr lang="en-US" dirty="0"/>
              <a:t>): 9,25% = </a:t>
            </a:r>
          </a:p>
          <a:p>
            <a:r>
              <a:rPr lang="en-US" dirty="0"/>
              <a:t>Valor </a:t>
            </a:r>
            <a:r>
              <a:rPr lang="en-US" dirty="0" err="1"/>
              <a:t>pago</a:t>
            </a:r>
            <a:r>
              <a:rPr lang="en-US" dirty="0"/>
              <a:t> a </a:t>
            </a:r>
            <a:r>
              <a:rPr lang="en-US" dirty="0" err="1"/>
              <a:t>Lemvig</a:t>
            </a:r>
            <a:r>
              <a:rPr lang="en-US" dirty="0"/>
              <a:t>: </a:t>
            </a:r>
            <a:r>
              <a:rPr lang="en-US" b="1" dirty="0"/>
              <a:t>R$ 26.446.280,99</a:t>
            </a:r>
          </a:p>
          <a:p>
            <a:endParaRPr lang="en-US" b="1" dirty="0"/>
          </a:p>
          <a:p>
            <a:r>
              <a:rPr lang="en-US" b="1" dirty="0" err="1"/>
              <a:t>Vencimento</a:t>
            </a:r>
            <a:r>
              <a:rPr lang="en-US" b="1" dirty="0"/>
              <a:t>: 20/M+1/AAAA</a:t>
            </a:r>
          </a:p>
          <a:p>
            <a:endParaRPr lang="en-US" b="1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>
          <a:xfrm>
            <a:off x="8224505" y="2856460"/>
            <a:ext cx="3640486" cy="2608840"/>
          </a:xfrm>
        </p:spPr>
        <p:txBody>
          <a:bodyPr/>
          <a:lstStyle/>
          <a:p>
            <a:r>
              <a:rPr lang="en-US" dirty="0" err="1"/>
              <a:t>Qtde</a:t>
            </a:r>
            <a:r>
              <a:rPr lang="en-US" dirty="0"/>
              <a:t> de Torres: 8.000 x </a:t>
            </a:r>
          </a:p>
          <a:p>
            <a:r>
              <a:rPr lang="en-US" dirty="0"/>
              <a:t>Valor </a:t>
            </a:r>
            <a:r>
              <a:rPr lang="en-US" dirty="0" err="1"/>
              <a:t>unitário</a:t>
            </a:r>
            <a:r>
              <a:rPr lang="en-US" dirty="0"/>
              <a:t>:   R$ 3.000 + </a:t>
            </a:r>
          </a:p>
          <a:p>
            <a:r>
              <a:rPr lang="en-US" dirty="0" err="1"/>
              <a:t>Imposto</a:t>
            </a:r>
            <a:r>
              <a:rPr lang="en-US" dirty="0"/>
              <a:t> (</a:t>
            </a:r>
            <a:r>
              <a:rPr lang="en-US" dirty="0" err="1"/>
              <a:t>Pis</a:t>
            </a:r>
            <a:r>
              <a:rPr lang="en-US" dirty="0"/>
              <a:t>/</a:t>
            </a:r>
            <a:r>
              <a:rPr lang="en-US" dirty="0" err="1"/>
              <a:t>Cofins</a:t>
            </a:r>
            <a:r>
              <a:rPr lang="en-US" dirty="0"/>
              <a:t>): 9,25% = </a:t>
            </a:r>
          </a:p>
          <a:p>
            <a:r>
              <a:rPr lang="en-US" dirty="0"/>
              <a:t>Valor </a:t>
            </a:r>
            <a:r>
              <a:rPr lang="en-US" dirty="0" err="1"/>
              <a:t>pago</a:t>
            </a:r>
            <a:r>
              <a:rPr lang="en-US" dirty="0"/>
              <a:t> a </a:t>
            </a:r>
            <a:r>
              <a:rPr lang="en-US" dirty="0" err="1"/>
              <a:t>Lemvig</a:t>
            </a:r>
            <a:r>
              <a:rPr lang="en-US" dirty="0"/>
              <a:t>: </a:t>
            </a:r>
            <a:r>
              <a:rPr lang="en-US" b="1" dirty="0"/>
              <a:t>R$ 26.446.280,99</a:t>
            </a:r>
          </a:p>
          <a:p>
            <a:endParaRPr lang="en-US" b="1" dirty="0"/>
          </a:p>
          <a:p>
            <a:r>
              <a:rPr lang="en-US" b="1" dirty="0" err="1"/>
              <a:t>Vencimento</a:t>
            </a:r>
            <a:r>
              <a:rPr lang="en-US" b="1" dirty="0"/>
              <a:t>: 20/M+1/AAAA</a:t>
            </a:r>
          </a:p>
          <a:p>
            <a:endParaRPr lang="en-US" b="1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0"/>
          </p:nvPr>
        </p:nvSpPr>
        <p:spPr>
          <a:xfrm>
            <a:off x="153876" y="2856460"/>
            <a:ext cx="3542680" cy="2702221"/>
          </a:xfrm>
        </p:spPr>
        <p:txBody>
          <a:bodyPr/>
          <a:lstStyle/>
          <a:p>
            <a:r>
              <a:rPr lang="en-US" dirty="0" err="1"/>
              <a:t>Qtde</a:t>
            </a:r>
            <a:r>
              <a:rPr lang="en-US" dirty="0"/>
              <a:t> de Torres: 8.000 x </a:t>
            </a:r>
          </a:p>
          <a:p>
            <a:r>
              <a:rPr lang="en-US" dirty="0"/>
              <a:t>Valor </a:t>
            </a:r>
            <a:r>
              <a:rPr lang="en-US" dirty="0" err="1"/>
              <a:t>unitário</a:t>
            </a:r>
            <a:r>
              <a:rPr lang="en-US" dirty="0"/>
              <a:t>:   R$ 3.000 + </a:t>
            </a:r>
          </a:p>
          <a:p>
            <a:r>
              <a:rPr lang="en-US" dirty="0" err="1"/>
              <a:t>Imposto</a:t>
            </a:r>
            <a:r>
              <a:rPr lang="en-US" dirty="0"/>
              <a:t> (</a:t>
            </a:r>
            <a:r>
              <a:rPr lang="en-US" dirty="0" err="1"/>
              <a:t>Pis</a:t>
            </a:r>
            <a:r>
              <a:rPr lang="en-US" dirty="0"/>
              <a:t>/</a:t>
            </a:r>
            <a:r>
              <a:rPr lang="en-US" dirty="0" err="1"/>
              <a:t>Cofins</a:t>
            </a:r>
            <a:r>
              <a:rPr lang="en-US" dirty="0"/>
              <a:t>): 9,25% = </a:t>
            </a:r>
          </a:p>
          <a:p>
            <a:r>
              <a:rPr lang="en-US" dirty="0"/>
              <a:t>Valor </a:t>
            </a:r>
            <a:r>
              <a:rPr lang="en-US" dirty="0" err="1"/>
              <a:t>pago</a:t>
            </a:r>
            <a:r>
              <a:rPr lang="en-US" dirty="0"/>
              <a:t> a </a:t>
            </a:r>
            <a:r>
              <a:rPr lang="en-US" dirty="0" err="1"/>
              <a:t>Lemvig</a:t>
            </a:r>
            <a:r>
              <a:rPr lang="en-US" dirty="0"/>
              <a:t>: </a:t>
            </a:r>
            <a:r>
              <a:rPr lang="en-US" b="1" dirty="0"/>
              <a:t>R$ 26.446.280,99</a:t>
            </a:r>
          </a:p>
          <a:p>
            <a:endParaRPr lang="en-US" b="1" dirty="0"/>
          </a:p>
          <a:p>
            <a:r>
              <a:rPr lang="en-US" b="1" dirty="0" err="1"/>
              <a:t>Vencimento</a:t>
            </a:r>
            <a:r>
              <a:rPr lang="en-US" b="1" dirty="0"/>
              <a:t>: 20/M+1/AAAA</a:t>
            </a:r>
          </a:p>
        </p:txBody>
      </p:sp>
      <p:sp>
        <p:nvSpPr>
          <p:cNvPr id="17" name="Título 2"/>
          <p:cNvSpPr txBox="1">
            <a:spLocks/>
          </p:cNvSpPr>
          <p:nvPr/>
        </p:nvSpPr>
        <p:spPr>
          <a:xfrm>
            <a:off x="48009" y="106006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en-US" dirty="0" err="1"/>
              <a:t>Resumo</a:t>
            </a:r>
            <a:r>
              <a:rPr lang="en-US" dirty="0"/>
              <a:t> da </a:t>
            </a:r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Aluguel</a:t>
            </a:r>
            <a:r>
              <a:rPr lang="en-US" dirty="0"/>
              <a:t> das Torres da </a:t>
            </a:r>
            <a:r>
              <a:rPr lang="en-US" dirty="0" err="1"/>
              <a:t>Lemvig</a:t>
            </a:r>
            <a:r>
              <a:rPr lang="en-US" dirty="0"/>
              <a:t> - </a:t>
            </a:r>
            <a:r>
              <a:rPr lang="en-US" dirty="0" err="1"/>
              <a:t>Pagamento</a:t>
            </a:r>
            <a:r>
              <a:rPr lang="en-US" dirty="0"/>
              <a:t> Oi </a:t>
            </a:r>
          </a:p>
        </p:txBody>
      </p:sp>
    </p:spTree>
    <p:extLst>
      <p:ext uri="{BB962C8B-B14F-4D97-AF65-F5344CB8AC3E}">
        <p14:creationId xmlns:p14="http://schemas.microsoft.com/office/powerpoint/2010/main" val="32545986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15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 err="1"/>
              <a:t>Receita</a:t>
            </a:r>
            <a:r>
              <a:rPr lang="en-US" dirty="0"/>
              <a:t> </a:t>
            </a:r>
            <a:r>
              <a:rPr lang="en-US" dirty="0" err="1"/>
              <a:t>Atacado</a:t>
            </a:r>
            <a:r>
              <a:rPr lang="en-US" dirty="0"/>
              <a:t> </a:t>
            </a:r>
            <a:r>
              <a:rPr lang="en-US" dirty="0" err="1"/>
              <a:t>Lemvig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685991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7739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26578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2844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16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</a:t>
            </a:r>
            <a:r>
              <a:rPr lang="en-US" dirty="0" err="1"/>
              <a:t>Receita</a:t>
            </a:r>
            <a:r>
              <a:rPr lang="en-US" dirty="0"/>
              <a:t> dos </a:t>
            </a:r>
            <a:r>
              <a:rPr lang="en-US" dirty="0" err="1"/>
              <a:t>contratos</a:t>
            </a:r>
            <a:r>
              <a:rPr lang="en-US" dirty="0"/>
              <a:t> de </a:t>
            </a:r>
            <a:r>
              <a:rPr lang="en-US" dirty="0" err="1"/>
              <a:t>compartilhamento</a:t>
            </a:r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163284" y="2686879"/>
            <a:ext cx="119882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Faturamento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/>
              <a:t>Iara</a:t>
            </a: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164018" y="1330206"/>
            <a:ext cx="67486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1184236283"/>
              </p:ext>
            </p:extLst>
          </p:nvPr>
        </p:nvGraphicFramePr>
        <p:xfrm>
          <a:off x="1611087" y="932197"/>
          <a:ext cx="5796642" cy="1181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2" name="Diagrama 121"/>
          <p:cNvGraphicFramePr/>
          <p:nvPr>
            <p:extLst>
              <p:ext uri="{D42A27DB-BD31-4B8C-83A1-F6EECF244321}">
                <p14:modId xmlns:p14="http://schemas.microsoft.com/office/powerpoint/2010/main" val="1662983946"/>
              </p:ext>
            </p:extLst>
          </p:nvPr>
        </p:nvGraphicFramePr>
        <p:xfrm>
          <a:off x="6304564" y="2432373"/>
          <a:ext cx="2768505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23" name="Agrupar 122"/>
          <p:cNvGrpSpPr/>
          <p:nvPr/>
        </p:nvGrpSpPr>
        <p:grpSpPr>
          <a:xfrm rot="5400000">
            <a:off x="6719564" y="2126827"/>
            <a:ext cx="244217" cy="285687"/>
            <a:chOff x="1269055" y="385982"/>
            <a:chExt cx="244217" cy="285687"/>
          </a:xfrm>
        </p:grpSpPr>
        <p:sp>
          <p:nvSpPr>
            <p:cNvPr id="124" name="Seta para a Direita 12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5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26" name="Agrupar 125"/>
          <p:cNvGrpSpPr/>
          <p:nvPr/>
        </p:nvGrpSpPr>
        <p:grpSpPr>
          <a:xfrm rot="16200000" flipV="1">
            <a:off x="8356636" y="2100072"/>
            <a:ext cx="244217" cy="285687"/>
            <a:chOff x="1269055" y="385982"/>
            <a:chExt cx="244217" cy="285687"/>
          </a:xfrm>
        </p:grpSpPr>
        <p:sp>
          <p:nvSpPr>
            <p:cNvPr id="127" name="Seta para a Direita 126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8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158" name="CaixaDeTexto 157"/>
          <p:cNvSpPr txBox="1"/>
          <p:nvPr/>
        </p:nvSpPr>
        <p:spPr>
          <a:xfrm flipH="1">
            <a:off x="142032" y="3802045"/>
            <a:ext cx="12445241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Atualmente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são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geradas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104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notas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incluindo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;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86" name="Agrupar 185"/>
          <p:cNvGrpSpPr/>
          <p:nvPr/>
        </p:nvGrpSpPr>
        <p:grpSpPr>
          <a:xfrm>
            <a:off x="210029" y="4845490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87" name="Canto Dobrado 186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88" name="Conector reto 18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9" name="Conector reto 18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0" name="Conector reto 18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2" name="CaixaDeTexto 191"/>
          <p:cNvSpPr txBox="1"/>
          <p:nvPr/>
        </p:nvSpPr>
        <p:spPr>
          <a:xfrm>
            <a:off x="514701" y="4812831"/>
            <a:ext cx="550047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Planilha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Engrenagem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: 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consolidados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com de/para das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torres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que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contempla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de base fee, solo,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climatização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por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operadora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,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contrato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/DEINF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Atacado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torre</a:t>
            </a:r>
            <a:r>
              <a:rPr lang="en-US" sz="1100" dirty="0">
                <a:solidFill>
                  <a:srgbClr val="4D4D4D"/>
                </a:solidFill>
              </a:rPr>
              <a:t>;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93" name="Agrupar 192"/>
          <p:cNvGrpSpPr/>
          <p:nvPr/>
        </p:nvGrpSpPr>
        <p:grpSpPr>
          <a:xfrm>
            <a:off x="210316" y="5215611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94" name="Canto Dobrado 19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95" name="Conector reto 19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6" name="Conector reto 19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7" name="Conector reto 19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8" name="CaixaDeTexto 197"/>
          <p:cNvSpPr txBox="1"/>
          <p:nvPr/>
        </p:nvSpPr>
        <p:spPr>
          <a:xfrm>
            <a:off x="514701" y="5215611"/>
            <a:ext cx="5500478" cy="4847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Planilha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DEINF </a:t>
            </a: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visão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faturar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torres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compartilhadas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seus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respectivos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.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Contempla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base fee, solo,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climatização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.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205" name="Agrupar 204"/>
          <p:cNvGrpSpPr/>
          <p:nvPr/>
        </p:nvGrpSpPr>
        <p:grpSpPr>
          <a:xfrm>
            <a:off x="6308288" y="4862597"/>
            <a:ext cx="180000" cy="25200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206" name="Canto Dobrado 205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07" name="Conector reto 20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8" name="Conector reto 20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9" name="Conector reto 20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0" name="CaixaDeTexto 209"/>
          <p:cNvSpPr txBox="1"/>
          <p:nvPr/>
        </p:nvSpPr>
        <p:spPr>
          <a:xfrm>
            <a:off x="6562440" y="4882041"/>
            <a:ext cx="380601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consolidado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, DEINF,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, UF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211" name="CaixaDeTexto 210"/>
          <p:cNvSpPr txBox="1"/>
          <p:nvPr/>
        </p:nvSpPr>
        <p:spPr>
          <a:xfrm flipH="1">
            <a:off x="157443" y="4591971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Legenda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: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213" name="Agrupar 212"/>
          <p:cNvGrpSpPr/>
          <p:nvPr/>
        </p:nvGrpSpPr>
        <p:grpSpPr>
          <a:xfrm>
            <a:off x="2769245" y="1893536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214" name="Canto Dobrado 21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15" name="Conector reto 21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6" name="Conector reto 21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7" name="Conector reto 21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18" name="Agrupar 217"/>
          <p:cNvGrpSpPr/>
          <p:nvPr/>
        </p:nvGrpSpPr>
        <p:grpSpPr>
          <a:xfrm>
            <a:off x="5897379" y="1878493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219" name="Canto Dobrado 21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20" name="Conector reto 21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1" name="Conector reto 22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2" name="Conector reto 22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3" name="Agrupar 222"/>
          <p:cNvGrpSpPr/>
          <p:nvPr/>
        </p:nvGrpSpPr>
        <p:grpSpPr>
          <a:xfrm>
            <a:off x="7471301" y="1849694"/>
            <a:ext cx="180000" cy="25200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224" name="Canto Dobrado 223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25" name="Conector reto 22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6" name="Conector reto 22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reto 22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28" name="Texto Explicativo Retangular com Cantos Arredondados 227"/>
          <p:cNvSpPr/>
          <p:nvPr/>
        </p:nvSpPr>
        <p:spPr>
          <a:xfrm>
            <a:off x="10408520" y="1372968"/>
            <a:ext cx="1447753" cy="476726"/>
          </a:xfrm>
          <a:prstGeom prst="wedgeRoundRectCallout">
            <a:avLst>
              <a:gd name="adj1" fmla="val -40762"/>
              <a:gd name="adj2" fmla="val 91584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28 DU – </a:t>
            </a:r>
            <a:r>
              <a:rPr lang="en-US" dirty="0" err="1">
                <a:solidFill>
                  <a:srgbClr val="FFFFFF"/>
                </a:solidFill>
              </a:rPr>
              <a:t>Todo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processo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</p:txBody>
      </p:sp>
      <p:grpSp>
        <p:nvGrpSpPr>
          <p:cNvPr id="66" name="Agrupar 65"/>
          <p:cNvGrpSpPr/>
          <p:nvPr/>
        </p:nvGrpSpPr>
        <p:grpSpPr>
          <a:xfrm>
            <a:off x="7504507" y="3297259"/>
            <a:ext cx="180000" cy="252000"/>
            <a:chOff x="3722403" y="2929357"/>
            <a:chExt cx="504000" cy="6840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7" name="Canto Dobrado 66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8" name="Conector reto 6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9" name="Conector reto 6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0" name="Conector reto 6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1" name="Agrupar 70"/>
          <p:cNvGrpSpPr/>
          <p:nvPr/>
        </p:nvGrpSpPr>
        <p:grpSpPr>
          <a:xfrm>
            <a:off x="6309297" y="5325544"/>
            <a:ext cx="180000" cy="252000"/>
            <a:chOff x="3722403" y="2929357"/>
            <a:chExt cx="504000" cy="6840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2" name="Canto Dobrado 71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73" name="Conector reto 72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4" name="Conector reto 73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5" name="Conector reto 74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6" name="CaixaDeTexto 75"/>
          <p:cNvSpPr txBox="1"/>
          <p:nvPr/>
        </p:nvSpPr>
        <p:spPr>
          <a:xfrm>
            <a:off x="6579974" y="5386043"/>
            <a:ext cx="380601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Notas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fiscais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emitidas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77" name="Elipse 76">
            <a:hlinkClick r:id="rId15" action="ppaction://hlinksldjump"/>
          </p:cNvPr>
          <p:cNvSpPr/>
          <p:nvPr/>
        </p:nvSpPr>
        <p:spPr>
          <a:xfrm>
            <a:off x="5066593" y="2804187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8" name="Agrupar 77"/>
          <p:cNvGrpSpPr/>
          <p:nvPr/>
        </p:nvGrpSpPr>
        <p:grpSpPr>
          <a:xfrm rot="5400000">
            <a:off x="5165597" y="2096350"/>
            <a:ext cx="244217" cy="285687"/>
            <a:chOff x="1269055" y="385982"/>
            <a:chExt cx="244217" cy="285687"/>
          </a:xfrm>
        </p:grpSpPr>
        <p:sp>
          <p:nvSpPr>
            <p:cNvPr id="79" name="Seta para a Direita 7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81" name="Elipse 80">
            <a:hlinkClick r:id="rId16" action="ppaction://hlinksldjump"/>
          </p:cNvPr>
          <p:cNvSpPr/>
          <p:nvPr/>
        </p:nvSpPr>
        <p:spPr>
          <a:xfrm>
            <a:off x="5054862" y="2425528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5" name="Agrupar 84"/>
          <p:cNvGrpSpPr/>
          <p:nvPr/>
        </p:nvGrpSpPr>
        <p:grpSpPr>
          <a:xfrm>
            <a:off x="4494168" y="936888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86" name="Canto Dobrado 8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7" name="Conector reto 8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8" name="Conector reto 8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9" name="Conector reto 8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90" name="Agrupar 89"/>
          <p:cNvGrpSpPr/>
          <p:nvPr/>
        </p:nvGrpSpPr>
        <p:grpSpPr>
          <a:xfrm>
            <a:off x="179235" y="591907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91" name="Canto Dobrado 90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92" name="Conector reto 9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3" name="Conector reto 9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4" name="Conector reto 9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" name="Retângulo 8"/>
          <p:cNvSpPr/>
          <p:nvPr/>
        </p:nvSpPr>
        <p:spPr>
          <a:xfrm>
            <a:off x="383101" y="5858102"/>
            <a:ext cx="6096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r>
              <a:rPr lang="en-US" sz="1100" dirty="0">
                <a:solidFill>
                  <a:srgbClr val="4D4D4D"/>
                </a:solidFill>
              </a:rPr>
              <a:t>:  </a:t>
            </a:r>
            <a:r>
              <a:rPr lang="en-US" sz="1100" dirty="0" err="1">
                <a:solidFill>
                  <a:srgbClr val="4D4D4D"/>
                </a:solidFill>
              </a:rPr>
              <a:t>visão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faturar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torres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compartilhadas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seus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respectivos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Contempla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de base fee, solo,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climatização</a:t>
            </a:r>
            <a:r>
              <a:rPr lang="en-US" sz="1100" dirty="0">
                <a:solidFill>
                  <a:srgbClr val="4D4D4D"/>
                </a:solidFill>
              </a:rPr>
              <a:t>.</a:t>
            </a:r>
          </a:p>
        </p:txBody>
      </p:sp>
      <p:sp>
        <p:nvSpPr>
          <p:cNvPr id="96" name="Elipse 95">
            <a:hlinkClick r:id="rId17" action="ppaction://hlinksldjump"/>
          </p:cNvPr>
          <p:cNvSpPr/>
          <p:nvPr/>
        </p:nvSpPr>
        <p:spPr>
          <a:xfrm>
            <a:off x="885998" y="1659406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8" name="Elipse 97">
            <a:hlinkClick r:id="rId17" action="ppaction://hlinksldjump"/>
          </p:cNvPr>
          <p:cNvSpPr/>
          <p:nvPr/>
        </p:nvSpPr>
        <p:spPr>
          <a:xfrm>
            <a:off x="5479262" y="2425669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9" name="Agrupar 98"/>
          <p:cNvGrpSpPr/>
          <p:nvPr/>
        </p:nvGrpSpPr>
        <p:grpSpPr>
          <a:xfrm>
            <a:off x="1314445" y="1676216"/>
            <a:ext cx="235886" cy="275942"/>
            <a:chOff x="1229313" y="452641"/>
            <a:chExt cx="235886" cy="275942"/>
          </a:xfrm>
        </p:grpSpPr>
        <p:sp>
          <p:nvSpPr>
            <p:cNvPr id="100" name="Seta para a Direita 99"/>
            <p:cNvSpPr/>
            <p:nvPr/>
          </p:nvSpPr>
          <p:spPr>
            <a:xfrm>
              <a:off x="1229313" y="452641"/>
              <a:ext cx="235886" cy="27594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1" name="Seta para a Direita 4"/>
            <p:cNvSpPr txBox="1"/>
            <p:nvPr/>
          </p:nvSpPr>
          <p:spPr>
            <a:xfrm>
              <a:off x="1229313" y="507829"/>
              <a:ext cx="165120" cy="1655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200" kern="1200"/>
            </a:p>
          </p:txBody>
        </p:sp>
      </p:grpSp>
      <p:sp>
        <p:nvSpPr>
          <p:cNvPr id="102" name="Elipse 101">
            <a:hlinkClick r:id="rId18" action="ppaction://hlinksldjump"/>
          </p:cNvPr>
          <p:cNvSpPr/>
          <p:nvPr/>
        </p:nvSpPr>
        <p:spPr>
          <a:xfrm>
            <a:off x="4625822" y="2440909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Elipse 107">
            <a:hlinkClick r:id="rId19" action="ppaction://hlinksldjump"/>
          </p:cNvPr>
          <p:cNvSpPr/>
          <p:nvPr/>
        </p:nvSpPr>
        <p:spPr>
          <a:xfrm>
            <a:off x="4641062" y="2806669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9" name="Texto Explicativo Retangular com Cantos Arredondados 227">
            <a:extLst>
              <a:ext uri="{FF2B5EF4-FFF2-40B4-BE49-F238E27FC236}">
                <a16:creationId xmlns:a16="http://schemas.microsoft.com/office/drawing/2014/main" id="{10EB178B-CCB4-D66E-42A6-B0A558672606}"/>
              </a:ext>
            </a:extLst>
          </p:cNvPr>
          <p:cNvSpPr/>
          <p:nvPr/>
        </p:nvSpPr>
        <p:spPr>
          <a:xfrm>
            <a:off x="141557" y="2232186"/>
            <a:ext cx="1115892" cy="288000"/>
          </a:xfrm>
          <a:prstGeom prst="wedgeRoundRectCallout">
            <a:avLst>
              <a:gd name="adj1" fmla="val 28441"/>
              <a:gd name="adj2" fmla="val -121583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sz="800" dirty="0" err="1">
                <a:solidFill>
                  <a:srgbClr val="FFFFFF"/>
                </a:solidFill>
              </a:rPr>
              <a:t>Verifica</a:t>
            </a:r>
            <a:r>
              <a:rPr lang="en-US" sz="800" dirty="0">
                <a:solidFill>
                  <a:srgbClr val="FFFFFF"/>
                </a:solidFill>
              </a:rPr>
              <a:t> se </a:t>
            </a:r>
            <a:r>
              <a:rPr lang="en-US" sz="800" dirty="0" err="1">
                <a:solidFill>
                  <a:srgbClr val="FFFFFF"/>
                </a:solidFill>
              </a:rPr>
              <a:t>Energia</a:t>
            </a:r>
            <a:r>
              <a:rPr lang="en-US" sz="800" dirty="0">
                <a:solidFill>
                  <a:srgbClr val="FFFFFF"/>
                </a:solidFill>
              </a:rPr>
              <a:t> </a:t>
            </a:r>
            <a:r>
              <a:rPr lang="en-US" sz="800" dirty="0" err="1">
                <a:solidFill>
                  <a:srgbClr val="FFFFFF"/>
                </a:solidFill>
              </a:rPr>
              <a:t>Medidor</a:t>
            </a:r>
            <a:r>
              <a:rPr lang="en-US" sz="800" dirty="0">
                <a:solidFill>
                  <a:srgbClr val="FFFFFF"/>
                </a:solidFill>
              </a:rPr>
              <a:t> &lt; VAS </a:t>
            </a:r>
            <a:r>
              <a:rPr lang="en-US" sz="800" dirty="0" err="1">
                <a:solidFill>
                  <a:srgbClr val="FFFFFF"/>
                </a:solidFill>
              </a:rPr>
              <a:t>Energia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10" name="Texto Explicativo Retangular com Cantos Arredondados 227">
            <a:extLst>
              <a:ext uri="{FF2B5EF4-FFF2-40B4-BE49-F238E27FC236}">
                <a16:creationId xmlns:a16="http://schemas.microsoft.com/office/drawing/2014/main" id="{E27AE83C-5C11-FDAE-561B-A28D5430F230}"/>
              </a:ext>
            </a:extLst>
          </p:cNvPr>
          <p:cNvSpPr/>
          <p:nvPr/>
        </p:nvSpPr>
        <p:spPr>
          <a:xfrm>
            <a:off x="3401258" y="2646561"/>
            <a:ext cx="1115892" cy="288000"/>
          </a:xfrm>
          <a:prstGeom prst="wedgeRoundRectCallout">
            <a:avLst>
              <a:gd name="adj1" fmla="val 61424"/>
              <a:gd name="adj2" fmla="val -4007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sz="800" dirty="0" err="1">
                <a:solidFill>
                  <a:srgbClr val="FFFFFF"/>
                </a:solidFill>
              </a:rPr>
              <a:t>Apura</a:t>
            </a:r>
            <a:r>
              <a:rPr lang="en-US" sz="800" dirty="0">
                <a:solidFill>
                  <a:srgbClr val="FFFFFF"/>
                </a:solidFill>
              </a:rPr>
              <a:t> </a:t>
            </a:r>
            <a:r>
              <a:rPr lang="en-US" sz="800" dirty="0" err="1">
                <a:solidFill>
                  <a:srgbClr val="FFFFFF"/>
                </a:solidFill>
              </a:rPr>
              <a:t>contestações</a:t>
            </a:r>
            <a:endParaRPr lang="en-US" sz="800" dirty="0">
              <a:solidFill>
                <a:srgbClr val="FFFFFF"/>
              </a:solidFill>
            </a:endParaRPr>
          </a:p>
        </p:txBody>
      </p:sp>
      <p:grpSp>
        <p:nvGrpSpPr>
          <p:cNvPr id="111" name="Agrupar 110"/>
          <p:cNvGrpSpPr/>
          <p:nvPr/>
        </p:nvGrpSpPr>
        <p:grpSpPr>
          <a:xfrm>
            <a:off x="6043097" y="491260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12" name="Canto Dobrado 111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3" name="Conector reto 112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Conector reto 113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" name="Conector reto 114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6" name="CaixaDeTexto 115"/>
          <p:cNvSpPr txBox="1"/>
          <p:nvPr/>
        </p:nvSpPr>
        <p:spPr>
          <a:xfrm>
            <a:off x="6291903" y="532622"/>
            <a:ext cx="1505828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Planilha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Engrenagem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17" name="Agrupar 116"/>
          <p:cNvGrpSpPr/>
          <p:nvPr/>
        </p:nvGrpSpPr>
        <p:grpSpPr>
          <a:xfrm>
            <a:off x="163991" y="491260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18" name="Canto Dobrado 117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9" name="Conector reto 118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0" name="Conector reto 119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1" name="Conector reto 12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29" name="CaixaDeTexto 128"/>
          <p:cNvSpPr txBox="1"/>
          <p:nvPr/>
        </p:nvSpPr>
        <p:spPr>
          <a:xfrm>
            <a:off x="468376" y="536469"/>
            <a:ext cx="2346486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Planilha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DEINF </a:t>
            </a: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30" name="Agrupar 129"/>
          <p:cNvGrpSpPr/>
          <p:nvPr/>
        </p:nvGrpSpPr>
        <p:grpSpPr>
          <a:xfrm>
            <a:off x="7797731" y="491260"/>
            <a:ext cx="180000" cy="25200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131" name="Canto Dobrado 130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32" name="Conector reto 13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3" name="Conector reto 13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4" name="Conector reto 13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5" name="CaixaDeTexto 134"/>
          <p:cNvSpPr txBox="1"/>
          <p:nvPr/>
        </p:nvSpPr>
        <p:spPr>
          <a:xfrm>
            <a:off x="8051883" y="532622"/>
            <a:ext cx="380601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consolidado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36" name="Agrupar 135"/>
          <p:cNvGrpSpPr/>
          <p:nvPr/>
        </p:nvGrpSpPr>
        <p:grpSpPr>
          <a:xfrm>
            <a:off x="9758365" y="491260"/>
            <a:ext cx="180000" cy="252000"/>
            <a:chOff x="3722403" y="2929357"/>
            <a:chExt cx="504000" cy="6840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7" name="Canto Dobrado 136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38" name="Conector reto 13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9" name="Conector reto 13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42" name="Agrupar 141"/>
          <p:cNvGrpSpPr/>
          <p:nvPr/>
        </p:nvGrpSpPr>
        <p:grpSpPr>
          <a:xfrm>
            <a:off x="2828593" y="49126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43" name="Canto Dobrado 14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4" name="Conector reto 14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5" name="Conector reto 14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6" name="Conector reto 14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47" name="Retângulo 146"/>
          <p:cNvSpPr/>
          <p:nvPr/>
        </p:nvSpPr>
        <p:spPr>
          <a:xfrm>
            <a:off x="3016286" y="48645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49" name="Elipse 148">
            <a:hlinkClick r:id="rId20" action="ppaction://hlinksldjump"/>
          </p:cNvPr>
          <p:cNvSpPr/>
          <p:nvPr/>
        </p:nvSpPr>
        <p:spPr>
          <a:xfrm>
            <a:off x="160952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0" name="Elipse 149">
            <a:hlinkClick r:id="rId21" action="ppaction://hlinksldjump"/>
          </p:cNvPr>
          <p:cNvSpPr/>
          <p:nvPr/>
        </p:nvSpPr>
        <p:spPr>
          <a:xfrm>
            <a:off x="2820577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1" name="Elipse 150">
            <a:hlinkClick r:id="rId22" action="ppaction://hlinksldjump"/>
          </p:cNvPr>
          <p:cNvSpPr/>
          <p:nvPr/>
        </p:nvSpPr>
        <p:spPr>
          <a:xfrm>
            <a:off x="6055393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2" name="Elipse 151">
            <a:hlinkClick r:id="rId23" action="ppaction://hlinksldjump"/>
          </p:cNvPr>
          <p:cNvSpPr/>
          <p:nvPr/>
        </p:nvSpPr>
        <p:spPr>
          <a:xfrm>
            <a:off x="7815367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3" name="Elipse 152">
            <a:hlinkClick r:id="rId24" action="ppaction://hlinksldjump"/>
          </p:cNvPr>
          <p:cNvSpPr/>
          <p:nvPr/>
        </p:nvSpPr>
        <p:spPr>
          <a:xfrm>
            <a:off x="9767064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4" name="CaixaDeTexto 153"/>
          <p:cNvSpPr txBox="1"/>
          <p:nvPr/>
        </p:nvSpPr>
        <p:spPr>
          <a:xfrm>
            <a:off x="10013802" y="535504"/>
            <a:ext cx="164676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Notas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fiscais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emitidas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386508" y="2076914"/>
            <a:ext cx="502795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 DU</a:t>
            </a:r>
          </a:p>
        </p:txBody>
      </p:sp>
      <p:sp>
        <p:nvSpPr>
          <p:cNvPr id="155" name="CaixaDeTexto 154"/>
          <p:cNvSpPr txBox="1"/>
          <p:nvPr/>
        </p:nvSpPr>
        <p:spPr>
          <a:xfrm>
            <a:off x="3996614" y="2075623"/>
            <a:ext cx="502795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 DU</a:t>
            </a:r>
          </a:p>
        </p:txBody>
      </p:sp>
      <p:sp>
        <p:nvSpPr>
          <p:cNvPr id="156" name="CaixaDeTexto 155"/>
          <p:cNvSpPr txBox="1"/>
          <p:nvPr/>
        </p:nvSpPr>
        <p:spPr>
          <a:xfrm>
            <a:off x="5508678" y="2075623"/>
            <a:ext cx="502795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/>
              <a:t>10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DU</a:t>
            </a:r>
          </a:p>
        </p:txBody>
      </p:sp>
      <p:sp>
        <p:nvSpPr>
          <p:cNvPr id="157" name="CaixaDeTexto 156"/>
          <p:cNvSpPr txBox="1"/>
          <p:nvPr/>
        </p:nvSpPr>
        <p:spPr>
          <a:xfrm>
            <a:off x="7045581" y="2087576"/>
            <a:ext cx="502795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/>
              <a:t>3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DU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7106445" y="3496551"/>
            <a:ext cx="502795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/>
              <a:t>3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DU</a:t>
            </a:r>
          </a:p>
        </p:txBody>
      </p:sp>
      <p:sp>
        <p:nvSpPr>
          <p:cNvPr id="160" name="CaixaDeTexto 159"/>
          <p:cNvSpPr txBox="1"/>
          <p:nvPr/>
        </p:nvSpPr>
        <p:spPr>
          <a:xfrm>
            <a:off x="8752283" y="3496090"/>
            <a:ext cx="502795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/>
              <a:t>2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DU</a:t>
            </a:r>
          </a:p>
        </p:txBody>
      </p:sp>
      <p:sp>
        <p:nvSpPr>
          <p:cNvPr id="161" name="Elipse 160">
            <a:hlinkClick r:id="rId25" action="ppaction://hlinksldjump"/>
          </p:cNvPr>
          <p:cNvSpPr/>
          <p:nvPr/>
        </p:nvSpPr>
        <p:spPr>
          <a:xfrm>
            <a:off x="8329983" y="17327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</a:t>
            </a:r>
          </a:p>
        </p:txBody>
      </p:sp>
      <p:sp>
        <p:nvSpPr>
          <p:cNvPr id="148" name="Botão de ação: Retornar 147">
            <a:hlinkClick r:id="rId26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3" name="Elipse 162">
            <a:hlinkClick r:id="rId27" action="ppaction://hlinksldjump"/>
          </p:cNvPr>
          <p:cNvSpPr/>
          <p:nvPr/>
        </p:nvSpPr>
        <p:spPr>
          <a:xfrm>
            <a:off x="883573" y="922886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215400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5300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" name="Retângulo 165"/>
          <p:cNvSpPr/>
          <p:nvPr/>
        </p:nvSpPr>
        <p:spPr>
          <a:xfrm>
            <a:off x="95102" y="5179154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9" name="Retângulo 78"/>
          <p:cNvSpPr/>
          <p:nvPr/>
        </p:nvSpPr>
        <p:spPr>
          <a:xfrm>
            <a:off x="92958" y="2276308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Retângulo 79"/>
          <p:cNvSpPr/>
          <p:nvPr/>
        </p:nvSpPr>
        <p:spPr>
          <a:xfrm>
            <a:off x="92958" y="3731768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796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6032491" y="671868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17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 </a:t>
            </a:r>
            <a:r>
              <a:rPr lang="en-US" dirty="0" err="1"/>
              <a:t>Contestação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 (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Validados</a:t>
            </a:r>
            <a:r>
              <a:rPr lang="en-US" dirty="0"/>
              <a:t>) – </a:t>
            </a:r>
            <a:r>
              <a:rPr lang="en-US" dirty="0" err="1"/>
              <a:t>Energia</a:t>
            </a:r>
            <a:r>
              <a:rPr lang="en-US" dirty="0"/>
              <a:t> e Solo Oi 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2a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177268" y="1285119"/>
            <a:ext cx="67486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2980460938"/>
              </p:ext>
            </p:extLst>
          </p:nvPr>
        </p:nvGraphicFramePr>
        <p:xfrm>
          <a:off x="1908526" y="1009742"/>
          <a:ext cx="1184308" cy="100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3" name="CaixaDeTexto 82"/>
          <p:cNvSpPr txBox="1"/>
          <p:nvPr/>
        </p:nvSpPr>
        <p:spPr>
          <a:xfrm>
            <a:off x="235562" y="3888080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Carolina </a:t>
            </a:r>
            <a:r>
              <a:rPr lang="en-US" dirty="0" err="1"/>
              <a:t>Arlota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Adriana </a:t>
            </a:r>
            <a:r>
              <a:rPr lang="en-US" dirty="0" err="1"/>
              <a:t>Lenine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8" name="CaixaDeTexto 117"/>
          <p:cNvSpPr txBox="1"/>
          <p:nvPr/>
        </p:nvSpPr>
        <p:spPr>
          <a:xfrm>
            <a:off x="197309" y="2652231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Atacado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Andre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Telles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rgbClr val="00D318"/>
                </a:solidFill>
              </a:rPr>
              <a:t>Maria</a:t>
            </a:r>
            <a:r>
              <a:rPr lang="en-US" dirty="0">
                <a:solidFill>
                  <a:srgbClr val="00D318"/>
                </a:solidFill>
              </a:rPr>
              <a:t> Cecilia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19" name="Agrupar 118"/>
          <p:cNvGrpSpPr/>
          <p:nvPr/>
        </p:nvGrpSpPr>
        <p:grpSpPr>
          <a:xfrm>
            <a:off x="2922029" y="2533682"/>
            <a:ext cx="1146164" cy="1053791"/>
            <a:chOff x="0" y="13121"/>
            <a:chExt cx="1146164" cy="1333738"/>
          </a:xfrm>
        </p:grpSpPr>
        <p:sp>
          <p:nvSpPr>
            <p:cNvPr id="120" name="Retângulo Arredondado 119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1" name="CaixaDeTexto 120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pela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45" name="Agrupar 144"/>
          <p:cNvGrpSpPr/>
          <p:nvPr/>
        </p:nvGrpSpPr>
        <p:grpSpPr>
          <a:xfrm flipV="1">
            <a:off x="4154426" y="2919649"/>
            <a:ext cx="256379" cy="299915"/>
            <a:chOff x="6413377" y="679347"/>
            <a:chExt cx="256379" cy="299915"/>
          </a:xfrm>
        </p:grpSpPr>
        <p:sp>
          <p:nvSpPr>
            <p:cNvPr id="146" name="Seta para a Direita 14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12" name="Agrupar 111"/>
          <p:cNvGrpSpPr/>
          <p:nvPr/>
        </p:nvGrpSpPr>
        <p:grpSpPr>
          <a:xfrm>
            <a:off x="4472727" y="2503261"/>
            <a:ext cx="1146164" cy="1102494"/>
            <a:chOff x="0" y="13121"/>
            <a:chExt cx="1146164" cy="1333738"/>
          </a:xfrm>
        </p:grpSpPr>
        <p:sp>
          <p:nvSpPr>
            <p:cNvPr id="113" name="Retângulo Arredondado 112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4" name="CaixaDeTexto 113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Submete valores procedentes para cobrança da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1" name="Agrupar 130"/>
          <p:cNvGrpSpPr/>
          <p:nvPr/>
        </p:nvGrpSpPr>
        <p:grpSpPr>
          <a:xfrm flipV="1">
            <a:off x="2615722" y="2903432"/>
            <a:ext cx="256379" cy="299915"/>
            <a:chOff x="6413377" y="679347"/>
            <a:chExt cx="256379" cy="299915"/>
          </a:xfrm>
        </p:grpSpPr>
        <p:sp>
          <p:nvSpPr>
            <p:cNvPr id="132" name="Seta para a Direita 131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48" name="Retângulo 147"/>
          <p:cNvSpPr/>
          <p:nvPr/>
        </p:nvSpPr>
        <p:spPr>
          <a:xfrm rot="16200000">
            <a:off x="1289290" y="3240441"/>
            <a:ext cx="2448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49" name="Agrupar 148"/>
          <p:cNvGrpSpPr/>
          <p:nvPr/>
        </p:nvGrpSpPr>
        <p:grpSpPr>
          <a:xfrm flipV="1">
            <a:off x="2601539" y="4335555"/>
            <a:ext cx="256379" cy="299915"/>
            <a:chOff x="6413377" y="679347"/>
            <a:chExt cx="256379" cy="299915"/>
          </a:xfrm>
        </p:grpSpPr>
        <p:sp>
          <p:nvSpPr>
            <p:cNvPr id="150" name="Seta para a Direita 14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9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60" name="Agrupar 159"/>
          <p:cNvGrpSpPr/>
          <p:nvPr/>
        </p:nvGrpSpPr>
        <p:grpSpPr>
          <a:xfrm>
            <a:off x="2900935" y="3977510"/>
            <a:ext cx="1146164" cy="1053791"/>
            <a:chOff x="0" y="13121"/>
            <a:chExt cx="1146164" cy="1333738"/>
          </a:xfrm>
        </p:grpSpPr>
        <p:sp>
          <p:nvSpPr>
            <p:cNvPr id="161" name="Retângulo Arredondado 160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2" name="CaixaDeTexto 161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pela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63" name="Agrupar 162"/>
          <p:cNvGrpSpPr/>
          <p:nvPr/>
        </p:nvGrpSpPr>
        <p:grpSpPr>
          <a:xfrm rot="16200000" flipV="1">
            <a:off x="3323731" y="3636698"/>
            <a:ext cx="256379" cy="299915"/>
            <a:chOff x="6413377" y="679347"/>
            <a:chExt cx="256379" cy="299915"/>
          </a:xfrm>
        </p:grpSpPr>
        <p:sp>
          <p:nvSpPr>
            <p:cNvPr id="164" name="Seta para a Direita 163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5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aphicFrame>
        <p:nvGraphicFramePr>
          <p:cNvPr id="167" name="Diagrama 166"/>
          <p:cNvGraphicFramePr/>
          <p:nvPr>
            <p:extLst>
              <p:ext uri="{D42A27DB-BD31-4B8C-83A1-F6EECF244321}">
                <p14:modId xmlns:p14="http://schemas.microsoft.com/office/powerpoint/2010/main" val="946184020"/>
              </p:ext>
            </p:extLst>
          </p:nvPr>
        </p:nvGraphicFramePr>
        <p:xfrm>
          <a:off x="6427266" y="1023234"/>
          <a:ext cx="1184308" cy="100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69" name="Agrupar 168"/>
          <p:cNvGrpSpPr/>
          <p:nvPr/>
        </p:nvGrpSpPr>
        <p:grpSpPr>
          <a:xfrm>
            <a:off x="7440769" y="2547174"/>
            <a:ext cx="1146164" cy="1053791"/>
            <a:chOff x="0" y="13121"/>
            <a:chExt cx="1146164" cy="1333738"/>
          </a:xfrm>
        </p:grpSpPr>
        <p:sp>
          <p:nvSpPr>
            <p:cNvPr id="170" name="Retângulo Arredondado 169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1" name="CaixaDeTexto 170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pela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72" name="Agrupar 171"/>
          <p:cNvGrpSpPr/>
          <p:nvPr/>
        </p:nvGrpSpPr>
        <p:grpSpPr>
          <a:xfrm flipV="1">
            <a:off x="8673166" y="2933141"/>
            <a:ext cx="256379" cy="299915"/>
            <a:chOff x="6413377" y="679347"/>
            <a:chExt cx="256379" cy="299915"/>
          </a:xfrm>
        </p:grpSpPr>
        <p:sp>
          <p:nvSpPr>
            <p:cNvPr id="173" name="Seta para a Direita 17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75" name="Agrupar 174"/>
          <p:cNvGrpSpPr/>
          <p:nvPr/>
        </p:nvGrpSpPr>
        <p:grpSpPr>
          <a:xfrm>
            <a:off x="8991467" y="2516753"/>
            <a:ext cx="1146164" cy="1102494"/>
            <a:chOff x="0" y="13121"/>
            <a:chExt cx="1146164" cy="1333738"/>
          </a:xfrm>
        </p:grpSpPr>
        <p:sp>
          <p:nvSpPr>
            <p:cNvPr id="176" name="Retângulo Arredondado 175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7" name="CaixaDeTexto 176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Submete valores procedentes para cobrança da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78" name="Agrupar 177"/>
          <p:cNvGrpSpPr/>
          <p:nvPr/>
        </p:nvGrpSpPr>
        <p:grpSpPr>
          <a:xfrm flipV="1">
            <a:off x="7134462" y="2916924"/>
            <a:ext cx="256379" cy="299915"/>
            <a:chOff x="6413377" y="679347"/>
            <a:chExt cx="256379" cy="299915"/>
          </a:xfrm>
        </p:grpSpPr>
        <p:sp>
          <p:nvSpPr>
            <p:cNvPr id="179" name="Seta para a Direita 178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0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81" name="Retângulo 180"/>
          <p:cNvSpPr/>
          <p:nvPr/>
        </p:nvSpPr>
        <p:spPr>
          <a:xfrm rot="16200000">
            <a:off x="4944030" y="4081573"/>
            <a:ext cx="4176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82" name="Agrupar 181"/>
          <p:cNvGrpSpPr/>
          <p:nvPr/>
        </p:nvGrpSpPr>
        <p:grpSpPr>
          <a:xfrm flipV="1">
            <a:off x="7120279" y="5690167"/>
            <a:ext cx="256379" cy="299915"/>
            <a:chOff x="6413377" y="679347"/>
            <a:chExt cx="256379" cy="299915"/>
          </a:xfrm>
        </p:grpSpPr>
        <p:sp>
          <p:nvSpPr>
            <p:cNvPr id="183" name="Seta para a Direita 18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85" name="Agrupar 184"/>
          <p:cNvGrpSpPr/>
          <p:nvPr/>
        </p:nvGrpSpPr>
        <p:grpSpPr>
          <a:xfrm>
            <a:off x="7419675" y="5332122"/>
            <a:ext cx="1146164" cy="1053791"/>
            <a:chOff x="0" y="13121"/>
            <a:chExt cx="1146164" cy="1333738"/>
          </a:xfrm>
        </p:grpSpPr>
        <p:sp>
          <p:nvSpPr>
            <p:cNvPr id="186" name="Retângulo Arredondado 185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7" name="CaixaDeTexto 186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pela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88" name="Agrupar 187"/>
          <p:cNvGrpSpPr/>
          <p:nvPr/>
        </p:nvGrpSpPr>
        <p:grpSpPr>
          <a:xfrm rot="16200000" flipV="1">
            <a:off x="7178660" y="4312260"/>
            <a:ext cx="1584000" cy="299915"/>
            <a:chOff x="6413377" y="679347"/>
            <a:chExt cx="256379" cy="299915"/>
          </a:xfrm>
        </p:grpSpPr>
        <p:sp>
          <p:nvSpPr>
            <p:cNvPr id="189" name="Seta para a Direita 188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0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91" name="CaixaDeTexto 190"/>
          <p:cNvSpPr txBox="1"/>
          <p:nvPr/>
        </p:nvSpPr>
        <p:spPr>
          <a:xfrm>
            <a:off x="235562" y="5304493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Patrimônio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Rodrigo </a:t>
            </a:r>
            <a:r>
              <a:rPr lang="en-US" dirty="0" err="1"/>
              <a:t>Godinho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Rodrigo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Leite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92" name="Conector reto 191"/>
          <p:cNvCxnSpPr/>
          <p:nvPr/>
        </p:nvCxnSpPr>
        <p:spPr>
          <a:xfrm>
            <a:off x="6190866" y="912464"/>
            <a:ext cx="0" cy="558000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3" name="Agrupar 192"/>
          <p:cNvGrpSpPr/>
          <p:nvPr/>
        </p:nvGrpSpPr>
        <p:grpSpPr>
          <a:xfrm>
            <a:off x="3153203" y="1852333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94" name="Canto Dobrado 19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95" name="Conector reto 19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6" name="Conector reto 19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7" name="Conector reto 19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8" name="Agrupar 197"/>
          <p:cNvGrpSpPr/>
          <p:nvPr/>
        </p:nvGrpSpPr>
        <p:grpSpPr>
          <a:xfrm>
            <a:off x="7681910" y="1866381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99" name="Canto Dobrado 19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05" name="Conector reto 2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6" name="Conector reto 2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7" name="Conector reto 2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8" name="Texto Explicativo Retangular com Cantos Arredondados 77"/>
          <p:cNvSpPr/>
          <p:nvPr/>
        </p:nvSpPr>
        <p:spPr>
          <a:xfrm>
            <a:off x="10408520" y="1372968"/>
            <a:ext cx="1447753" cy="1639372"/>
          </a:xfrm>
          <a:prstGeom prst="wedgeRoundRectCallout">
            <a:avLst>
              <a:gd name="adj1" fmla="val -44271"/>
              <a:gd name="adj2" fmla="val 66019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FFFFFF"/>
                </a:solidFill>
              </a:rPr>
              <a:t>Aonde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são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pt-BR" dirty="0">
                <a:solidFill>
                  <a:srgbClr val="FFFFFF"/>
                </a:solidFill>
              </a:rPr>
              <a:t>incluídos os valores que precisam ser faturados pós contestação improcedente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1" name="Texto Explicativo Retangular com Cantos Arredondados 80"/>
          <p:cNvSpPr/>
          <p:nvPr/>
        </p:nvSpPr>
        <p:spPr>
          <a:xfrm>
            <a:off x="10422258" y="3711348"/>
            <a:ext cx="1447753" cy="715089"/>
          </a:xfrm>
          <a:prstGeom prst="wedgeRoundRectCallout">
            <a:avLst>
              <a:gd name="adj1" fmla="val -45148"/>
              <a:gd name="adj2" fmla="val -67227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FFFFFF"/>
                </a:solidFill>
              </a:rPr>
              <a:t>Faturamento</a:t>
            </a:r>
            <a:r>
              <a:rPr lang="en-US" dirty="0">
                <a:solidFill>
                  <a:srgbClr val="FFFFFF"/>
                </a:solidFill>
              </a:rPr>
              <a:t> do </a:t>
            </a:r>
            <a:r>
              <a:rPr lang="en-US" dirty="0" err="1">
                <a:solidFill>
                  <a:srgbClr val="FFFFFF"/>
                </a:solidFill>
              </a:rPr>
              <a:t>improcedente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como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ocorre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</p:txBody>
      </p:sp>
      <p:grpSp>
        <p:nvGrpSpPr>
          <p:cNvPr id="82" name="Agrupar 81"/>
          <p:cNvGrpSpPr/>
          <p:nvPr/>
        </p:nvGrpSpPr>
        <p:grpSpPr>
          <a:xfrm rot="16200000" flipV="1">
            <a:off x="4948931" y="2140074"/>
            <a:ext cx="244217" cy="285687"/>
            <a:chOff x="1269055" y="385982"/>
            <a:chExt cx="244217" cy="285687"/>
          </a:xfrm>
        </p:grpSpPr>
        <p:sp>
          <p:nvSpPr>
            <p:cNvPr id="84" name="Seta para a Direita 8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5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86" name="Elipse 85"/>
          <p:cNvSpPr/>
          <p:nvPr/>
        </p:nvSpPr>
        <p:spPr>
          <a:xfrm>
            <a:off x="4922278" y="1772708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</a:t>
            </a:r>
          </a:p>
        </p:txBody>
      </p:sp>
      <p:grpSp>
        <p:nvGrpSpPr>
          <p:cNvPr id="87" name="Agrupar 86"/>
          <p:cNvGrpSpPr/>
          <p:nvPr/>
        </p:nvGrpSpPr>
        <p:grpSpPr>
          <a:xfrm rot="16200000" flipV="1">
            <a:off x="9389887" y="2168744"/>
            <a:ext cx="244217" cy="285687"/>
            <a:chOff x="1269055" y="385982"/>
            <a:chExt cx="244217" cy="285687"/>
          </a:xfrm>
        </p:grpSpPr>
        <p:sp>
          <p:nvSpPr>
            <p:cNvPr id="88" name="Seta para a Direita 87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9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90" name="Elipse 89"/>
          <p:cNvSpPr/>
          <p:nvPr/>
        </p:nvSpPr>
        <p:spPr>
          <a:xfrm>
            <a:off x="9363234" y="1801378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</a:t>
            </a:r>
          </a:p>
        </p:txBody>
      </p:sp>
      <p:sp>
        <p:nvSpPr>
          <p:cNvPr id="91" name="Botão de ação: Retornar 90">
            <a:hlinkClick r:id="rId15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2" name="Agrupar 91"/>
          <p:cNvGrpSpPr/>
          <p:nvPr/>
        </p:nvGrpSpPr>
        <p:grpSpPr>
          <a:xfrm>
            <a:off x="228257" y="49126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93" name="Canto Dobrado 9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94" name="Conector reto 9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6" name="Conector reto 9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8" name="Conector reto 9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9" name="Retângulo 98"/>
          <p:cNvSpPr/>
          <p:nvPr/>
        </p:nvSpPr>
        <p:spPr>
          <a:xfrm>
            <a:off x="415950" y="48645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00" name="Elipse 99">
            <a:hlinkClick r:id="rId16" action="ppaction://hlinksldjump"/>
          </p:cNvPr>
          <p:cNvSpPr/>
          <p:nvPr/>
        </p:nvSpPr>
        <p:spPr>
          <a:xfrm>
            <a:off x="220241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80654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1042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tângulo 78"/>
          <p:cNvSpPr/>
          <p:nvPr/>
        </p:nvSpPr>
        <p:spPr>
          <a:xfrm>
            <a:off x="92958" y="2276308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Retângulo 79"/>
          <p:cNvSpPr/>
          <p:nvPr/>
        </p:nvSpPr>
        <p:spPr>
          <a:xfrm>
            <a:off x="92958" y="3731768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432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6032491" y="671868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18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 </a:t>
            </a:r>
            <a:r>
              <a:rPr lang="en-US" dirty="0" err="1"/>
              <a:t>Contestação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 (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Validados</a:t>
            </a:r>
            <a:r>
              <a:rPr lang="en-US" dirty="0"/>
              <a:t>) – Infra e Solo </a:t>
            </a:r>
            <a:r>
              <a:rPr lang="en-US" dirty="0" err="1"/>
              <a:t>Terceiros</a:t>
            </a:r>
            <a:endParaRPr lang="en-US" dirty="0"/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2b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177268" y="1285119"/>
            <a:ext cx="67486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165956135"/>
              </p:ext>
            </p:extLst>
          </p:nvPr>
        </p:nvGraphicFramePr>
        <p:xfrm>
          <a:off x="1451326" y="960358"/>
          <a:ext cx="1184308" cy="1049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19" name="Agrupar 118"/>
          <p:cNvGrpSpPr/>
          <p:nvPr/>
        </p:nvGrpSpPr>
        <p:grpSpPr>
          <a:xfrm>
            <a:off x="3037911" y="960357"/>
            <a:ext cx="1146164" cy="1053791"/>
            <a:chOff x="0" y="13121"/>
            <a:chExt cx="1146164" cy="1333738"/>
          </a:xfrm>
        </p:grpSpPr>
        <p:sp>
          <p:nvSpPr>
            <p:cNvPr id="120" name="Retângulo Arredondado 119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1" name="CaixaDeTexto 120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pela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45" name="Agrupar 144"/>
          <p:cNvGrpSpPr/>
          <p:nvPr/>
        </p:nvGrpSpPr>
        <p:grpSpPr>
          <a:xfrm flipV="1">
            <a:off x="4270308" y="1346324"/>
            <a:ext cx="256379" cy="299915"/>
            <a:chOff x="6413377" y="679347"/>
            <a:chExt cx="256379" cy="299915"/>
          </a:xfrm>
        </p:grpSpPr>
        <p:sp>
          <p:nvSpPr>
            <p:cNvPr id="146" name="Seta para a Direita 14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12" name="Agrupar 111"/>
          <p:cNvGrpSpPr/>
          <p:nvPr/>
        </p:nvGrpSpPr>
        <p:grpSpPr>
          <a:xfrm>
            <a:off x="4588609" y="929936"/>
            <a:ext cx="1146164" cy="1102494"/>
            <a:chOff x="0" y="13121"/>
            <a:chExt cx="1146164" cy="1333738"/>
          </a:xfrm>
        </p:grpSpPr>
        <p:sp>
          <p:nvSpPr>
            <p:cNvPr id="113" name="Retângulo Arredondado 112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4" name="CaixaDeTexto 113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Submete valores procedentes para cobrança da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1" name="Agrupar 130"/>
          <p:cNvGrpSpPr/>
          <p:nvPr/>
        </p:nvGrpSpPr>
        <p:grpSpPr>
          <a:xfrm flipV="1">
            <a:off x="2731604" y="1330107"/>
            <a:ext cx="256379" cy="299915"/>
            <a:chOff x="6413377" y="679347"/>
            <a:chExt cx="256379" cy="299915"/>
          </a:xfrm>
        </p:grpSpPr>
        <p:sp>
          <p:nvSpPr>
            <p:cNvPr id="132" name="Seta para a Direita 131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aphicFrame>
        <p:nvGraphicFramePr>
          <p:cNvPr id="167" name="Diagrama 166"/>
          <p:cNvGraphicFramePr/>
          <p:nvPr>
            <p:extLst>
              <p:ext uri="{D42A27DB-BD31-4B8C-83A1-F6EECF244321}">
                <p14:modId xmlns:p14="http://schemas.microsoft.com/office/powerpoint/2010/main" val="323091049"/>
              </p:ext>
            </p:extLst>
          </p:nvPr>
        </p:nvGraphicFramePr>
        <p:xfrm>
          <a:off x="6594906" y="929936"/>
          <a:ext cx="1184308" cy="1093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69" name="Agrupar 168"/>
          <p:cNvGrpSpPr/>
          <p:nvPr/>
        </p:nvGrpSpPr>
        <p:grpSpPr>
          <a:xfrm>
            <a:off x="7608409" y="2462040"/>
            <a:ext cx="1146164" cy="1053791"/>
            <a:chOff x="0" y="13121"/>
            <a:chExt cx="1146164" cy="1333738"/>
          </a:xfrm>
        </p:grpSpPr>
        <p:sp>
          <p:nvSpPr>
            <p:cNvPr id="170" name="Retângulo Arredondado 169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1" name="CaixaDeTexto 170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para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72" name="Agrupar 171"/>
          <p:cNvGrpSpPr/>
          <p:nvPr/>
        </p:nvGrpSpPr>
        <p:grpSpPr>
          <a:xfrm flipV="1">
            <a:off x="8840806" y="2848007"/>
            <a:ext cx="256379" cy="299915"/>
            <a:chOff x="6413377" y="679347"/>
            <a:chExt cx="256379" cy="299915"/>
          </a:xfrm>
        </p:grpSpPr>
        <p:sp>
          <p:nvSpPr>
            <p:cNvPr id="173" name="Seta para a Direita 17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75" name="Agrupar 174"/>
          <p:cNvGrpSpPr/>
          <p:nvPr/>
        </p:nvGrpSpPr>
        <p:grpSpPr>
          <a:xfrm>
            <a:off x="9159107" y="2431619"/>
            <a:ext cx="1146164" cy="1102494"/>
            <a:chOff x="0" y="13121"/>
            <a:chExt cx="1146164" cy="1333738"/>
          </a:xfrm>
        </p:grpSpPr>
        <p:sp>
          <p:nvSpPr>
            <p:cNvPr id="176" name="Retângulo Arredondado 175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7" name="CaixaDeTexto 176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Submete valores procedentes para nova cobrança pela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78" name="Agrupar 177"/>
          <p:cNvGrpSpPr/>
          <p:nvPr/>
        </p:nvGrpSpPr>
        <p:grpSpPr>
          <a:xfrm flipV="1">
            <a:off x="7302102" y="2831790"/>
            <a:ext cx="256379" cy="299915"/>
            <a:chOff x="6413377" y="679347"/>
            <a:chExt cx="256379" cy="299915"/>
          </a:xfrm>
        </p:grpSpPr>
        <p:sp>
          <p:nvSpPr>
            <p:cNvPr id="179" name="Seta para a Direita 178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0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81" name="Retângulo 180"/>
          <p:cNvSpPr/>
          <p:nvPr/>
        </p:nvSpPr>
        <p:spPr>
          <a:xfrm rot="16200000">
            <a:off x="5723670" y="3428653"/>
            <a:ext cx="2952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82" name="Agrupar 181"/>
          <p:cNvGrpSpPr/>
          <p:nvPr/>
        </p:nvGrpSpPr>
        <p:grpSpPr>
          <a:xfrm flipV="1">
            <a:off x="7287919" y="4333807"/>
            <a:ext cx="256379" cy="299915"/>
            <a:chOff x="6413377" y="679347"/>
            <a:chExt cx="256379" cy="299915"/>
          </a:xfrm>
        </p:grpSpPr>
        <p:sp>
          <p:nvSpPr>
            <p:cNvPr id="183" name="Seta para a Direita 18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85" name="Agrupar 184"/>
          <p:cNvGrpSpPr/>
          <p:nvPr/>
        </p:nvGrpSpPr>
        <p:grpSpPr>
          <a:xfrm>
            <a:off x="7574280" y="3899562"/>
            <a:ext cx="1159199" cy="1053791"/>
            <a:chOff x="-13035" y="13121"/>
            <a:chExt cx="1159199" cy="1333738"/>
          </a:xfrm>
        </p:grpSpPr>
        <p:sp>
          <p:nvSpPr>
            <p:cNvPr id="186" name="Retângulo Arredondado 185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  <a:ln>
              <a:solidFill>
                <a:srgbClr val="009E0B"/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7" name="CaixaDeTexto 186"/>
            <p:cNvSpPr txBox="1"/>
            <p:nvPr/>
          </p:nvSpPr>
          <p:spPr>
            <a:xfrm>
              <a:off x="-13035" y="29659"/>
              <a:ext cx="1125629" cy="1266597"/>
            </a:xfrm>
            <a:prstGeom prst="rect">
              <a:avLst/>
            </a:prstGeom>
            <a:ln>
              <a:noFill/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Avalia contestação dos valores realizados para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Lemvig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91" name="CaixaDeTexto 190"/>
          <p:cNvSpPr txBox="1"/>
          <p:nvPr/>
        </p:nvSpPr>
        <p:spPr>
          <a:xfrm>
            <a:off x="177268" y="2770116"/>
            <a:ext cx="106336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Lemvig</a:t>
            </a:r>
            <a:r>
              <a:rPr lang="en-US" dirty="0"/>
              <a:t>:</a:t>
            </a:r>
          </a:p>
          <a:p>
            <a:r>
              <a:rPr lang="pt-BR" dirty="0">
                <a:solidFill>
                  <a:srgbClr val="4D4D4D"/>
                </a:solidFill>
              </a:rPr>
              <a:t>Patrimônio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77268" y="3891122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Patrimônio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Rodrigo </a:t>
            </a:r>
            <a:r>
              <a:rPr lang="en-US" dirty="0" err="1"/>
              <a:t>Godinho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Rodrigo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Leite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2" name="Agrupar 71"/>
          <p:cNvGrpSpPr/>
          <p:nvPr/>
        </p:nvGrpSpPr>
        <p:grpSpPr>
          <a:xfrm rot="16200000" flipV="1">
            <a:off x="8013200" y="3540621"/>
            <a:ext cx="256379" cy="299915"/>
            <a:chOff x="6413377" y="679347"/>
            <a:chExt cx="256379" cy="299915"/>
          </a:xfrm>
        </p:grpSpPr>
        <p:sp>
          <p:nvSpPr>
            <p:cNvPr id="73" name="Seta para a Direita 7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cxnSp>
        <p:nvCxnSpPr>
          <p:cNvPr id="17" name="Conector reto 16"/>
          <p:cNvCxnSpPr/>
          <p:nvPr/>
        </p:nvCxnSpPr>
        <p:spPr>
          <a:xfrm>
            <a:off x="6467966" y="973424"/>
            <a:ext cx="0" cy="393994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tângulo Arredondado 17"/>
          <p:cNvSpPr/>
          <p:nvPr/>
        </p:nvSpPr>
        <p:spPr>
          <a:xfrm>
            <a:off x="226700" y="5295122"/>
            <a:ext cx="288000" cy="216000"/>
          </a:xfrm>
          <a:prstGeom prst="roundRect">
            <a:avLst/>
          </a:prstGeom>
          <a:solidFill>
            <a:srgbClr val="00D318"/>
          </a:solidFill>
          <a:ln w="25400" cap="flat">
            <a:solidFill>
              <a:srgbClr val="009E0B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30690" y="5303562"/>
            <a:ext cx="684001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Atividade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2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temporária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ser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executada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até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término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da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segregação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contratos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terreno</a:t>
            </a:r>
            <a:r>
              <a:rPr kumimoji="0" lang="en-US" sz="12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</a:t>
            </a:r>
            <a:r>
              <a:rPr kumimoji="0" lang="en-US" sz="12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terceiros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Agrupar 88"/>
          <p:cNvGrpSpPr/>
          <p:nvPr/>
        </p:nvGrpSpPr>
        <p:grpSpPr>
          <a:xfrm>
            <a:off x="2696003" y="1840329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90" name="Canto Dobrado 8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91" name="Conector reto 9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2" name="Conector reto 9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3" name="Conector reto 9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94" name="Agrupar 93"/>
          <p:cNvGrpSpPr/>
          <p:nvPr/>
        </p:nvGrpSpPr>
        <p:grpSpPr>
          <a:xfrm>
            <a:off x="7831694" y="1820273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96" name="Canto Dobrado 9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98" name="Conector reto 9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9" name="Conector reto 9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0" name="Conector reto 9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68" name="Texto Explicativo Retangular com Cantos Arredondados 67"/>
          <p:cNvSpPr/>
          <p:nvPr/>
        </p:nvSpPr>
        <p:spPr>
          <a:xfrm>
            <a:off x="10408520" y="1372968"/>
            <a:ext cx="1447753" cy="1639372"/>
          </a:xfrm>
          <a:prstGeom prst="wedgeRoundRectCallout">
            <a:avLst>
              <a:gd name="adj1" fmla="val -44271"/>
              <a:gd name="adj2" fmla="val 66019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FFFFFF"/>
                </a:solidFill>
              </a:rPr>
              <a:t>Aonde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são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pt-BR" dirty="0">
                <a:solidFill>
                  <a:srgbClr val="FFFFFF"/>
                </a:solidFill>
              </a:rPr>
              <a:t>incluídos os valores que precisam ser faturados pós contestação improcedente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9" name="Texto Explicativo Retangular com Cantos Arredondados 68"/>
          <p:cNvSpPr/>
          <p:nvPr/>
        </p:nvSpPr>
        <p:spPr>
          <a:xfrm>
            <a:off x="10422258" y="3711348"/>
            <a:ext cx="1447753" cy="715089"/>
          </a:xfrm>
          <a:prstGeom prst="wedgeRoundRectCallout">
            <a:avLst>
              <a:gd name="adj1" fmla="val -45148"/>
              <a:gd name="adj2" fmla="val -67227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FFFFFF"/>
                </a:solidFill>
              </a:rPr>
              <a:t>Faturamento</a:t>
            </a:r>
            <a:r>
              <a:rPr lang="en-US" dirty="0">
                <a:solidFill>
                  <a:srgbClr val="FFFFFF"/>
                </a:solidFill>
              </a:rPr>
              <a:t> do </a:t>
            </a:r>
            <a:r>
              <a:rPr lang="en-US" dirty="0" err="1">
                <a:solidFill>
                  <a:srgbClr val="FFFFFF"/>
                </a:solidFill>
              </a:rPr>
              <a:t>improcedente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como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ocorre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</p:txBody>
      </p:sp>
      <p:grpSp>
        <p:nvGrpSpPr>
          <p:cNvPr id="70" name="Agrupar 69"/>
          <p:cNvGrpSpPr/>
          <p:nvPr/>
        </p:nvGrpSpPr>
        <p:grpSpPr>
          <a:xfrm rot="16200000" flipV="1">
            <a:off x="9587149" y="2088154"/>
            <a:ext cx="244217" cy="285687"/>
            <a:chOff x="1269055" y="385982"/>
            <a:chExt cx="244217" cy="285687"/>
          </a:xfrm>
        </p:grpSpPr>
        <p:sp>
          <p:nvSpPr>
            <p:cNvPr id="75" name="Seta para a Direita 74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77" name="Elipse 76"/>
          <p:cNvSpPr/>
          <p:nvPr/>
        </p:nvSpPr>
        <p:spPr>
          <a:xfrm>
            <a:off x="9560496" y="1720788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</a:t>
            </a:r>
          </a:p>
        </p:txBody>
      </p:sp>
      <p:grpSp>
        <p:nvGrpSpPr>
          <p:cNvPr id="78" name="Agrupar 77"/>
          <p:cNvGrpSpPr/>
          <p:nvPr/>
        </p:nvGrpSpPr>
        <p:grpSpPr>
          <a:xfrm flipV="1">
            <a:off x="5810582" y="1350299"/>
            <a:ext cx="244217" cy="285687"/>
            <a:chOff x="1269055" y="385982"/>
            <a:chExt cx="244217" cy="285687"/>
          </a:xfrm>
        </p:grpSpPr>
        <p:sp>
          <p:nvSpPr>
            <p:cNvPr id="81" name="Seta para a Direita 80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2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83" name="Elipse 82"/>
          <p:cNvSpPr/>
          <p:nvPr/>
        </p:nvSpPr>
        <p:spPr>
          <a:xfrm>
            <a:off x="6075372" y="1355188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</a:t>
            </a:r>
          </a:p>
        </p:txBody>
      </p:sp>
      <p:sp>
        <p:nvSpPr>
          <p:cNvPr id="84" name="Botão de ação: Retornar 83">
            <a:hlinkClick r:id="rId15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5" name="Agrupar 84"/>
          <p:cNvGrpSpPr/>
          <p:nvPr/>
        </p:nvGrpSpPr>
        <p:grpSpPr>
          <a:xfrm>
            <a:off x="228257" y="49126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86" name="Canto Dobrado 8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7" name="Conector reto 8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8" name="Conector reto 8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1" name="Conector reto 10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02" name="Retângulo 101"/>
          <p:cNvSpPr/>
          <p:nvPr/>
        </p:nvSpPr>
        <p:spPr>
          <a:xfrm>
            <a:off x="415950" y="48645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08" name="Elipse 107">
            <a:hlinkClick r:id="rId16" action="ppaction://hlinksldjump"/>
          </p:cNvPr>
          <p:cNvSpPr/>
          <p:nvPr/>
        </p:nvSpPr>
        <p:spPr>
          <a:xfrm>
            <a:off x="220241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664229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5945494" y="6446245"/>
            <a:ext cx="247823" cy="276999"/>
          </a:xfrm>
        </p:spPr>
        <p:txBody>
          <a:bodyPr/>
          <a:lstStyle/>
          <a:p>
            <a:pPr algn="ctr"/>
            <a:fld id="{86CB4B4D-7CA3-9044-876B-883B54F8677D}" type="slidenum">
              <a:rPr lang="pt-BR" smtClean="0"/>
              <a:pPr algn="ctr"/>
              <a:t>19</a:t>
            </a:fld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62001" y="453660"/>
            <a:ext cx="10742490" cy="518283"/>
          </a:xfrm>
        </p:spPr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faturados</a:t>
            </a:r>
            <a:r>
              <a:rPr lang="en-US" dirty="0"/>
              <a:t>, </a:t>
            </a:r>
            <a:r>
              <a:rPr lang="en-US" dirty="0" err="1"/>
              <a:t>Apurados</a:t>
            </a:r>
            <a:r>
              <a:rPr lang="en-US" dirty="0"/>
              <a:t> e  </a:t>
            </a:r>
            <a:r>
              <a:rPr lang="en-US" dirty="0" err="1"/>
              <a:t>Acertos</a:t>
            </a:r>
            <a:r>
              <a:rPr lang="en-US" dirty="0"/>
              <a:t> a </a:t>
            </a:r>
            <a:r>
              <a:rPr lang="en-US" dirty="0" err="1"/>
              <a:t>executar</a:t>
            </a:r>
            <a:r>
              <a:rPr lang="en-US" dirty="0"/>
              <a:t> entre Oi e </a:t>
            </a:r>
            <a:r>
              <a:rPr lang="en-US" dirty="0" err="1"/>
              <a:t>Lemvig</a:t>
            </a:r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Fev</a:t>
            </a:r>
            <a:r>
              <a:rPr lang="en-US" dirty="0"/>
              <a:t>/23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Mar/23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Jan/23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>
          <a:xfrm>
            <a:off x="4090706" y="2719473"/>
            <a:ext cx="4047453" cy="2608840"/>
          </a:xfrm>
        </p:spPr>
        <p:txBody>
          <a:bodyPr/>
          <a:lstStyle/>
          <a:p>
            <a:r>
              <a:rPr lang="en-US" dirty="0" err="1"/>
              <a:t>Contratos</a:t>
            </a:r>
            <a:r>
              <a:rPr lang="en-US" dirty="0"/>
              <a:t> de </a:t>
            </a:r>
            <a:r>
              <a:rPr lang="en-US" dirty="0" err="1"/>
              <a:t>Compartilhamento</a:t>
            </a:r>
            <a:r>
              <a:rPr lang="en-US" dirty="0"/>
              <a:t> – </a:t>
            </a:r>
            <a:r>
              <a:rPr lang="en-US" dirty="0" err="1"/>
              <a:t>Receita</a:t>
            </a:r>
            <a:r>
              <a:rPr lang="en-US" dirty="0"/>
              <a:t> de Infra </a:t>
            </a:r>
            <a:r>
              <a:rPr lang="en-US" dirty="0" err="1"/>
              <a:t>Lemvig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Apurado</a:t>
            </a:r>
            <a:r>
              <a:rPr lang="en-US" dirty="0"/>
              <a:t>: R$ </a:t>
            </a:r>
            <a:r>
              <a:rPr lang="pt-BR" dirty="0"/>
              <a:t>12.750.581,82</a:t>
            </a:r>
          </a:p>
          <a:p>
            <a:r>
              <a:rPr lang="en-US" dirty="0"/>
              <a:t>Valor </a:t>
            </a:r>
            <a:r>
              <a:rPr lang="en-US" dirty="0" err="1"/>
              <a:t>Contestado</a:t>
            </a:r>
            <a:r>
              <a:rPr lang="en-US" dirty="0"/>
              <a:t>: R$ </a:t>
            </a:r>
            <a:r>
              <a:rPr lang="pt-BR" dirty="0"/>
              <a:t>2.653.527,48</a:t>
            </a:r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Validado</a:t>
            </a:r>
            <a:r>
              <a:rPr lang="en-US" dirty="0"/>
              <a:t> </a:t>
            </a:r>
            <a:r>
              <a:rPr lang="en-US" dirty="0" err="1"/>
              <a:t>bruto</a:t>
            </a:r>
            <a:r>
              <a:rPr lang="en-US" dirty="0"/>
              <a:t>: R$ </a:t>
            </a:r>
            <a:r>
              <a:rPr lang="pt-BR" dirty="0"/>
              <a:t>7.899.611,64</a:t>
            </a:r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: R$ </a:t>
            </a:r>
            <a:r>
              <a:rPr lang="pt-BR" dirty="0"/>
              <a:t>10.097.054,33</a:t>
            </a:r>
            <a:endParaRPr lang="en-US" dirty="0"/>
          </a:p>
          <a:p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 a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Atacado</a:t>
            </a:r>
            <a:r>
              <a:rPr lang="en-US" dirty="0"/>
              <a:t>: </a:t>
            </a:r>
          </a:p>
          <a:p>
            <a:r>
              <a:rPr lang="en-US" dirty="0"/>
              <a:t>- R$ 24.182,95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>
          <a:xfrm>
            <a:off x="8227909" y="2719473"/>
            <a:ext cx="3903131" cy="2608840"/>
          </a:xfrm>
        </p:spPr>
        <p:txBody>
          <a:bodyPr/>
          <a:lstStyle/>
          <a:p>
            <a:r>
              <a:rPr lang="en-US" dirty="0" err="1"/>
              <a:t>Contratos</a:t>
            </a:r>
            <a:r>
              <a:rPr lang="en-US" dirty="0"/>
              <a:t> de </a:t>
            </a:r>
            <a:r>
              <a:rPr lang="en-US" dirty="0" err="1"/>
              <a:t>Compartilhamento</a:t>
            </a:r>
            <a:r>
              <a:rPr lang="en-US" dirty="0"/>
              <a:t> – </a:t>
            </a:r>
            <a:r>
              <a:rPr lang="en-US" dirty="0" err="1"/>
              <a:t>Receita</a:t>
            </a:r>
            <a:r>
              <a:rPr lang="en-US" dirty="0"/>
              <a:t> de Infra </a:t>
            </a:r>
            <a:r>
              <a:rPr lang="en-US" dirty="0" err="1"/>
              <a:t>Lemvig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Apurado</a:t>
            </a:r>
            <a:r>
              <a:rPr lang="en-US" dirty="0"/>
              <a:t>: R$ </a:t>
            </a:r>
          </a:p>
          <a:p>
            <a:r>
              <a:rPr lang="en-US" dirty="0"/>
              <a:t>Valor </a:t>
            </a:r>
            <a:r>
              <a:rPr lang="en-US" dirty="0" err="1"/>
              <a:t>Contestado</a:t>
            </a:r>
            <a:r>
              <a:rPr lang="en-US" dirty="0"/>
              <a:t>: R$ 0</a:t>
            </a:r>
          </a:p>
          <a:p>
            <a:r>
              <a:rPr lang="en-US" dirty="0"/>
              <a:t>Valor </a:t>
            </a:r>
            <a:r>
              <a:rPr lang="en-US" dirty="0" err="1"/>
              <a:t>Validado</a:t>
            </a:r>
            <a:r>
              <a:rPr lang="en-US" dirty="0"/>
              <a:t> </a:t>
            </a:r>
            <a:r>
              <a:rPr lang="en-US" dirty="0" err="1"/>
              <a:t>bruto</a:t>
            </a:r>
            <a:r>
              <a:rPr lang="en-US" dirty="0"/>
              <a:t>: R$ x</a:t>
            </a:r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: R$ x</a:t>
            </a:r>
          </a:p>
          <a:p>
            <a:endParaRPr lang="en-US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0"/>
          </p:nvPr>
        </p:nvSpPr>
        <p:spPr>
          <a:xfrm>
            <a:off x="123672" y="2719473"/>
            <a:ext cx="3967034" cy="2650818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Contratos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Compartilhamento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en-US" dirty="0" err="1">
                <a:solidFill>
                  <a:schemeClr val="bg1"/>
                </a:solidFill>
              </a:rPr>
              <a:t>Receita</a:t>
            </a:r>
            <a:r>
              <a:rPr lang="en-US" dirty="0">
                <a:solidFill>
                  <a:schemeClr val="bg1"/>
                </a:solidFill>
              </a:rPr>
              <a:t> de Infra </a:t>
            </a:r>
            <a:r>
              <a:rPr lang="en-US" dirty="0" err="1">
                <a:solidFill>
                  <a:schemeClr val="bg1"/>
                </a:solidFill>
              </a:rPr>
              <a:t>Lemvig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Apurado</a:t>
            </a:r>
            <a:r>
              <a:rPr lang="en-US" dirty="0">
                <a:solidFill>
                  <a:schemeClr val="bg1"/>
                </a:solidFill>
              </a:rPr>
              <a:t>: R$ 13.553.112,49 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Contestado</a:t>
            </a:r>
            <a:r>
              <a:rPr lang="en-US" dirty="0">
                <a:solidFill>
                  <a:schemeClr val="bg1"/>
                </a:solidFill>
              </a:rPr>
              <a:t>: R$ 3.525.657,75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Validado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bruto</a:t>
            </a:r>
            <a:r>
              <a:rPr lang="en-US" dirty="0">
                <a:solidFill>
                  <a:schemeClr val="bg1"/>
                </a:solidFill>
              </a:rPr>
              <a:t>: R$ 10.027.455,74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Faturado</a:t>
            </a:r>
            <a:r>
              <a:rPr lang="en-US" dirty="0">
                <a:solidFill>
                  <a:schemeClr val="bg1"/>
                </a:solidFill>
              </a:rPr>
              <a:t>: R$ 10.027.455,74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Faturado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menor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Atacado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r>
              <a:rPr lang="en-US" dirty="0">
                <a:solidFill>
                  <a:schemeClr val="bg1"/>
                </a:solidFill>
              </a:rPr>
              <a:t>- R$ 351.434,81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7" name="Título 2"/>
          <p:cNvSpPr txBox="1">
            <a:spLocks/>
          </p:cNvSpPr>
          <p:nvPr/>
        </p:nvSpPr>
        <p:spPr>
          <a:xfrm>
            <a:off x="48009" y="106006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en-US" dirty="0" err="1"/>
              <a:t>Receita</a:t>
            </a:r>
            <a:r>
              <a:rPr lang="en-US" dirty="0"/>
              <a:t> de Infra dos </a:t>
            </a:r>
            <a:r>
              <a:rPr lang="en-US" dirty="0" err="1"/>
              <a:t>contratos</a:t>
            </a:r>
            <a:r>
              <a:rPr lang="en-US" dirty="0"/>
              <a:t> de </a:t>
            </a:r>
            <a:r>
              <a:rPr lang="en-US" dirty="0" err="1"/>
              <a:t>compartilhamento</a:t>
            </a:r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4164446" y="5799914"/>
            <a:ext cx="3917668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Em</a:t>
            </a:r>
            <a:r>
              <a:rPr kumimoji="0" lang="en-US" sz="1200" b="0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1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fev</a:t>
            </a:r>
            <a:r>
              <a:rPr kumimoji="0" lang="en-US" sz="1200" b="0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/23, </a:t>
            </a:r>
            <a:r>
              <a:rPr kumimoji="0" lang="en-US" sz="1200" b="0" i="1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somente</a:t>
            </a:r>
            <a:r>
              <a:rPr kumimoji="0" lang="en-US" sz="1200" b="0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 a Tim e parte da Claro </a:t>
            </a:r>
            <a:r>
              <a:rPr kumimoji="0" lang="en-US" sz="1200" b="0" i="1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validou</a:t>
            </a:r>
            <a:r>
              <a:rPr kumimoji="0" lang="en-US" sz="1200" b="0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1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os</a:t>
            </a:r>
            <a:r>
              <a:rPr kumimoji="0" lang="en-US" sz="1200" b="0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1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valores</a:t>
            </a:r>
            <a:r>
              <a:rPr lang="en-US" sz="1200" i="1" dirty="0">
                <a:solidFill>
                  <a:schemeClr val="bg1"/>
                </a:solidFill>
              </a:rPr>
              <a:t>. Restante, </a:t>
            </a:r>
            <a:r>
              <a:rPr lang="en-US" sz="1200" i="1" dirty="0" err="1">
                <a:solidFill>
                  <a:schemeClr val="bg1"/>
                </a:solidFill>
              </a:rPr>
              <a:t>seguiu</a:t>
            </a:r>
            <a:r>
              <a:rPr lang="en-US" sz="1200" i="1" dirty="0">
                <a:solidFill>
                  <a:schemeClr val="bg1"/>
                </a:solidFill>
              </a:rPr>
              <a:t> com o </a:t>
            </a:r>
            <a:r>
              <a:rPr lang="en-US" sz="1200" i="1" dirty="0" err="1">
                <a:solidFill>
                  <a:schemeClr val="bg1"/>
                </a:solidFill>
              </a:rPr>
              <a:t>faturamento</a:t>
            </a:r>
            <a:r>
              <a:rPr lang="en-US" sz="1200" i="1" dirty="0">
                <a:solidFill>
                  <a:schemeClr val="bg1"/>
                </a:solidFill>
              </a:rPr>
              <a:t> do valor </a:t>
            </a:r>
            <a:r>
              <a:rPr lang="en-US" sz="1200" i="1" dirty="0" err="1">
                <a:solidFill>
                  <a:schemeClr val="bg1"/>
                </a:solidFill>
              </a:rPr>
              <a:t>apurado</a:t>
            </a:r>
            <a:r>
              <a:rPr lang="en-US" sz="1200" i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001712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0772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20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/>
              <a:t>Pass through de Solo</a:t>
            </a:r>
            <a:br>
              <a:rPr lang="en-US" dirty="0"/>
            </a:b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77538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1506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Retângulo 86"/>
          <p:cNvSpPr/>
          <p:nvPr/>
        </p:nvSpPr>
        <p:spPr>
          <a:xfrm>
            <a:off x="92958" y="371461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26578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432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21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</a:t>
            </a:r>
            <a:r>
              <a:rPr lang="en-US" dirty="0" err="1"/>
              <a:t>Despesa</a:t>
            </a:r>
            <a:r>
              <a:rPr lang="en-US" dirty="0"/>
              <a:t> de </a:t>
            </a:r>
            <a:r>
              <a:rPr lang="en-US" dirty="0" err="1"/>
              <a:t>aluguel</a:t>
            </a:r>
            <a:r>
              <a:rPr lang="en-US" dirty="0"/>
              <a:t> de solo de </a:t>
            </a:r>
            <a:r>
              <a:rPr lang="en-US" dirty="0" err="1"/>
              <a:t>Terceiros</a:t>
            </a:r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142032" y="2591507"/>
            <a:ext cx="145215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ITatiana</a:t>
            </a:r>
            <a:r>
              <a:rPr lang="en-US" dirty="0">
                <a:solidFill>
                  <a:srgbClr val="4D4D4D"/>
                </a:solidFill>
              </a:rPr>
              <a:t> Cardozo – BPO Accenture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79979" y="1068850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2363200409"/>
              </p:ext>
            </p:extLst>
          </p:nvPr>
        </p:nvGraphicFramePr>
        <p:xfrm>
          <a:off x="1565367" y="932197"/>
          <a:ext cx="2747554" cy="1181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2" name="Diagrama 121"/>
          <p:cNvGraphicFramePr/>
          <p:nvPr>
            <p:extLst>
              <p:ext uri="{D42A27DB-BD31-4B8C-83A1-F6EECF244321}">
                <p14:modId xmlns:p14="http://schemas.microsoft.com/office/powerpoint/2010/main" val="940501325"/>
              </p:ext>
            </p:extLst>
          </p:nvPr>
        </p:nvGraphicFramePr>
        <p:xfrm>
          <a:off x="3143937" y="2449596"/>
          <a:ext cx="1168984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23" name="Agrupar 122"/>
          <p:cNvGrpSpPr/>
          <p:nvPr/>
        </p:nvGrpSpPr>
        <p:grpSpPr>
          <a:xfrm rot="5400000">
            <a:off x="3558936" y="2144050"/>
            <a:ext cx="244217" cy="285687"/>
            <a:chOff x="1269055" y="385982"/>
            <a:chExt cx="244217" cy="285687"/>
          </a:xfrm>
        </p:grpSpPr>
        <p:sp>
          <p:nvSpPr>
            <p:cNvPr id="124" name="Seta para a Direita 12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5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126" name="Agrupar 125"/>
          <p:cNvGrpSpPr/>
          <p:nvPr/>
        </p:nvGrpSpPr>
        <p:grpSpPr>
          <a:xfrm rot="16200000" flipV="1">
            <a:off x="8253780" y="3581005"/>
            <a:ext cx="244217" cy="285687"/>
            <a:chOff x="1269055" y="385982"/>
            <a:chExt cx="244217" cy="285687"/>
          </a:xfrm>
        </p:grpSpPr>
        <p:sp>
          <p:nvSpPr>
            <p:cNvPr id="127" name="Seta para a Direita 126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8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211" name="CaixaDeTexto 210"/>
          <p:cNvSpPr txBox="1"/>
          <p:nvPr/>
        </p:nvSpPr>
        <p:spPr>
          <a:xfrm flipH="1">
            <a:off x="142032" y="5901462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Legenda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: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81" name="Agrupar 80"/>
          <p:cNvGrpSpPr/>
          <p:nvPr/>
        </p:nvGrpSpPr>
        <p:grpSpPr>
          <a:xfrm>
            <a:off x="1307637" y="1352064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82" name="Canto Dobrado 81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3" name="Conector reto 82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4" name="Conector reto 83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5" name="Conector reto 84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6" name="Texto Explicativo Retangular com Cantos Arredondados 85"/>
          <p:cNvSpPr/>
          <p:nvPr/>
        </p:nvSpPr>
        <p:spPr>
          <a:xfrm>
            <a:off x="10326872" y="994518"/>
            <a:ext cx="1540400" cy="715089"/>
          </a:xfrm>
          <a:prstGeom prst="wedgeRoundRectCallout">
            <a:avLst>
              <a:gd name="adj1" fmla="val -42737"/>
              <a:gd name="adj2" fmla="val 85722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dirty="0">
                <a:solidFill>
                  <a:srgbClr val="FFFFFF"/>
                </a:solidFill>
              </a:rPr>
              <a:t>Patrimônio e CAP participam do processo no TSA?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8" name="CaixaDeTexto 87"/>
          <p:cNvSpPr txBox="1"/>
          <p:nvPr/>
        </p:nvSpPr>
        <p:spPr>
          <a:xfrm>
            <a:off x="142032" y="4040338"/>
            <a:ext cx="145215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CAP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Manuela Grande/ </a:t>
            </a:r>
            <a:r>
              <a:rPr lang="en-US" dirty="0" err="1">
                <a:solidFill>
                  <a:srgbClr val="4D4D4D"/>
                </a:solidFill>
              </a:rPr>
              <a:t>Vitor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Galvão</a:t>
            </a:r>
            <a:endParaRPr lang="en-US" dirty="0">
              <a:solidFill>
                <a:srgbClr val="4D4D4D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grpSp>
        <p:nvGrpSpPr>
          <p:cNvPr id="89" name="Agrupar 88"/>
          <p:cNvGrpSpPr/>
          <p:nvPr/>
        </p:nvGrpSpPr>
        <p:grpSpPr>
          <a:xfrm rot="5400000">
            <a:off x="3558936" y="3577611"/>
            <a:ext cx="244217" cy="285687"/>
            <a:chOff x="1269055" y="385982"/>
            <a:chExt cx="244217" cy="285687"/>
          </a:xfrm>
        </p:grpSpPr>
        <p:sp>
          <p:nvSpPr>
            <p:cNvPr id="90" name="Seta para a Direita 89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1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aphicFrame>
        <p:nvGraphicFramePr>
          <p:cNvPr id="93" name="Diagrama 92"/>
          <p:cNvGraphicFramePr/>
          <p:nvPr>
            <p:extLst>
              <p:ext uri="{D42A27DB-BD31-4B8C-83A1-F6EECF244321}">
                <p14:modId xmlns:p14="http://schemas.microsoft.com/office/powerpoint/2010/main" val="1383373885"/>
              </p:ext>
            </p:extLst>
          </p:nvPr>
        </p:nvGraphicFramePr>
        <p:xfrm>
          <a:off x="3154495" y="3951761"/>
          <a:ext cx="5816166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94" name="Diagrama 93"/>
          <p:cNvGraphicFramePr/>
          <p:nvPr>
            <p:extLst>
              <p:ext uri="{D42A27DB-BD31-4B8C-83A1-F6EECF244321}">
                <p14:modId xmlns:p14="http://schemas.microsoft.com/office/powerpoint/2010/main" val="1118918048"/>
              </p:ext>
            </p:extLst>
          </p:nvPr>
        </p:nvGraphicFramePr>
        <p:xfrm>
          <a:off x="7770236" y="2459844"/>
          <a:ext cx="1168984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pSp>
        <p:nvGrpSpPr>
          <p:cNvPr id="100" name="Agrupar 99"/>
          <p:cNvGrpSpPr/>
          <p:nvPr/>
        </p:nvGrpSpPr>
        <p:grpSpPr>
          <a:xfrm>
            <a:off x="182619" y="6180227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101" name="Canto Dobrado 100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2" name="Conector reto 10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" name="Conector reto 10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" name="Conector reto 10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0" name="CaixaDeTexto 109"/>
          <p:cNvSpPr txBox="1"/>
          <p:nvPr/>
        </p:nvSpPr>
        <p:spPr>
          <a:xfrm>
            <a:off x="444026" y="6228985"/>
            <a:ext cx="8685458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 MLA: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Lista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das 8.000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torres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com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indicação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da RBR, UF e valor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aluguel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1" name="CaixaDeTexto 110"/>
          <p:cNvSpPr txBox="1"/>
          <p:nvPr/>
        </p:nvSpPr>
        <p:spPr>
          <a:xfrm>
            <a:off x="163026" y="1340085"/>
            <a:ext cx="145215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Bernardo Leno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143528" y="2335394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142032" y="3813174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2" name="Texto Explicativo Retangular com Cantos Arredondados 51"/>
          <p:cNvSpPr/>
          <p:nvPr/>
        </p:nvSpPr>
        <p:spPr>
          <a:xfrm>
            <a:off x="1783079" y="2760184"/>
            <a:ext cx="1262749" cy="476726"/>
          </a:xfrm>
          <a:prstGeom prst="wedgeRoundRectCallout">
            <a:avLst>
              <a:gd name="adj1" fmla="val 46621"/>
              <a:gd name="adj2" fmla="val 75066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recebe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boletos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3" name="Texto Explicativo Retangular com Cantos Arredondados 52"/>
          <p:cNvSpPr/>
          <p:nvPr/>
        </p:nvSpPr>
        <p:spPr>
          <a:xfrm>
            <a:off x="4651556" y="1069378"/>
            <a:ext cx="1262749" cy="476726"/>
          </a:xfrm>
          <a:prstGeom prst="wedgeRoundRectCallout">
            <a:avLst>
              <a:gd name="adj1" fmla="val -65620"/>
              <a:gd name="adj2" fmla="val 87853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76" name="Agrupar 75"/>
          <p:cNvGrpSpPr/>
          <p:nvPr/>
        </p:nvGrpSpPr>
        <p:grpSpPr>
          <a:xfrm>
            <a:off x="204242" y="471096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77" name="Canto Dobrado 76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78" name="Conector reto 7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9" name="Conector reto 7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0" name="Conector reto 7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2" name="CaixaDeTexto 91"/>
          <p:cNvSpPr txBox="1"/>
          <p:nvPr/>
        </p:nvSpPr>
        <p:spPr>
          <a:xfrm>
            <a:off x="477420" y="560051"/>
            <a:ext cx="952383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 MLA</a:t>
            </a:r>
          </a:p>
        </p:txBody>
      </p:sp>
      <p:sp>
        <p:nvSpPr>
          <p:cNvPr id="96" name="Elipse 95">
            <a:hlinkClick r:id="rId25" action="ppaction://hlinksldjump"/>
          </p:cNvPr>
          <p:cNvSpPr/>
          <p:nvPr/>
        </p:nvSpPr>
        <p:spPr>
          <a:xfrm>
            <a:off x="204242" y="520824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1" name="Retângulo 130"/>
          <p:cNvSpPr/>
          <p:nvPr/>
        </p:nvSpPr>
        <p:spPr>
          <a:xfrm>
            <a:off x="6409091" y="526517"/>
            <a:ext cx="253289" cy="165302"/>
          </a:xfrm>
          <a:prstGeom prst="rect">
            <a:avLst/>
          </a:prstGeom>
          <a:solidFill>
            <a:srgbClr val="92D05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5773559" y="1340085"/>
            <a:ext cx="253289" cy="165302"/>
          </a:xfrm>
          <a:prstGeom prst="rect">
            <a:avLst/>
          </a:prstGeom>
          <a:solidFill>
            <a:srgbClr val="92D05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9" name="Botão de ação: Retornar 58">
            <a:hlinkClick r:id="rId26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3859747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52" grpId="0" animBg="1"/>
      <p:bldP spid="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652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Retângulo 93"/>
          <p:cNvSpPr/>
          <p:nvPr/>
        </p:nvSpPr>
        <p:spPr>
          <a:xfrm>
            <a:off x="76318" y="520292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48009" y="80064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5102" y="375179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28102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832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5637761" y="6654049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22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</a:t>
            </a:r>
            <a:r>
              <a:rPr lang="en-US" dirty="0" err="1"/>
              <a:t>Despesa</a:t>
            </a:r>
            <a:r>
              <a:rPr lang="en-US" dirty="0"/>
              <a:t> de </a:t>
            </a:r>
            <a:r>
              <a:rPr lang="en-US" dirty="0" err="1"/>
              <a:t>aluguel</a:t>
            </a:r>
            <a:r>
              <a:rPr lang="en-US" dirty="0"/>
              <a:t> de solo Oi com </a:t>
            </a:r>
            <a:r>
              <a:rPr lang="en-US" dirty="0" err="1"/>
              <a:t>multilocatários</a:t>
            </a:r>
            <a:endParaRPr lang="en-US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190629" y="5245439"/>
            <a:ext cx="1065647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</a:t>
            </a:r>
          </a:p>
          <a:p>
            <a:r>
              <a:rPr lang="en-US" dirty="0" err="1">
                <a:solidFill>
                  <a:srgbClr val="00D318"/>
                </a:solidFill>
              </a:rPr>
              <a:t>Patrimônio</a:t>
            </a:r>
            <a:r>
              <a:rPr lang="en-US" dirty="0">
                <a:solidFill>
                  <a:srgbClr val="00D318"/>
                </a:solidFill>
              </a:rPr>
              <a:t> </a:t>
            </a:r>
          </a:p>
          <a:p>
            <a:r>
              <a:rPr lang="en-US" dirty="0">
                <a:solidFill>
                  <a:srgbClr val="00D318"/>
                </a:solidFill>
              </a:rPr>
              <a:t>Bernardo </a:t>
            </a:r>
          </a:p>
          <a:p>
            <a:r>
              <a:rPr lang="en-US" dirty="0">
                <a:solidFill>
                  <a:srgbClr val="00D318"/>
                </a:solidFill>
              </a:rPr>
              <a:t>Leno </a:t>
            </a:r>
          </a:p>
          <a:p>
            <a:r>
              <a:rPr lang="en-US" dirty="0">
                <a:solidFill>
                  <a:srgbClr val="00D318"/>
                </a:solidFill>
              </a:rPr>
              <a:t>Tatiana Cardozo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0" y="106005"/>
            <a:ext cx="360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81405" y="1239681"/>
            <a:ext cx="93455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>
                <a:solidFill>
                  <a:srgbClr val="4D4D4D"/>
                </a:solidFill>
              </a:defRPr>
            </a:lvl1pPr>
          </a:lstStyle>
          <a:p>
            <a:r>
              <a:rPr lang="en-US" dirty="0" err="1">
                <a:solidFill>
                  <a:srgbClr val="00D318"/>
                </a:solidFill>
              </a:rPr>
              <a:t>Lemvig</a:t>
            </a:r>
            <a:endParaRPr lang="en-US" dirty="0">
              <a:solidFill>
                <a:srgbClr val="00D318"/>
              </a:solidFill>
            </a:endParaRPr>
          </a:p>
          <a:p>
            <a:r>
              <a:rPr lang="en-US" dirty="0" err="1"/>
              <a:t>Atacado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00" name="Diagrama 99"/>
          <p:cNvGraphicFramePr/>
          <p:nvPr>
            <p:extLst>
              <p:ext uri="{D42A27DB-BD31-4B8C-83A1-F6EECF244321}">
                <p14:modId xmlns:p14="http://schemas.microsoft.com/office/powerpoint/2010/main" val="2025895710"/>
              </p:ext>
            </p:extLst>
          </p:nvPr>
        </p:nvGraphicFramePr>
        <p:xfrm>
          <a:off x="2833545" y="906082"/>
          <a:ext cx="1161446" cy="1211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5" name="Agrupar 74"/>
          <p:cNvGrpSpPr/>
          <p:nvPr/>
        </p:nvGrpSpPr>
        <p:grpSpPr>
          <a:xfrm>
            <a:off x="2528670" y="1907032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76" name="Canto Dobrado 7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77" name="Conector reto 7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8" name="Conector reto 7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9" name="Conector reto 7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5" name="CaixaDeTexto 84"/>
          <p:cNvSpPr txBox="1"/>
          <p:nvPr/>
        </p:nvSpPr>
        <p:spPr>
          <a:xfrm>
            <a:off x="176976" y="2517988"/>
            <a:ext cx="145215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00D318"/>
                </a:solidFill>
              </a:rPr>
              <a:t>Lemvig</a:t>
            </a:r>
            <a:endParaRPr lang="en-US" dirty="0">
              <a:solidFill>
                <a:srgbClr val="00D318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Tatiana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Cardozo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graphicFrame>
        <p:nvGraphicFramePr>
          <p:cNvPr id="86" name="Diagrama 85"/>
          <p:cNvGraphicFramePr/>
          <p:nvPr>
            <p:extLst>
              <p:ext uri="{D42A27DB-BD31-4B8C-83A1-F6EECF244321}">
                <p14:modId xmlns:p14="http://schemas.microsoft.com/office/powerpoint/2010/main" val="1987893620"/>
              </p:ext>
            </p:extLst>
          </p:nvPr>
        </p:nvGraphicFramePr>
        <p:xfrm>
          <a:off x="1363312" y="956303"/>
          <a:ext cx="4080226" cy="1157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87" name="Diagrama 86"/>
          <p:cNvGraphicFramePr/>
          <p:nvPr>
            <p:extLst>
              <p:ext uri="{D42A27DB-BD31-4B8C-83A1-F6EECF244321}">
                <p14:modId xmlns:p14="http://schemas.microsoft.com/office/powerpoint/2010/main" val="1977968448"/>
              </p:ext>
            </p:extLst>
          </p:nvPr>
        </p:nvGraphicFramePr>
        <p:xfrm>
          <a:off x="7583937" y="2464836"/>
          <a:ext cx="1168984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pSp>
        <p:nvGrpSpPr>
          <p:cNvPr id="88" name="Agrupar 87"/>
          <p:cNvGrpSpPr/>
          <p:nvPr/>
        </p:nvGrpSpPr>
        <p:grpSpPr>
          <a:xfrm rot="5400000">
            <a:off x="8018560" y="2159290"/>
            <a:ext cx="244217" cy="285687"/>
            <a:chOff x="1269055" y="385982"/>
            <a:chExt cx="244217" cy="285687"/>
          </a:xfrm>
        </p:grpSpPr>
        <p:sp>
          <p:nvSpPr>
            <p:cNvPr id="89" name="Seta para a Direita 8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0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96" name="CaixaDeTexto 95"/>
          <p:cNvSpPr txBox="1"/>
          <p:nvPr/>
        </p:nvSpPr>
        <p:spPr>
          <a:xfrm>
            <a:off x="220372" y="3850001"/>
            <a:ext cx="1452156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>
                <a:solidFill>
                  <a:srgbClr val="00D318"/>
                </a:solidFill>
              </a:rPr>
              <a:t>Lemvig</a:t>
            </a:r>
            <a:endParaRPr lang="en-US" dirty="0">
              <a:solidFill>
                <a:srgbClr val="00D318"/>
              </a:solidFill>
            </a:endParaRPr>
          </a:p>
          <a:p>
            <a:r>
              <a:rPr lang="en-US" dirty="0">
                <a:solidFill>
                  <a:srgbClr val="4D4D4D"/>
                </a:solidFill>
              </a:rPr>
              <a:t>CAP: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Manuela Grande/ </a:t>
            </a:r>
            <a:r>
              <a:rPr lang="en-US" dirty="0" err="1">
                <a:solidFill>
                  <a:srgbClr val="4D4D4D"/>
                </a:solidFill>
              </a:rPr>
              <a:t>Vitor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Galvão</a:t>
            </a:r>
            <a:endParaRPr lang="en-US" dirty="0">
              <a:solidFill>
                <a:srgbClr val="4D4D4D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graphicFrame>
        <p:nvGraphicFramePr>
          <p:cNvPr id="108" name="Diagrama 107"/>
          <p:cNvGraphicFramePr/>
          <p:nvPr>
            <p:extLst>
              <p:ext uri="{D42A27DB-BD31-4B8C-83A1-F6EECF244321}">
                <p14:modId xmlns:p14="http://schemas.microsoft.com/office/powerpoint/2010/main" val="3222260722"/>
              </p:ext>
            </p:extLst>
          </p:nvPr>
        </p:nvGraphicFramePr>
        <p:xfrm>
          <a:off x="7558510" y="3920367"/>
          <a:ext cx="4441499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aphicFrame>
        <p:nvGraphicFramePr>
          <p:cNvPr id="110" name="Diagrama 109"/>
          <p:cNvGraphicFramePr/>
          <p:nvPr>
            <p:extLst>
              <p:ext uri="{D42A27DB-BD31-4B8C-83A1-F6EECF244321}">
                <p14:modId xmlns:p14="http://schemas.microsoft.com/office/powerpoint/2010/main" val="574167297"/>
              </p:ext>
            </p:extLst>
          </p:nvPr>
        </p:nvGraphicFramePr>
        <p:xfrm>
          <a:off x="10804491" y="2473882"/>
          <a:ext cx="1168984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grpSp>
        <p:nvGrpSpPr>
          <p:cNvPr id="115" name="Agrupar 114"/>
          <p:cNvGrpSpPr/>
          <p:nvPr/>
        </p:nvGrpSpPr>
        <p:grpSpPr>
          <a:xfrm>
            <a:off x="1349388" y="5341683"/>
            <a:ext cx="1145044" cy="1147000"/>
            <a:chOff x="0" y="0"/>
            <a:chExt cx="1145044" cy="1147000"/>
          </a:xfrm>
        </p:grpSpPr>
        <p:sp>
          <p:nvSpPr>
            <p:cNvPr id="116" name="Retângulo Arredondado 115"/>
            <p:cNvSpPr/>
            <p:nvPr/>
          </p:nvSpPr>
          <p:spPr>
            <a:xfrm>
              <a:off x="0" y="0"/>
              <a:ext cx="1145044" cy="1147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7" name="CaixaDeTexto 116"/>
            <p:cNvSpPr txBox="1"/>
            <p:nvPr/>
          </p:nvSpPr>
          <p:spPr>
            <a:xfrm>
              <a:off x="33537" y="33537"/>
              <a:ext cx="1077970" cy="10799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/>
              <a:r>
                <a:rPr lang="pt-BR" sz="1200" kern="1200" dirty="0">
                  <a:solidFill>
                    <a:srgbClr val="FFFFFF"/>
                  </a:solidFill>
                </a:rPr>
                <a:t> Apura l</a:t>
              </a:r>
              <a:r>
                <a:rPr lang="pt-BR" sz="1200" dirty="0">
                  <a:solidFill>
                    <a:srgbClr val="FFFFFF"/>
                  </a:solidFill>
                </a:rPr>
                <a:t>ista das torres em Terreno Próprio Oi</a:t>
              </a:r>
              <a:endParaRPr lang="pt-BR" sz="1200" dirty="0"/>
            </a:p>
          </p:txBody>
        </p:sp>
      </p:grpSp>
      <p:grpSp>
        <p:nvGrpSpPr>
          <p:cNvPr id="118" name="Agrupar 117"/>
          <p:cNvGrpSpPr/>
          <p:nvPr/>
        </p:nvGrpSpPr>
        <p:grpSpPr>
          <a:xfrm>
            <a:off x="1076276" y="5881879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119" name="Canto Dobrado 11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20" name="Conector reto 11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1" name="Conector reto 12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2" name="Conector reto 12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6" name="Agrupar 125"/>
          <p:cNvGrpSpPr/>
          <p:nvPr/>
        </p:nvGrpSpPr>
        <p:grpSpPr>
          <a:xfrm rot="16200000" flipV="1">
            <a:off x="354129" y="3573217"/>
            <a:ext cx="3096000" cy="313200"/>
            <a:chOff x="1269055" y="385982"/>
            <a:chExt cx="244217" cy="285687"/>
          </a:xfrm>
        </p:grpSpPr>
        <p:sp>
          <p:nvSpPr>
            <p:cNvPr id="127" name="Seta para a Direita 126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8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129" name="Agrupar 128"/>
          <p:cNvGrpSpPr/>
          <p:nvPr/>
        </p:nvGrpSpPr>
        <p:grpSpPr>
          <a:xfrm rot="5400000">
            <a:off x="3339146" y="3572342"/>
            <a:ext cx="3096000" cy="313200"/>
            <a:chOff x="1269055" y="385982"/>
            <a:chExt cx="244217" cy="285687"/>
          </a:xfrm>
        </p:grpSpPr>
        <p:sp>
          <p:nvSpPr>
            <p:cNvPr id="130" name="Seta para a Direita 129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1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aphicFrame>
        <p:nvGraphicFramePr>
          <p:cNvPr id="62" name="Diagrama 61"/>
          <p:cNvGraphicFramePr/>
          <p:nvPr>
            <p:extLst>
              <p:ext uri="{D42A27DB-BD31-4B8C-83A1-F6EECF244321}">
                <p14:modId xmlns:p14="http://schemas.microsoft.com/office/powerpoint/2010/main" val="4111234603"/>
              </p:ext>
            </p:extLst>
          </p:nvPr>
        </p:nvGraphicFramePr>
        <p:xfrm>
          <a:off x="6011327" y="971959"/>
          <a:ext cx="2741594" cy="1157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0" r:lo="rId31" r:qs="rId32" r:cs="rId33"/>
          </a:graphicData>
        </a:graphic>
      </p:graphicFrame>
      <p:graphicFrame>
        <p:nvGraphicFramePr>
          <p:cNvPr id="63" name="Diagrama 62"/>
          <p:cNvGraphicFramePr/>
          <p:nvPr>
            <p:extLst>
              <p:ext uri="{D42A27DB-BD31-4B8C-83A1-F6EECF244321}">
                <p14:modId xmlns:p14="http://schemas.microsoft.com/office/powerpoint/2010/main" val="893569206"/>
              </p:ext>
            </p:extLst>
          </p:nvPr>
        </p:nvGraphicFramePr>
        <p:xfrm>
          <a:off x="4311467" y="5320742"/>
          <a:ext cx="2831585" cy="1184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5" r:lo="rId36" r:qs="rId37" r:cs="rId38"/>
          </a:graphicData>
        </a:graphic>
      </p:graphicFrame>
      <p:grpSp>
        <p:nvGrpSpPr>
          <p:cNvPr id="64" name="Agrupar 63"/>
          <p:cNvGrpSpPr/>
          <p:nvPr/>
        </p:nvGrpSpPr>
        <p:grpSpPr>
          <a:xfrm rot="16200000" flipV="1">
            <a:off x="4804936" y="3564023"/>
            <a:ext cx="3096000" cy="313200"/>
            <a:chOff x="1269055" y="385982"/>
            <a:chExt cx="244217" cy="285687"/>
          </a:xfrm>
        </p:grpSpPr>
        <p:sp>
          <p:nvSpPr>
            <p:cNvPr id="65" name="Seta para a Direita 64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5" name="Retângulo Arredondado 4"/>
          <p:cNvSpPr/>
          <p:nvPr/>
        </p:nvSpPr>
        <p:spPr>
          <a:xfrm>
            <a:off x="857481" y="6349027"/>
            <a:ext cx="252000" cy="180000"/>
          </a:xfrm>
          <a:prstGeom prst="roundRect">
            <a:avLst/>
          </a:prstGeom>
          <a:solidFill>
            <a:srgbClr val="00D318"/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8" name="Retângulo Arredondado 67"/>
          <p:cNvSpPr/>
          <p:nvPr/>
        </p:nvSpPr>
        <p:spPr>
          <a:xfrm>
            <a:off x="626003" y="5917770"/>
            <a:ext cx="252000" cy="180000"/>
          </a:xfrm>
          <a:prstGeom prst="roundRect">
            <a:avLst/>
          </a:prstGeom>
          <a:solidFill>
            <a:srgbClr val="00D318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67" name="Agrupar 66"/>
          <p:cNvGrpSpPr/>
          <p:nvPr/>
        </p:nvGrpSpPr>
        <p:grpSpPr>
          <a:xfrm rot="5400000">
            <a:off x="8043356" y="3605421"/>
            <a:ext cx="244217" cy="285687"/>
            <a:chOff x="1269055" y="385982"/>
            <a:chExt cx="244217" cy="285687"/>
          </a:xfrm>
        </p:grpSpPr>
        <p:sp>
          <p:nvSpPr>
            <p:cNvPr id="69" name="Seta para a Direita 6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0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71" name="Agrupar 70"/>
          <p:cNvGrpSpPr/>
          <p:nvPr/>
        </p:nvGrpSpPr>
        <p:grpSpPr>
          <a:xfrm rot="16200000" flipV="1">
            <a:off x="11331675" y="3586098"/>
            <a:ext cx="244217" cy="285687"/>
            <a:chOff x="1269055" y="385982"/>
            <a:chExt cx="244217" cy="285687"/>
          </a:xfrm>
        </p:grpSpPr>
        <p:sp>
          <p:nvSpPr>
            <p:cNvPr id="72" name="Seta para a Direita 71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3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74" name="Agrupar 73"/>
          <p:cNvGrpSpPr/>
          <p:nvPr/>
        </p:nvGrpSpPr>
        <p:grpSpPr>
          <a:xfrm rot="5400000" flipV="1">
            <a:off x="6748158" y="2182471"/>
            <a:ext cx="242363" cy="283187"/>
            <a:chOff x="1256206" y="436966"/>
            <a:chExt cx="242363" cy="283187"/>
          </a:xfrm>
        </p:grpSpPr>
        <p:sp>
          <p:nvSpPr>
            <p:cNvPr id="80" name="Seta para a Direita 79"/>
            <p:cNvSpPr/>
            <p:nvPr/>
          </p:nvSpPr>
          <p:spPr>
            <a:xfrm>
              <a:off x="1256206" y="436966"/>
              <a:ext cx="242363" cy="2831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Seta para a Direita 4"/>
            <p:cNvSpPr txBox="1"/>
            <p:nvPr/>
          </p:nvSpPr>
          <p:spPr>
            <a:xfrm>
              <a:off x="1256206" y="493603"/>
              <a:ext cx="169654" cy="169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000" kern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82" name="Elipse 81">
            <a:hlinkClick r:id="rId40" action="ppaction://hlinksldjump"/>
          </p:cNvPr>
          <p:cNvSpPr/>
          <p:nvPr/>
        </p:nvSpPr>
        <p:spPr>
          <a:xfrm>
            <a:off x="6662380" y="2464162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9" name="Agrupar 98"/>
          <p:cNvGrpSpPr/>
          <p:nvPr/>
        </p:nvGrpSpPr>
        <p:grpSpPr>
          <a:xfrm>
            <a:off x="1113562" y="929722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01" name="Canto Dobrado 100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2" name="Conector reto 10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" name="Conector reto 10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1" name="Conector reto 11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3" name="Texto Explicativo Retangular com Cantos Arredondados 112"/>
          <p:cNvSpPr/>
          <p:nvPr/>
        </p:nvSpPr>
        <p:spPr>
          <a:xfrm>
            <a:off x="7423587" y="5405153"/>
            <a:ext cx="1262749" cy="476726"/>
          </a:xfrm>
          <a:prstGeom prst="wedgeRoundRectCallout">
            <a:avLst>
              <a:gd name="adj1" fmla="val -65620"/>
              <a:gd name="adj2" fmla="val 87853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14" name="Texto Explicativo Retangular com Cantos Arredondados 113"/>
          <p:cNvSpPr/>
          <p:nvPr/>
        </p:nvSpPr>
        <p:spPr>
          <a:xfrm>
            <a:off x="3311962" y="2464162"/>
            <a:ext cx="1301602" cy="476726"/>
          </a:xfrm>
          <a:prstGeom prst="wedgeRoundRectCallout">
            <a:avLst>
              <a:gd name="adj1" fmla="val 47389"/>
              <a:gd name="adj2" fmla="val -101049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23" name="Texto Explicativo Retangular com Cantos Arredondados 122"/>
          <p:cNvSpPr/>
          <p:nvPr/>
        </p:nvSpPr>
        <p:spPr>
          <a:xfrm>
            <a:off x="9133550" y="1997156"/>
            <a:ext cx="1262749" cy="1405176"/>
          </a:xfrm>
          <a:prstGeom prst="wedgeRoundRectCallout">
            <a:avLst>
              <a:gd name="adj1" fmla="val -73300"/>
              <a:gd name="adj2" fmla="val 18835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meio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pgto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pgto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boleto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deposito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4" name="Texto Explicativo Retangular com Cantos Arredondados 123"/>
          <p:cNvSpPr/>
          <p:nvPr/>
        </p:nvSpPr>
        <p:spPr>
          <a:xfrm>
            <a:off x="2315207" y="3114508"/>
            <a:ext cx="1262749" cy="953453"/>
          </a:xfrm>
          <a:prstGeom prst="wedgeRoundRectCallout">
            <a:avLst>
              <a:gd name="adj1" fmla="val -140228"/>
              <a:gd name="adj2" fmla="val -55272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 TSA, </a:t>
            </a:r>
            <a:r>
              <a:rPr lang="en-US" dirty="0" err="1">
                <a:solidFill>
                  <a:schemeClr val="bg1"/>
                </a:solidFill>
              </a:rPr>
              <a:t>emitir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pagamentos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não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deveria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</a:t>
            </a:r>
            <a:r>
              <a:rPr lang="en-US" dirty="0">
                <a:solidFill>
                  <a:schemeClr val="bg1"/>
                </a:solidFill>
              </a:rPr>
              <a:t> pela </a:t>
            </a:r>
            <a:r>
              <a:rPr lang="en-US" dirty="0" err="1">
                <a:solidFill>
                  <a:schemeClr val="bg1"/>
                </a:solidFill>
              </a:rPr>
              <a:t>Iara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25" name="Agrupar 124"/>
          <p:cNvGrpSpPr/>
          <p:nvPr/>
        </p:nvGrpSpPr>
        <p:grpSpPr>
          <a:xfrm>
            <a:off x="231958" y="484951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132" name="Canto Dobrado 131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33" name="Conector reto 132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4" name="Conector reto 133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5" name="Conector reto 134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6" name="CaixaDeTexto 135"/>
          <p:cNvSpPr txBox="1"/>
          <p:nvPr/>
        </p:nvSpPr>
        <p:spPr>
          <a:xfrm>
            <a:off x="505136" y="573906"/>
            <a:ext cx="952383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 MLA</a:t>
            </a:r>
          </a:p>
        </p:txBody>
      </p:sp>
      <p:sp>
        <p:nvSpPr>
          <p:cNvPr id="137" name="Elipse 136">
            <a:hlinkClick r:id="rId41" action="ppaction://hlinksldjump"/>
          </p:cNvPr>
          <p:cNvSpPr/>
          <p:nvPr/>
        </p:nvSpPr>
        <p:spPr>
          <a:xfrm>
            <a:off x="231958" y="534679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38" name="Agrupar 137"/>
          <p:cNvGrpSpPr/>
          <p:nvPr/>
        </p:nvGrpSpPr>
        <p:grpSpPr>
          <a:xfrm>
            <a:off x="4602225" y="505115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39" name="Canto Dobrado 13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0" name="Conector reto 13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2" name="Conector reto 14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43" name="CaixaDeTexto 142"/>
          <p:cNvSpPr txBox="1"/>
          <p:nvPr/>
        </p:nvSpPr>
        <p:spPr>
          <a:xfrm>
            <a:off x="4851031" y="546477"/>
            <a:ext cx="1505828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Planilha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Engrenagem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44" name="Agrupar 143"/>
          <p:cNvGrpSpPr/>
          <p:nvPr/>
        </p:nvGrpSpPr>
        <p:grpSpPr>
          <a:xfrm>
            <a:off x="1387721" y="505115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45" name="Canto Dobrado 144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6" name="Conector reto 145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7" name="Conector reto 14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8" name="Conector reto 14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49" name="Retângulo 148"/>
          <p:cNvSpPr/>
          <p:nvPr/>
        </p:nvSpPr>
        <p:spPr>
          <a:xfrm>
            <a:off x="1575414" y="50031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50" name="Elipse 149">
            <a:hlinkClick r:id="rId42" action="ppaction://hlinksldjump"/>
          </p:cNvPr>
          <p:cNvSpPr/>
          <p:nvPr/>
        </p:nvSpPr>
        <p:spPr>
          <a:xfrm>
            <a:off x="1379705" y="577115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1" name="Elipse 150">
            <a:hlinkClick r:id="rId43" action="ppaction://hlinksldjump"/>
          </p:cNvPr>
          <p:cNvSpPr/>
          <p:nvPr/>
        </p:nvSpPr>
        <p:spPr>
          <a:xfrm>
            <a:off x="4614521" y="577115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6409091" y="526517"/>
            <a:ext cx="253289" cy="165302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2" name="Retângulo 151"/>
          <p:cNvSpPr/>
          <p:nvPr/>
        </p:nvSpPr>
        <p:spPr>
          <a:xfrm>
            <a:off x="7333921" y="540372"/>
            <a:ext cx="253289" cy="165302"/>
          </a:xfrm>
          <a:prstGeom prst="rect">
            <a:avLst/>
          </a:prstGeom>
          <a:solidFill>
            <a:srgbClr val="FFC0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3" name="Retângulo 152"/>
          <p:cNvSpPr/>
          <p:nvPr/>
        </p:nvSpPr>
        <p:spPr>
          <a:xfrm>
            <a:off x="8559691" y="5640239"/>
            <a:ext cx="253289" cy="165302"/>
          </a:xfrm>
          <a:prstGeom prst="rect">
            <a:avLst/>
          </a:prstGeom>
          <a:solidFill>
            <a:srgbClr val="FFC0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4" name="Retângulo 153"/>
          <p:cNvSpPr/>
          <p:nvPr/>
        </p:nvSpPr>
        <p:spPr>
          <a:xfrm>
            <a:off x="4385691" y="2726321"/>
            <a:ext cx="253289" cy="165302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2" name="Botão de ação: Retornar 111">
            <a:hlinkClick r:id="rId44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586189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4" grpId="0" animBg="1"/>
      <p:bldP spid="123" grpId="0" animBg="1"/>
      <p:bldP spid="1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7432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tângulo 94"/>
          <p:cNvSpPr/>
          <p:nvPr/>
        </p:nvSpPr>
        <p:spPr>
          <a:xfrm>
            <a:off x="90812" y="814651"/>
            <a:ext cx="11952000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198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23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 </a:t>
            </a:r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Aluguel</a:t>
            </a:r>
            <a:r>
              <a:rPr lang="en-US" dirty="0"/>
              <a:t> de Solo dos </a:t>
            </a:r>
            <a:r>
              <a:rPr lang="en-US" dirty="0" err="1"/>
              <a:t>contratos</a:t>
            </a:r>
            <a:r>
              <a:rPr lang="en-US" dirty="0"/>
              <a:t> de </a:t>
            </a:r>
            <a:r>
              <a:rPr lang="en-US" dirty="0" err="1"/>
              <a:t>compartilhamento</a:t>
            </a:r>
            <a:endParaRPr lang="en-US" dirty="0"/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64568" y="1565975"/>
            <a:ext cx="67486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58" name="CaixaDeTexto 157"/>
          <p:cNvSpPr txBox="1"/>
          <p:nvPr/>
        </p:nvSpPr>
        <p:spPr>
          <a:xfrm flipH="1">
            <a:off x="142032" y="3725845"/>
            <a:ext cx="12445241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Atualmente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são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geradas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104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notas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incluindo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;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86" name="Agrupar 185"/>
          <p:cNvGrpSpPr/>
          <p:nvPr/>
        </p:nvGrpSpPr>
        <p:grpSpPr>
          <a:xfrm>
            <a:off x="210029" y="4647370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87" name="Canto Dobrado 186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88" name="Conector reto 18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9" name="Conector reto 18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0" name="Conector reto 18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2" name="CaixaDeTexto 191"/>
          <p:cNvSpPr txBox="1"/>
          <p:nvPr/>
        </p:nvSpPr>
        <p:spPr>
          <a:xfrm>
            <a:off x="514701" y="4614711"/>
            <a:ext cx="550047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Planilha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Engrenagem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: 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consolidados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com de/para das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torres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que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contempla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de base fee, solo,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climatização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por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operadora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,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contrato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/DEINF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Atacado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torre</a:t>
            </a:r>
            <a:r>
              <a:rPr lang="en-US" sz="1100" dirty="0">
                <a:solidFill>
                  <a:srgbClr val="4D4D4D"/>
                </a:solidFill>
              </a:rPr>
              <a:t>;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93" name="Agrupar 192"/>
          <p:cNvGrpSpPr/>
          <p:nvPr/>
        </p:nvGrpSpPr>
        <p:grpSpPr>
          <a:xfrm>
            <a:off x="210316" y="5017491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94" name="Canto Dobrado 19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95" name="Conector reto 19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6" name="Conector reto 19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7" name="Conector reto 19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8" name="CaixaDeTexto 197"/>
          <p:cNvSpPr txBox="1"/>
          <p:nvPr/>
        </p:nvSpPr>
        <p:spPr>
          <a:xfrm>
            <a:off x="514701" y="5017491"/>
            <a:ext cx="5500478" cy="4847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Planilha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DEINF </a:t>
            </a: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visão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faturar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torres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compartilhadas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seus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respectivos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.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Contempla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base fee, solo,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climatização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.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205" name="Agrupar 204"/>
          <p:cNvGrpSpPr/>
          <p:nvPr/>
        </p:nvGrpSpPr>
        <p:grpSpPr>
          <a:xfrm>
            <a:off x="6308288" y="4664477"/>
            <a:ext cx="180000" cy="25200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206" name="Canto Dobrado 205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07" name="Conector reto 20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8" name="Conector reto 20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9" name="Conector reto 20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0" name="CaixaDeTexto 209"/>
          <p:cNvSpPr txBox="1"/>
          <p:nvPr/>
        </p:nvSpPr>
        <p:spPr>
          <a:xfrm>
            <a:off x="6562440" y="4683921"/>
            <a:ext cx="380601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consolidado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, DEINF,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, UF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211" name="CaixaDeTexto 210"/>
          <p:cNvSpPr txBox="1"/>
          <p:nvPr/>
        </p:nvSpPr>
        <p:spPr>
          <a:xfrm flipH="1">
            <a:off x="157443" y="4424331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Legenda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: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91" name="Agrupar 90"/>
          <p:cNvGrpSpPr/>
          <p:nvPr/>
        </p:nvGrpSpPr>
        <p:grpSpPr>
          <a:xfrm rot="5400000">
            <a:off x="2116435" y="1941661"/>
            <a:ext cx="244217" cy="285687"/>
            <a:chOff x="1269055" y="385982"/>
            <a:chExt cx="244217" cy="285687"/>
          </a:xfrm>
        </p:grpSpPr>
        <p:sp>
          <p:nvSpPr>
            <p:cNvPr id="92" name="Seta para a Direita 91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3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94" name="Elipse 93">
            <a:hlinkClick r:id="rId5" action="ppaction://hlinksldjump"/>
          </p:cNvPr>
          <p:cNvSpPr/>
          <p:nvPr/>
        </p:nvSpPr>
        <p:spPr>
          <a:xfrm>
            <a:off x="2068688" y="2269815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3" name="Agrupar 12"/>
          <p:cNvGrpSpPr/>
          <p:nvPr/>
        </p:nvGrpSpPr>
        <p:grpSpPr>
          <a:xfrm>
            <a:off x="1170392" y="957462"/>
            <a:ext cx="1981748" cy="930602"/>
            <a:chOff x="4767032" y="957462"/>
            <a:chExt cx="1981748" cy="930602"/>
          </a:xfrm>
        </p:grpSpPr>
        <p:sp>
          <p:nvSpPr>
            <p:cNvPr id="10" name="Retângulo Arredondado 9"/>
            <p:cNvSpPr/>
            <p:nvPr/>
          </p:nvSpPr>
          <p:spPr>
            <a:xfrm>
              <a:off x="4980144" y="1172975"/>
              <a:ext cx="1768636" cy="715089"/>
            </a:xfrm>
            <a:prstGeom prst="roundRect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Processo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Receita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dos </a:t>
              </a:r>
              <a:r>
                <a:rPr kumimoji="0" lang="pt-BR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contratos de compartilhamento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78" name="Elipse 77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63" name="Agrupar 62"/>
          <p:cNvGrpSpPr/>
          <p:nvPr/>
        </p:nvGrpSpPr>
        <p:grpSpPr>
          <a:xfrm>
            <a:off x="6043097" y="491260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64" name="Canto Dobrado 6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5" name="Conector reto 6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7" name="Conector reto 6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68" name="CaixaDeTexto 67"/>
          <p:cNvSpPr txBox="1"/>
          <p:nvPr/>
        </p:nvSpPr>
        <p:spPr>
          <a:xfrm>
            <a:off x="6291903" y="532622"/>
            <a:ext cx="1505828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Planilha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Engrenagem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69" name="Agrupar 68"/>
          <p:cNvGrpSpPr/>
          <p:nvPr/>
        </p:nvGrpSpPr>
        <p:grpSpPr>
          <a:xfrm>
            <a:off x="163991" y="491260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70" name="Canto Dobrado 6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71" name="Conector reto 7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reto 7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3" name="Conector reto 7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4" name="CaixaDeTexto 73"/>
          <p:cNvSpPr txBox="1"/>
          <p:nvPr/>
        </p:nvSpPr>
        <p:spPr>
          <a:xfrm>
            <a:off x="468376" y="536469"/>
            <a:ext cx="2346486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Planilha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DEINF </a:t>
            </a: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9" name="Agrupar 78"/>
          <p:cNvGrpSpPr/>
          <p:nvPr/>
        </p:nvGrpSpPr>
        <p:grpSpPr>
          <a:xfrm>
            <a:off x="7797731" y="491260"/>
            <a:ext cx="180000" cy="25200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80" name="Canto Dobrado 79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2" name="Conector reto 8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3" name="Conector reto 8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4" name="Conector reto 8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5" name="CaixaDeTexto 84"/>
          <p:cNvSpPr txBox="1"/>
          <p:nvPr/>
        </p:nvSpPr>
        <p:spPr>
          <a:xfrm>
            <a:off x="8051883" y="532622"/>
            <a:ext cx="380601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consolidado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86" name="Agrupar 85"/>
          <p:cNvGrpSpPr/>
          <p:nvPr/>
        </p:nvGrpSpPr>
        <p:grpSpPr>
          <a:xfrm>
            <a:off x="9758365" y="491260"/>
            <a:ext cx="180000" cy="252000"/>
            <a:chOff x="3722403" y="2929357"/>
            <a:chExt cx="504000" cy="6840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87" name="Canto Dobrado 86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8" name="Conector reto 8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9" name="Conector reto 8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0" name="Conector reto 8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1" name="Agrupar 100"/>
          <p:cNvGrpSpPr/>
          <p:nvPr/>
        </p:nvGrpSpPr>
        <p:grpSpPr>
          <a:xfrm>
            <a:off x="2828593" y="49126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02" name="Canto Dobrado 101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8" name="Conector reto 10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" name="Conector reto 10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0" name="Conector reto 10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1" name="Retângulo 110"/>
          <p:cNvSpPr/>
          <p:nvPr/>
        </p:nvSpPr>
        <p:spPr>
          <a:xfrm>
            <a:off x="3016286" y="48645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12" name="Elipse 111">
            <a:hlinkClick r:id="rId6" action="ppaction://hlinksldjump"/>
          </p:cNvPr>
          <p:cNvSpPr/>
          <p:nvPr/>
        </p:nvSpPr>
        <p:spPr>
          <a:xfrm>
            <a:off x="160952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3" name="Elipse 112">
            <a:hlinkClick r:id="rId7" action="ppaction://hlinksldjump"/>
          </p:cNvPr>
          <p:cNvSpPr/>
          <p:nvPr/>
        </p:nvSpPr>
        <p:spPr>
          <a:xfrm>
            <a:off x="2820577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4" name="Elipse 113">
            <a:hlinkClick r:id="rId8" action="ppaction://hlinksldjump"/>
          </p:cNvPr>
          <p:cNvSpPr/>
          <p:nvPr/>
        </p:nvSpPr>
        <p:spPr>
          <a:xfrm>
            <a:off x="6055393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5" name="Elipse 114">
            <a:hlinkClick r:id="rId9" action="ppaction://hlinksldjump"/>
          </p:cNvPr>
          <p:cNvSpPr/>
          <p:nvPr/>
        </p:nvSpPr>
        <p:spPr>
          <a:xfrm>
            <a:off x="7815367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6" name="Elipse 115">
            <a:hlinkClick r:id="rId10" action="ppaction://hlinksldjump"/>
          </p:cNvPr>
          <p:cNvSpPr/>
          <p:nvPr/>
        </p:nvSpPr>
        <p:spPr>
          <a:xfrm>
            <a:off x="9767064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7" name="CaixaDeTexto 116"/>
          <p:cNvSpPr txBox="1"/>
          <p:nvPr/>
        </p:nvSpPr>
        <p:spPr>
          <a:xfrm>
            <a:off x="10013802" y="535504"/>
            <a:ext cx="164676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Notas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fiscais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emitidas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18" name="Agrupar 117"/>
          <p:cNvGrpSpPr/>
          <p:nvPr/>
        </p:nvGrpSpPr>
        <p:grpSpPr>
          <a:xfrm>
            <a:off x="1823555" y="2144125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19" name="Canto Dobrado 11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20" name="Conector reto 11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1" name="Conector reto 12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2" name="Conector reto 12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3" name="Agrupar 122"/>
          <p:cNvGrpSpPr/>
          <p:nvPr/>
        </p:nvGrpSpPr>
        <p:grpSpPr>
          <a:xfrm flipV="1">
            <a:off x="3258781" y="1367308"/>
            <a:ext cx="244217" cy="285687"/>
            <a:chOff x="1269055" y="385982"/>
            <a:chExt cx="244217" cy="285687"/>
          </a:xfrm>
        </p:grpSpPr>
        <p:sp>
          <p:nvSpPr>
            <p:cNvPr id="124" name="Seta para a Direita 12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5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126" name="Elipse 125">
            <a:hlinkClick r:id="rId11" action="ppaction://hlinksldjump"/>
          </p:cNvPr>
          <p:cNvSpPr/>
          <p:nvPr/>
        </p:nvSpPr>
        <p:spPr>
          <a:xfrm>
            <a:off x="3552211" y="1358675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</a:t>
            </a:r>
          </a:p>
        </p:txBody>
      </p:sp>
      <p:sp>
        <p:nvSpPr>
          <p:cNvPr id="96" name="Botão de ação: Retornar 95">
            <a:hlinkClick r:id="rId12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" name="Elipse 4">
            <a:hlinkClick r:id="rId13" action="ppaction://hlinksldjump"/>
          </p:cNvPr>
          <p:cNvSpPr/>
          <p:nvPr/>
        </p:nvSpPr>
        <p:spPr>
          <a:xfrm>
            <a:off x="1170392" y="814651"/>
            <a:ext cx="653163" cy="60979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6264526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3338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tângulo 63"/>
          <p:cNvSpPr/>
          <p:nvPr/>
        </p:nvSpPr>
        <p:spPr>
          <a:xfrm>
            <a:off x="108198" y="2783362"/>
            <a:ext cx="1195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9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5102" y="5458671"/>
            <a:ext cx="11952000" cy="11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4109820"/>
            <a:ext cx="1195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832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24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 </a:t>
            </a:r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Rateio</a:t>
            </a:r>
            <a:r>
              <a:rPr lang="en-US" dirty="0"/>
              <a:t> de Solo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63615" y="5721491"/>
            <a:ext cx="118735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r>
              <a:rPr lang="en-US" dirty="0">
                <a:solidFill>
                  <a:srgbClr val="00D318"/>
                </a:solidFill>
              </a:rPr>
              <a:t>Tatiana Cardozo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600809" y="6097509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0" y="106006"/>
            <a:ext cx="396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63615" y="1272799"/>
            <a:ext cx="674865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Lemvig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  <a:p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r>
              <a:rPr lang="pt-BR" dirty="0">
                <a:solidFill>
                  <a:srgbClr val="4D4D4D"/>
                </a:solidFill>
              </a:rPr>
              <a:t>André </a:t>
            </a:r>
          </a:p>
          <a:p>
            <a:r>
              <a:rPr lang="pt-BR" dirty="0">
                <a:solidFill>
                  <a:srgbClr val="4D4D4D"/>
                </a:solidFill>
              </a:rPr>
              <a:t>Telles</a:t>
            </a:r>
          </a:p>
          <a:p>
            <a:r>
              <a:rPr lang="pt-BR" dirty="0">
                <a:solidFill>
                  <a:srgbClr val="4D4D4D"/>
                </a:solidFill>
              </a:rPr>
              <a:t>(TSA)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68" name="Agrupar 167"/>
          <p:cNvGrpSpPr/>
          <p:nvPr/>
        </p:nvGrpSpPr>
        <p:grpSpPr>
          <a:xfrm>
            <a:off x="10348615" y="5602388"/>
            <a:ext cx="1178244" cy="959886"/>
            <a:chOff x="0" y="0"/>
            <a:chExt cx="1178244" cy="959886"/>
          </a:xfrm>
        </p:grpSpPr>
        <p:sp>
          <p:nvSpPr>
            <p:cNvPr id="169" name="Retângulo Arredondado 168"/>
            <p:cNvSpPr/>
            <p:nvPr/>
          </p:nvSpPr>
          <p:spPr>
            <a:xfrm>
              <a:off x="0" y="0"/>
              <a:ext cx="1145044" cy="95988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CaixaDeTexto 169"/>
            <p:cNvSpPr txBox="1"/>
            <p:nvPr/>
          </p:nvSpPr>
          <p:spPr>
            <a:xfrm>
              <a:off x="21941" y="33537"/>
              <a:ext cx="1156303" cy="9263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Cria pedido no SAP Oi para pagar a nota de débito</a:t>
              </a:r>
            </a:p>
          </p:txBody>
        </p:sp>
      </p:grpSp>
      <p:sp>
        <p:nvSpPr>
          <p:cNvPr id="102" name="CaixaDeTexto 101"/>
          <p:cNvSpPr txBox="1"/>
          <p:nvPr/>
        </p:nvSpPr>
        <p:spPr>
          <a:xfrm>
            <a:off x="163615" y="4543241"/>
            <a:ext cx="123401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</a:t>
            </a:r>
          </a:p>
          <a:p>
            <a:r>
              <a:rPr lang="pt-BR" dirty="0">
                <a:solidFill>
                  <a:srgbClr val="00D318"/>
                </a:solidFill>
              </a:rPr>
              <a:t>Bernardo Ieno Rodrigo Leite</a:t>
            </a:r>
          </a:p>
          <a:p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graphicFrame>
        <p:nvGraphicFramePr>
          <p:cNvPr id="109" name="Diagrama 108"/>
          <p:cNvGraphicFramePr/>
          <p:nvPr>
            <p:extLst>
              <p:ext uri="{D42A27DB-BD31-4B8C-83A1-F6EECF244321}">
                <p14:modId xmlns:p14="http://schemas.microsoft.com/office/powerpoint/2010/main" val="3948585568"/>
              </p:ext>
            </p:extLst>
          </p:nvPr>
        </p:nvGraphicFramePr>
        <p:xfrm>
          <a:off x="5823114" y="4318411"/>
          <a:ext cx="1121583" cy="958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93" name="Agrupar 192"/>
          <p:cNvGrpSpPr/>
          <p:nvPr/>
        </p:nvGrpSpPr>
        <p:grpSpPr>
          <a:xfrm rot="16200000" flipV="1">
            <a:off x="7132597" y="3219521"/>
            <a:ext cx="1548000" cy="313200"/>
            <a:chOff x="1269055" y="385982"/>
            <a:chExt cx="244217" cy="285687"/>
          </a:xfrm>
        </p:grpSpPr>
        <p:sp>
          <p:nvSpPr>
            <p:cNvPr id="194" name="Seta para a Direita 19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grpSp>
        <p:nvGrpSpPr>
          <p:cNvPr id="200" name="Agrupar 199"/>
          <p:cNvGrpSpPr/>
          <p:nvPr/>
        </p:nvGrpSpPr>
        <p:grpSpPr>
          <a:xfrm rot="5400000" flipV="1">
            <a:off x="8638971" y="2076778"/>
            <a:ext cx="1044000" cy="313200"/>
            <a:chOff x="6413377" y="679347"/>
            <a:chExt cx="256379" cy="299915"/>
          </a:xfrm>
        </p:grpSpPr>
        <p:sp>
          <p:nvSpPr>
            <p:cNvPr id="201" name="Seta para a Direita 200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204" name="Agrupar 203"/>
          <p:cNvGrpSpPr/>
          <p:nvPr/>
        </p:nvGrpSpPr>
        <p:grpSpPr>
          <a:xfrm>
            <a:off x="11539738" y="6030746"/>
            <a:ext cx="244527" cy="286051"/>
            <a:chOff x="2886410" y="470354"/>
            <a:chExt cx="244527" cy="286051"/>
          </a:xfrm>
        </p:grpSpPr>
        <p:sp>
          <p:nvSpPr>
            <p:cNvPr id="205" name="Seta para a Direita 204"/>
            <p:cNvSpPr/>
            <p:nvPr/>
          </p:nvSpPr>
          <p:spPr>
            <a:xfrm>
              <a:off x="2886410" y="470354"/>
              <a:ext cx="244527" cy="28605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Seta para a Direita 4"/>
            <p:cNvSpPr txBox="1"/>
            <p:nvPr/>
          </p:nvSpPr>
          <p:spPr>
            <a:xfrm>
              <a:off x="2886410" y="527564"/>
              <a:ext cx="171169" cy="171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900" kern="1200"/>
            </a:p>
          </p:txBody>
        </p:sp>
      </p:grpSp>
      <p:grpSp>
        <p:nvGrpSpPr>
          <p:cNvPr id="210" name="Agrupar 209"/>
          <p:cNvGrpSpPr/>
          <p:nvPr/>
        </p:nvGrpSpPr>
        <p:grpSpPr>
          <a:xfrm>
            <a:off x="3308514" y="3037875"/>
            <a:ext cx="2673876" cy="753550"/>
            <a:chOff x="4391" y="0"/>
            <a:chExt cx="2673876" cy="753550"/>
          </a:xfrm>
          <a:solidFill>
            <a:schemeClr val="bg1">
              <a:lumMod val="65000"/>
            </a:schemeClr>
          </a:solidFill>
        </p:grpSpPr>
        <p:sp>
          <p:nvSpPr>
            <p:cNvPr id="211" name="Retângulo Arredondado 210"/>
            <p:cNvSpPr/>
            <p:nvPr/>
          </p:nvSpPr>
          <p:spPr>
            <a:xfrm>
              <a:off x="4391" y="0"/>
              <a:ext cx="2673876" cy="753550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CaixaDeTexto 211"/>
            <p:cNvSpPr txBox="1"/>
            <p:nvPr/>
          </p:nvSpPr>
          <p:spPr>
            <a:xfrm>
              <a:off x="26462" y="22071"/>
              <a:ext cx="2629734" cy="70940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400" kern="1200" dirty="0">
                  <a:solidFill>
                    <a:srgbClr val="FFFFFF"/>
                  </a:solidFill>
                </a:rPr>
                <a:t> 3a  +  3b  –  </a:t>
              </a:r>
              <a:r>
                <a:rPr lang="pt-BR" kern="1200" dirty="0">
                  <a:solidFill>
                    <a:srgbClr val="FFFFFF"/>
                  </a:solidFill>
                </a:rPr>
                <a:t>3c</a:t>
              </a:r>
              <a:r>
                <a:rPr lang="pt-BR" sz="1400" kern="1200" dirty="0">
                  <a:solidFill>
                    <a:srgbClr val="FFFFFF"/>
                  </a:solidFill>
                </a:rPr>
                <a:t>   = 3d 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400" kern="1200" dirty="0">
                  <a:solidFill>
                    <a:srgbClr val="FFFFFF"/>
                  </a:solidFill>
                </a:rPr>
                <a:t>Valor de rateio de solo que a Oi S/A deve pagar para a </a:t>
              </a:r>
              <a:r>
                <a:rPr lang="pt-BR" sz="1400" kern="1200" dirty="0" err="1">
                  <a:solidFill>
                    <a:srgbClr val="FFFFFF"/>
                  </a:solidFill>
                </a:rPr>
                <a:t>Lemvig</a:t>
              </a:r>
              <a:r>
                <a:rPr lang="pt-BR" sz="1400" kern="1200" dirty="0">
                  <a:solidFill>
                    <a:srgbClr val="FFFFFF"/>
                  </a:solidFill>
                </a:rPr>
                <a:t> </a:t>
              </a:r>
            </a:p>
          </p:txBody>
        </p:sp>
      </p:grpSp>
      <p:grpSp>
        <p:nvGrpSpPr>
          <p:cNvPr id="218" name="Agrupar 217"/>
          <p:cNvGrpSpPr/>
          <p:nvPr/>
        </p:nvGrpSpPr>
        <p:grpSpPr>
          <a:xfrm rot="5400000">
            <a:off x="5537511" y="3257779"/>
            <a:ext cx="1548000" cy="313200"/>
            <a:chOff x="1269055" y="385982"/>
            <a:chExt cx="244217" cy="285687"/>
          </a:xfrm>
        </p:grpSpPr>
        <p:sp>
          <p:nvSpPr>
            <p:cNvPr id="219" name="Seta para a Direita 218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48" name="Retângulo Arredondado 47"/>
          <p:cNvSpPr/>
          <p:nvPr/>
        </p:nvSpPr>
        <p:spPr>
          <a:xfrm>
            <a:off x="1399124" y="2075880"/>
            <a:ext cx="1960504" cy="374571"/>
          </a:xfrm>
          <a:prstGeom prst="roundRect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sz="1100" dirty="0" err="1">
                <a:solidFill>
                  <a:srgbClr val="FFFFFF"/>
                </a:solidFill>
              </a:rPr>
              <a:t>Receita</a:t>
            </a:r>
            <a:r>
              <a:rPr lang="en-US" sz="1100" dirty="0">
                <a:solidFill>
                  <a:srgbClr val="FFFFFF"/>
                </a:solidFill>
              </a:rPr>
              <a:t> de </a:t>
            </a:r>
            <a:r>
              <a:rPr lang="en-US" sz="1100" dirty="0" err="1">
                <a:solidFill>
                  <a:srgbClr val="FFFFFF"/>
                </a:solidFill>
              </a:rPr>
              <a:t>Aluguel</a:t>
            </a:r>
            <a:r>
              <a:rPr lang="en-US" sz="1100" dirty="0">
                <a:solidFill>
                  <a:srgbClr val="FFFFFF"/>
                </a:solidFill>
              </a:rPr>
              <a:t> de Solo dos </a:t>
            </a:r>
            <a:r>
              <a:rPr lang="en-US" sz="1100" dirty="0" err="1">
                <a:solidFill>
                  <a:srgbClr val="FFFFFF"/>
                </a:solidFill>
              </a:rPr>
              <a:t>contratos</a:t>
            </a:r>
            <a:r>
              <a:rPr lang="en-US" sz="1100" dirty="0">
                <a:solidFill>
                  <a:srgbClr val="FFFFFF"/>
                </a:solidFill>
              </a:rPr>
              <a:t> de </a:t>
            </a:r>
            <a:r>
              <a:rPr lang="en-US" sz="1100" dirty="0" err="1">
                <a:solidFill>
                  <a:srgbClr val="FFFFFF"/>
                </a:solidFill>
              </a:rPr>
              <a:t>compartilhamento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sym typeface="Simplon BP Regular"/>
            </a:endParaRPr>
          </a:p>
        </p:txBody>
      </p:sp>
      <p:sp>
        <p:nvSpPr>
          <p:cNvPr id="52" name="Elipse 51">
            <a:hlinkClick r:id="rId10" action="ppaction://hlinksldjump"/>
          </p:cNvPr>
          <p:cNvSpPr/>
          <p:nvPr/>
        </p:nvSpPr>
        <p:spPr>
          <a:xfrm>
            <a:off x="908268" y="2144147"/>
            <a:ext cx="396000" cy="238036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chemeClr val="bg1"/>
                </a:solidFill>
              </a:rPr>
              <a:t>3c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53" name="Agrupar 52"/>
          <p:cNvGrpSpPr/>
          <p:nvPr/>
        </p:nvGrpSpPr>
        <p:grpSpPr>
          <a:xfrm flipV="1">
            <a:off x="3648250" y="1592962"/>
            <a:ext cx="244217" cy="285687"/>
            <a:chOff x="1269055" y="385982"/>
            <a:chExt cx="244217" cy="285687"/>
          </a:xfrm>
        </p:grpSpPr>
        <p:sp>
          <p:nvSpPr>
            <p:cNvPr id="54" name="Seta para a Direita 53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58" name="Retângulo Arredondado 57"/>
          <p:cNvSpPr/>
          <p:nvPr/>
        </p:nvSpPr>
        <p:spPr>
          <a:xfrm>
            <a:off x="1399124" y="1099211"/>
            <a:ext cx="1981747" cy="374571"/>
          </a:xfrm>
          <a:prstGeom prst="roundRect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Processo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 de </a:t>
            </a:r>
            <a:r>
              <a:rPr lang="en-US" sz="1100" dirty="0" err="1">
                <a:solidFill>
                  <a:schemeClr val="bg1"/>
                </a:solidFill>
              </a:rPr>
              <a:t>Despesa</a:t>
            </a:r>
            <a:r>
              <a:rPr lang="en-US" sz="1100" dirty="0">
                <a:solidFill>
                  <a:schemeClr val="bg1"/>
                </a:solidFill>
              </a:rPr>
              <a:t> de </a:t>
            </a:r>
            <a:r>
              <a:rPr lang="en-US" sz="1100" dirty="0" err="1">
                <a:solidFill>
                  <a:schemeClr val="bg1"/>
                </a:solidFill>
              </a:rPr>
              <a:t>aluguel</a:t>
            </a:r>
            <a:r>
              <a:rPr lang="en-US" sz="1100" dirty="0">
                <a:solidFill>
                  <a:schemeClr val="bg1"/>
                </a:solidFill>
              </a:rPr>
              <a:t> de solo de </a:t>
            </a:r>
            <a:r>
              <a:rPr lang="en-US" sz="1100" dirty="0" err="1">
                <a:solidFill>
                  <a:schemeClr val="bg1"/>
                </a:solidFill>
              </a:rPr>
              <a:t>Terceiros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Simplon BP Regular"/>
            </a:endParaRPr>
          </a:p>
        </p:txBody>
      </p:sp>
      <p:sp>
        <p:nvSpPr>
          <p:cNvPr id="59" name="Elipse 58">
            <a:hlinkClick r:id="rId11" action="ppaction://hlinksldjump"/>
          </p:cNvPr>
          <p:cNvSpPr/>
          <p:nvPr/>
        </p:nvSpPr>
        <p:spPr>
          <a:xfrm>
            <a:off x="900708" y="1167478"/>
            <a:ext cx="405224" cy="238036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3a</a:t>
            </a:r>
          </a:p>
        </p:txBody>
      </p:sp>
      <p:sp>
        <p:nvSpPr>
          <p:cNvPr id="60" name="Retângulo Arredondado 59"/>
          <p:cNvSpPr/>
          <p:nvPr/>
        </p:nvSpPr>
        <p:spPr>
          <a:xfrm>
            <a:off x="1399124" y="1596058"/>
            <a:ext cx="1941358" cy="357545"/>
          </a:xfrm>
          <a:prstGeom prst="roundRect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Processo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 de </a:t>
            </a:r>
            <a:r>
              <a:rPr lang="en-US" sz="1050" dirty="0" err="1">
                <a:solidFill>
                  <a:schemeClr val="bg1"/>
                </a:solidFill>
              </a:rPr>
              <a:t>Despesa</a:t>
            </a:r>
            <a:r>
              <a:rPr lang="en-US" sz="1050" dirty="0">
                <a:solidFill>
                  <a:schemeClr val="bg1"/>
                </a:solidFill>
              </a:rPr>
              <a:t> de </a:t>
            </a:r>
            <a:r>
              <a:rPr lang="en-US" sz="1050" dirty="0" err="1">
                <a:solidFill>
                  <a:schemeClr val="bg1"/>
                </a:solidFill>
              </a:rPr>
              <a:t>aluguel</a:t>
            </a:r>
            <a:r>
              <a:rPr lang="en-US" sz="1050" dirty="0">
                <a:solidFill>
                  <a:schemeClr val="bg1"/>
                </a:solidFill>
              </a:rPr>
              <a:t> de solo Oi com </a:t>
            </a:r>
            <a:r>
              <a:rPr lang="en-US" sz="1050" dirty="0" err="1">
                <a:solidFill>
                  <a:schemeClr val="bg1"/>
                </a:solidFill>
              </a:rPr>
              <a:t>multilocatários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Simplon BP Regular"/>
            </a:endParaRPr>
          </a:p>
        </p:txBody>
      </p:sp>
      <p:sp>
        <p:nvSpPr>
          <p:cNvPr id="61" name="Elipse 60">
            <a:hlinkClick r:id="rId12" action="ppaction://hlinksldjump"/>
          </p:cNvPr>
          <p:cNvSpPr/>
          <p:nvPr/>
        </p:nvSpPr>
        <p:spPr>
          <a:xfrm>
            <a:off x="913371" y="1661223"/>
            <a:ext cx="396000" cy="227216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3b</a:t>
            </a:r>
          </a:p>
        </p:txBody>
      </p:sp>
      <p:graphicFrame>
        <p:nvGraphicFramePr>
          <p:cNvPr id="62" name="Diagrama 61"/>
          <p:cNvGraphicFramePr/>
          <p:nvPr>
            <p:extLst>
              <p:ext uri="{D42A27DB-BD31-4B8C-83A1-F6EECF244321}">
                <p14:modId xmlns:p14="http://schemas.microsoft.com/office/powerpoint/2010/main" val="2830534572"/>
              </p:ext>
            </p:extLst>
          </p:nvPr>
        </p:nvGraphicFramePr>
        <p:xfrm>
          <a:off x="4166028" y="947458"/>
          <a:ext cx="4282988" cy="1635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63" name="Retângulo 62"/>
          <p:cNvSpPr/>
          <p:nvPr/>
        </p:nvSpPr>
        <p:spPr>
          <a:xfrm rot="5400000">
            <a:off x="2846149" y="1647939"/>
            <a:ext cx="1368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66" name="Agrupar 65"/>
          <p:cNvGrpSpPr/>
          <p:nvPr/>
        </p:nvGrpSpPr>
        <p:grpSpPr>
          <a:xfrm>
            <a:off x="7053671" y="4596794"/>
            <a:ext cx="244527" cy="286051"/>
            <a:chOff x="2886410" y="470354"/>
            <a:chExt cx="244527" cy="286051"/>
          </a:xfrm>
        </p:grpSpPr>
        <p:sp>
          <p:nvSpPr>
            <p:cNvPr id="67" name="Seta para a Direita 66"/>
            <p:cNvSpPr/>
            <p:nvPr/>
          </p:nvSpPr>
          <p:spPr>
            <a:xfrm>
              <a:off x="2886410" y="470354"/>
              <a:ext cx="244527" cy="28605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Seta para a Direita 4"/>
            <p:cNvSpPr txBox="1"/>
            <p:nvPr/>
          </p:nvSpPr>
          <p:spPr>
            <a:xfrm>
              <a:off x="2886410" y="527564"/>
              <a:ext cx="171169" cy="171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900" kern="1200"/>
            </a:p>
          </p:txBody>
        </p:sp>
      </p:grpSp>
      <p:graphicFrame>
        <p:nvGraphicFramePr>
          <p:cNvPr id="69" name="Diagrama 68"/>
          <p:cNvGraphicFramePr/>
          <p:nvPr>
            <p:extLst>
              <p:ext uri="{D42A27DB-BD31-4B8C-83A1-F6EECF244321}">
                <p14:modId xmlns:p14="http://schemas.microsoft.com/office/powerpoint/2010/main" val="2385752128"/>
              </p:ext>
            </p:extLst>
          </p:nvPr>
        </p:nvGraphicFramePr>
        <p:xfrm>
          <a:off x="7351836" y="4252122"/>
          <a:ext cx="1097180" cy="1024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70" name="Diagrama 69"/>
          <p:cNvGraphicFramePr/>
          <p:nvPr>
            <p:extLst>
              <p:ext uri="{D42A27DB-BD31-4B8C-83A1-F6EECF244321}">
                <p14:modId xmlns:p14="http://schemas.microsoft.com/office/powerpoint/2010/main" val="3734755796"/>
              </p:ext>
            </p:extLst>
          </p:nvPr>
        </p:nvGraphicFramePr>
        <p:xfrm>
          <a:off x="8711558" y="2613601"/>
          <a:ext cx="2729568" cy="1597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sp>
        <p:nvSpPr>
          <p:cNvPr id="71" name="Retângulo 70"/>
          <p:cNvSpPr/>
          <p:nvPr/>
        </p:nvSpPr>
        <p:spPr>
          <a:xfrm>
            <a:off x="8587662" y="1496265"/>
            <a:ext cx="684000" cy="214998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2" name="Retângulo 71"/>
          <p:cNvSpPr/>
          <p:nvPr/>
        </p:nvSpPr>
        <p:spPr>
          <a:xfrm rot="16200000">
            <a:off x="7474855" y="5719692"/>
            <a:ext cx="936000" cy="180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3" name="Agrupar 72"/>
          <p:cNvGrpSpPr/>
          <p:nvPr/>
        </p:nvGrpSpPr>
        <p:grpSpPr>
          <a:xfrm>
            <a:off x="8034741" y="6042236"/>
            <a:ext cx="2232000" cy="286051"/>
            <a:chOff x="2886410" y="470354"/>
            <a:chExt cx="244527" cy="286051"/>
          </a:xfrm>
        </p:grpSpPr>
        <p:sp>
          <p:nvSpPr>
            <p:cNvPr id="74" name="Seta para a Direita 73"/>
            <p:cNvSpPr/>
            <p:nvPr/>
          </p:nvSpPr>
          <p:spPr>
            <a:xfrm>
              <a:off x="2886410" y="470354"/>
              <a:ext cx="244527" cy="28605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Seta para a Direita 4"/>
            <p:cNvSpPr txBox="1"/>
            <p:nvPr/>
          </p:nvSpPr>
          <p:spPr>
            <a:xfrm>
              <a:off x="2886410" y="527564"/>
              <a:ext cx="171169" cy="171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900" kern="1200"/>
            </a:p>
          </p:txBody>
        </p:sp>
      </p:grpSp>
      <p:graphicFrame>
        <p:nvGraphicFramePr>
          <p:cNvPr id="79" name="Diagrama 78"/>
          <p:cNvGraphicFramePr/>
          <p:nvPr>
            <p:extLst>
              <p:ext uri="{D42A27DB-BD31-4B8C-83A1-F6EECF244321}">
                <p14:modId xmlns:p14="http://schemas.microsoft.com/office/powerpoint/2010/main" val="2300956525"/>
              </p:ext>
            </p:extLst>
          </p:nvPr>
        </p:nvGraphicFramePr>
        <p:xfrm>
          <a:off x="10352729" y="4220616"/>
          <a:ext cx="1097180" cy="1024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grpSp>
        <p:nvGrpSpPr>
          <p:cNvPr id="80" name="Agrupar 79"/>
          <p:cNvGrpSpPr/>
          <p:nvPr/>
        </p:nvGrpSpPr>
        <p:grpSpPr>
          <a:xfrm rot="5400000" flipV="1">
            <a:off x="10780137" y="3996063"/>
            <a:ext cx="242363" cy="283187"/>
            <a:chOff x="1256206" y="436966"/>
            <a:chExt cx="242363" cy="283187"/>
          </a:xfrm>
        </p:grpSpPr>
        <p:sp>
          <p:nvSpPr>
            <p:cNvPr id="81" name="Seta para a Direita 80"/>
            <p:cNvSpPr/>
            <p:nvPr/>
          </p:nvSpPr>
          <p:spPr>
            <a:xfrm>
              <a:off x="1256206" y="436966"/>
              <a:ext cx="242363" cy="2831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Seta para a Direita 4"/>
            <p:cNvSpPr txBox="1"/>
            <p:nvPr/>
          </p:nvSpPr>
          <p:spPr>
            <a:xfrm>
              <a:off x="1256206" y="493603"/>
              <a:ext cx="169654" cy="169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0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83" name="Agrupar 82"/>
          <p:cNvGrpSpPr/>
          <p:nvPr/>
        </p:nvGrpSpPr>
        <p:grpSpPr>
          <a:xfrm rot="5400000" flipV="1">
            <a:off x="10780136" y="5277649"/>
            <a:ext cx="242363" cy="283187"/>
            <a:chOff x="1256206" y="436966"/>
            <a:chExt cx="242363" cy="283187"/>
          </a:xfrm>
        </p:grpSpPr>
        <p:sp>
          <p:nvSpPr>
            <p:cNvPr id="84" name="Seta para a Direita 83"/>
            <p:cNvSpPr/>
            <p:nvPr/>
          </p:nvSpPr>
          <p:spPr>
            <a:xfrm>
              <a:off x="1256206" y="436966"/>
              <a:ext cx="242363" cy="2831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Seta para a Direita 4"/>
            <p:cNvSpPr txBox="1"/>
            <p:nvPr/>
          </p:nvSpPr>
          <p:spPr>
            <a:xfrm>
              <a:off x="1256206" y="493603"/>
              <a:ext cx="169654" cy="169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000" kern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CaixaDeTexto 5"/>
          <p:cNvSpPr txBox="1"/>
          <p:nvPr/>
        </p:nvSpPr>
        <p:spPr>
          <a:xfrm>
            <a:off x="11784265" y="5848107"/>
            <a:ext cx="40773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…</a:t>
            </a:r>
          </a:p>
        </p:txBody>
      </p:sp>
      <p:sp>
        <p:nvSpPr>
          <p:cNvPr id="87" name="CaixaDeTexto 86"/>
          <p:cNvSpPr txBox="1"/>
          <p:nvPr/>
        </p:nvSpPr>
        <p:spPr>
          <a:xfrm>
            <a:off x="225678" y="3005197"/>
            <a:ext cx="1065647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>
                <a:solidFill>
                  <a:srgbClr val="00D318"/>
                </a:solidFill>
              </a:rPr>
              <a:t>Lemvig</a:t>
            </a:r>
            <a:endParaRPr lang="en-US" dirty="0">
              <a:solidFill>
                <a:srgbClr val="00D318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Faturamento</a:t>
            </a:r>
            <a:r>
              <a:rPr lang="en-US" dirty="0">
                <a:solidFill>
                  <a:srgbClr val="4D4D4D"/>
                </a:solidFill>
              </a:rPr>
              <a:t>: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 </a:t>
            </a:r>
          </a:p>
          <a:p>
            <a:r>
              <a:rPr lang="en-US" dirty="0" err="1">
                <a:solidFill>
                  <a:srgbClr val="4D4D4D"/>
                </a:solidFill>
              </a:rPr>
              <a:t>Iara</a:t>
            </a:r>
            <a:endParaRPr lang="en-US" dirty="0">
              <a:solidFill>
                <a:srgbClr val="4D4D4D"/>
              </a:solidFill>
            </a:endParaRPr>
          </a:p>
          <a:p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(TSA)</a:t>
            </a:r>
          </a:p>
        </p:txBody>
      </p:sp>
      <p:grpSp>
        <p:nvGrpSpPr>
          <p:cNvPr id="89" name="Agrupar 88"/>
          <p:cNvGrpSpPr/>
          <p:nvPr/>
        </p:nvGrpSpPr>
        <p:grpSpPr>
          <a:xfrm>
            <a:off x="3923800" y="1469861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90" name="Canto Dobrado 8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91" name="Conector reto 9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2" name="Conector reto 9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3" name="Conector reto 9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94" name="Agrupar 93"/>
          <p:cNvGrpSpPr/>
          <p:nvPr/>
        </p:nvGrpSpPr>
        <p:grpSpPr>
          <a:xfrm>
            <a:off x="3923800" y="1142176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96" name="Canto Dobrado 9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98" name="Conector reto 9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9" name="Conector reto 9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0" name="Conector reto 9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1" name="Agrupar 100"/>
          <p:cNvGrpSpPr/>
          <p:nvPr/>
        </p:nvGrpSpPr>
        <p:grpSpPr>
          <a:xfrm>
            <a:off x="3923800" y="1801199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08" name="Canto Dobrado 107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0" name="Conector reto 10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1" name="Conector reto 11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" name="Conector reto 11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88" name="Agrupar 87"/>
          <p:cNvGrpSpPr/>
          <p:nvPr/>
        </p:nvGrpSpPr>
        <p:grpSpPr>
          <a:xfrm>
            <a:off x="231958" y="484951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113" name="Canto Dobrado 11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4" name="Conector reto 11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" name="Conector reto 11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" name="Conector reto 11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7" name="CaixaDeTexto 116"/>
          <p:cNvSpPr txBox="1"/>
          <p:nvPr/>
        </p:nvSpPr>
        <p:spPr>
          <a:xfrm>
            <a:off x="505136" y="573906"/>
            <a:ext cx="952383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 MLA</a:t>
            </a:r>
          </a:p>
        </p:txBody>
      </p:sp>
      <p:sp>
        <p:nvSpPr>
          <p:cNvPr id="118" name="Elipse 117">
            <a:hlinkClick r:id="rId33" action="ppaction://hlinksldjump"/>
          </p:cNvPr>
          <p:cNvSpPr/>
          <p:nvPr/>
        </p:nvSpPr>
        <p:spPr>
          <a:xfrm>
            <a:off x="231958" y="534679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19" name="Agrupar 118"/>
          <p:cNvGrpSpPr/>
          <p:nvPr/>
        </p:nvGrpSpPr>
        <p:grpSpPr>
          <a:xfrm>
            <a:off x="4602225" y="505115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20" name="Canto Dobrado 11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21" name="Conector reto 12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2" name="Conector reto 12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3" name="Conector reto 12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24" name="CaixaDeTexto 123"/>
          <p:cNvSpPr txBox="1"/>
          <p:nvPr/>
        </p:nvSpPr>
        <p:spPr>
          <a:xfrm>
            <a:off x="4851031" y="546477"/>
            <a:ext cx="1505828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Planilha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Engrenagem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25" name="Agrupar 124"/>
          <p:cNvGrpSpPr/>
          <p:nvPr/>
        </p:nvGrpSpPr>
        <p:grpSpPr>
          <a:xfrm>
            <a:off x="1387721" y="505115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26" name="Canto Dobrado 12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27" name="Conector reto 12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8" name="Conector reto 12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9" name="Conector reto 12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0" name="Retângulo 129"/>
          <p:cNvSpPr/>
          <p:nvPr/>
        </p:nvSpPr>
        <p:spPr>
          <a:xfrm>
            <a:off x="1575414" y="50031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31" name="Elipse 130">
            <a:hlinkClick r:id="rId34" action="ppaction://hlinksldjump"/>
          </p:cNvPr>
          <p:cNvSpPr/>
          <p:nvPr/>
        </p:nvSpPr>
        <p:spPr>
          <a:xfrm>
            <a:off x="1379705" y="577115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2" name="Elipse 131">
            <a:hlinkClick r:id="rId35" action="ppaction://hlinksldjump"/>
          </p:cNvPr>
          <p:cNvSpPr/>
          <p:nvPr/>
        </p:nvSpPr>
        <p:spPr>
          <a:xfrm>
            <a:off x="4614521" y="577115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" name="Agrupar 6"/>
          <p:cNvGrpSpPr/>
          <p:nvPr/>
        </p:nvGrpSpPr>
        <p:grpSpPr>
          <a:xfrm>
            <a:off x="4391846" y="4130266"/>
            <a:ext cx="1327018" cy="476726"/>
            <a:chOff x="4391846" y="4130266"/>
            <a:chExt cx="1327018" cy="476726"/>
          </a:xfrm>
        </p:grpSpPr>
        <p:sp>
          <p:nvSpPr>
            <p:cNvPr id="133" name="Texto Explicativo Retangular com Cantos Arredondados 132"/>
            <p:cNvSpPr/>
            <p:nvPr/>
          </p:nvSpPr>
          <p:spPr>
            <a:xfrm>
              <a:off x="4391846" y="4130266"/>
              <a:ext cx="1301602" cy="476726"/>
            </a:xfrm>
            <a:prstGeom prst="wedgeRoundRectCallout">
              <a:avLst>
                <a:gd name="adj1" fmla="val 47389"/>
                <a:gd name="adj2" fmla="val -101049"/>
                <a:gd name="adj3" fmla="val 16667"/>
              </a:avLst>
            </a:prstGeom>
            <a:solidFill>
              <a:srgbClr val="4D4D4D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Qual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arquivo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usado</a:t>
              </a:r>
              <a:r>
                <a:rPr lang="en-US" dirty="0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134" name="Retângulo 133"/>
            <p:cNvSpPr/>
            <p:nvPr/>
          </p:nvSpPr>
          <p:spPr>
            <a:xfrm>
              <a:off x="5465575" y="4392425"/>
              <a:ext cx="253289" cy="165302"/>
            </a:xfrm>
            <a:prstGeom prst="rect">
              <a:avLst/>
            </a:prstGeom>
            <a:solidFill>
              <a:srgbClr val="00B050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35" name="Retângulo 134"/>
          <p:cNvSpPr/>
          <p:nvPr/>
        </p:nvSpPr>
        <p:spPr>
          <a:xfrm>
            <a:off x="6333647" y="567794"/>
            <a:ext cx="253289" cy="165302"/>
          </a:xfrm>
          <a:prstGeom prst="rect">
            <a:avLst/>
          </a:prstGeom>
          <a:solidFill>
            <a:srgbClr val="00B05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9725418" y="1596022"/>
            <a:ext cx="1382751" cy="476726"/>
            <a:chOff x="9725418" y="1596022"/>
            <a:chExt cx="1382751" cy="476726"/>
          </a:xfrm>
        </p:grpSpPr>
        <p:sp>
          <p:nvSpPr>
            <p:cNvPr id="136" name="Texto Explicativo Retangular com Cantos Arredondados 135"/>
            <p:cNvSpPr/>
            <p:nvPr/>
          </p:nvSpPr>
          <p:spPr>
            <a:xfrm>
              <a:off x="9725418" y="1596022"/>
              <a:ext cx="1301602" cy="476726"/>
            </a:xfrm>
            <a:prstGeom prst="wedgeRoundRectCallout">
              <a:avLst>
                <a:gd name="adj1" fmla="val -73955"/>
                <a:gd name="adj2" fmla="val 157602"/>
                <a:gd name="adj3" fmla="val 16667"/>
              </a:avLst>
            </a:prstGeom>
            <a:solidFill>
              <a:srgbClr val="4D4D4D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Qual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arquivo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usado</a:t>
              </a:r>
              <a:r>
                <a:rPr lang="en-US" dirty="0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137" name="Retângulo 136"/>
            <p:cNvSpPr/>
            <p:nvPr/>
          </p:nvSpPr>
          <p:spPr>
            <a:xfrm>
              <a:off x="10854880" y="1871664"/>
              <a:ext cx="253289" cy="165302"/>
            </a:xfrm>
            <a:prstGeom prst="rect">
              <a:avLst/>
            </a:prstGeom>
            <a:solidFill>
              <a:srgbClr val="FF0000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38" name="Retângulo 137"/>
          <p:cNvSpPr/>
          <p:nvPr/>
        </p:nvSpPr>
        <p:spPr>
          <a:xfrm>
            <a:off x="7266747" y="569573"/>
            <a:ext cx="253289" cy="165302"/>
          </a:xfrm>
          <a:prstGeom prst="rect">
            <a:avLst/>
          </a:prstGeom>
          <a:solidFill>
            <a:srgbClr val="FF00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9" name="Texto Explicativo Retangular com Cantos Arredondados 138"/>
          <p:cNvSpPr/>
          <p:nvPr/>
        </p:nvSpPr>
        <p:spPr>
          <a:xfrm>
            <a:off x="9741309" y="764739"/>
            <a:ext cx="1301602" cy="715089"/>
          </a:xfrm>
          <a:prstGeom prst="wedgeRoundRectCallout">
            <a:avLst>
              <a:gd name="adj1" fmla="val -78213"/>
              <a:gd name="adj2" fmla="val 93666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Falamos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uma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única</a:t>
            </a:r>
            <a:r>
              <a:rPr lang="en-US" dirty="0">
                <a:solidFill>
                  <a:schemeClr val="bg1"/>
                </a:solidFill>
              </a:rPr>
              <a:t> nota </a:t>
            </a:r>
            <a:r>
              <a:rPr lang="en-US" dirty="0" err="1">
                <a:solidFill>
                  <a:schemeClr val="bg1"/>
                </a:solidFill>
              </a:rPr>
              <a:t>ou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por</a:t>
            </a:r>
            <a:r>
              <a:rPr lang="en-US" dirty="0">
                <a:solidFill>
                  <a:schemeClr val="bg1"/>
                </a:solidFill>
              </a:rPr>
              <a:t> UF?</a:t>
            </a:r>
          </a:p>
        </p:txBody>
      </p:sp>
      <p:grpSp>
        <p:nvGrpSpPr>
          <p:cNvPr id="140" name="Agrupar 139"/>
          <p:cNvGrpSpPr/>
          <p:nvPr/>
        </p:nvGrpSpPr>
        <p:grpSpPr>
          <a:xfrm rot="16200000" flipV="1">
            <a:off x="10767890" y="2528965"/>
            <a:ext cx="244217" cy="285687"/>
            <a:chOff x="1269055" y="385982"/>
            <a:chExt cx="244217" cy="285687"/>
          </a:xfrm>
        </p:grpSpPr>
        <p:sp>
          <p:nvSpPr>
            <p:cNvPr id="141" name="Seta para a Direita 140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sp>
        <p:nvSpPr>
          <p:cNvPr id="143" name="Elipse 142">
            <a:hlinkClick r:id="rId36" action="ppaction://hlinksldjump"/>
          </p:cNvPr>
          <p:cNvSpPr/>
          <p:nvPr/>
        </p:nvSpPr>
        <p:spPr>
          <a:xfrm>
            <a:off x="10741237" y="2161599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</a:t>
            </a:r>
          </a:p>
        </p:txBody>
      </p:sp>
      <p:sp>
        <p:nvSpPr>
          <p:cNvPr id="144" name="Texto Explicativo Retangular com Cantos Arredondados 143"/>
          <p:cNvSpPr/>
          <p:nvPr/>
        </p:nvSpPr>
        <p:spPr>
          <a:xfrm>
            <a:off x="1649118" y="2884941"/>
            <a:ext cx="1301602" cy="953453"/>
          </a:xfrm>
          <a:prstGeom prst="wedgeRoundRectCallout">
            <a:avLst>
              <a:gd name="adj1" fmla="val -86728"/>
              <a:gd name="adj2" fmla="val 42808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executar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criação</a:t>
            </a:r>
            <a:r>
              <a:rPr lang="en-US" dirty="0">
                <a:solidFill>
                  <a:schemeClr val="bg1"/>
                </a:solidFill>
              </a:rPr>
              <a:t> da </a:t>
            </a:r>
            <a:r>
              <a:rPr lang="en-US" dirty="0" err="1">
                <a:solidFill>
                  <a:schemeClr val="bg1"/>
                </a:solidFill>
              </a:rPr>
              <a:t>fatura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45" name="Botão de ação: Retornar 144">
            <a:hlinkClick r:id="rId37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092367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14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5883823" y="6654991"/>
            <a:ext cx="247823" cy="276999"/>
          </a:xfrm>
        </p:spPr>
        <p:txBody>
          <a:bodyPr/>
          <a:lstStyle/>
          <a:p>
            <a:pPr algn="ctr"/>
            <a:fld id="{86CB4B4D-7CA3-9044-876B-883B54F8677D}" type="slidenum">
              <a:rPr lang="pt-BR" smtClean="0"/>
              <a:pPr algn="ctr"/>
              <a:t>25</a:t>
            </a:fld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62001" y="453660"/>
            <a:ext cx="10742490" cy="518283"/>
          </a:xfrm>
        </p:spPr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faturados</a:t>
            </a:r>
            <a:r>
              <a:rPr lang="en-US" dirty="0"/>
              <a:t>, </a:t>
            </a:r>
            <a:r>
              <a:rPr lang="en-US" dirty="0" err="1"/>
              <a:t>Apurados</a:t>
            </a:r>
            <a:r>
              <a:rPr lang="en-US" dirty="0"/>
              <a:t> e  </a:t>
            </a:r>
            <a:r>
              <a:rPr lang="en-US" dirty="0" err="1"/>
              <a:t>Acertos</a:t>
            </a:r>
            <a:r>
              <a:rPr lang="en-US" dirty="0"/>
              <a:t> a </a:t>
            </a:r>
            <a:r>
              <a:rPr lang="en-US" dirty="0" err="1"/>
              <a:t>executar</a:t>
            </a:r>
            <a:r>
              <a:rPr lang="en-US" dirty="0"/>
              <a:t> entre Oi e </a:t>
            </a:r>
            <a:r>
              <a:rPr lang="en-US" dirty="0" err="1"/>
              <a:t>Lemvig</a:t>
            </a:r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Fev</a:t>
            </a:r>
            <a:r>
              <a:rPr lang="en-US" dirty="0"/>
              <a:t>/23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Mar/23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Jan/23</a:t>
            </a:r>
          </a:p>
        </p:txBody>
      </p:sp>
      <p:sp>
        <p:nvSpPr>
          <p:cNvPr id="17" name="Título 2"/>
          <p:cNvSpPr txBox="1">
            <a:spLocks/>
          </p:cNvSpPr>
          <p:nvPr/>
        </p:nvSpPr>
        <p:spPr>
          <a:xfrm>
            <a:off x="48009" y="106006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en-US" dirty="0" err="1"/>
              <a:t>Receita</a:t>
            </a:r>
            <a:r>
              <a:rPr lang="en-US" dirty="0"/>
              <a:t> e </a:t>
            </a:r>
            <a:r>
              <a:rPr lang="en-US" dirty="0" err="1"/>
              <a:t>Despesa</a:t>
            </a:r>
            <a:r>
              <a:rPr lang="en-US" dirty="0"/>
              <a:t> de solo</a:t>
            </a:r>
          </a:p>
        </p:txBody>
      </p:sp>
      <p:sp>
        <p:nvSpPr>
          <p:cNvPr id="18" name="Espaço Reservado para Texto 13"/>
          <p:cNvSpPr>
            <a:spLocks noGrp="1"/>
          </p:cNvSpPr>
          <p:nvPr>
            <p:ph type="body" sz="quarter" idx="18"/>
          </p:nvPr>
        </p:nvSpPr>
        <p:spPr>
          <a:xfrm>
            <a:off x="4029035" y="2589007"/>
            <a:ext cx="4047453" cy="4065984"/>
          </a:xfrm>
        </p:spPr>
        <p:txBody>
          <a:bodyPr/>
          <a:lstStyle/>
          <a:p>
            <a:r>
              <a:rPr lang="en-US" dirty="0" err="1"/>
              <a:t>Contratos</a:t>
            </a:r>
            <a:r>
              <a:rPr lang="en-US" dirty="0"/>
              <a:t> </a:t>
            </a:r>
            <a:r>
              <a:rPr lang="en-US" dirty="0" err="1"/>
              <a:t>Atacado</a:t>
            </a:r>
            <a:r>
              <a:rPr lang="en-US" dirty="0"/>
              <a:t> – </a:t>
            </a:r>
            <a:r>
              <a:rPr lang="en-US" dirty="0" err="1"/>
              <a:t>Receita</a:t>
            </a:r>
            <a:r>
              <a:rPr lang="en-US" dirty="0"/>
              <a:t> Solo:</a:t>
            </a:r>
          </a:p>
          <a:p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Apurado</a:t>
            </a:r>
            <a:r>
              <a:rPr lang="en-US" dirty="0"/>
              <a:t>: R$ </a:t>
            </a:r>
            <a:r>
              <a:rPr lang="pt-BR" dirty="0"/>
              <a:t>1.282.682,45</a:t>
            </a:r>
          </a:p>
          <a:p>
            <a:r>
              <a:rPr lang="en-US" dirty="0"/>
              <a:t>Valor </a:t>
            </a:r>
            <a:r>
              <a:rPr lang="en-US" dirty="0" err="1"/>
              <a:t>Contestado</a:t>
            </a:r>
            <a:r>
              <a:rPr lang="en-US" dirty="0"/>
              <a:t>: R$ </a:t>
            </a:r>
            <a:r>
              <a:rPr lang="pt-BR" dirty="0"/>
              <a:t>18.707,83</a:t>
            </a:r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Validado</a:t>
            </a:r>
            <a:r>
              <a:rPr lang="en-US" dirty="0"/>
              <a:t> </a:t>
            </a:r>
            <a:r>
              <a:rPr lang="en-US" dirty="0" err="1"/>
              <a:t>bruto</a:t>
            </a:r>
            <a:r>
              <a:rPr lang="en-US" dirty="0"/>
              <a:t>: R$ </a:t>
            </a:r>
            <a:r>
              <a:rPr lang="pt-BR" dirty="0"/>
              <a:t>857.985,02</a:t>
            </a:r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: R$ 1.263.974,62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Despesa</a:t>
            </a:r>
            <a:r>
              <a:rPr lang="en-US" dirty="0"/>
              <a:t> de solo de </a:t>
            </a:r>
            <a:r>
              <a:rPr lang="en-US" dirty="0" err="1"/>
              <a:t>Terceiros</a:t>
            </a:r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Calculado</a:t>
            </a:r>
            <a:r>
              <a:rPr lang="en-US" dirty="0"/>
              <a:t>: R$ 2.024.326,08</a:t>
            </a:r>
          </a:p>
          <a:p>
            <a:endParaRPr lang="en-US" dirty="0"/>
          </a:p>
          <a:p>
            <a:r>
              <a:rPr lang="en-US" dirty="0" err="1"/>
              <a:t>Despesa</a:t>
            </a:r>
            <a:r>
              <a:rPr lang="en-US" dirty="0"/>
              <a:t> de solo Oi </a:t>
            </a:r>
            <a:r>
              <a:rPr lang="en-US" dirty="0" err="1"/>
              <a:t>Multilocatários</a:t>
            </a:r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Calculado</a:t>
            </a:r>
            <a:r>
              <a:rPr lang="en-US" dirty="0"/>
              <a:t>: R$ 289.112,03</a:t>
            </a:r>
          </a:p>
          <a:p>
            <a:endParaRPr lang="en-US" dirty="0"/>
          </a:p>
          <a:p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Rateio</a:t>
            </a:r>
            <a:r>
              <a:rPr lang="en-US" dirty="0"/>
              <a:t> de Solo</a:t>
            </a:r>
          </a:p>
          <a:p>
            <a:r>
              <a:rPr lang="en-US" dirty="0"/>
              <a:t>Valor </a:t>
            </a:r>
            <a:r>
              <a:rPr lang="en-US" dirty="0" err="1"/>
              <a:t>Calculado</a:t>
            </a:r>
            <a:r>
              <a:rPr lang="en-US" dirty="0"/>
              <a:t>:  R$ 1.049.463,49</a:t>
            </a:r>
          </a:p>
          <a:p>
            <a:endParaRPr lang="en-US" dirty="0"/>
          </a:p>
        </p:txBody>
      </p:sp>
      <p:sp>
        <p:nvSpPr>
          <p:cNvPr id="20" name="Espaço Reservado para Texto 14"/>
          <p:cNvSpPr>
            <a:spLocks noGrp="1"/>
          </p:cNvSpPr>
          <p:nvPr>
            <p:ph type="body" sz="quarter" idx="19"/>
          </p:nvPr>
        </p:nvSpPr>
        <p:spPr>
          <a:xfrm>
            <a:off x="8166238" y="2589007"/>
            <a:ext cx="3903131" cy="2608840"/>
          </a:xfrm>
        </p:spPr>
        <p:txBody>
          <a:bodyPr/>
          <a:lstStyle/>
          <a:p>
            <a:r>
              <a:rPr lang="en-US" dirty="0" err="1"/>
              <a:t>Contratos</a:t>
            </a:r>
            <a:r>
              <a:rPr lang="en-US" dirty="0"/>
              <a:t> </a:t>
            </a:r>
            <a:r>
              <a:rPr lang="en-US" dirty="0" err="1"/>
              <a:t>Atacado</a:t>
            </a:r>
            <a:r>
              <a:rPr lang="en-US" dirty="0"/>
              <a:t> – </a:t>
            </a:r>
            <a:r>
              <a:rPr lang="en-US" dirty="0" err="1"/>
              <a:t>Receita</a:t>
            </a:r>
            <a:r>
              <a:rPr lang="en-US" dirty="0"/>
              <a:t> Solo:</a:t>
            </a:r>
          </a:p>
          <a:p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Apurado</a:t>
            </a:r>
            <a:r>
              <a:rPr lang="en-US" dirty="0"/>
              <a:t>: R$ </a:t>
            </a:r>
          </a:p>
          <a:p>
            <a:r>
              <a:rPr lang="en-US" dirty="0"/>
              <a:t>Valor </a:t>
            </a:r>
            <a:r>
              <a:rPr lang="en-US" dirty="0" err="1"/>
              <a:t>Contestado</a:t>
            </a:r>
            <a:r>
              <a:rPr lang="en-US" dirty="0"/>
              <a:t>: R$ 0</a:t>
            </a:r>
          </a:p>
          <a:p>
            <a:r>
              <a:rPr lang="en-US" dirty="0"/>
              <a:t>Valor </a:t>
            </a:r>
            <a:r>
              <a:rPr lang="en-US" dirty="0" err="1"/>
              <a:t>Validado</a:t>
            </a:r>
            <a:r>
              <a:rPr lang="en-US" dirty="0"/>
              <a:t> </a:t>
            </a:r>
            <a:r>
              <a:rPr lang="en-US" dirty="0" err="1"/>
              <a:t>bruto</a:t>
            </a:r>
            <a:r>
              <a:rPr lang="en-US" dirty="0"/>
              <a:t>: R$ x</a:t>
            </a:r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: R$ x</a:t>
            </a:r>
          </a:p>
          <a:p>
            <a:endParaRPr lang="en-US" dirty="0"/>
          </a:p>
          <a:p>
            <a:r>
              <a:rPr lang="en-US" dirty="0" err="1"/>
              <a:t>Despesa</a:t>
            </a:r>
            <a:r>
              <a:rPr lang="en-US" dirty="0"/>
              <a:t> de solo de </a:t>
            </a:r>
            <a:r>
              <a:rPr lang="en-US" dirty="0" err="1"/>
              <a:t>Terceiros</a:t>
            </a:r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Calculado</a:t>
            </a:r>
            <a:r>
              <a:rPr lang="en-US" dirty="0"/>
              <a:t>: R$ xx</a:t>
            </a:r>
          </a:p>
          <a:p>
            <a:endParaRPr lang="en-US" dirty="0"/>
          </a:p>
          <a:p>
            <a:r>
              <a:rPr lang="en-US" dirty="0" err="1"/>
              <a:t>Despesa</a:t>
            </a:r>
            <a:r>
              <a:rPr lang="en-US" dirty="0"/>
              <a:t> de solo Oi </a:t>
            </a:r>
            <a:r>
              <a:rPr lang="en-US" dirty="0" err="1"/>
              <a:t>Multilocatários</a:t>
            </a:r>
            <a:endParaRPr lang="en-US" dirty="0"/>
          </a:p>
          <a:p>
            <a:r>
              <a:rPr lang="en-US" dirty="0"/>
              <a:t>Valor </a:t>
            </a:r>
            <a:r>
              <a:rPr lang="en-US" dirty="0" err="1"/>
              <a:t>Calculado</a:t>
            </a:r>
            <a:r>
              <a:rPr lang="en-US" dirty="0"/>
              <a:t>: R$ xx</a:t>
            </a:r>
          </a:p>
          <a:p>
            <a:endParaRPr lang="en-US" dirty="0"/>
          </a:p>
          <a:p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Rateio</a:t>
            </a:r>
            <a:r>
              <a:rPr lang="en-US" dirty="0"/>
              <a:t> de Solo</a:t>
            </a:r>
          </a:p>
          <a:p>
            <a:r>
              <a:rPr lang="en-US" dirty="0"/>
              <a:t>Valor </a:t>
            </a:r>
            <a:r>
              <a:rPr lang="en-US" dirty="0" err="1"/>
              <a:t>Calculado</a:t>
            </a:r>
            <a:r>
              <a:rPr lang="en-US" dirty="0"/>
              <a:t>:  R$ xx</a:t>
            </a:r>
          </a:p>
        </p:txBody>
      </p:sp>
      <p:sp>
        <p:nvSpPr>
          <p:cNvPr id="21" name="Espaço Reservado para Texto 15"/>
          <p:cNvSpPr>
            <a:spLocks noGrp="1"/>
          </p:cNvSpPr>
          <p:nvPr>
            <p:ph type="body" sz="quarter" idx="20"/>
          </p:nvPr>
        </p:nvSpPr>
        <p:spPr>
          <a:xfrm>
            <a:off x="62001" y="2589007"/>
            <a:ext cx="3967034" cy="4065984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Contratos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Atacado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en-US" dirty="0" err="1">
                <a:solidFill>
                  <a:schemeClr val="bg1"/>
                </a:solidFill>
              </a:rPr>
              <a:t>Receita</a:t>
            </a:r>
            <a:r>
              <a:rPr lang="en-US" dirty="0">
                <a:solidFill>
                  <a:schemeClr val="bg1"/>
                </a:solidFill>
              </a:rPr>
              <a:t> Solo: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Apurado</a:t>
            </a:r>
            <a:r>
              <a:rPr lang="en-US" dirty="0">
                <a:solidFill>
                  <a:schemeClr val="bg1"/>
                </a:solidFill>
              </a:rPr>
              <a:t>: R$ </a:t>
            </a:r>
            <a:r>
              <a:rPr lang="pt-BR" dirty="0">
                <a:solidFill>
                  <a:schemeClr val="bg1"/>
                </a:solidFill>
              </a:rPr>
              <a:t>1.200.355,30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Contestado</a:t>
            </a:r>
            <a:r>
              <a:rPr lang="en-US" dirty="0">
                <a:solidFill>
                  <a:schemeClr val="bg1"/>
                </a:solidFill>
              </a:rPr>
              <a:t>: R$ </a:t>
            </a:r>
            <a:r>
              <a:rPr lang="pt-BR" dirty="0">
                <a:solidFill>
                  <a:schemeClr val="bg1"/>
                </a:solidFill>
              </a:rPr>
              <a:t>20.755,91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Validado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bruto</a:t>
            </a:r>
            <a:r>
              <a:rPr lang="en-US" dirty="0">
                <a:solidFill>
                  <a:schemeClr val="bg1"/>
                </a:solidFill>
              </a:rPr>
              <a:t>: R$ 1.179.599,40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Faturado</a:t>
            </a:r>
            <a:r>
              <a:rPr lang="en-US" dirty="0">
                <a:solidFill>
                  <a:schemeClr val="bg1"/>
                </a:solidFill>
              </a:rPr>
              <a:t>: R$ 1.179.599,40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Despesa</a:t>
            </a:r>
            <a:r>
              <a:rPr lang="en-US" dirty="0">
                <a:solidFill>
                  <a:schemeClr val="bg1"/>
                </a:solidFill>
              </a:rPr>
              <a:t> de solo de </a:t>
            </a:r>
            <a:r>
              <a:rPr lang="en-US" dirty="0" err="1">
                <a:solidFill>
                  <a:schemeClr val="bg1"/>
                </a:solidFill>
              </a:rPr>
              <a:t>Terceiros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Calculado</a:t>
            </a:r>
            <a:r>
              <a:rPr lang="en-US" dirty="0">
                <a:solidFill>
                  <a:schemeClr val="bg1"/>
                </a:solidFill>
              </a:rPr>
              <a:t>: R$ 2.024.326,08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Despesa</a:t>
            </a:r>
            <a:r>
              <a:rPr lang="en-US" dirty="0">
                <a:solidFill>
                  <a:schemeClr val="bg1"/>
                </a:solidFill>
              </a:rPr>
              <a:t> de solo Oi </a:t>
            </a:r>
            <a:r>
              <a:rPr lang="en-US" dirty="0" err="1">
                <a:solidFill>
                  <a:schemeClr val="bg1"/>
                </a:solidFill>
              </a:rPr>
              <a:t>Multilocatários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Calculado</a:t>
            </a:r>
            <a:r>
              <a:rPr lang="en-US" dirty="0">
                <a:solidFill>
                  <a:schemeClr val="bg1"/>
                </a:solidFill>
              </a:rPr>
              <a:t>: R$ 289.112,03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Receita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Rateio</a:t>
            </a:r>
            <a:r>
              <a:rPr lang="en-US" dirty="0">
                <a:solidFill>
                  <a:schemeClr val="bg1"/>
                </a:solidFill>
              </a:rPr>
              <a:t> de Solo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Calculado</a:t>
            </a:r>
            <a:r>
              <a:rPr lang="en-US" dirty="0">
                <a:solidFill>
                  <a:schemeClr val="bg1"/>
                </a:solidFill>
              </a:rPr>
              <a:t>:  R$ 1.133.838,71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23" name="Elipse 22"/>
          <p:cNvSpPr/>
          <p:nvPr/>
        </p:nvSpPr>
        <p:spPr>
          <a:xfrm>
            <a:off x="3475749" y="3795376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3475749" y="6042047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8" name="Elipse 27"/>
          <p:cNvSpPr/>
          <p:nvPr/>
        </p:nvSpPr>
        <p:spPr>
          <a:xfrm>
            <a:off x="3475749" y="4537712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9" name="Elipse 28"/>
          <p:cNvSpPr/>
          <p:nvPr/>
        </p:nvSpPr>
        <p:spPr>
          <a:xfrm>
            <a:off x="3475749" y="5250552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0" name="Elipse 29"/>
          <p:cNvSpPr/>
          <p:nvPr/>
        </p:nvSpPr>
        <p:spPr>
          <a:xfrm>
            <a:off x="7576469" y="3796298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7576469" y="6042969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2" name="Elipse 31"/>
          <p:cNvSpPr/>
          <p:nvPr/>
        </p:nvSpPr>
        <p:spPr>
          <a:xfrm>
            <a:off x="7576469" y="4538634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3" name="Elipse 32"/>
          <p:cNvSpPr/>
          <p:nvPr/>
        </p:nvSpPr>
        <p:spPr>
          <a:xfrm>
            <a:off x="7576469" y="5251474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2882983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5765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26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/>
              <a:t>Pass through de </a:t>
            </a:r>
            <a:r>
              <a:rPr lang="en-US" dirty="0" err="1"/>
              <a:t>Energia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4582491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2436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tângulo 78"/>
          <p:cNvSpPr/>
          <p:nvPr/>
        </p:nvSpPr>
        <p:spPr>
          <a:xfrm>
            <a:off x="92958" y="2276308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Retângulo 79"/>
          <p:cNvSpPr/>
          <p:nvPr/>
        </p:nvSpPr>
        <p:spPr>
          <a:xfrm>
            <a:off x="92958" y="3731768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432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6032491" y="671868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27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 </a:t>
            </a:r>
            <a:r>
              <a:rPr lang="en-US" dirty="0" err="1"/>
              <a:t>Repasse</a:t>
            </a:r>
            <a:r>
              <a:rPr lang="en-US" dirty="0"/>
              <a:t> da </a:t>
            </a:r>
            <a:r>
              <a:rPr lang="en-US" dirty="0" err="1"/>
              <a:t>Receita</a:t>
            </a:r>
            <a:r>
              <a:rPr lang="en-US" dirty="0"/>
              <a:t> de </a:t>
            </a:r>
            <a:r>
              <a:rPr lang="en-US" dirty="0" err="1"/>
              <a:t>Energia</a:t>
            </a:r>
            <a:r>
              <a:rPr lang="en-US" dirty="0"/>
              <a:t> da </a:t>
            </a:r>
            <a:r>
              <a:rPr lang="en-US" dirty="0" err="1"/>
              <a:t>Lemvig</a:t>
            </a:r>
            <a:r>
              <a:rPr lang="en-US" dirty="0"/>
              <a:t> para a Oi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94263" y="1148477"/>
            <a:ext cx="674865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(TSA)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4142165456"/>
              </p:ext>
            </p:extLst>
          </p:nvPr>
        </p:nvGraphicFramePr>
        <p:xfrm>
          <a:off x="1298926" y="1009742"/>
          <a:ext cx="1184308" cy="100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58" name="CaixaDeTexto 157"/>
          <p:cNvSpPr txBox="1"/>
          <p:nvPr/>
        </p:nvSpPr>
        <p:spPr>
          <a:xfrm flipH="1">
            <a:off x="120572" y="5199063"/>
            <a:ext cx="1219334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Atualmente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são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geradas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104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notas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incluindo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;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213" name="Agrupar 212"/>
          <p:cNvGrpSpPr/>
          <p:nvPr/>
        </p:nvGrpSpPr>
        <p:grpSpPr>
          <a:xfrm>
            <a:off x="4896090" y="180416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214" name="Canto Dobrado 21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15" name="Conector reto 21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6" name="Conector reto 21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7" name="Conector reto 21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28" name="Texto Explicativo Retangular com Cantos Arredondados 227"/>
          <p:cNvSpPr/>
          <p:nvPr/>
        </p:nvSpPr>
        <p:spPr>
          <a:xfrm>
            <a:off x="11426245" y="2440670"/>
            <a:ext cx="616071" cy="238363"/>
          </a:xfrm>
          <a:prstGeom prst="wedgeRoundRectCallout">
            <a:avLst>
              <a:gd name="adj1" fmla="val -171996"/>
              <a:gd name="adj2" fmla="val -57069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SLAs?</a:t>
            </a:r>
          </a:p>
        </p:txBody>
      </p:sp>
      <p:grpSp>
        <p:nvGrpSpPr>
          <p:cNvPr id="96" name="Agrupar 95"/>
          <p:cNvGrpSpPr/>
          <p:nvPr/>
        </p:nvGrpSpPr>
        <p:grpSpPr>
          <a:xfrm flipV="1">
            <a:off x="2644887" y="1424385"/>
            <a:ext cx="244217" cy="285687"/>
            <a:chOff x="1269055" y="385982"/>
            <a:chExt cx="244217" cy="285687"/>
          </a:xfrm>
        </p:grpSpPr>
        <p:sp>
          <p:nvSpPr>
            <p:cNvPr id="98" name="Seta para a Direita 97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9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75" name="Agrupar 74"/>
          <p:cNvGrpSpPr/>
          <p:nvPr/>
        </p:nvGrpSpPr>
        <p:grpSpPr>
          <a:xfrm flipV="1">
            <a:off x="4987260" y="1416776"/>
            <a:ext cx="244217" cy="285687"/>
            <a:chOff x="1269055" y="385982"/>
            <a:chExt cx="244217" cy="285687"/>
          </a:xfrm>
        </p:grpSpPr>
        <p:sp>
          <p:nvSpPr>
            <p:cNvPr id="76" name="Seta para a Direita 75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7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13" name="Agrupar 12"/>
          <p:cNvGrpSpPr/>
          <p:nvPr/>
        </p:nvGrpSpPr>
        <p:grpSpPr>
          <a:xfrm>
            <a:off x="2880420" y="957784"/>
            <a:ext cx="1981748" cy="930602"/>
            <a:chOff x="4767032" y="957462"/>
            <a:chExt cx="1981748" cy="930602"/>
          </a:xfrm>
        </p:grpSpPr>
        <p:sp>
          <p:nvSpPr>
            <p:cNvPr id="10" name="Retângulo Arredondado 9"/>
            <p:cNvSpPr/>
            <p:nvPr/>
          </p:nvSpPr>
          <p:spPr>
            <a:xfrm>
              <a:off x="4980144" y="1172975"/>
              <a:ext cx="1768636" cy="715089"/>
            </a:xfrm>
            <a:prstGeom prst="roundRect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Processo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Receita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dos </a:t>
              </a:r>
              <a:r>
                <a:rPr kumimoji="0" lang="pt-BR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contratos de compartilhamento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78" name="Elipse 77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aphicFrame>
        <p:nvGraphicFramePr>
          <p:cNvPr id="82" name="Diagrama 81"/>
          <p:cNvGraphicFramePr/>
          <p:nvPr>
            <p:extLst>
              <p:ext uri="{D42A27DB-BD31-4B8C-83A1-F6EECF244321}">
                <p14:modId xmlns:p14="http://schemas.microsoft.com/office/powerpoint/2010/main" val="2922619187"/>
              </p:ext>
            </p:extLst>
          </p:nvPr>
        </p:nvGraphicFramePr>
        <p:xfrm>
          <a:off x="1331564" y="3990006"/>
          <a:ext cx="1146164" cy="985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83" name="CaixaDeTexto 82"/>
          <p:cNvSpPr txBox="1"/>
          <p:nvPr/>
        </p:nvSpPr>
        <p:spPr>
          <a:xfrm>
            <a:off x="235562" y="3888080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Carolina </a:t>
            </a:r>
            <a:r>
              <a:rPr lang="en-US" dirty="0" err="1"/>
              <a:t>Arlota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Adriana </a:t>
            </a:r>
            <a:r>
              <a:rPr lang="en-US" dirty="0" err="1"/>
              <a:t>Lenine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84" name="Diagrama 83"/>
          <p:cNvGraphicFramePr/>
          <p:nvPr>
            <p:extLst>
              <p:ext uri="{D42A27DB-BD31-4B8C-83A1-F6EECF244321}">
                <p14:modId xmlns:p14="http://schemas.microsoft.com/office/powerpoint/2010/main" val="3744601029"/>
              </p:ext>
            </p:extLst>
          </p:nvPr>
        </p:nvGraphicFramePr>
        <p:xfrm>
          <a:off x="5374405" y="3933384"/>
          <a:ext cx="1158660" cy="1117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86" name="Retângulo 85"/>
          <p:cNvSpPr/>
          <p:nvPr/>
        </p:nvSpPr>
        <p:spPr>
          <a:xfrm>
            <a:off x="6747092" y="4327723"/>
            <a:ext cx="1836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7" name="Agrupar 86"/>
          <p:cNvGrpSpPr/>
          <p:nvPr/>
        </p:nvGrpSpPr>
        <p:grpSpPr>
          <a:xfrm>
            <a:off x="2559915" y="4729573"/>
            <a:ext cx="180000" cy="252000"/>
            <a:chOff x="3722405" y="2929355"/>
            <a:chExt cx="504000" cy="684000"/>
          </a:xfrm>
        </p:grpSpPr>
        <p:sp>
          <p:nvSpPr>
            <p:cNvPr id="88" name="Canto Dobrado 87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solidFill>
              <a:srgbClr val="FFFFFF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9" name="Conector reto 88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0" name="Conector reto 89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1" name="Conector reto 10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2" name="Agrupar 101"/>
          <p:cNvGrpSpPr/>
          <p:nvPr/>
        </p:nvGrpSpPr>
        <p:grpSpPr>
          <a:xfrm>
            <a:off x="6624870" y="4793313"/>
            <a:ext cx="180000" cy="252000"/>
            <a:chOff x="3722405" y="2929355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8" name="Canto Dobrado 107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9" name="Conector reto 108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0" name="Conector reto 109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1" name="Conector reto 110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15" name="Agrupar 114"/>
          <p:cNvGrpSpPr/>
          <p:nvPr/>
        </p:nvGrpSpPr>
        <p:grpSpPr>
          <a:xfrm rot="16200000" flipV="1">
            <a:off x="7275899" y="3172396"/>
            <a:ext cx="2412000" cy="324000"/>
            <a:chOff x="6413377" y="679347"/>
            <a:chExt cx="256379" cy="299915"/>
          </a:xfrm>
        </p:grpSpPr>
        <p:sp>
          <p:nvSpPr>
            <p:cNvPr id="116" name="Seta para a Direita 11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18" name="CaixaDeTexto 117"/>
          <p:cNvSpPr txBox="1"/>
          <p:nvPr/>
        </p:nvSpPr>
        <p:spPr>
          <a:xfrm>
            <a:off x="197309" y="2652231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Atacado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Andre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Telles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rgbClr val="00D318"/>
                </a:solidFill>
              </a:rPr>
              <a:t>Maria</a:t>
            </a:r>
            <a:r>
              <a:rPr lang="en-US" dirty="0">
                <a:solidFill>
                  <a:srgbClr val="00D318"/>
                </a:solidFill>
              </a:rPr>
              <a:t> Cecilia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19" name="Agrupar 118"/>
          <p:cNvGrpSpPr/>
          <p:nvPr/>
        </p:nvGrpSpPr>
        <p:grpSpPr>
          <a:xfrm>
            <a:off x="1337069" y="2457482"/>
            <a:ext cx="1146164" cy="1053791"/>
            <a:chOff x="0" y="13121"/>
            <a:chExt cx="1146164" cy="1333738"/>
          </a:xfrm>
        </p:grpSpPr>
        <p:sp>
          <p:nvSpPr>
            <p:cNvPr id="120" name="Retângulo Arredondado 119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1" name="CaixaDeTexto 120"/>
            <p:cNvSpPr txBox="1"/>
            <p:nvPr/>
          </p:nvSpPr>
          <p:spPr>
            <a:xfrm>
              <a:off x="33570" y="29659"/>
              <a:ext cx="1079024" cy="12665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Calcula valor de energia, conforme o contrato de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compartilha-mento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22" name="Agrupar 121"/>
          <p:cNvGrpSpPr/>
          <p:nvPr/>
        </p:nvGrpSpPr>
        <p:grpSpPr>
          <a:xfrm rot="16200000">
            <a:off x="1776456" y="3553225"/>
            <a:ext cx="256379" cy="299915"/>
            <a:chOff x="6413377" y="679347"/>
            <a:chExt cx="256379" cy="299915"/>
          </a:xfrm>
        </p:grpSpPr>
        <p:sp>
          <p:nvSpPr>
            <p:cNvPr id="123" name="Seta para a Direita 12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grpSp>
        <p:nvGrpSpPr>
          <p:cNvPr id="125" name="Agrupar 124"/>
          <p:cNvGrpSpPr/>
          <p:nvPr/>
        </p:nvGrpSpPr>
        <p:grpSpPr>
          <a:xfrm>
            <a:off x="5380654" y="2440670"/>
            <a:ext cx="1146164" cy="1102494"/>
            <a:chOff x="0" y="13121"/>
            <a:chExt cx="1146164" cy="1333738"/>
          </a:xfrm>
        </p:grpSpPr>
        <p:sp>
          <p:nvSpPr>
            <p:cNvPr id="126" name="Retângulo Arredondado 125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7" name="CaixaDeTexto 126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Apura valor calculado x validado e indica valor da nota de débito para energia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34" name="Diagrama 133"/>
          <p:cNvGraphicFramePr/>
          <p:nvPr>
            <p:extLst>
              <p:ext uri="{D42A27DB-BD31-4B8C-83A1-F6EECF244321}">
                <p14:modId xmlns:p14="http://schemas.microsoft.com/office/powerpoint/2010/main" val="3898413887"/>
              </p:ext>
            </p:extLst>
          </p:nvPr>
        </p:nvGraphicFramePr>
        <p:xfrm>
          <a:off x="5312641" y="1008693"/>
          <a:ext cx="1184308" cy="100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pSp>
        <p:nvGrpSpPr>
          <p:cNvPr id="135" name="Agrupar 134"/>
          <p:cNvGrpSpPr/>
          <p:nvPr/>
        </p:nvGrpSpPr>
        <p:grpSpPr>
          <a:xfrm>
            <a:off x="6553094" y="1879108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36" name="Canto Dobrado 13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37" name="Conector reto 13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8" name="Conector reto 13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9" name="Conector reto 13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45" name="Agrupar 144"/>
          <p:cNvGrpSpPr/>
          <p:nvPr/>
        </p:nvGrpSpPr>
        <p:grpSpPr>
          <a:xfrm rot="5400000" flipV="1">
            <a:off x="5825546" y="3578231"/>
            <a:ext cx="256379" cy="299915"/>
            <a:chOff x="6413377" y="679347"/>
            <a:chExt cx="256379" cy="299915"/>
          </a:xfrm>
        </p:grpSpPr>
        <p:sp>
          <p:nvSpPr>
            <p:cNvPr id="146" name="Seta para a Direita 14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52" name="Agrupar 151"/>
          <p:cNvGrpSpPr/>
          <p:nvPr/>
        </p:nvGrpSpPr>
        <p:grpSpPr>
          <a:xfrm>
            <a:off x="7829048" y="1014680"/>
            <a:ext cx="1208656" cy="1006357"/>
            <a:chOff x="590" y="0"/>
            <a:chExt cx="1208656" cy="1287005"/>
          </a:xfrm>
        </p:grpSpPr>
        <p:sp>
          <p:nvSpPr>
            <p:cNvPr id="153" name="Retângulo Arredondado 152"/>
            <p:cNvSpPr/>
            <p:nvPr/>
          </p:nvSpPr>
          <p:spPr>
            <a:xfrm>
              <a:off x="590" y="0"/>
              <a:ext cx="1208656" cy="128700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4" name="CaixaDeTexto 153"/>
            <p:cNvSpPr txBox="1"/>
            <p:nvPr/>
          </p:nvSpPr>
          <p:spPr>
            <a:xfrm>
              <a:off x="35990" y="35400"/>
              <a:ext cx="1137856" cy="12162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Solicita pagamento da nota de débito para Oi</a:t>
              </a:r>
            </a:p>
          </p:txBody>
        </p:sp>
      </p:grpSp>
      <p:grpSp>
        <p:nvGrpSpPr>
          <p:cNvPr id="155" name="Agrupar 154"/>
          <p:cNvGrpSpPr/>
          <p:nvPr/>
        </p:nvGrpSpPr>
        <p:grpSpPr>
          <a:xfrm flipV="1">
            <a:off x="9143144" y="1445482"/>
            <a:ext cx="244217" cy="285687"/>
            <a:chOff x="1269055" y="385982"/>
            <a:chExt cx="244217" cy="285687"/>
          </a:xfrm>
        </p:grpSpPr>
        <p:sp>
          <p:nvSpPr>
            <p:cNvPr id="156" name="Seta para a Direita 155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200" name="Agrupar 199"/>
          <p:cNvGrpSpPr/>
          <p:nvPr/>
        </p:nvGrpSpPr>
        <p:grpSpPr>
          <a:xfrm>
            <a:off x="9500785" y="1018696"/>
            <a:ext cx="1981748" cy="930602"/>
            <a:chOff x="4767032" y="957462"/>
            <a:chExt cx="1981748" cy="930602"/>
          </a:xfrm>
        </p:grpSpPr>
        <p:sp>
          <p:nvSpPr>
            <p:cNvPr id="201" name="Retângulo Arredondado 200"/>
            <p:cNvSpPr/>
            <p:nvPr/>
          </p:nvSpPr>
          <p:spPr>
            <a:xfrm>
              <a:off x="4980144" y="1172975"/>
              <a:ext cx="1768636" cy="715089"/>
            </a:xfrm>
            <a:prstGeom prst="roundRect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Processo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pt-BR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Pagamento </a:t>
              </a: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no SAP B1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202" name="Elipse 201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</a:rPr>
                <a:t>4a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203" name="Agrupar 202"/>
          <p:cNvGrpSpPr/>
          <p:nvPr/>
        </p:nvGrpSpPr>
        <p:grpSpPr>
          <a:xfrm rot="16200000">
            <a:off x="1776456" y="2059852"/>
            <a:ext cx="256379" cy="299915"/>
            <a:chOff x="6413377" y="679347"/>
            <a:chExt cx="256379" cy="299915"/>
          </a:xfrm>
        </p:grpSpPr>
        <p:sp>
          <p:nvSpPr>
            <p:cNvPr id="204" name="Seta para a Direita 203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2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14" name="Agrupar 113"/>
          <p:cNvGrpSpPr/>
          <p:nvPr/>
        </p:nvGrpSpPr>
        <p:grpSpPr>
          <a:xfrm rot="5400000" flipV="1">
            <a:off x="5783076" y="2111698"/>
            <a:ext cx="256379" cy="299915"/>
            <a:chOff x="6413377" y="679347"/>
            <a:chExt cx="256379" cy="299915"/>
          </a:xfrm>
        </p:grpSpPr>
        <p:sp>
          <p:nvSpPr>
            <p:cNvPr id="131" name="Seta para a Direita 130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33" name="Agrupar 132"/>
          <p:cNvGrpSpPr/>
          <p:nvPr/>
        </p:nvGrpSpPr>
        <p:grpSpPr>
          <a:xfrm>
            <a:off x="6043097" y="491260"/>
            <a:ext cx="180000" cy="252000"/>
            <a:chOff x="3722405" y="2929355"/>
            <a:chExt cx="504000" cy="684000"/>
          </a:xfrm>
          <a:solidFill>
            <a:srgbClr val="FFFFFF"/>
          </a:solidFill>
        </p:grpSpPr>
        <p:sp>
          <p:nvSpPr>
            <p:cNvPr id="148" name="Canto Dobrado 147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9" name="Conector reto 148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0" name="Conector reto 149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9" name="Conector reto 15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60" name="CaixaDeTexto 159"/>
          <p:cNvSpPr txBox="1"/>
          <p:nvPr/>
        </p:nvSpPr>
        <p:spPr>
          <a:xfrm>
            <a:off x="6291903" y="532622"/>
            <a:ext cx="1505828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100" dirty="0">
                <a:solidFill>
                  <a:srgbClr val="4D4D4D"/>
                </a:solidFill>
              </a:rPr>
              <a:t>DEINF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161" name="Agrupar 160"/>
          <p:cNvGrpSpPr/>
          <p:nvPr/>
        </p:nvGrpSpPr>
        <p:grpSpPr>
          <a:xfrm>
            <a:off x="163991" y="491260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62" name="Canto Dobrado 161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63" name="Conector reto 162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4" name="Conector reto 163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5" name="Conector reto 164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66" name="CaixaDeTexto 165"/>
          <p:cNvSpPr txBox="1"/>
          <p:nvPr/>
        </p:nvSpPr>
        <p:spPr>
          <a:xfrm>
            <a:off x="468376" y="536469"/>
            <a:ext cx="2346486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Planilha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DEINF </a:t>
            </a: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</a:t>
            </a:r>
            <a:r>
              <a:rPr kumimoji="0" lang="en-US" sz="105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 </a:t>
            </a:r>
            <a:r>
              <a:rPr kumimoji="0" lang="en-US" sz="105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73" name="Agrupar 172"/>
          <p:cNvGrpSpPr/>
          <p:nvPr/>
        </p:nvGrpSpPr>
        <p:grpSpPr>
          <a:xfrm>
            <a:off x="7555481" y="491260"/>
            <a:ext cx="180000" cy="252000"/>
            <a:chOff x="3722403" y="2929357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4" name="Canto Dobrado 173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75" name="Conector reto 17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6" name="Conector reto 17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7" name="Conector reto 17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78" name="Agrupar 177"/>
          <p:cNvGrpSpPr/>
          <p:nvPr/>
        </p:nvGrpSpPr>
        <p:grpSpPr>
          <a:xfrm>
            <a:off x="2828593" y="491260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79" name="Canto Dobrado 17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80" name="Conector reto 17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1" name="Conector reto 18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2" name="Conector reto 18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83" name="Retângulo 182"/>
          <p:cNvSpPr/>
          <p:nvPr/>
        </p:nvSpPr>
        <p:spPr>
          <a:xfrm>
            <a:off x="3016286" y="48645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4D4D4D"/>
                </a:solidFill>
              </a:rPr>
              <a:t>Planilha</a:t>
            </a:r>
            <a:r>
              <a:rPr lang="en-US" sz="1100" dirty="0">
                <a:solidFill>
                  <a:srgbClr val="4D4D4D"/>
                </a:solidFill>
              </a:rPr>
              <a:t> DEINF </a:t>
            </a:r>
            <a:r>
              <a:rPr lang="en-US" sz="1100" dirty="0" err="1">
                <a:solidFill>
                  <a:srgbClr val="4D4D4D"/>
                </a:solidFill>
              </a:rPr>
              <a:t>por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contrato</a:t>
            </a:r>
            <a:r>
              <a:rPr lang="en-US" sz="1100" dirty="0">
                <a:solidFill>
                  <a:srgbClr val="4D4D4D"/>
                </a:solidFill>
              </a:rPr>
              <a:t>/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</a:t>
            </a:r>
            <a:endParaRPr lang="en-US" sz="1100" dirty="0">
              <a:solidFill>
                <a:srgbClr val="4D4D4D"/>
              </a:solidFill>
            </a:endParaRPr>
          </a:p>
        </p:txBody>
      </p:sp>
      <p:sp>
        <p:nvSpPr>
          <p:cNvPr id="184" name="Elipse 183">
            <a:hlinkClick r:id="rId25" action="ppaction://hlinksldjump"/>
          </p:cNvPr>
          <p:cNvSpPr/>
          <p:nvPr/>
        </p:nvSpPr>
        <p:spPr>
          <a:xfrm>
            <a:off x="160952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5" name="Elipse 184">
            <a:hlinkClick r:id="rId26" action="ppaction://hlinksldjump"/>
          </p:cNvPr>
          <p:cNvSpPr/>
          <p:nvPr/>
        </p:nvSpPr>
        <p:spPr>
          <a:xfrm>
            <a:off x="2820577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6" name="Elipse 185">
            <a:hlinkClick r:id="rId27" action="ppaction://hlinksldjump"/>
          </p:cNvPr>
          <p:cNvSpPr/>
          <p:nvPr/>
        </p:nvSpPr>
        <p:spPr>
          <a:xfrm>
            <a:off x="6055393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8" name="Elipse 187">
            <a:hlinkClick r:id="rId28" action="ppaction://hlinksldjump"/>
          </p:cNvPr>
          <p:cNvSpPr/>
          <p:nvPr/>
        </p:nvSpPr>
        <p:spPr>
          <a:xfrm>
            <a:off x="7564180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9" name="CaixaDeTexto 188"/>
          <p:cNvSpPr txBox="1"/>
          <p:nvPr/>
        </p:nvSpPr>
        <p:spPr>
          <a:xfrm>
            <a:off x="7810918" y="535504"/>
            <a:ext cx="164676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Notas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fiscais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emitidas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90" name="Texto Explicativo Retangular com Cantos Arredondados 189"/>
          <p:cNvSpPr/>
          <p:nvPr/>
        </p:nvSpPr>
        <p:spPr>
          <a:xfrm>
            <a:off x="7368418" y="4840290"/>
            <a:ext cx="1301602" cy="476726"/>
          </a:xfrm>
          <a:prstGeom prst="wedgeRoundRectCallout">
            <a:avLst>
              <a:gd name="adj1" fmla="val -82470"/>
              <a:gd name="adj2" fmla="val -31300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92" name="Agrupar 191"/>
          <p:cNvGrpSpPr/>
          <p:nvPr/>
        </p:nvGrpSpPr>
        <p:grpSpPr>
          <a:xfrm>
            <a:off x="2861798" y="1824506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93" name="Canto Dobrado 19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94" name="Conector reto 19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5" name="Conector reto 19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6" name="Conector reto 19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8" name="Texto Explicativo Retangular com Cantos Arredondados 197"/>
          <p:cNvSpPr/>
          <p:nvPr/>
        </p:nvSpPr>
        <p:spPr>
          <a:xfrm>
            <a:off x="3237450" y="4786312"/>
            <a:ext cx="1301602" cy="476726"/>
          </a:xfrm>
          <a:prstGeom prst="wedgeRoundRectCallout">
            <a:avLst>
              <a:gd name="adj1" fmla="val -82470"/>
              <a:gd name="adj2" fmla="val -31300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28" name="Botão de ação: Retornar 127">
            <a:hlinkClick r:id="rId29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9" name="Elipse 128">
            <a:hlinkClick r:id="rId30" action="ppaction://hlinksldjump"/>
          </p:cNvPr>
          <p:cNvSpPr/>
          <p:nvPr/>
        </p:nvSpPr>
        <p:spPr>
          <a:xfrm>
            <a:off x="2856324" y="814651"/>
            <a:ext cx="653163" cy="60979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0" name="Elipse 129">
            <a:hlinkClick r:id="rId31" action="ppaction://hlinksldjump"/>
          </p:cNvPr>
          <p:cNvSpPr/>
          <p:nvPr/>
        </p:nvSpPr>
        <p:spPr>
          <a:xfrm>
            <a:off x="9410391" y="851545"/>
            <a:ext cx="653163" cy="60979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936840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190" grpId="0" animBg="1"/>
      <p:bldP spid="19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827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Retângulo 111"/>
          <p:cNvSpPr/>
          <p:nvPr/>
        </p:nvSpPr>
        <p:spPr>
          <a:xfrm>
            <a:off x="92958" y="371461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3" name="Retângulo 112"/>
          <p:cNvSpPr/>
          <p:nvPr/>
        </p:nvSpPr>
        <p:spPr>
          <a:xfrm>
            <a:off x="92958" y="226578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4320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6032491" y="671868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28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 </a:t>
            </a:r>
            <a:r>
              <a:rPr lang="en-US" dirty="0" err="1"/>
              <a:t>Pagamento</a:t>
            </a:r>
            <a:r>
              <a:rPr lang="en-US" dirty="0"/>
              <a:t> do </a:t>
            </a:r>
            <a:r>
              <a:rPr lang="en-US" dirty="0" err="1"/>
              <a:t>Repasse</a:t>
            </a:r>
            <a:r>
              <a:rPr lang="en-US" dirty="0"/>
              <a:t> de </a:t>
            </a:r>
            <a:r>
              <a:rPr lang="en-US" dirty="0" err="1"/>
              <a:t>Energia</a:t>
            </a:r>
            <a:r>
              <a:rPr lang="en-US" dirty="0"/>
              <a:t> pela </a:t>
            </a:r>
            <a:r>
              <a:rPr lang="en-US" dirty="0" err="1"/>
              <a:t>Lemvig</a:t>
            </a:r>
            <a:r>
              <a:rPr lang="en-US" dirty="0"/>
              <a:t> para a Oi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4196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194263" y="1148477"/>
            <a:ext cx="674865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Atacado</a:t>
            </a:r>
            <a:r>
              <a:rPr lang="en-US" dirty="0">
                <a:solidFill>
                  <a:srgbClr val="4D4D4D"/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(TSA)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3" name="Agrupar 102"/>
          <p:cNvGrpSpPr/>
          <p:nvPr/>
        </p:nvGrpSpPr>
        <p:grpSpPr>
          <a:xfrm>
            <a:off x="17193347" y="3079159"/>
            <a:ext cx="272177" cy="275029"/>
            <a:chOff x="3712960" y="2929358"/>
            <a:chExt cx="522885" cy="684000"/>
          </a:xfrm>
          <a:solidFill>
            <a:srgbClr val="FFC000"/>
          </a:solidFill>
        </p:grpSpPr>
        <p:sp>
          <p:nvSpPr>
            <p:cNvPr id="104" name="Canto Dobrado 103"/>
            <p:cNvSpPr/>
            <p:nvPr/>
          </p:nvSpPr>
          <p:spPr>
            <a:xfrm rot="16200000">
              <a:off x="3632403" y="3009915"/>
              <a:ext cx="684000" cy="522885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5" name="Conector reto 10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Conector reto 10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1360807141"/>
              </p:ext>
            </p:extLst>
          </p:nvPr>
        </p:nvGraphicFramePr>
        <p:xfrm>
          <a:off x="1298926" y="1009742"/>
          <a:ext cx="1184308" cy="100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58" name="CaixaDeTexto 157"/>
          <p:cNvSpPr txBox="1"/>
          <p:nvPr/>
        </p:nvSpPr>
        <p:spPr>
          <a:xfrm flipH="1">
            <a:off x="120572" y="5199063"/>
            <a:ext cx="1219334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Atualmente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são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geradas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104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notas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incluindo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;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228" name="Texto Explicativo Retangular com Cantos Arredondados 227"/>
          <p:cNvSpPr/>
          <p:nvPr/>
        </p:nvSpPr>
        <p:spPr>
          <a:xfrm>
            <a:off x="10708449" y="506389"/>
            <a:ext cx="706071" cy="238363"/>
          </a:xfrm>
          <a:prstGeom prst="wedgeRoundRectCallout">
            <a:avLst>
              <a:gd name="adj1" fmla="val -88789"/>
              <a:gd name="adj2" fmla="val 134740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SLAs?</a:t>
            </a:r>
          </a:p>
        </p:txBody>
      </p:sp>
      <p:grpSp>
        <p:nvGrpSpPr>
          <p:cNvPr id="13" name="Agrupar 12"/>
          <p:cNvGrpSpPr/>
          <p:nvPr/>
        </p:nvGrpSpPr>
        <p:grpSpPr>
          <a:xfrm>
            <a:off x="868110" y="1032741"/>
            <a:ext cx="1981748" cy="692239"/>
            <a:chOff x="4767032" y="957462"/>
            <a:chExt cx="1981748" cy="692239"/>
          </a:xfrm>
        </p:grpSpPr>
        <p:sp>
          <p:nvSpPr>
            <p:cNvPr id="10" name="Retângulo Arredondado 9"/>
            <p:cNvSpPr/>
            <p:nvPr/>
          </p:nvSpPr>
          <p:spPr>
            <a:xfrm>
              <a:off x="4980144" y="1172975"/>
              <a:ext cx="1768636" cy="476726"/>
            </a:xfrm>
            <a:prstGeom prst="roundRect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Repasse da Receita de Energia para a Oi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78" name="Elipse 77"/>
            <p:cNvSpPr/>
            <p:nvPr/>
          </p:nvSpPr>
          <p:spPr>
            <a:xfrm>
              <a:off x="4767032" y="957462"/>
              <a:ext cx="396000" cy="302955"/>
            </a:xfrm>
            <a:prstGeom prst="ellipse">
              <a:avLst/>
            </a:prstGeom>
            <a:solidFill>
              <a:schemeClr val="accent2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4</a:t>
              </a:r>
            </a:p>
          </p:txBody>
        </p:sp>
      </p:grpSp>
      <p:grpSp>
        <p:nvGrpSpPr>
          <p:cNvPr id="152" name="Agrupar 151"/>
          <p:cNvGrpSpPr/>
          <p:nvPr/>
        </p:nvGrpSpPr>
        <p:grpSpPr>
          <a:xfrm>
            <a:off x="3195005" y="1029920"/>
            <a:ext cx="1208656" cy="1006357"/>
            <a:chOff x="590" y="0"/>
            <a:chExt cx="1208656" cy="1287005"/>
          </a:xfrm>
        </p:grpSpPr>
        <p:sp>
          <p:nvSpPr>
            <p:cNvPr id="153" name="Retângulo Arredondado 152"/>
            <p:cNvSpPr/>
            <p:nvPr/>
          </p:nvSpPr>
          <p:spPr>
            <a:xfrm>
              <a:off x="590" y="0"/>
              <a:ext cx="1208656" cy="128700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4" name="CaixaDeTexto 153"/>
            <p:cNvSpPr txBox="1"/>
            <p:nvPr/>
          </p:nvSpPr>
          <p:spPr>
            <a:xfrm>
              <a:off x="35990" y="35400"/>
              <a:ext cx="1137856" cy="12162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Envia nota de débito para pagamento no SAP B1</a:t>
              </a:r>
            </a:p>
          </p:txBody>
        </p:sp>
      </p:grpSp>
      <p:sp>
        <p:nvSpPr>
          <p:cNvPr id="114" name="CaixaDeTexto 113"/>
          <p:cNvSpPr txBox="1"/>
          <p:nvPr/>
        </p:nvSpPr>
        <p:spPr>
          <a:xfrm>
            <a:off x="142032" y="2591507"/>
            <a:ext cx="145215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Patrimônio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4D4D4D"/>
                </a:solidFill>
              </a:rPr>
              <a:t>ITatiana</a:t>
            </a:r>
            <a:r>
              <a:rPr lang="en-US" dirty="0">
                <a:solidFill>
                  <a:srgbClr val="4D4D4D"/>
                </a:solidFill>
              </a:rPr>
              <a:t> Cardozo – BPO Accenture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graphicFrame>
        <p:nvGraphicFramePr>
          <p:cNvPr id="131" name="Diagrama 130"/>
          <p:cNvGraphicFramePr/>
          <p:nvPr>
            <p:extLst>
              <p:ext uri="{D42A27DB-BD31-4B8C-83A1-F6EECF244321}">
                <p14:modId xmlns:p14="http://schemas.microsoft.com/office/powerpoint/2010/main" val="4149581739"/>
              </p:ext>
            </p:extLst>
          </p:nvPr>
        </p:nvGraphicFramePr>
        <p:xfrm>
          <a:off x="3204897" y="2449596"/>
          <a:ext cx="1168984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32" name="Agrupar 131"/>
          <p:cNvGrpSpPr/>
          <p:nvPr/>
        </p:nvGrpSpPr>
        <p:grpSpPr>
          <a:xfrm rot="5400000">
            <a:off x="3619896" y="2144050"/>
            <a:ext cx="244217" cy="285687"/>
            <a:chOff x="1269055" y="385982"/>
            <a:chExt cx="244217" cy="285687"/>
          </a:xfrm>
        </p:grpSpPr>
        <p:sp>
          <p:nvSpPr>
            <p:cNvPr id="133" name="Seta para a Direita 132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8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149" name="Agrupar 148"/>
          <p:cNvGrpSpPr/>
          <p:nvPr/>
        </p:nvGrpSpPr>
        <p:grpSpPr>
          <a:xfrm rot="16200000" flipV="1">
            <a:off x="7054316" y="3542192"/>
            <a:ext cx="244217" cy="285687"/>
            <a:chOff x="1269055" y="385982"/>
            <a:chExt cx="244217" cy="285687"/>
          </a:xfrm>
        </p:grpSpPr>
        <p:sp>
          <p:nvSpPr>
            <p:cNvPr id="150" name="Seta para a Direita 149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9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160" name="CaixaDeTexto 159"/>
          <p:cNvSpPr txBox="1"/>
          <p:nvPr/>
        </p:nvSpPr>
        <p:spPr>
          <a:xfrm>
            <a:off x="142032" y="4040338"/>
            <a:ext cx="145215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CAP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4D4D4D"/>
                </a:solidFill>
              </a:rPr>
              <a:t>Manuela Grande/ </a:t>
            </a:r>
            <a:r>
              <a:rPr lang="en-US" dirty="0" err="1">
                <a:solidFill>
                  <a:srgbClr val="4D4D4D"/>
                </a:solidFill>
              </a:rPr>
              <a:t>Vitor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Galvão</a:t>
            </a:r>
            <a:endParaRPr lang="en-US" dirty="0">
              <a:solidFill>
                <a:srgbClr val="4D4D4D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grpSp>
        <p:nvGrpSpPr>
          <p:cNvPr id="161" name="Agrupar 160"/>
          <p:cNvGrpSpPr/>
          <p:nvPr/>
        </p:nvGrpSpPr>
        <p:grpSpPr>
          <a:xfrm rot="5400000">
            <a:off x="3619896" y="3577611"/>
            <a:ext cx="244217" cy="285687"/>
            <a:chOff x="1269055" y="385982"/>
            <a:chExt cx="244217" cy="285687"/>
          </a:xfrm>
        </p:grpSpPr>
        <p:sp>
          <p:nvSpPr>
            <p:cNvPr id="162" name="Seta para a Direita 161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3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aphicFrame>
        <p:nvGraphicFramePr>
          <p:cNvPr id="164" name="Diagrama 163"/>
          <p:cNvGraphicFramePr/>
          <p:nvPr>
            <p:extLst>
              <p:ext uri="{D42A27DB-BD31-4B8C-83A1-F6EECF244321}">
                <p14:modId xmlns:p14="http://schemas.microsoft.com/office/powerpoint/2010/main" val="642311440"/>
              </p:ext>
            </p:extLst>
          </p:nvPr>
        </p:nvGraphicFramePr>
        <p:xfrm>
          <a:off x="3215455" y="3951761"/>
          <a:ext cx="4615741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165" name="Diagrama 164"/>
          <p:cNvGraphicFramePr/>
          <p:nvPr>
            <p:extLst>
              <p:ext uri="{D42A27DB-BD31-4B8C-83A1-F6EECF244321}">
                <p14:modId xmlns:p14="http://schemas.microsoft.com/office/powerpoint/2010/main" val="315249375"/>
              </p:ext>
            </p:extLst>
          </p:nvPr>
        </p:nvGraphicFramePr>
        <p:xfrm>
          <a:off x="6601252" y="2421031"/>
          <a:ext cx="1168984" cy="10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166" name="CaixaDeTexto 165"/>
          <p:cNvSpPr txBox="1"/>
          <p:nvPr/>
        </p:nvSpPr>
        <p:spPr>
          <a:xfrm>
            <a:off x="143528" y="2335394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7" name="CaixaDeTexto 166"/>
          <p:cNvSpPr txBox="1"/>
          <p:nvPr/>
        </p:nvSpPr>
        <p:spPr>
          <a:xfrm>
            <a:off x="142032" y="3813174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69" name="Agrupar 168"/>
          <p:cNvGrpSpPr/>
          <p:nvPr/>
        </p:nvGrpSpPr>
        <p:grpSpPr>
          <a:xfrm flipV="1">
            <a:off x="2907665" y="1334238"/>
            <a:ext cx="244217" cy="285687"/>
            <a:chOff x="1269055" y="385982"/>
            <a:chExt cx="244217" cy="285687"/>
          </a:xfrm>
        </p:grpSpPr>
        <p:sp>
          <p:nvSpPr>
            <p:cNvPr id="170" name="Seta para a Direita 169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1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 dirty="0"/>
            </a:p>
          </p:txBody>
        </p:sp>
      </p:grpSp>
      <p:grpSp>
        <p:nvGrpSpPr>
          <p:cNvPr id="172" name="Agrupar 171"/>
          <p:cNvGrpSpPr/>
          <p:nvPr/>
        </p:nvGrpSpPr>
        <p:grpSpPr>
          <a:xfrm>
            <a:off x="2907665" y="1755197"/>
            <a:ext cx="180000" cy="252000"/>
            <a:chOff x="3722405" y="2929355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3" name="Canto Dobrado 17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74" name="Conector reto 17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5" name="Conector reto 17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6" name="Conector reto 17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50" name="Agrupar 49"/>
          <p:cNvGrpSpPr/>
          <p:nvPr/>
        </p:nvGrpSpPr>
        <p:grpSpPr>
          <a:xfrm>
            <a:off x="142032" y="505980"/>
            <a:ext cx="180000" cy="252000"/>
            <a:chOff x="3722403" y="2929357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2" name="Canto Dobrado 51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53" name="Conector reto 52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Conector reto 53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6" name="Conector reto 5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7" name="Elipse 56">
            <a:hlinkClick r:id="rId25" action="ppaction://hlinksldjump"/>
          </p:cNvPr>
          <p:cNvSpPr/>
          <p:nvPr/>
        </p:nvSpPr>
        <p:spPr>
          <a:xfrm>
            <a:off x="150731" y="57798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397469" y="550224"/>
            <a:ext cx="164676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Notas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fiscais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emitidas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60" name="Texto Explicativo Retangular com Cantos Arredondados 59"/>
          <p:cNvSpPr/>
          <p:nvPr/>
        </p:nvSpPr>
        <p:spPr>
          <a:xfrm>
            <a:off x="1548256" y="2320779"/>
            <a:ext cx="1301602" cy="476726"/>
          </a:xfrm>
          <a:prstGeom prst="wedgeRoundRectCallout">
            <a:avLst>
              <a:gd name="adj1" fmla="val 58034"/>
              <a:gd name="adj2" fmla="val -95236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1" name="Texto Explicativo Retangular com Cantos Arredondados 60"/>
          <p:cNvSpPr/>
          <p:nvPr/>
        </p:nvSpPr>
        <p:spPr>
          <a:xfrm>
            <a:off x="4779647" y="2102073"/>
            <a:ext cx="1262749" cy="1405176"/>
          </a:xfrm>
          <a:prstGeom prst="wedgeRoundRectCallout">
            <a:avLst>
              <a:gd name="adj1" fmla="val -74397"/>
              <a:gd name="adj2" fmla="val 34610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meio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usado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pgto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pgto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boleto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deposito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7" name="Texto Explicativo Retangular com Cantos Arredondados 66"/>
          <p:cNvSpPr/>
          <p:nvPr/>
        </p:nvSpPr>
        <p:spPr>
          <a:xfrm>
            <a:off x="1649118" y="2884941"/>
            <a:ext cx="1301602" cy="953453"/>
          </a:xfrm>
          <a:prstGeom prst="wedgeRoundRectCallout">
            <a:avLst>
              <a:gd name="adj1" fmla="val -79277"/>
              <a:gd name="adj2" fmla="val 7934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Quem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cadastrar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pagamento</a:t>
            </a:r>
            <a:r>
              <a:rPr lang="en-US" dirty="0">
                <a:solidFill>
                  <a:schemeClr val="bg1"/>
                </a:solidFill>
              </a:rPr>
              <a:t> no SAP B1?</a:t>
            </a:r>
          </a:p>
        </p:txBody>
      </p:sp>
      <p:sp>
        <p:nvSpPr>
          <p:cNvPr id="62" name="Botão de ação: Retornar 61">
            <a:hlinkClick r:id="rId26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3" name="Elipse 62">
            <a:hlinkClick r:id="rId27" action="ppaction://hlinksldjump"/>
          </p:cNvPr>
          <p:cNvSpPr/>
          <p:nvPr/>
        </p:nvSpPr>
        <p:spPr>
          <a:xfrm>
            <a:off x="770341" y="814651"/>
            <a:ext cx="653163" cy="60979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971549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60" grpId="0" animBg="1"/>
      <p:bldP spid="61" grpId="0" animBg="1"/>
      <p:bldP spid="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29</a:t>
            </a:fld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62001" y="613176"/>
            <a:ext cx="10742490" cy="518283"/>
          </a:xfrm>
        </p:spPr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faturados</a:t>
            </a:r>
            <a:r>
              <a:rPr lang="en-US" dirty="0"/>
              <a:t>, </a:t>
            </a:r>
            <a:r>
              <a:rPr lang="en-US" dirty="0" err="1"/>
              <a:t>Apurados</a:t>
            </a:r>
            <a:r>
              <a:rPr lang="en-US" dirty="0"/>
              <a:t> e </a:t>
            </a:r>
            <a:r>
              <a:rPr lang="en-US" dirty="0" err="1"/>
              <a:t>Acertos</a:t>
            </a:r>
            <a:r>
              <a:rPr lang="en-US" dirty="0"/>
              <a:t> a </a:t>
            </a:r>
            <a:r>
              <a:rPr lang="en-US" dirty="0" err="1"/>
              <a:t>executar</a:t>
            </a:r>
            <a:r>
              <a:rPr lang="en-US" dirty="0"/>
              <a:t> entre Oi e </a:t>
            </a:r>
            <a:r>
              <a:rPr lang="en-US" dirty="0" err="1"/>
              <a:t>Lemvig</a:t>
            </a:r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Fev</a:t>
            </a:r>
            <a:r>
              <a:rPr lang="en-US" dirty="0"/>
              <a:t>/23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Mar/23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Jan/23</a:t>
            </a:r>
          </a:p>
        </p:txBody>
      </p:sp>
      <p:sp>
        <p:nvSpPr>
          <p:cNvPr id="17" name="Título 2"/>
          <p:cNvSpPr txBox="1">
            <a:spLocks/>
          </p:cNvSpPr>
          <p:nvPr/>
        </p:nvSpPr>
        <p:spPr>
          <a:xfrm>
            <a:off x="48009" y="106006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en-US" dirty="0" err="1"/>
              <a:t>Resumo</a:t>
            </a:r>
            <a:r>
              <a:rPr lang="en-US" dirty="0"/>
              <a:t> do Pass through de </a:t>
            </a:r>
            <a:r>
              <a:rPr lang="en-US" dirty="0" err="1"/>
              <a:t>Energia</a:t>
            </a:r>
            <a:endParaRPr lang="en-US" dirty="0"/>
          </a:p>
        </p:txBody>
      </p:sp>
      <p:sp>
        <p:nvSpPr>
          <p:cNvPr id="18" name="Espaço Reservado para Texto 13"/>
          <p:cNvSpPr>
            <a:spLocks noGrp="1"/>
          </p:cNvSpPr>
          <p:nvPr>
            <p:ph type="body" sz="quarter" idx="18"/>
          </p:nvPr>
        </p:nvSpPr>
        <p:spPr>
          <a:xfrm>
            <a:off x="4029035" y="2589007"/>
            <a:ext cx="4047453" cy="4065984"/>
          </a:xfrm>
        </p:spPr>
        <p:txBody>
          <a:bodyPr/>
          <a:lstStyle/>
          <a:p>
            <a:r>
              <a:rPr lang="en-US" dirty="0" err="1"/>
              <a:t>Contratos</a:t>
            </a:r>
            <a:r>
              <a:rPr lang="en-US" dirty="0"/>
              <a:t> </a:t>
            </a:r>
            <a:r>
              <a:rPr lang="en-US" dirty="0" err="1"/>
              <a:t>Atacado</a:t>
            </a:r>
            <a:r>
              <a:rPr lang="en-US" dirty="0"/>
              <a:t> – </a:t>
            </a:r>
            <a:r>
              <a:rPr lang="en-US" dirty="0" err="1"/>
              <a:t>Receita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:</a:t>
            </a:r>
          </a:p>
          <a:p>
            <a:r>
              <a:rPr lang="en-US" dirty="0"/>
              <a:t>Valor </a:t>
            </a:r>
            <a:r>
              <a:rPr lang="en-US" dirty="0" err="1"/>
              <a:t>Apurado</a:t>
            </a:r>
            <a:r>
              <a:rPr lang="en-US" dirty="0"/>
              <a:t>: R$ 1.566.109,99</a:t>
            </a:r>
          </a:p>
          <a:p>
            <a:r>
              <a:rPr lang="en-US" dirty="0"/>
              <a:t>Valor </a:t>
            </a:r>
            <a:r>
              <a:rPr lang="en-US" dirty="0" err="1"/>
              <a:t>Contestado</a:t>
            </a:r>
            <a:r>
              <a:rPr lang="en-US" dirty="0"/>
              <a:t>: R$ 823.524,01</a:t>
            </a:r>
          </a:p>
          <a:p>
            <a:r>
              <a:rPr lang="en-US" dirty="0"/>
              <a:t>Valor </a:t>
            </a:r>
            <a:r>
              <a:rPr lang="en-US" dirty="0" err="1"/>
              <a:t>Validado</a:t>
            </a:r>
            <a:r>
              <a:rPr lang="en-US" dirty="0"/>
              <a:t> </a:t>
            </a:r>
            <a:r>
              <a:rPr lang="en-US" dirty="0" err="1"/>
              <a:t>bruto</a:t>
            </a:r>
            <a:r>
              <a:rPr lang="en-US" dirty="0"/>
              <a:t>: R$ 742.585,98¹</a:t>
            </a:r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: R$ 1.323.478,21¹²</a:t>
            </a:r>
          </a:p>
          <a:p>
            <a:endParaRPr lang="en-US" dirty="0"/>
          </a:p>
          <a:p>
            <a:r>
              <a:rPr lang="en-US" dirty="0"/>
              <a:t>Valor de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Medido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Valor do </a:t>
            </a:r>
            <a:r>
              <a:rPr lang="en-US" dirty="0" err="1"/>
              <a:t>repasse</a:t>
            </a:r>
            <a:r>
              <a:rPr lang="en-US" dirty="0"/>
              <a:t> Oi: R$ 1.607.705,30</a:t>
            </a:r>
          </a:p>
          <a:p>
            <a:endParaRPr lang="en-US" dirty="0"/>
          </a:p>
          <a:p>
            <a:r>
              <a:rPr lang="en-US" dirty="0"/>
              <a:t>Delta de </a:t>
            </a:r>
            <a:r>
              <a:rPr lang="en-US" dirty="0" err="1"/>
              <a:t>repasse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constam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dos </a:t>
            </a:r>
            <a:r>
              <a:rPr lang="en-US" dirty="0" err="1"/>
              <a:t>contratos</a:t>
            </a:r>
            <a:r>
              <a:rPr lang="en-US" dirty="0"/>
              <a:t> da </a:t>
            </a:r>
            <a:r>
              <a:rPr lang="en-US" dirty="0" err="1"/>
              <a:t>Cozani</a:t>
            </a:r>
            <a:r>
              <a:rPr lang="en-US" dirty="0"/>
              <a:t>, </a:t>
            </a:r>
            <a:r>
              <a:rPr lang="en-US" dirty="0" err="1"/>
              <a:t>Jonava</a:t>
            </a:r>
            <a:r>
              <a:rPr lang="en-US" dirty="0"/>
              <a:t> e </a:t>
            </a:r>
            <a:r>
              <a:rPr lang="en-US" dirty="0" err="1"/>
              <a:t>Garliava</a:t>
            </a:r>
            <a:r>
              <a:rPr lang="en-US" dirty="0"/>
              <a:t>. </a:t>
            </a:r>
            <a:r>
              <a:rPr lang="en-US" dirty="0" err="1"/>
              <a:t>Estavam</a:t>
            </a:r>
            <a:r>
              <a:rPr lang="en-US" dirty="0"/>
              <a:t>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pagos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Oi.</a:t>
            </a:r>
          </a:p>
          <a:p>
            <a:endParaRPr lang="en-US" dirty="0"/>
          </a:p>
        </p:txBody>
      </p:sp>
      <p:sp>
        <p:nvSpPr>
          <p:cNvPr id="19" name="Espaço Reservado para Texto 14"/>
          <p:cNvSpPr>
            <a:spLocks noGrp="1"/>
          </p:cNvSpPr>
          <p:nvPr>
            <p:ph type="body" sz="quarter" idx="19"/>
          </p:nvPr>
        </p:nvSpPr>
        <p:spPr>
          <a:xfrm>
            <a:off x="8166238" y="2589007"/>
            <a:ext cx="3903131" cy="2608840"/>
          </a:xfrm>
        </p:spPr>
        <p:txBody>
          <a:bodyPr/>
          <a:lstStyle/>
          <a:p>
            <a:r>
              <a:rPr lang="en-US" dirty="0" err="1"/>
              <a:t>Contratos</a:t>
            </a:r>
            <a:r>
              <a:rPr lang="en-US" dirty="0"/>
              <a:t> </a:t>
            </a:r>
            <a:r>
              <a:rPr lang="en-US" dirty="0" err="1"/>
              <a:t>Atacado</a:t>
            </a:r>
            <a:r>
              <a:rPr lang="en-US" dirty="0"/>
              <a:t> – </a:t>
            </a:r>
            <a:r>
              <a:rPr lang="en-US" dirty="0" err="1"/>
              <a:t>Receita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:</a:t>
            </a:r>
          </a:p>
          <a:p>
            <a:r>
              <a:rPr lang="en-US" dirty="0"/>
              <a:t>Valor </a:t>
            </a:r>
            <a:r>
              <a:rPr lang="en-US" dirty="0" err="1"/>
              <a:t>Apurado</a:t>
            </a:r>
            <a:r>
              <a:rPr lang="en-US" dirty="0"/>
              <a:t>: R$  x</a:t>
            </a:r>
          </a:p>
          <a:p>
            <a:r>
              <a:rPr lang="en-US" dirty="0"/>
              <a:t>Valor </a:t>
            </a:r>
            <a:r>
              <a:rPr lang="en-US" dirty="0" err="1"/>
              <a:t>Contestado</a:t>
            </a:r>
            <a:r>
              <a:rPr lang="en-US" dirty="0"/>
              <a:t>: R$ x</a:t>
            </a:r>
          </a:p>
          <a:p>
            <a:r>
              <a:rPr lang="en-US" dirty="0"/>
              <a:t>Valor </a:t>
            </a:r>
            <a:r>
              <a:rPr lang="en-US" dirty="0" err="1"/>
              <a:t>Validado</a:t>
            </a:r>
            <a:r>
              <a:rPr lang="en-US" dirty="0"/>
              <a:t> </a:t>
            </a:r>
            <a:r>
              <a:rPr lang="en-US" dirty="0" err="1"/>
              <a:t>bruto</a:t>
            </a:r>
            <a:r>
              <a:rPr lang="en-US" dirty="0"/>
              <a:t>: R$ x</a:t>
            </a:r>
          </a:p>
          <a:p>
            <a:r>
              <a:rPr lang="en-US" dirty="0"/>
              <a:t>Valor </a:t>
            </a:r>
            <a:r>
              <a:rPr lang="en-US" dirty="0" err="1"/>
              <a:t>Faturado</a:t>
            </a:r>
            <a:r>
              <a:rPr lang="en-US" dirty="0"/>
              <a:t>: R$  x</a:t>
            </a:r>
          </a:p>
          <a:p>
            <a:endParaRPr lang="en-US" dirty="0"/>
          </a:p>
          <a:p>
            <a:r>
              <a:rPr lang="en-US" dirty="0"/>
              <a:t>Valor de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Medido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Valor do </a:t>
            </a:r>
            <a:r>
              <a:rPr lang="en-US" dirty="0" err="1"/>
              <a:t>repasse</a:t>
            </a:r>
            <a:r>
              <a:rPr lang="en-US" dirty="0"/>
              <a:t> Oi: R$ x</a:t>
            </a:r>
          </a:p>
          <a:p>
            <a:endParaRPr lang="en-US" dirty="0"/>
          </a:p>
          <a:p>
            <a:r>
              <a:rPr lang="en-US" dirty="0"/>
              <a:t>Delta de </a:t>
            </a:r>
            <a:r>
              <a:rPr lang="en-US" dirty="0" err="1"/>
              <a:t>repasse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constam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dos </a:t>
            </a:r>
            <a:r>
              <a:rPr lang="en-US" dirty="0" err="1"/>
              <a:t>contratos</a:t>
            </a:r>
            <a:r>
              <a:rPr lang="en-US" dirty="0"/>
              <a:t> da </a:t>
            </a:r>
            <a:r>
              <a:rPr lang="en-US" dirty="0" err="1"/>
              <a:t>Cozani</a:t>
            </a:r>
            <a:r>
              <a:rPr lang="en-US" dirty="0"/>
              <a:t>, </a:t>
            </a:r>
            <a:r>
              <a:rPr lang="en-US" dirty="0" err="1"/>
              <a:t>Jonava</a:t>
            </a:r>
            <a:r>
              <a:rPr lang="en-US" dirty="0"/>
              <a:t> e </a:t>
            </a:r>
            <a:r>
              <a:rPr lang="en-US" dirty="0" err="1"/>
              <a:t>Garliava</a:t>
            </a:r>
            <a:r>
              <a:rPr lang="en-US" dirty="0"/>
              <a:t>. </a:t>
            </a:r>
            <a:r>
              <a:rPr lang="en-US" dirty="0" err="1"/>
              <a:t>Estavam</a:t>
            </a:r>
            <a:r>
              <a:rPr lang="en-US" dirty="0"/>
              <a:t>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pagos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Oi.</a:t>
            </a:r>
          </a:p>
          <a:p>
            <a:endParaRPr lang="en-US" dirty="0"/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20"/>
          </p:nvPr>
        </p:nvSpPr>
        <p:spPr>
          <a:xfrm>
            <a:off x="62001" y="2589007"/>
            <a:ext cx="3967034" cy="4065984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Contratos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Atacado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en-US" dirty="0" err="1">
                <a:solidFill>
                  <a:schemeClr val="bg1"/>
                </a:solidFill>
              </a:rPr>
              <a:t>Receita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Energia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Apurado</a:t>
            </a:r>
            <a:r>
              <a:rPr lang="en-US" dirty="0">
                <a:solidFill>
                  <a:schemeClr val="bg1"/>
                </a:solidFill>
              </a:rPr>
              <a:t>: R$ 1.779.828,15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Contestado</a:t>
            </a:r>
            <a:r>
              <a:rPr lang="en-US" dirty="0">
                <a:solidFill>
                  <a:schemeClr val="bg1"/>
                </a:solidFill>
              </a:rPr>
              <a:t>: R$ 639.494,05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Validado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bruto</a:t>
            </a:r>
            <a:r>
              <a:rPr lang="en-US" dirty="0">
                <a:solidFill>
                  <a:schemeClr val="bg1"/>
                </a:solidFill>
              </a:rPr>
              <a:t>: R$ 1.140.334,10¹</a:t>
            </a:r>
          </a:p>
          <a:p>
            <a:r>
              <a:rPr lang="en-US" dirty="0">
                <a:solidFill>
                  <a:schemeClr val="bg1"/>
                </a:solidFill>
              </a:rPr>
              <a:t>Valor </a:t>
            </a:r>
            <a:r>
              <a:rPr lang="en-US" dirty="0" err="1">
                <a:solidFill>
                  <a:schemeClr val="bg1"/>
                </a:solidFill>
              </a:rPr>
              <a:t>Faturado</a:t>
            </a:r>
            <a:r>
              <a:rPr lang="en-US" dirty="0">
                <a:solidFill>
                  <a:schemeClr val="bg1"/>
                </a:solidFill>
              </a:rPr>
              <a:t>: R$ 1.730.922,78¹²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Valor de </a:t>
            </a:r>
            <a:r>
              <a:rPr lang="en-US" dirty="0" err="1">
                <a:solidFill>
                  <a:schemeClr val="bg1"/>
                </a:solidFill>
              </a:rPr>
              <a:t>Energia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Medido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Valor do </a:t>
            </a:r>
            <a:r>
              <a:rPr lang="en-US" dirty="0" err="1">
                <a:solidFill>
                  <a:schemeClr val="bg1"/>
                </a:solidFill>
              </a:rPr>
              <a:t>repasse</a:t>
            </a:r>
            <a:r>
              <a:rPr lang="en-US" dirty="0">
                <a:solidFill>
                  <a:schemeClr val="bg1"/>
                </a:solidFill>
              </a:rPr>
              <a:t> Oi: R$ 1.607.705,30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Delta de </a:t>
            </a:r>
            <a:r>
              <a:rPr lang="en-US" dirty="0" err="1">
                <a:solidFill>
                  <a:schemeClr val="bg1"/>
                </a:solidFill>
              </a:rPr>
              <a:t>repasse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rgbClr val="FF0000"/>
                </a:solidFill>
              </a:rPr>
              <a:t> ?</a:t>
            </a:r>
          </a:p>
          <a:p>
            <a:endParaRPr lang="en-US" dirty="0"/>
          </a:p>
          <a:p>
            <a:pPr marL="177800" indent="-177800">
              <a:buAutoNum type="arabicPeriod"/>
            </a:pPr>
            <a:r>
              <a:rPr lang="en-US" sz="1200" dirty="0" err="1">
                <a:solidFill>
                  <a:schemeClr val="bg1"/>
                </a:solidFill>
              </a:rPr>
              <a:t>Não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constam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valores</a:t>
            </a:r>
            <a:r>
              <a:rPr lang="en-US" sz="1200" dirty="0">
                <a:solidFill>
                  <a:schemeClr val="bg1"/>
                </a:solidFill>
              </a:rPr>
              <a:t> dos </a:t>
            </a:r>
            <a:r>
              <a:rPr lang="en-US" sz="1200" dirty="0" err="1">
                <a:solidFill>
                  <a:schemeClr val="bg1"/>
                </a:solidFill>
              </a:rPr>
              <a:t>contratos</a:t>
            </a:r>
            <a:r>
              <a:rPr lang="en-US" sz="1200" dirty="0">
                <a:solidFill>
                  <a:schemeClr val="bg1"/>
                </a:solidFill>
              </a:rPr>
              <a:t> da </a:t>
            </a:r>
            <a:r>
              <a:rPr lang="en-US" sz="1200" dirty="0" err="1">
                <a:solidFill>
                  <a:schemeClr val="bg1"/>
                </a:solidFill>
              </a:rPr>
              <a:t>Cozani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Jonava</a:t>
            </a:r>
            <a:r>
              <a:rPr lang="en-US" sz="1200" dirty="0">
                <a:solidFill>
                  <a:schemeClr val="bg1"/>
                </a:solidFill>
              </a:rPr>
              <a:t> e </a:t>
            </a:r>
            <a:r>
              <a:rPr lang="en-US" sz="1200" dirty="0" err="1">
                <a:solidFill>
                  <a:schemeClr val="bg1"/>
                </a:solidFill>
              </a:rPr>
              <a:t>Garliava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 err="1">
                <a:solidFill>
                  <a:schemeClr val="bg1"/>
                </a:solidFill>
              </a:rPr>
              <a:t>Estavam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sendo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pagos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diretamente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pra</a:t>
            </a:r>
            <a:r>
              <a:rPr lang="en-US" sz="1200" dirty="0">
                <a:solidFill>
                  <a:schemeClr val="bg1"/>
                </a:solidFill>
              </a:rPr>
              <a:t> Oi. </a:t>
            </a:r>
          </a:p>
          <a:p>
            <a:pPr marL="177800" indent="-177800">
              <a:buAutoNum type="arabicPeriod"/>
            </a:pPr>
            <a:r>
              <a:rPr lang="en-US" sz="1200" dirty="0" err="1">
                <a:solidFill>
                  <a:schemeClr val="bg1"/>
                </a:solidFill>
              </a:rPr>
              <a:t>Inclui</a:t>
            </a:r>
            <a:r>
              <a:rPr lang="en-US" sz="1200" dirty="0">
                <a:solidFill>
                  <a:schemeClr val="bg1"/>
                </a:solidFill>
              </a:rPr>
              <a:t> valor </a:t>
            </a:r>
            <a:r>
              <a:rPr lang="en-US" sz="1200" dirty="0" err="1">
                <a:solidFill>
                  <a:schemeClr val="bg1"/>
                </a:solidFill>
              </a:rPr>
              <a:t>contestado</a:t>
            </a:r>
            <a:r>
              <a:rPr lang="en-US" sz="1200" dirty="0">
                <a:solidFill>
                  <a:schemeClr val="bg1"/>
                </a:solidFill>
              </a:rPr>
              <a:t> da TIM</a:t>
            </a:r>
          </a:p>
        </p:txBody>
      </p:sp>
    </p:spTree>
    <p:extLst>
      <p:ext uri="{BB962C8B-B14F-4D97-AF65-F5344CB8AC3E}">
        <p14:creationId xmlns:p14="http://schemas.microsoft.com/office/powerpoint/2010/main" val="57860238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98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30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 err="1"/>
              <a:t>Contas</a:t>
            </a:r>
            <a:r>
              <a:rPr lang="en-US" dirty="0"/>
              <a:t> a </a:t>
            </a:r>
            <a:r>
              <a:rPr lang="en-US" dirty="0" err="1"/>
              <a:t>Receber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789103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146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Retângulo 183"/>
          <p:cNvSpPr/>
          <p:nvPr/>
        </p:nvSpPr>
        <p:spPr>
          <a:xfrm>
            <a:off x="76318" y="520292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5102" y="3751791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265780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5796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31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</a:t>
            </a:r>
            <a:r>
              <a:rPr lang="en-US" dirty="0" err="1"/>
              <a:t>Conciliação</a:t>
            </a:r>
            <a:r>
              <a:rPr lang="en-US" dirty="0"/>
              <a:t> da </a:t>
            </a:r>
            <a:r>
              <a:rPr lang="en-US" dirty="0" err="1"/>
              <a:t>receita</a:t>
            </a:r>
            <a:r>
              <a:rPr lang="en-US" dirty="0"/>
              <a:t> –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Faturados</a:t>
            </a:r>
            <a:r>
              <a:rPr lang="en-US" dirty="0"/>
              <a:t> x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Recebidos</a:t>
            </a:r>
            <a:endParaRPr lang="en-US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08456" y="2538241"/>
            <a:ext cx="1865288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CAR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/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Contabilidade</a:t>
            </a:r>
            <a:endParaRPr kumimoji="0" lang="en-US" sz="1400" b="0" i="0" u="none" strike="noStrike" cap="none" spc="0" normalizeH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chemeClr val="tx2"/>
                </a:solidFill>
              </a:rPr>
              <a:t>Marcelo Gomes</a:t>
            </a:r>
            <a:endParaRPr lang="en-US" dirty="0">
              <a:solidFill>
                <a:schemeClr val="tx2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(TSA)</a:t>
            </a:r>
          </a:p>
        </p:txBody>
      </p:sp>
      <p:sp>
        <p:nvSpPr>
          <p:cNvPr id="51" name="CaixaDeTexto 50"/>
          <p:cNvSpPr txBox="1"/>
          <p:nvPr/>
        </p:nvSpPr>
        <p:spPr>
          <a:xfrm flipH="1">
            <a:off x="-1881028" y="5955694"/>
            <a:ext cx="16008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pt-BR" sz="1100" dirty="0">
                <a:solidFill>
                  <a:srgbClr val="4D4D4D"/>
                </a:solidFill>
              </a:rPr>
              <a:t>....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5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205986" y="1243841"/>
            <a:ext cx="1001877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tx2"/>
                </a:solidFill>
              </a:rPr>
              <a:t>Faturamento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chemeClr val="tx2"/>
                </a:solidFill>
              </a:rPr>
              <a:t>Iara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(TSA)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  <p:graphicFrame>
        <p:nvGraphicFramePr>
          <p:cNvPr id="140" name="Diagrama 139"/>
          <p:cNvGraphicFramePr/>
          <p:nvPr>
            <p:extLst>
              <p:ext uri="{D42A27DB-BD31-4B8C-83A1-F6EECF244321}">
                <p14:modId xmlns:p14="http://schemas.microsoft.com/office/powerpoint/2010/main" val="3214188743"/>
              </p:ext>
            </p:extLst>
          </p:nvPr>
        </p:nvGraphicFramePr>
        <p:xfrm>
          <a:off x="2596154" y="983789"/>
          <a:ext cx="1367342" cy="1103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8" name="CaixaDeTexto 97"/>
          <p:cNvSpPr txBox="1"/>
          <p:nvPr/>
        </p:nvSpPr>
        <p:spPr>
          <a:xfrm>
            <a:off x="222159" y="3996892"/>
            <a:ext cx="1065647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Lemvig</a:t>
            </a:r>
            <a:r>
              <a:rPr lang="en-US" dirty="0"/>
              <a:t>:</a:t>
            </a:r>
          </a:p>
          <a:p>
            <a:r>
              <a:rPr lang="en-US" dirty="0" err="1">
                <a:solidFill>
                  <a:schemeClr val="tx2"/>
                </a:solidFill>
              </a:rPr>
              <a:t>Cobrança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chemeClr val="tx2"/>
                </a:solidFill>
              </a:rPr>
              <a:t>Nilton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(TSA)</a:t>
            </a:r>
          </a:p>
        </p:txBody>
      </p:sp>
      <p:graphicFrame>
        <p:nvGraphicFramePr>
          <p:cNvPr id="78" name="Diagrama 77"/>
          <p:cNvGraphicFramePr/>
          <p:nvPr>
            <p:extLst>
              <p:ext uri="{D42A27DB-BD31-4B8C-83A1-F6EECF244321}">
                <p14:modId xmlns:p14="http://schemas.microsoft.com/office/powerpoint/2010/main" val="2468717754"/>
              </p:ext>
            </p:extLst>
          </p:nvPr>
        </p:nvGraphicFramePr>
        <p:xfrm>
          <a:off x="4473181" y="2220335"/>
          <a:ext cx="3203997" cy="138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91" name="CaixaDeTexto 190"/>
          <p:cNvSpPr txBox="1"/>
          <p:nvPr/>
        </p:nvSpPr>
        <p:spPr>
          <a:xfrm>
            <a:off x="180935" y="5434032"/>
            <a:ext cx="1318766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/>
              <a:t>Lemvig</a:t>
            </a:r>
            <a:r>
              <a:rPr lang="en-US" dirty="0"/>
              <a:t>:</a:t>
            </a:r>
          </a:p>
          <a:p>
            <a:r>
              <a:rPr lang="en-US" dirty="0" err="1">
                <a:solidFill>
                  <a:schemeClr val="tx2"/>
                </a:solidFill>
              </a:rPr>
              <a:t>Arrecadação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Camila Luciano</a:t>
            </a:r>
          </a:p>
          <a:p>
            <a:r>
              <a:rPr lang="en-US" dirty="0">
                <a:solidFill>
                  <a:schemeClr val="tx2"/>
                </a:solidFill>
              </a:rPr>
              <a:t>(TSA)</a:t>
            </a:r>
          </a:p>
        </p:txBody>
      </p:sp>
      <p:grpSp>
        <p:nvGrpSpPr>
          <p:cNvPr id="65" name="Agrupar 64"/>
          <p:cNvGrpSpPr/>
          <p:nvPr/>
        </p:nvGrpSpPr>
        <p:grpSpPr>
          <a:xfrm>
            <a:off x="2215579" y="1758746"/>
            <a:ext cx="262347" cy="298880"/>
            <a:chOff x="3722405" y="2929355"/>
            <a:chExt cx="504000" cy="684000"/>
          </a:xfrm>
          <a:solidFill>
            <a:srgbClr val="FFC000"/>
          </a:solidFill>
        </p:grpSpPr>
        <p:sp>
          <p:nvSpPr>
            <p:cNvPr id="66" name="Canto Dobrado 6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7" name="Conector reto 6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Conector reto 6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9" name="Conector reto 6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54" name="Agrupar 153"/>
          <p:cNvGrpSpPr/>
          <p:nvPr/>
        </p:nvGrpSpPr>
        <p:grpSpPr>
          <a:xfrm rot="5400000" flipV="1">
            <a:off x="6871484" y="3588977"/>
            <a:ext cx="244800" cy="284400"/>
            <a:chOff x="6413377" y="679347"/>
            <a:chExt cx="256379" cy="299915"/>
          </a:xfrm>
        </p:grpSpPr>
        <p:sp>
          <p:nvSpPr>
            <p:cNvPr id="155" name="Seta para a Direita 154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6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graphicFrame>
        <p:nvGraphicFramePr>
          <p:cNvPr id="157" name="Diagrama 156"/>
          <p:cNvGraphicFramePr/>
          <p:nvPr>
            <p:extLst>
              <p:ext uri="{D42A27DB-BD31-4B8C-83A1-F6EECF244321}">
                <p14:modId xmlns:p14="http://schemas.microsoft.com/office/powerpoint/2010/main" val="3739384810"/>
              </p:ext>
            </p:extLst>
          </p:nvPr>
        </p:nvGraphicFramePr>
        <p:xfrm>
          <a:off x="6340089" y="3729287"/>
          <a:ext cx="3203997" cy="138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158" name="Diagrama 157"/>
          <p:cNvGraphicFramePr/>
          <p:nvPr>
            <p:extLst>
              <p:ext uri="{D42A27DB-BD31-4B8C-83A1-F6EECF244321}">
                <p14:modId xmlns:p14="http://schemas.microsoft.com/office/powerpoint/2010/main" val="2625157375"/>
              </p:ext>
            </p:extLst>
          </p:nvPr>
        </p:nvGraphicFramePr>
        <p:xfrm>
          <a:off x="8232477" y="5156201"/>
          <a:ext cx="3203997" cy="138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pSp>
        <p:nvGrpSpPr>
          <p:cNvPr id="159" name="Agrupar 158"/>
          <p:cNvGrpSpPr/>
          <p:nvPr/>
        </p:nvGrpSpPr>
        <p:grpSpPr>
          <a:xfrm rot="5400000" flipV="1">
            <a:off x="8755776" y="5071544"/>
            <a:ext cx="244800" cy="284400"/>
            <a:chOff x="6413377" y="679347"/>
            <a:chExt cx="256379" cy="299915"/>
          </a:xfrm>
        </p:grpSpPr>
        <p:sp>
          <p:nvSpPr>
            <p:cNvPr id="160" name="Seta para a Direita 15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1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grpSp>
        <p:nvGrpSpPr>
          <p:cNvPr id="162" name="Agrupar 161"/>
          <p:cNvGrpSpPr/>
          <p:nvPr/>
        </p:nvGrpSpPr>
        <p:grpSpPr>
          <a:xfrm rot="16200000">
            <a:off x="9891493" y="4298118"/>
            <a:ext cx="1764000" cy="284400"/>
            <a:chOff x="6413377" y="679347"/>
            <a:chExt cx="256379" cy="299915"/>
          </a:xfrm>
        </p:grpSpPr>
        <p:sp>
          <p:nvSpPr>
            <p:cNvPr id="163" name="Seta para a Direita 162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4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graphicFrame>
        <p:nvGraphicFramePr>
          <p:cNvPr id="165" name="Diagrama 164"/>
          <p:cNvGraphicFramePr/>
          <p:nvPr>
            <p:extLst>
              <p:ext uri="{D42A27DB-BD31-4B8C-83A1-F6EECF244321}">
                <p14:modId xmlns:p14="http://schemas.microsoft.com/office/powerpoint/2010/main" val="2025780820"/>
              </p:ext>
            </p:extLst>
          </p:nvPr>
        </p:nvGraphicFramePr>
        <p:xfrm>
          <a:off x="10055681" y="2480680"/>
          <a:ext cx="1380797" cy="1009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grpSp>
        <p:nvGrpSpPr>
          <p:cNvPr id="166" name="Agrupar 165"/>
          <p:cNvGrpSpPr/>
          <p:nvPr/>
        </p:nvGrpSpPr>
        <p:grpSpPr>
          <a:xfrm flipV="1">
            <a:off x="3359995" y="2856884"/>
            <a:ext cx="1044000" cy="284400"/>
            <a:chOff x="6413377" y="679347"/>
            <a:chExt cx="256379" cy="299915"/>
          </a:xfrm>
        </p:grpSpPr>
        <p:sp>
          <p:nvSpPr>
            <p:cNvPr id="167" name="Seta para a Direita 166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8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grpSp>
        <p:nvGrpSpPr>
          <p:cNvPr id="169" name="Agrupar 168"/>
          <p:cNvGrpSpPr/>
          <p:nvPr/>
        </p:nvGrpSpPr>
        <p:grpSpPr>
          <a:xfrm flipV="1">
            <a:off x="3364220" y="4339301"/>
            <a:ext cx="2880000" cy="284400"/>
            <a:chOff x="6413377" y="679347"/>
            <a:chExt cx="256379" cy="299915"/>
          </a:xfrm>
        </p:grpSpPr>
        <p:sp>
          <p:nvSpPr>
            <p:cNvPr id="170" name="Seta para a Direita 16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1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72" name="Retângulo 171"/>
          <p:cNvSpPr/>
          <p:nvPr/>
        </p:nvSpPr>
        <p:spPr>
          <a:xfrm rot="16200000">
            <a:off x="2034285" y="3246781"/>
            <a:ext cx="2448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73" name="Texto Explicativo Retangular com Cantos Arredondados 172"/>
          <p:cNvSpPr/>
          <p:nvPr/>
        </p:nvSpPr>
        <p:spPr>
          <a:xfrm>
            <a:off x="5668667" y="1603161"/>
            <a:ext cx="1262749" cy="476726"/>
          </a:xfrm>
          <a:prstGeom prst="wedgeRoundRectCallout">
            <a:avLst>
              <a:gd name="adj1" fmla="val -40385"/>
              <a:gd name="adj2" fmla="val 97819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Usamos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algum</a:t>
            </a:r>
            <a:r>
              <a:rPr lang="en-US" dirty="0">
                <a:solidFill>
                  <a:schemeClr val="bg1"/>
                </a:solidFill>
              </a:rPr>
              <a:t> outro </a:t>
            </a:r>
            <a:r>
              <a:rPr lang="en-US" dirty="0" err="1">
                <a:solidFill>
                  <a:schemeClr val="bg1"/>
                </a:solidFill>
              </a:rPr>
              <a:t>arquivo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74" name="Elipse 173">
            <a:hlinkClick r:id="rId30" action="ppaction://hlinksldjump"/>
          </p:cNvPr>
          <p:cNvSpPr/>
          <p:nvPr/>
        </p:nvSpPr>
        <p:spPr>
          <a:xfrm>
            <a:off x="1484592" y="1086349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grpSp>
        <p:nvGrpSpPr>
          <p:cNvPr id="175" name="Agrupar 174"/>
          <p:cNvGrpSpPr/>
          <p:nvPr/>
        </p:nvGrpSpPr>
        <p:grpSpPr>
          <a:xfrm>
            <a:off x="2310518" y="1396430"/>
            <a:ext cx="244217" cy="285687"/>
            <a:chOff x="1269055" y="385982"/>
            <a:chExt cx="244217" cy="285687"/>
          </a:xfrm>
        </p:grpSpPr>
        <p:sp>
          <p:nvSpPr>
            <p:cNvPr id="176" name="Seta para a Direita 175"/>
            <p:cNvSpPr/>
            <p:nvPr/>
          </p:nvSpPr>
          <p:spPr>
            <a:xfrm>
              <a:off x="1269055" y="385982"/>
              <a:ext cx="244217" cy="28568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7" name="Seta para a Direita 4"/>
            <p:cNvSpPr txBox="1"/>
            <p:nvPr/>
          </p:nvSpPr>
          <p:spPr>
            <a:xfrm>
              <a:off x="1269055" y="443119"/>
              <a:ext cx="170952" cy="1714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2100" kern="1200"/>
            </a:p>
          </p:txBody>
        </p:sp>
      </p:grpSp>
      <p:sp>
        <p:nvSpPr>
          <p:cNvPr id="178" name="Elipse 177">
            <a:hlinkClick r:id="rId31" action="ppaction://hlinksldjump"/>
          </p:cNvPr>
          <p:cNvSpPr/>
          <p:nvPr/>
        </p:nvSpPr>
        <p:spPr>
          <a:xfrm>
            <a:off x="1650849" y="1405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2</a:t>
            </a:r>
          </a:p>
        </p:txBody>
      </p:sp>
      <p:sp>
        <p:nvSpPr>
          <p:cNvPr id="179" name="Elipse 178">
            <a:hlinkClick r:id="rId32" action="ppaction://hlinksldjump"/>
          </p:cNvPr>
          <p:cNvSpPr/>
          <p:nvPr/>
        </p:nvSpPr>
        <p:spPr>
          <a:xfrm>
            <a:off x="1498442" y="1737517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3c</a:t>
            </a:r>
          </a:p>
        </p:txBody>
      </p:sp>
      <p:sp>
        <p:nvSpPr>
          <p:cNvPr id="180" name="Elipse 179">
            <a:hlinkClick r:id="rId33" action="ppaction://hlinksldjump"/>
          </p:cNvPr>
          <p:cNvSpPr/>
          <p:nvPr/>
        </p:nvSpPr>
        <p:spPr>
          <a:xfrm>
            <a:off x="1803251" y="1100201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1a</a:t>
            </a:r>
          </a:p>
        </p:txBody>
      </p:sp>
      <p:sp>
        <p:nvSpPr>
          <p:cNvPr id="181" name="Elipse 180">
            <a:hlinkClick r:id="rId34" action="ppaction://hlinksldjump"/>
          </p:cNvPr>
          <p:cNvSpPr/>
          <p:nvPr/>
        </p:nvSpPr>
        <p:spPr>
          <a:xfrm>
            <a:off x="1817101" y="1737514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3d</a:t>
            </a:r>
          </a:p>
        </p:txBody>
      </p:sp>
      <p:sp>
        <p:nvSpPr>
          <p:cNvPr id="58" name="Botão de ação: Retornar 57">
            <a:hlinkClick r:id="rId35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59" name="Agrupar 58"/>
          <p:cNvGrpSpPr/>
          <p:nvPr/>
        </p:nvGrpSpPr>
        <p:grpSpPr>
          <a:xfrm>
            <a:off x="233068" y="507008"/>
            <a:ext cx="180000" cy="252000"/>
            <a:chOff x="3722403" y="2929357"/>
            <a:chExt cx="504000" cy="684000"/>
          </a:xfrm>
          <a:solidFill>
            <a:srgbClr val="FF99FF"/>
          </a:solidFill>
        </p:grpSpPr>
        <p:sp>
          <p:nvSpPr>
            <p:cNvPr id="60" name="Canto Dobrado 59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1" name="Conector reto 6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Conector reto 6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Conector reto 6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4" name="CaixaDeTexto 73"/>
          <p:cNvSpPr txBox="1"/>
          <p:nvPr/>
        </p:nvSpPr>
        <p:spPr>
          <a:xfrm>
            <a:off x="484691" y="594290"/>
            <a:ext cx="1955272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100" dirty="0">
                <a:solidFill>
                  <a:srgbClr val="4D4D4D"/>
                </a:solidFill>
              </a:rPr>
              <a:t>Input_VenusII_SB1_AAAAMMDD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75" name="Elipse 74">
            <a:hlinkClick r:id="rId36" action="ppaction://hlinksldjump"/>
          </p:cNvPr>
          <p:cNvSpPr/>
          <p:nvPr/>
        </p:nvSpPr>
        <p:spPr>
          <a:xfrm>
            <a:off x="223529" y="565356"/>
            <a:ext cx="180000" cy="147484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77" name="Agrupar 76"/>
          <p:cNvGrpSpPr/>
          <p:nvPr/>
        </p:nvGrpSpPr>
        <p:grpSpPr>
          <a:xfrm>
            <a:off x="2422172" y="491260"/>
            <a:ext cx="180000" cy="25200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79" name="Canto Dobrado 78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0" name="Conector reto 7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1" name="Conector reto 8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2" name="Conector reto 8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3" name="CaixaDeTexto 82"/>
          <p:cNvSpPr txBox="1"/>
          <p:nvPr/>
        </p:nvSpPr>
        <p:spPr>
          <a:xfrm>
            <a:off x="2676324" y="532622"/>
            <a:ext cx="380601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consolidado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84" name="Elipse 83">
            <a:hlinkClick r:id="rId37" action="ppaction://hlinksldjump"/>
          </p:cNvPr>
          <p:cNvSpPr/>
          <p:nvPr/>
        </p:nvSpPr>
        <p:spPr>
          <a:xfrm>
            <a:off x="2439808" y="563260"/>
            <a:ext cx="180000" cy="108000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5" name="Agrupar 84"/>
          <p:cNvGrpSpPr/>
          <p:nvPr/>
        </p:nvGrpSpPr>
        <p:grpSpPr>
          <a:xfrm>
            <a:off x="2216603" y="1010104"/>
            <a:ext cx="262347" cy="298880"/>
            <a:chOff x="3722405" y="2929355"/>
            <a:chExt cx="504000" cy="684000"/>
          </a:xfrm>
          <a:solidFill>
            <a:srgbClr val="FF99FF"/>
          </a:solidFill>
        </p:grpSpPr>
        <p:sp>
          <p:nvSpPr>
            <p:cNvPr id="86" name="Canto Dobrado 8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7" name="Conector reto 8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8" name="Conector reto 8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9" name="Conector reto 8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1594499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54787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>
          <a:xfrm>
            <a:off x="11732085" y="6356350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32</a:t>
            </a:fld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282567" y="2916669"/>
            <a:ext cx="9294389" cy="791776"/>
          </a:xfrm>
        </p:spPr>
        <p:txBody>
          <a:bodyPr vert="horz"/>
          <a:lstStyle/>
          <a:p>
            <a:r>
              <a:rPr lang="en-US" dirty="0" err="1"/>
              <a:t>Arquivos</a:t>
            </a:r>
            <a:r>
              <a:rPr lang="en-US" dirty="0"/>
              <a:t> dos </a:t>
            </a:r>
            <a:r>
              <a:rPr lang="en-US" dirty="0" err="1"/>
              <a:t>processos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Venus II 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9876129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81740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9" name="Objeto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814187"/>
              </p:ext>
            </p:extLst>
          </p:nvPr>
        </p:nvGraphicFramePr>
        <p:xfrm>
          <a:off x="190576" y="874994"/>
          <a:ext cx="11566473" cy="5717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42">
                  <a:extLst>
                    <a:ext uri="{9D8B030D-6E8A-4147-A177-3AD203B41FA5}">
                      <a16:colId xmlns:a16="http://schemas.microsoft.com/office/drawing/2014/main" val="806465255"/>
                    </a:ext>
                  </a:extLst>
                </a:gridCol>
                <a:gridCol w="3224722">
                  <a:extLst>
                    <a:ext uri="{9D8B030D-6E8A-4147-A177-3AD203B41FA5}">
                      <a16:colId xmlns:a16="http://schemas.microsoft.com/office/drawing/2014/main" val="3151111579"/>
                    </a:ext>
                  </a:extLst>
                </a:gridCol>
                <a:gridCol w="5126182">
                  <a:extLst>
                    <a:ext uri="{9D8B030D-6E8A-4147-A177-3AD203B41FA5}">
                      <a16:colId xmlns:a16="http://schemas.microsoft.com/office/drawing/2014/main" val="713138923"/>
                    </a:ext>
                  </a:extLst>
                </a:gridCol>
                <a:gridCol w="2741127">
                  <a:extLst>
                    <a:ext uri="{9D8B030D-6E8A-4147-A177-3AD203B41FA5}">
                      <a16:colId xmlns:a16="http://schemas.microsoft.com/office/drawing/2014/main" val="2784813877"/>
                    </a:ext>
                  </a:extLst>
                </a:gridCol>
              </a:tblGrid>
              <a:tr h="36902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Arquivo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Descritivo</a:t>
                      </a:r>
                      <a:r>
                        <a:rPr lang="en-US" dirty="0"/>
                        <a:t> do </a:t>
                      </a:r>
                      <a:r>
                        <a:rPr lang="en-US" dirty="0" err="1"/>
                        <a:t>Arquivo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Processos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55098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Anexo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2 MLA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Lista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das 8.000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torres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com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indicação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da RBR, UF e valor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aluguel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776641"/>
                  </a:ext>
                </a:extLst>
              </a:tr>
              <a:tr h="45496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Input_VenusII_SB1_AAAAMMDD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Planilha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para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cadastro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das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fiscais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no SAP B1 - 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consolidado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das Torres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UF para o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com BTSA 1000000025824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Compartilhamento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Torre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026365"/>
                  </a:ext>
                </a:extLst>
              </a:tr>
              <a:tr h="365387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 Fiscal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Aluguel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Torres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fiscais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emitidas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pelo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aluguel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das Torres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UF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00334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Pagamento_ContaVinculada_AAAAMMDD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Planilha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pagamento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com o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descritivo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que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deve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constar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no e-</a:t>
                      </a:r>
                      <a:r>
                        <a:rPr kumimoji="0" lang="pt-BR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mail.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33850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Planilha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Engrenagem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consolidados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com de/para das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torres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que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contempla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base fee, solo,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energia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climatização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,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/DEINF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Atacado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torre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902459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Planilha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DEINF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/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visão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dos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a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faturar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torres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compartilhadas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em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seus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respectivos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.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Contempla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base fee, solo,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energia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climatização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257971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Planilha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DEINF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/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validado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visão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dos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a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faturar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torres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compartilhadas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em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seus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respectivos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.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Contempla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base fee, solo,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energia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climatização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707250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Input_VenusII_SB1_AAAAMMDD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Planilha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para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cadastro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das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fiscais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no SAP B1 - 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consolidado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UF para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contratos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Compartilhamento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fatura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emitida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60520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fiscais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emitidas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fiscais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emitidas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para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cada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47129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DEINF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Energia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valores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do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rateio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/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consumo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energia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aberto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torre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31086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Nota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débito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repasse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energia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mensal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visão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consolidada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de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todas</a:t>
                      </a:r>
                      <a:r>
                        <a:rPr kumimoji="0" lang="en-US" sz="12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as </a:t>
                      </a:r>
                      <a:r>
                        <a:rPr kumimoji="0" lang="en-US" sz="12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operadoras</a:t>
                      </a: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06428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33</a:t>
            </a:fld>
            <a:endParaRPr lang="pt-BR"/>
          </a:p>
        </p:txBody>
      </p:sp>
      <p:sp>
        <p:nvSpPr>
          <p:cNvPr id="10" name="Título 2"/>
          <p:cNvSpPr>
            <a:spLocks noGrp="1"/>
          </p:cNvSpPr>
          <p:nvPr>
            <p:ph type="title"/>
          </p:nvPr>
        </p:nvSpPr>
        <p:spPr>
          <a:xfrm>
            <a:off x="48009" y="91258"/>
            <a:ext cx="10756482" cy="558294"/>
          </a:xfrm>
        </p:spPr>
        <p:txBody>
          <a:bodyPr vert="horz"/>
          <a:lstStyle/>
          <a:p>
            <a:r>
              <a:rPr lang="en-US" dirty="0" err="1"/>
              <a:t>Descritivo</a:t>
            </a:r>
            <a:r>
              <a:rPr lang="en-US" dirty="0"/>
              <a:t> dos </a:t>
            </a:r>
            <a:r>
              <a:rPr lang="en-US" dirty="0" err="1"/>
              <a:t>documentos</a:t>
            </a:r>
            <a:r>
              <a:rPr lang="en-US" dirty="0"/>
              <a:t> </a:t>
            </a:r>
            <a:r>
              <a:rPr lang="en-US" dirty="0" err="1"/>
              <a:t>usados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fluxos</a:t>
            </a:r>
            <a:r>
              <a:rPr lang="en-US" dirty="0"/>
              <a:t> </a:t>
            </a:r>
          </a:p>
        </p:txBody>
      </p:sp>
      <p:grpSp>
        <p:nvGrpSpPr>
          <p:cNvPr id="38" name="Agrupar 37"/>
          <p:cNvGrpSpPr/>
          <p:nvPr/>
        </p:nvGrpSpPr>
        <p:grpSpPr>
          <a:xfrm>
            <a:off x="287289" y="1300945"/>
            <a:ext cx="180000" cy="25200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39" name="Canto Dobrado 38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Conector reto 40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Conector reto 41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3" name="Agrupar 12"/>
          <p:cNvGrpSpPr/>
          <p:nvPr/>
        </p:nvGrpSpPr>
        <p:grpSpPr>
          <a:xfrm>
            <a:off x="287289" y="1756489"/>
            <a:ext cx="180000" cy="252000"/>
            <a:chOff x="3722403" y="2929357"/>
            <a:chExt cx="504000" cy="684000"/>
          </a:xfrm>
          <a:solidFill>
            <a:srgbClr val="FF99FF"/>
          </a:solidFill>
        </p:grpSpPr>
        <p:sp>
          <p:nvSpPr>
            <p:cNvPr id="14" name="Canto Dobrado 13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5" name="Conector reto 1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onector reto 1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Conector reto 1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9" name="Agrupar 28"/>
          <p:cNvGrpSpPr/>
          <p:nvPr/>
        </p:nvGrpSpPr>
        <p:grpSpPr>
          <a:xfrm>
            <a:off x="294365" y="2648335"/>
            <a:ext cx="298222" cy="373686"/>
            <a:chOff x="211236" y="2870010"/>
            <a:chExt cx="298222" cy="373686"/>
          </a:xfrm>
        </p:grpSpPr>
        <p:grpSp>
          <p:nvGrpSpPr>
            <p:cNvPr id="20" name="Agrupar 19"/>
            <p:cNvGrpSpPr/>
            <p:nvPr/>
          </p:nvGrpSpPr>
          <p:grpSpPr>
            <a:xfrm>
              <a:off x="211236" y="2870010"/>
              <a:ext cx="180000" cy="252000"/>
              <a:chOff x="3722405" y="2929355"/>
              <a:chExt cx="504000" cy="684000"/>
            </a:xfrm>
          </p:grpSpPr>
          <p:sp>
            <p:nvSpPr>
              <p:cNvPr id="23" name="Canto Dobrado 22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24" name="Conector reto 23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" name="Conector reto 24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6" name="Conector reto 25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1" name="Elipse 20"/>
            <p:cNvSpPr/>
            <p:nvPr/>
          </p:nvSpPr>
          <p:spPr>
            <a:xfrm>
              <a:off x="365458" y="3092219"/>
              <a:ext cx="144000" cy="151477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37" name="Agrupar 36"/>
          <p:cNvGrpSpPr/>
          <p:nvPr/>
        </p:nvGrpSpPr>
        <p:grpSpPr>
          <a:xfrm>
            <a:off x="287289" y="2313073"/>
            <a:ext cx="180000" cy="252000"/>
            <a:chOff x="3722405" y="2929355"/>
            <a:chExt cx="504000" cy="684000"/>
          </a:xfrm>
          <a:solidFill>
            <a:srgbClr val="CC00CC"/>
          </a:solidFill>
        </p:grpSpPr>
        <p:sp>
          <p:nvSpPr>
            <p:cNvPr id="44" name="Canto Dobrado 4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45" name="Conector reto 4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6" name="Conector reto 4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7" name="Conector reto 4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8" name="Elipse 77">
            <a:hlinkClick r:id="rId5" action="ppaction://hlinksldjump"/>
          </p:cNvPr>
          <p:cNvSpPr/>
          <p:nvPr/>
        </p:nvSpPr>
        <p:spPr>
          <a:xfrm>
            <a:off x="9438371" y="127259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9" name="Elipse 78">
            <a:hlinkClick r:id="rId6" action="ppaction://hlinksldjump"/>
          </p:cNvPr>
          <p:cNvSpPr/>
          <p:nvPr/>
        </p:nvSpPr>
        <p:spPr>
          <a:xfrm>
            <a:off x="9808775" y="127259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Elipse 79">
            <a:hlinkClick r:id="rId7" action="ppaction://hlinksldjump"/>
          </p:cNvPr>
          <p:cNvSpPr/>
          <p:nvPr/>
        </p:nvSpPr>
        <p:spPr>
          <a:xfrm>
            <a:off x="10183807" y="127259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1" name="Elipse 80">
            <a:hlinkClick r:id="rId8" action="ppaction://hlinksldjump"/>
          </p:cNvPr>
          <p:cNvSpPr/>
          <p:nvPr/>
        </p:nvSpPr>
        <p:spPr>
          <a:xfrm>
            <a:off x="9054111" y="127259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sp>
        <p:nvSpPr>
          <p:cNvPr id="82" name="Elipse 81">
            <a:hlinkClick r:id="rId8" action="ppaction://hlinksldjump"/>
          </p:cNvPr>
          <p:cNvSpPr/>
          <p:nvPr/>
        </p:nvSpPr>
        <p:spPr>
          <a:xfrm>
            <a:off x="9054111" y="177039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sp>
        <p:nvSpPr>
          <p:cNvPr id="83" name="Elipse 82">
            <a:hlinkClick r:id="rId9" action="ppaction://hlinksldjump"/>
          </p:cNvPr>
          <p:cNvSpPr/>
          <p:nvPr/>
        </p:nvSpPr>
        <p:spPr>
          <a:xfrm>
            <a:off x="9438371" y="2280646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1a</a:t>
            </a:r>
          </a:p>
        </p:txBody>
      </p:sp>
      <p:sp>
        <p:nvSpPr>
          <p:cNvPr id="84" name="Elipse 83">
            <a:hlinkClick r:id="rId8" action="ppaction://hlinksldjump"/>
          </p:cNvPr>
          <p:cNvSpPr/>
          <p:nvPr/>
        </p:nvSpPr>
        <p:spPr>
          <a:xfrm>
            <a:off x="9054111" y="2280646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sp>
        <p:nvSpPr>
          <p:cNvPr id="91" name="Elipse 90">
            <a:hlinkClick r:id="rId6" action="ppaction://hlinksldjump"/>
          </p:cNvPr>
          <p:cNvSpPr/>
          <p:nvPr/>
        </p:nvSpPr>
        <p:spPr>
          <a:xfrm>
            <a:off x="9438371" y="3193135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2" name="Elipse 91">
            <a:hlinkClick r:id="rId7" action="ppaction://hlinksldjump"/>
          </p:cNvPr>
          <p:cNvSpPr/>
          <p:nvPr/>
        </p:nvSpPr>
        <p:spPr>
          <a:xfrm>
            <a:off x="10182844" y="3193135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3" name="Elipse 92">
            <a:hlinkClick r:id="rId10" action="ppaction://hlinksldjump"/>
          </p:cNvPr>
          <p:cNvSpPr/>
          <p:nvPr/>
        </p:nvSpPr>
        <p:spPr>
          <a:xfrm>
            <a:off x="9809730" y="3193135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4" name="Elipse 93">
            <a:hlinkClick r:id="rId11" action="ppaction://hlinksldjump"/>
          </p:cNvPr>
          <p:cNvSpPr/>
          <p:nvPr/>
        </p:nvSpPr>
        <p:spPr>
          <a:xfrm>
            <a:off x="9054111" y="3193135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Elipse 94">
            <a:hlinkClick r:id="rId11" action="ppaction://hlinksldjump"/>
          </p:cNvPr>
          <p:cNvSpPr/>
          <p:nvPr/>
        </p:nvSpPr>
        <p:spPr>
          <a:xfrm>
            <a:off x="9054111" y="377044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6" name="Elipse 95">
            <a:hlinkClick r:id="rId11" action="ppaction://hlinksldjump"/>
          </p:cNvPr>
          <p:cNvSpPr/>
          <p:nvPr/>
        </p:nvSpPr>
        <p:spPr>
          <a:xfrm>
            <a:off x="9054111" y="4459760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Elipse 96">
            <a:hlinkClick r:id="rId11" action="ppaction://hlinksldjump"/>
          </p:cNvPr>
          <p:cNvSpPr/>
          <p:nvPr/>
        </p:nvSpPr>
        <p:spPr>
          <a:xfrm>
            <a:off x="9064294" y="501235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8" name="Elipse 97">
            <a:hlinkClick r:id="rId11" action="ppaction://hlinksldjump"/>
          </p:cNvPr>
          <p:cNvSpPr/>
          <p:nvPr/>
        </p:nvSpPr>
        <p:spPr>
          <a:xfrm>
            <a:off x="9058084" y="542445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9" name="Agrupar 98"/>
          <p:cNvGrpSpPr/>
          <p:nvPr/>
        </p:nvGrpSpPr>
        <p:grpSpPr>
          <a:xfrm>
            <a:off x="324194" y="3272241"/>
            <a:ext cx="180000" cy="252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00" name="Canto Dobrado 9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1" name="Conector reto 10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2" name="Conector reto 10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3" name="Conector reto 10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4" name="Agrupar 103"/>
          <p:cNvGrpSpPr/>
          <p:nvPr/>
        </p:nvGrpSpPr>
        <p:grpSpPr>
          <a:xfrm>
            <a:off x="324194" y="3856115"/>
            <a:ext cx="180000" cy="25200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05" name="Canto Dobrado 104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06" name="Conector reto 105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" name="Conector reto 10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" name="Conector reto 10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9" name="Agrupar 108"/>
          <p:cNvGrpSpPr/>
          <p:nvPr/>
        </p:nvGrpSpPr>
        <p:grpSpPr>
          <a:xfrm>
            <a:off x="324194" y="5460086"/>
            <a:ext cx="180000" cy="252000"/>
            <a:chOff x="3722403" y="2929357"/>
            <a:chExt cx="504000" cy="6840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0" name="Canto Dobrado 109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1" name="Conector reto 11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" name="Conector reto 11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" name="Conector reto 11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14" name="Agrupar 113"/>
          <p:cNvGrpSpPr/>
          <p:nvPr/>
        </p:nvGrpSpPr>
        <p:grpSpPr>
          <a:xfrm>
            <a:off x="324194" y="4483585"/>
            <a:ext cx="180000" cy="252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115" name="Canto Dobrado 114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16" name="Conector reto 115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7" name="Conector reto 11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8" name="Conector reto 11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22" name="Elipse 121">
            <a:hlinkClick r:id="rId7" action="ppaction://hlinksldjump"/>
          </p:cNvPr>
          <p:cNvSpPr/>
          <p:nvPr/>
        </p:nvSpPr>
        <p:spPr>
          <a:xfrm>
            <a:off x="10932202" y="4459760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4" name="Elipse 123">
            <a:hlinkClick r:id="rId10" action="ppaction://hlinksldjump"/>
          </p:cNvPr>
          <p:cNvSpPr/>
          <p:nvPr/>
        </p:nvSpPr>
        <p:spPr>
          <a:xfrm>
            <a:off x="9438371" y="542445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5" name="Elipse 124">
            <a:hlinkClick r:id="rId10" action="ppaction://hlinksldjump"/>
          </p:cNvPr>
          <p:cNvSpPr/>
          <p:nvPr/>
        </p:nvSpPr>
        <p:spPr>
          <a:xfrm>
            <a:off x="9434698" y="501235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6" name="Elipse 125">
            <a:hlinkClick r:id="rId10" action="ppaction://hlinksldjump"/>
          </p:cNvPr>
          <p:cNvSpPr/>
          <p:nvPr/>
        </p:nvSpPr>
        <p:spPr>
          <a:xfrm>
            <a:off x="10557886" y="4459760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7" name="Elipse 126">
            <a:hlinkClick r:id="rId10" action="ppaction://hlinksldjump"/>
          </p:cNvPr>
          <p:cNvSpPr/>
          <p:nvPr/>
        </p:nvSpPr>
        <p:spPr>
          <a:xfrm>
            <a:off x="9434698" y="377044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3c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8" name="Elipse 127">
            <a:hlinkClick r:id="rId12" action="ppaction://hlinksldjump"/>
          </p:cNvPr>
          <p:cNvSpPr/>
          <p:nvPr/>
        </p:nvSpPr>
        <p:spPr>
          <a:xfrm>
            <a:off x="9438371" y="4459760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9" name="Elipse 128">
            <a:hlinkClick r:id="rId13" action="ppaction://hlinksldjump"/>
          </p:cNvPr>
          <p:cNvSpPr/>
          <p:nvPr/>
        </p:nvSpPr>
        <p:spPr>
          <a:xfrm>
            <a:off x="9808775" y="4459760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30" name="Agrupar 129"/>
          <p:cNvGrpSpPr/>
          <p:nvPr/>
        </p:nvGrpSpPr>
        <p:grpSpPr>
          <a:xfrm>
            <a:off x="324194" y="5816259"/>
            <a:ext cx="180000" cy="252000"/>
            <a:chOff x="3722405" y="2929355"/>
            <a:chExt cx="504000" cy="684000"/>
          </a:xfrm>
        </p:grpSpPr>
        <p:sp>
          <p:nvSpPr>
            <p:cNvPr id="131" name="Canto Dobrado 130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solidFill>
              <a:srgbClr val="FFFFFF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32" name="Conector reto 13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3" name="Conector reto 13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4" name="Conector reto 13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35" name="Agrupar 134"/>
          <p:cNvGrpSpPr/>
          <p:nvPr/>
        </p:nvGrpSpPr>
        <p:grpSpPr>
          <a:xfrm>
            <a:off x="324194" y="6208762"/>
            <a:ext cx="180000" cy="252000"/>
            <a:chOff x="3722405" y="2929355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6" name="Canto Dobrado 13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37" name="Conector reto 13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8" name="Conector reto 13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9" name="Conector reto 13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40" name="Elipse 139">
            <a:hlinkClick r:id="rId14" action="ppaction://hlinksldjump"/>
          </p:cNvPr>
          <p:cNvSpPr/>
          <p:nvPr/>
        </p:nvSpPr>
        <p:spPr>
          <a:xfrm>
            <a:off x="9438371" y="6210223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1" name="Elipse 140">
            <a:hlinkClick r:id="rId15" action="ppaction://hlinksldjump"/>
          </p:cNvPr>
          <p:cNvSpPr/>
          <p:nvPr/>
        </p:nvSpPr>
        <p:spPr>
          <a:xfrm>
            <a:off x="9054111" y="6210223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2" name="Elipse 141">
            <a:hlinkClick r:id="rId15" action="ppaction://hlinksldjump"/>
          </p:cNvPr>
          <p:cNvSpPr/>
          <p:nvPr/>
        </p:nvSpPr>
        <p:spPr>
          <a:xfrm>
            <a:off x="9054111" y="5800573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3" name="Elipse 142">
            <a:hlinkClick r:id="rId15" action="ppaction://hlinksldjump"/>
          </p:cNvPr>
          <p:cNvSpPr/>
          <p:nvPr/>
        </p:nvSpPr>
        <p:spPr>
          <a:xfrm>
            <a:off x="11308203" y="4459760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4" name="Elipse 143">
            <a:hlinkClick r:id="rId15" action="ppaction://hlinksldjump"/>
          </p:cNvPr>
          <p:cNvSpPr/>
          <p:nvPr/>
        </p:nvSpPr>
        <p:spPr>
          <a:xfrm>
            <a:off x="9809730" y="377044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45" name="Agrupar 144"/>
          <p:cNvGrpSpPr/>
          <p:nvPr/>
        </p:nvGrpSpPr>
        <p:grpSpPr>
          <a:xfrm>
            <a:off x="324192" y="5023913"/>
            <a:ext cx="180000" cy="252000"/>
            <a:chOff x="3722405" y="2929355"/>
            <a:chExt cx="504000" cy="684000"/>
          </a:xfrm>
          <a:solidFill>
            <a:srgbClr val="FFC000"/>
          </a:solidFill>
        </p:grpSpPr>
        <p:sp>
          <p:nvSpPr>
            <p:cNvPr id="146" name="Canto Dobrado 145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7" name="Conector reto 146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8" name="Conector reto 147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9" name="Conector reto 148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50" name="Elipse 149">
            <a:hlinkClick r:id="rId15" action="ppaction://hlinksldjump"/>
          </p:cNvPr>
          <p:cNvSpPr/>
          <p:nvPr/>
        </p:nvSpPr>
        <p:spPr>
          <a:xfrm>
            <a:off x="9809736" y="5017365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9" name="Botão de ação: Retornar 118">
            <a:hlinkClick r:id="rId16" action="ppaction://hlinksldjump" highlightClick="1"/>
          </p:cNvPr>
          <p:cNvSpPr/>
          <p:nvPr/>
        </p:nvSpPr>
        <p:spPr>
          <a:xfrm>
            <a:off x="11887201" y="50585"/>
            <a:ext cx="252000" cy="252000"/>
          </a:xfrm>
          <a:prstGeom prst="actionButtonReturn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1" name="Elipse 120">
            <a:hlinkClick r:id="rId17" action="ppaction://hlinksldjump"/>
          </p:cNvPr>
          <p:cNvSpPr/>
          <p:nvPr/>
        </p:nvSpPr>
        <p:spPr>
          <a:xfrm>
            <a:off x="10180140" y="501005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5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3" name="Elipse 122">
            <a:hlinkClick r:id="rId17" action="ppaction://hlinksldjump"/>
          </p:cNvPr>
          <p:cNvSpPr/>
          <p:nvPr/>
        </p:nvSpPr>
        <p:spPr>
          <a:xfrm>
            <a:off x="9438371" y="1783981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5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1" name="Elipse 150">
            <a:hlinkClick r:id="rId9" action="ppaction://hlinksldjump"/>
          </p:cNvPr>
          <p:cNvSpPr/>
          <p:nvPr/>
        </p:nvSpPr>
        <p:spPr>
          <a:xfrm>
            <a:off x="9438370" y="2668573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1a</a:t>
            </a:r>
          </a:p>
        </p:txBody>
      </p:sp>
      <p:sp>
        <p:nvSpPr>
          <p:cNvPr id="152" name="Elipse 151">
            <a:hlinkClick r:id="rId8" action="ppaction://hlinksldjump"/>
          </p:cNvPr>
          <p:cNvSpPr/>
          <p:nvPr/>
        </p:nvSpPr>
        <p:spPr>
          <a:xfrm>
            <a:off x="9054110" y="2668573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</a:p>
        </p:txBody>
      </p:sp>
      <p:sp>
        <p:nvSpPr>
          <p:cNvPr id="153" name="Elipse 152">
            <a:hlinkClick r:id="rId6" action="ppaction://hlinksldjump"/>
          </p:cNvPr>
          <p:cNvSpPr/>
          <p:nvPr/>
        </p:nvSpPr>
        <p:spPr>
          <a:xfrm>
            <a:off x="10186515" y="4477035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" name="Elipse 4">
            <a:hlinkClick r:id="rId18" action="ppaction://hlinksldjump"/>
          </p:cNvPr>
          <p:cNvSpPr/>
          <p:nvPr/>
        </p:nvSpPr>
        <p:spPr>
          <a:xfrm>
            <a:off x="218286" y="1334516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4" name="Elipse 153">
            <a:hlinkClick r:id="rId19" action="ppaction://hlinksldjump"/>
          </p:cNvPr>
          <p:cNvSpPr/>
          <p:nvPr/>
        </p:nvSpPr>
        <p:spPr>
          <a:xfrm>
            <a:off x="218285" y="1819430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5" name="Elipse 154">
            <a:hlinkClick r:id="rId20" action="ppaction://hlinksldjump"/>
          </p:cNvPr>
          <p:cNvSpPr/>
          <p:nvPr/>
        </p:nvSpPr>
        <p:spPr>
          <a:xfrm>
            <a:off x="259847" y="2373615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6" name="Elipse 155">
            <a:hlinkClick r:id="rId21" action="ppaction://hlinksldjump"/>
          </p:cNvPr>
          <p:cNvSpPr/>
          <p:nvPr/>
        </p:nvSpPr>
        <p:spPr>
          <a:xfrm>
            <a:off x="245991" y="2692273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7" name="Elipse 156">
            <a:hlinkClick r:id="rId22" action="ppaction://hlinksldjump"/>
          </p:cNvPr>
          <p:cNvSpPr/>
          <p:nvPr/>
        </p:nvSpPr>
        <p:spPr>
          <a:xfrm>
            <a:off x="245991" y="3315732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8" name="Elipse 157">
            <a:hlinkClick r:id="rId23" action="ppaction://hlinksldjump"/>
          </p:cNvPr>
          <p:cNvSpPr/>
          <p:nvPr/>
        </p:nvSpPr>
        <p:spPr>
          <a:xfrm>
            <a:off x="259845" y="3925337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9" name="Elipse 158">
            <a:hlinkClick r:id="rId24" action="ppaction://hlinksldjump"/>
          </p:cNvPr>
          <p:cNvSpPr/>
          <p:nvPr/>
        </p:nvSpPr>
        <p:spPr>
          <a:xfrm>
            <a:off x="259844" y="4534942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0" name="Elipse 159">
            <a:hlinkClick r:id="rId25" action="ppaction://hlinksldjump"/>
          </p:cNvPr>
          <p:cNvSpPr/>
          <p:nvPr/>
        </p:nvSpPr>
        <p:spPr>
          <a:xfrm>
            <a:off x="259841" y="5061421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1" name="Elipse 160">
            <a:hlinkClick r:id="rId26" action="ppaction://hlinksldjump"/>
          </p:cNvPr>
          <p:cNvSpPr/>
          <p:nvPr/>
        </p:nvSpPr>
        <p:spPr>
          <a:xfrm>
            <a:off x="259837" y="5504767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2" name="Elipse 161">
            <a:hlinkClick r:id="rId27" action="ppaction://hlinksldjump"/>
          </p:cNvPr>
          <p:cNvSpPr/>
          <p:nvPr/>
        </p:nvSpPr>
        <p:spPr>
          <a:xfrm>
            <a:off x="259833" y="5878843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3" name="Elipse 162">
            <a:hlinkClick r:id="rId28" action="ppaction://hlinksldjump"/>
          </p:cNvPr>
          <p:cNvSpPr/>
          <p:nvPr/>
        </p:nvSpPr>
        <p:spPr>
          <a:xfrm>
            <a:off x="259830" y="6266773"/>
            <a:ext cx="313616" cy="185618"/>
          </a:xfrm>
          <a:prstGeom prst="ellipse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5755530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9" name="Objeto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ítulo 2"/>
          <p:cNvSpPr>
            <a:spLocks noGrp="1"/>
          </p:cNvSpPr>
          <p:nvPr>
            <p:ph type="title"/>
          </p:nvPr>
        </p:nvSpPr>
        <p:spPr>
          <a:xfrm>
            <a:off x="48009" y="91258"/>
            <a:ext cx="10756482" cy="558294"/>
          </a:xfrm>
        </p:spPr>
        <p:txBody>
          <a:bodyPr vert="horz"/>
          <a:lstStyle/>
          <a:p>
            <a:r>
              <a:rPr lang="en-US" dirty="0" err="1"/>
              <a:t>Descritivo</a:t>
            </a:r>
            <a:r>
              <a:rPr lang="en-US" dirty="0"/>
              <a:t> dos </a:t>
            </a:r>
            <a:r>
              <a:rPr lang="en-US" dirty="0" err="1"/>
              <a:t>documentos</a:t>
            </a:r>
            <a:r>
              <a:rPr lang="en-US" dirty="0"/>
              <a:t> </a:t>
            </a:r>
            <a:r>
              <a:rPr lang="en-US" dirty="0" err="1"/>
              <a:t>usados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fluxos</a:t>
            </a:r>
            <a:r>
              <a:rPr lang="en-US" dirty="0"/>
              <a:t> </a:t>
            </a:r>
          </a:p>
        </p:txBody>
      </p:sp>
      <p:sp>
        <p:nvSpPr>
          <p:cNvPr id="79" name="Elipse 78"/>
          <p:cNvSpPr/>
          <p:nvPr/>
        </p:nvSpPr>
        <p:spPr>
          <a:xfrm>
            <a:off x="9076857" y="1307236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Elipse 79"/>
          <p:cNvSpPr/>
          <p:nvPr/>
        </p:nvSpPr>
        <p:spPr>
          <a:xfrm>
            <a:off x="9076857" y="2124658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880775"/>
              </p:ext>
            </p:extLst>
          </p:nvPr>
        </p:nvGraphicFramePr>
        <p:xfrm>
          <a:off x="190576" y="874994"/>
          <a:ext cx="11566473" cy="4543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250">
                  <a:extLst>
                    <a:ext uri="{9D8B030D-6E8A-4147-A177-3AD203B41FA5}">
                      <a16:colId xmlns:a16="http://schemas.microsoft.com/office/drawing/2014/main" val="806465255"/>
                    </a:ext>
                  </a:extLst>
                </a:gridCol>
                <a:gridCol w="3236914">
                  <a:extLst>
                    <a:ext uri="{9D8B030D-6E8A-4147-A177-3AD203B41FA5}">
                      <a16:colId xmlns:a16="http://schemas.microsoft.com/office/drawing/2014/main" val="3151111579"/>
                    </a:ext>
                  </a:extLst>
                </a:gridCol>
                <a:gridCol w="5126182">
                  <a:extLst>
                    <a:ext uri="{9D8B030D-6E8A-4147-A177-3AD203B41FA5}">
                      <a16:colId xmlns:a16="http://schemas.microsoft.com/office/drawing/2014/main" val="713138923"/>
                    </a:ext>
                  </a:extLst>
                </a:gridCol>
                <a:gridCol w="2741127">
                  <a:extLst>
                    <a:ext uri="{9D8B030D-6E8A-4147-A177-3AD203B41FA5}">
                      <a16:colId xmlns:a16="http://schemas.microsoft.com/office/drawing/2014/main" val="2784813877"/>
                    </a:ext>
                  </a:extLst>
                </a:gridCol>
              </a:tblGrid>
              <a:tr h="36902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Arquivo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Descritivo</a:t>
                      </a:r>
                      <a:r>
                        <a:rPr lang="en-US" dirty="0"/>
                        <a:t> do </a:t>
                      </a:r>
                      <a:r>
                        <a:rPr lang="en-US" dirty="0" err="1"/>
                        <a:t>Arquivo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Processos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55098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776641"/>
                  </a:ext>
                </a:extLst>
              </a:tr>
              <a:tr h="45496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026365"/>
                  </a:ext>
                </a:extLst>
              </a:tr>
              <a:tr h="365387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00334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4D4D4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33850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902459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257971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4D4D4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707250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004720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47129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31086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06428"/>
                  </a:ext>
                </a:extLst>
              </a:tr>
            </a:tbl>
          </a:graphicData>
        </a:graphic>
      </p:graphicFrame>
      <p:sp>
        <p:nvSpPr>
          <p:cNvPr id="119" name="Retângulo 118"/>
          <p:cNvSpPr/>
          <p:nvPr/>
        </p:nvSpPr>
        <p:spPr>
          <a:xfrm>
            <a:off x="296894" y="1334946"/>
            <a:ext cx="253289" cy="165302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1" name="Retângulo 120"/>
          <p:cNvSpPr/>
          <p:nvPr/>
        </p:nvSpPr>
        <p:spPr>
          <a:xfrm>
            <a:off x="296894" y="1729603"/>
            <a:ext cx="253289" cy="165302"/>
          </a:xfrm>
          <a:prstGeom prst="rect">
            <a:avLst/>
          </a:prstGeom>
          <a:solidFill>
            <a:srgbClr val="FFC0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3" name="Retângulo 122"/>
          <p:cNvSpPr/>
          <p:nvPr/>
        </p:nvSpPr>
        <p:spPr>
          <a:xfrm>
            <a:off x="296894" y="2176531"/>
            <a:ext cx="253289" cy="165302"/>
          </a:xfrm>
          <a:prstGeom prst="rect">
            <a:avLst/>
          </a:prstGeom>
          <a:solidFill>
            <a:srgbClr val="00B05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5" name="Retângulo 144"/>
          <p:cNvSpPr/>
          <p:nvPr/>
        </p:nvSpPr>
        <p:spPr>
          <a:xfrm>
            <a:off x="296894" y="2571378"/>
            <a:ext cx="253289" cy="165302"/>
          </a:xfrm>
          <a:prstGeom prst="rect">
            <a:avLst/>
          </a:prstGeom>
          <a:solidFill>
            <a:srgbClr val="FF00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6" name="Elipse 145"/>
          <p:cNvSpPr/>
          <p:nvPr/>
        </p:nvSpPr>
        <p:spPr>
          <a:xfrm>
            <a:off x="9076857" y="2484879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3d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7" name="Elipse 146"/>
          <p:cNvSpPr/>
          <p:nvPr/>
        </p:nvSpPr>
        <p:spPr>
          <a:xfrm>
            <a:off x="9076857" y="1709023"/>
            <a:ext cx="3024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3b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5713108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0022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35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17197" y="119371"/>
            <a:ext cx="10756482" cy="558294"/>
          </a:xfrm>
        </p:spPr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 err="1"/>
              <a:t>Anexo</a:t>
            </a:r>
            <a:r>
              <a:rPr lang="en-US" dirty="0"/>
              <a:t> 2 MLA</a:t>
            </a:r>
          </a:p>
        </p:txBody>
      </p:sp>
      <p:grpSp>
        <p:nvGrpSpPr>
          <p:cNvPr id="13" name="Agrupar 12"/>
          <p:cNvGrpSpPr/>
          <p:nvPr/>
        </p:nvGrpSpPr>
        <p:grpSpPr>
          <a:xfrm>
            <a:off x="314182" y="752692"/>
            <a:ext cx="262347" cy="298880"/>
            <a:chOff x="3722405" y="2929355"/>
            <a:chExt cx="504000" cy="684000"/>
          </a:xfrm>
          <a:solidFill>
            <a:srgbClr val="00B0F0"/>
          </a:solidFill>
        </p:grpSpPr>
        <p:sp>
          <p:nvSpPr>
            <p:cNvPr id="14" name="Canto Dobrado 13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5" name="Conector reto 14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onector reto 15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Conector reto 16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0" name="CaixaDeTexto 19"/>
          <p:cNvSpPr txBox="1"/>
          <p:nvPr/>
        </p:nvSpPr>
        <p:spPr>
          <a:xfrm>
            <a:off x="6793870" y="1180260"/>
            <a:ext cx="170078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Lista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Campos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Atual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5"/>
          <a:srcRect r="4293" b="9113"/>
          <a:stretch/>
        </p:blipFill>
        <p:spPr>
          <a:xfrm>
            <a:off x="314182" y="1198521"/>
            <a:ext cx="8180475" cy="4367638"/>
          </a:xfrm>
          <a:prstGeom prst="rect">
            <a:avLst/>
          </a:prstGeom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785085"/>
              </p:ext>
            </p:extLst>
          </p:nvPr>
        </p:nvGraphicFramePr>
        <p:xfrm>
          <a:off x="8727607" y="1180261"/>
          <a:ext cx="3351321" cy="5516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68561">
                  <a:extLst>
                    <a:ext uri="{9D8B030D-6E8A-4147-A177-3AD203B41FA5}">
                      <a16:colId xmlns:a16="http://schemas.microsoft.com/office/drawing/2014/main" val="1495822265"/>
                    </a:ext>
                  </a:extLst>
                </a:gridCol>
                <a:gridCol w="2182760">
                  <a:extLst>
                    <a:ext uri="{9D8B030D-6E8A-4147-A177-3AD203B41FA5}">
                      <a16:colId xmlns:a16="http://schemas.microsoft.com/office/drawing/2014/main" val="2379270742"/>
                    </a:ext>
                  </a:extLst>
                </a:gridCol>
              </a:tblGrid>
              <a:tr h="16396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 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#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292263"/>
                  </a:ext>
                </a:extLst>
              </a:tr>
              <a:tr h="16396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 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Site ID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26842"/>
                  </a:ext>
                </a:extLst>
              </a:tr>
              <a:tr h="1639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Geolocalização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Latitude (decimal)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72088"/>
                  </a:ext>
                </a:extLst>
              </a:tr>
              <a:tr h="1887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Longitude (decimal)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66058"/>
                  </a:ext>
                </a:extLst>
              </a:tr>
              <a:tr h="1639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Endereço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UF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19334"/>
                  </a:ext>
                </a:extLst>
              </a:tr>
              <a:tr h="163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Município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16677"/>
                  </a:ext>
                </a:extLst>
              </a:tr>
              <a:tr h="163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Endereço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016206"/>
                  </a:ext>
                </a:extLst>
              </a:tr>
              <a:tr h="1639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Estrutura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Tipo de Estrutura 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321051"/>
                  </a:ext>
                </a:extLst>
              </a:tr>
              <a:tr h="163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Altura (m)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540210"/>
                  </a:ext>
                </a:extLst>
              </a:tr>
              <a:tr h="18871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Remuneração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AEV Instalado *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01633"/>
                  </a:ext>
                </a:extLst>
              </a:tr>
              <a:tr h="250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Remuneração Base (R$/mês)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25759"/>
                  </a:ext>
                </a:extLst>
              </a:tr>
              <a:tr h="497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solidFill>
                            <a:srgbClr val="4D4D4D"/>
                          </a:solidFill>
                          <a:effectLst/>
                        </a:rPr>
                        <a:t>Remuneração Adicional na Data do Fechamento (R$/mês)</a:t>
                      </a:r>
                      <a:endParaRPr lang="pt-BR" sz="1100" b="1" i="0" u="none" strike="noStrike" dirty="0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917014"/>
                  </a:ext>
                </a:extLst>
              </a:tr>
              <a:tr h="18871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Ran Sharing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# de Operadoras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646270"/>
                  </a:ext>
                </a:extLst>
              </a:tr>
              <a:tr h="163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Cliente (s)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267865"/>
                  </a:ext>
                </a:extLst>
              </a:tr>
              <a:tr h="373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Remuneração Base de Ran Sharing (R$/mês)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844992"/>
                  </a:ext>
                </a:extLst>
              </a:tr>
              <a:tr h="188717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solidFill>
                            <a:srgbClr val="4D4D4D"/>
                          </a:solidFill>
                          <a:effectLst/>
                        </a:rPr>
                        <a:t>Despesas (na Data de Fechamento)</a:t>
                      </a:r>
                      <a:endParaRPr lang="pt-BR" sz="1100" b="1" i="0" u="none" strike="noStrike" dirty="0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Propriedade do imóvel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656574"/>
                  </a:ext>
                </a:extLst>
              </a:tr>
              <a:tr h="1887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Contrato de Locação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969202"/>
                  </a:ext>
                </a:extLst>
              </a:tr>
              <a:tr h="163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Aluguel mensal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708175"/>
                  </a:ext>
                </a:extLst>
              </a:tr>
              <a:tr h="250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Despesas de energia elétrica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997122"/>
                  </a:ext>
                </a:extLst>
              </a:tr>
              <a:tr h="1887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Condomínio mensal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345834"/>
                  </a:ext>
                </a:extLst>
              </a:tr>
              <a:tr h="1887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solidFill>
                            <a:srgbClr val="4D4D4D"/>
                          </a:solidFill>
                          <a:effectLst/>
                        </a:rPr>
                        <a:t>Total de despesas mensais</a:t>
                      </a:r>
                      <a:endParaRPr lang="pt-BR" sz="1100" b="1" i="0" u="none" strike="noStrike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647151"/>
                  </a:ext>
                </a:extLst>
              </a:tr>
              <a:tr h="15666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solidFill>
                            <a:srgbClr val="4D4D4D"/>
                          </a:solidFill>
                          <a:effectLst/>
                        </a:rPr>
                        <a:t>Informações complementares</a:t>
                      </a:r>
                      <a:endParaRPr lang="pt-BR" sz="1100" b="1" i="0" u="none" strike="noStrike" dirty="0">
                        <a:solidFill>
                          <a:srgbClr val="4D4D4D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u="none" strike="noStrike">
                          <a:solidFill>
                            <a:srgbClr val="4D4D4D"/>
                          </a:solidFill>
                          <a:effectLst/>
                        </a:rPr>
                        <a:t>Contraparte</a:t>
                      </a:r>
                      <a:endParaRPr lang="pt-BR" sz="1050" b="1" i="0" u="none" strike="noStrike">
                        <a:solidFill>
                          <a:srgbClr val="4D4D4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35594"/>
                  </a:ext>
                </a:extLst>
              </a:tr>
              <a:tr h="2303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u="none" strike="noStrike">
                          <a:solidFill>
                            <a:srgbClr val="4D4D4D"/>
                          </a:solidFill>
                          <a:effectLst/>
                        </a:rPr>
                        <a:t>Existe contrato de locação escrito? </a:t>
                      </a:r>
                      <a:endParaRPr lang="pt-BR" sz="1050" b="1" i="0" u="none" strike="noStrike">
                        <a:solidFill>
                          <a:srgbClr val="4D4D4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72783"/>
                  </a:ext>
                </a:extLst>
              </a:tr>
              <a:tr h="3099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u="none" strike="noStrike">
                          <a:solidFill>
                            <a:srgbClr val="4D4D4D"/>
                          </a:solidFill>
                          <a:effectLst/>
                        </a:rPr>
                        <a:t>OI/Afiliadas são proprietárias do imóvel?</a:t>
                      </a:r>
                      <a:endParaRPr lang="pt-BR" sz="1050" b="1" i="0" u="none" strike="noStrike">
                        <a:solidFill>
                          <a:srgbClr val="4D4D4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54169"/>
                  </a:ext>
                </a:extLst>
              </a:tr>
              <a:tr h="156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u="none" strike="noStrike">
                          <a:solidFill>
                            <a:srgbClr val="4D4D4D"/>
                          </a:solidFill>
                          <a:effectLst/>
                        </a:rPr>
                        <a:t>RBR?</a:t>
                      </a:r>
                      <a:endParaRPr lang="pt-BR" sz="1050" b="1" i="0" u="none" strike="noStrike">
                        <a:solidFill>
                          <a:srgbClr val="4D4D4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654331"/>
                  </a:ext>
                </a:extLst>
              </a:tr>
              <a:tr h="2303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u="none" strike="noStrike" dirty="0">
                          <a:solidFill>
                            <a:srgbClr val="4D4D4D"/>
                          </a:solidFill>
                          <a:effectLst/>
                        </a:rPr>
                        <a:t>Compradoras UPI Ativos Móveis?</a:t>
                      </a:r>
                      <a:endParaRPr lang="pt-BR" sz="1050" b="1" i="0" u="none" strike="noStrike" dirty="0">
                        <a:solidFill>
                          <a:srgbClr val="4D4D4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55" marR="3555" marT="355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23158"/>
                  </a:ext>
                </a:extLst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8727608" y="924831"/>
            <a:ext cx="623569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Campos</a:t>
            </a:r>
          </a:p>
        </p:txBody>
      </p:sp>
      <p:sp>
        <p:nvSpPr>
          <p:cNvPr id="22" name="Botão de ação: Início 21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34106560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95746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36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89490" y="119371"/>
            <a:ext cx="10756482" cy="558294"/>
          </a:xfrm>
        </p:spPr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Input_VenusII_SB1_AAAAMMDD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82" y="1186808"/>
            <a:ext cx="9021547" cy="5072144"/>
          </a:xfrm>
          <a:prstGeom prst="rect">
            <a:avLst/>
          </a:prstGeom>
        </p:spPr>
      </p:pic>
      <p:grpSp>
        <p:nvGrpSpPr>
          <p:cNvPr id="6" name="Agrupar 5"/>
          <p:cNvGrpSpPr/>
          <p:nvPr/>
        </p:nvGrpSpPr>
        <p:grpSpPr>
          <a:xfrm>
            <a:off x="319100" y="760368"/>
            <a:ext cx="262347" cy="298880"/>
            <a:chOff x="3722403" y="2929357"/>
            <a:chExt cx="504000" cy="684000"/>
          </a:xfrm>
          <a:solidFill>
            <a:srgbClr val="FF99FF"/>
          </a:solidFill>
        </p:grpSpPr>
        <p:sp>
          <p:nvSpPr>
            <p:cNvPr id="7" name="Canto Dobrado 6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" name="Conector reto 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Conector reto 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Conector reto 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5" name="Retângulo 14"/>
          <p:cNvSpPr/>
          <p:nvPr/>
        </p:nvSpPr>
        <p:spPr>
          <a:xfrm>
            <a:off x="681457" y="751472"/>
            <a:ext cx="44726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Input_VenusII_SB1_AAAAMMDD – aba CONSOLIDADO UF OI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4" name="Botão de ação: Início 13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5980352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228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37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10946" y="119371"/>
            <a:ext cx="10756482" cy="558294"/>
          </a:xfrm>
        </p:spPr>
        <p:txBody>
          <a:bodyPr vert="horz"/>
          <a:lstStyle/>
          <a:p>
            <a:r>
              <a:rPr lang="en-US" dirty="0" err="1">
                <a:solidFill>
                  <a:srgbClr val="4D4D4D"/>
                </a:solidFill>
              </a:rPr>
              <a:t>Exemplo</a:t>
            </a:r>
            <a:r>
              <a:rPr lang="en-US" dirty="0">
                <a:solidFill>
                  <a:srgbClr val="4D4D4D"/>
                </a:solidFill>
              </a:rPr>
              <a:t> do </a:t>
            </a:r>
            <a:r>
              <a:rPr lang="en-US" dirty="0" err="1">
                <a:solidFill>
                  <a:srgbClr val="4D4D4D"/>
                </a:solidFill>
              </a:rPr>
              <a:t>Arquivo</a:t>
            </a:r>
            <a:r>
              <a:rPr lang="en-US" dirty="0">
                <a:solidFill>
                  <a:srgbClr val="4D4D4D"/>
                </a:solidFill>
              </a:rPr>
              <a:t>: Nota fiscal </a:t>
            </a:r>
            <a:r>
              <a:rPr lang="en-US" dirty="0" err="1">
                <a:solidFill>
                  <a:srgbClr val="4D4D4D"/>
                </a:solidFill>
              </a:rPr>
              <a:t>emitida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pelo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aluguel</a:t>
            </a:r>
            <a:r>
              <a:rPr lang="en-US" dirty="0">
                <a:solidFill>
                  <a:srgbClr val="4D4D4D"/>
                </a:solidFill>
              </a:rPr>
              <a:t> das Torres </a:t>
            </a:r>
            <a:r>
              <a:rPr lang="en-US" dirty="0" err="1">
                <a:solidFill>
                  <a:srgbClr val="4D4D4D"/>
                </a:solidFill>
              </a:rPr>
              <a:t>por</a:t>
            </a:r>
            <a:r>
              <a:rPr lang="en-US" dirty="0">
                <a:solidFill>
                  <a:srgbClr val="4D4D4D"/>
                </a:solidFill>
              </a:rPr>
              <a:t> UF </a:t>
            </a:r>
          </a:p>
        </p:txBody>
      </p:sp>
      <p:grpSp>
        <p:nvGrpSpPr>
          <p:cNvPr id="6" name="Agrupar 5"/>
          <p:cNvGrpSpPr/>
          <p:nvPr/>
        </p:nvGrpSpPr>
        <p:grpSpPr>
          <a:xfrm>
            <a:off x="313164" y="772523"/>
            <a:ext cx="262347" cy="298880"/>
            <a:chOff x="3722403" y="2929357"/>
            <a:chExt cx="504000" cy="684000"/>
          </a:xfrm>
          <a:solidFill>
            <a:srgbClr val="CC00CC"/>
          </a:solidFill>
        </p:grpSpPr>
        <p:sp>
          <p:nvSpPr>
            <p:cNvPr id="7" name="Canto Dobrado 6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" name="Conector reto 7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Conector reto 8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Conector reto 9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18" name="Imagem 17"/>
          <p:cNvPicPr>
            <a:picLocks noChangeAspect="1"/>
          </p:cNvPicPr>
          <p:nvPr/>
        </p:nvPicPr>
        <p:blipFill rotWithShape="1">
          <a:blip r:embed="rId5"/>
          <a:srcRect l="32165" t="17036" r="36776" b="5343"/>
          <a:stretch/>
        </p:blipFill>
        <p:spPr>
          <a:xfrm>
            <a:off x="623909" y="677665"/>
            <a:ext cx="4272556" cy="6003410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5088194" y="706519"/>
            <a:ext cx="310373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176213" marR="0" indent="-176213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São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emitidas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27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faturas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–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uma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por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UF. 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 rotWithShape="1">
          <a:blip r:embed="rId6"/>
          <a:srcRect l="23435" t="13963" r="58274" b="10125"/>
          <a:stretch/>
        </p:blipFill>
        <p:spPr>
          <a:xfrm>
            <a:off x="5195347" y="1002660"/>
            <a:ext cx="2326329" cy="5428098"/>
          </a:xfrm>
          <a:prstGeom prst="rect">
            <a:avLst/>
          </a:prstGeom>
        </p:spPr>
      </p:pic>
      <p:sp>
        <p:nvSpPr>
          <p:cNvPr id="14" name="Botão de ação: Início 13">
            <a:hlinkClick r:id="rId7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6064750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5480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38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 err="1">
                <a:solidFill>
                  <a:srgbClr val="4D4D4D"/>
                </a:solidFill>
              </a:rPr>
              <a:t>Pagamento_ContaVinculada_AAAAMMDD</a:t>
            </a:r>
            <a:endParaRPr lang="en-US" dirty="0"/>
          </a:p>
        </p:txBody>
      </p:sp>
      <p:grpSp>
        <p:nvGrpSpPr>
          <p:cNvPr id="11" name="Agrupar 10"/>
          <p:cNvGrpSpPr/>
          <p:nvPr/>
        </p:nvGrpSpPr>
        <p:grpSpPr>
          <a:xfrm>
            <a:off x="433361" y="677665"/>
            <a:ext cx="383776" cy="450736"/>
            <a:chOff x="1460542" y="2510839"/>
            <a:chExt cx="421302" cy="597202"/>
          </a:xfrm>
        </p:grpSpPr>
        <p:grpSp>
          <p:nvGrpSpPr>
            <p:cNvPr id="13" name="Agrupar 12"/>
            <p:cNvGrpSpPr/>
            <p:nvPr/>
          </p:nvGrpSpPr>
          <p:grpSpPr>
            <a:xfrm>
              <a:off x="1460542" y="2510839"/>
              <a:ext cx="288000" cy="396000"/>
              <a:chOff x="3722405" y="2929355"/>
              <a:chExt cx="504000" cy="684000"/>
            </a:xfrm>
          </p:grpSpPr>
          <p:sp>
            <p:nvSpPr>
              <p:cNvPr id="15" name="Canto Dobrado 14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" name="Conector reto 15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" name="Conector reto 16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" name="Conector reto 17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4" name="Elipse 13"/>
            <p:cNvSpPr/>
            <p:nvPr/>
          </p:nvSpPr>
          <p:spPr>
            <a:xfrm>
              <a:off x="1629844" y="2805255"/>
              <a:ext cx="252000" cy="30278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@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9" name="Botão de ação: Início 18">
            <a:hlinkClick r:id="rId5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6"/>
          <a:srcRect r="44037" b="7292"/>
          <a:stretch/>
        </p:blipFill>
        <p:spPr>
          <a:xfrm>
            <a:off x="433361" y="1178470"/>
            <a:ext cx="5795422" cy="539775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810" y="930496"/>
            <a:ext cx="3600450" cy="5743575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815810" y="655141"/>
            <a:ext cx="325485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Proporção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Atual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 MLA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505248211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0267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39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 err="1">
                <a:solidFill>
                  <a:srgbClr val="4D4D4D"/>
                </a:solidFill>
              </a:rPr>
              <a:t>Planilha</a:t>
            </a:r>
            <a:r>
              <a:rPr lang="en-US" dirty="0">
                <a:solidFill>
                  <a:srgbClr val="4D4D4D"/>
                </a:solidFill>
              </a:rPr>
              <a:t> DEINF de </a:t>
            </a:r>
            <a:r>
              <a:rPr lang="en-US" dirty="0" err="1">
                <a:solidFill>
                  <a:srgbClr val="4D4D4D"/>
                </a:solidFill>
              </a:rPr>
              <a:t>cada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contrato</a:t>
            </a:r>
            <a:r>
              <a:rPr lang="en-US" dirty="0">
                <a:solidFill>
                  <a:srgbClr val="4D4D4D"/>
                </a:solidFill>
              </a:rPr>
              <a:t>/ </a:t>
            </a:r>
            <a:r>
              <a:rPr lang="en-US" dirty="0" err="1">
                <a:solidFill>
                  <a:srgbClr val="4D4D4D"/>
                </a:solidFill>
              </a:rPr>
              <a:t>operadora</a:t>
            </a:r>
            <a:endParaRPr lang="en-US" dirty="0"/>
          </a:p>
        </p:txBody>
      </p:sp>
      <p:grpSp>
        <p:nvGrpSpPr>
          <p:cNvPr id="11" name="Agrupar 10"/>
          <p:cNvGrpSpPr/>
          <p:nvPr/>
        </p:nvGrpSpPr>
        <p:grpSpPr>
          <a:xfrm>
            <a:off x="413766" y="677665"/>
            <a:ext cx="262347" cy="298880"/>
            <a:chOff x="3722405" y="2929355"/>
            <a:chExt cx="504000" cy="684000"/>
          </a:xfrm>
          <a:solidFill>
            <a:schemeClr val="bg1">
              <a:lumMod val="65000"/>
            </a:schemeClr>
          </a:solidFill>
        </p:grpSpPr>
        <p:sp>
          <p:nvSpPr>
            <p:cNvPr id="13" name="Canto Dobrado 1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" name="Conector reto 1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Conector reto 1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onector reto 1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7" name="CaixaDeTexto 16"/>
          <p:cNvSpPr txBox="1"/>
          <p:nvPr/>
        </p:nvSpPr>
        <p:spPr>
          <a:xfrm>
            <a:off x="884903" y="607330"/>
            <a:ext cx="991091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isão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apurados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faturar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en-US" dirty="0">
                <a:solidFill>
                  <a:srgbClr val="4D4D4D"/>
                </a:solidFill>
              </a:rPr>
              <a:t>para as </a:t>
            </a:r>
            <a:r>
              <a:rPr lang="en-US" dirty="0" err="1">
                <a:solidFill>
                  <a:srgbClr val="4D4D4D"/>
                </a:solidFill>
              </a:rPr>
              <a:t>operadoras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referente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ao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uso</a:t>
            </a:r>
            <a:r>
              <a:rPr lang="en-US" dirty="0">
                <a:solidFill>
                  <a:srgbClr val="4D4D4D"/>
                </a:solidFill>
              </a:rPr>
              <a:t> das </a:t>
            </a:r>
            <a:r>
              <a:rPr lang="en-US" dirty="0" err="1">
                <a:solidFill>
                  <a:srgbClr val="4D4D4D"/>
                </a:solidFill>
              </a:rPr>
              <a:t>torres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Lemvig</a:t>
            </a:r>
            <a:r>
              <a:rPr lang="en-US" dirty="0">
                <a:solidFill>
                  <a:srgbClr val="4D4D4D"/>
                </a:solidFill>
              </a:rPr>
              <a:t> de </a:t>
            </a:r>
            <a:r>
              <a:rPr lang="en-US" dirty="0" err="1">
                <a:solidFill>
                  <a:srgbClr val="4D4D4D"/>
                </a:solidFill>
              </a:rPr>
              <a:t>seus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respectivos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contratos</a:t>
            </a:r>
            <a:r>
              <a:rPr lang="en-US" dirty="0">
                <a:solidFill>
                  <a:srgbClr val="4D4D4D"/>
                </a:solidFill>
              </a:rPr>
              <a:t>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Contempla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base fee, solo,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climatização</a:t>
            </a:r>
            <a:r>
              <a:rPr lang="en-US" dirty="0">
                <a:solidFill>
                  <a:srgbClr val="4D4D4D"/>
                </a:solidFill>
              </a:rPr>
              <a:t>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" y="1290438"/>
            <a:ext cx="8984515" cy="5051323"/>
          </a:xfrm>
          <a:prstGeom prst="rect">
            <a:avLst/>
          </a:prstGeom>
        </p:spPr>
      </p:pic>
      <p:sp>
        <p:nvSpPr>
          <p:cNvPr id="18" name="Botão de ação: Início 17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9317214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5698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40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 err="1">
                <a:solidFill>
                  <a:srgbClr val="4D4D4D"/>
                </a:solidFill>
              </a:rPr>
              <a:t>Planilha</a:t>
            </a:r>
            <a:r>
              <a:rPr lang="en-US" dirty="0">
                <a:solidFill>
                  <a:srgbClr val="4D4D4D"/>
                </a:solidFill>
              </a:rPr>
              <a:t> DEINF </a:t>
            </a:r>
            <a:r>
              <a:rPr lang="en-US" dirty="0" err="1">
                <a:solidFill>
                  <a:srgbClr val="4D4D4D"/>
                </a:solidFill>
              </a:rPr>
              <a:t>validada</a:t>
            </a:r>
            <a:r>
              <a:rPr lang="en-US" dirty="0">
                <a:solidFill>
                  <a:srgbClr val="4D4D4D"/>
                </a:solidFill>
              </a:rPr>
              <a:t> de </a:t>
            </a:r>
            <a:r>
              <a:rPr lang="en-US" dirty="0" err="1">
                <a:solidFill>
                  <a:srgbClr val="4D4D4D"/>
                </a:solidFill>
              </a:rPr>
              <a:t>cada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contrato</a:t>
            </a:r>
            <a:r>
              <a:rPr lang="en-US" dirty="0">
                <a:solidFill>
                  <a:srgbClr val="4D4D4D"/>
                </a:solidFill>
              </a:rPr>
              <a:t>/</a:t>
            </a:r>
            <a:r>
              <a:rPr lang="en-US" dirty="0" err="1">
                <a:solidFill>
                  <a:srgbClr val="4D4D4D"/>
                </a:solidFill>
              </a:rPr>
              <a:t>operadora</a:t>
            </a:r>
            <a:r>
              <a:rPr lang="en-US" dirty="0">
                <a:solidFill>
                  <a:srgbClr val="4D4D4D"/>
                </a:solidFill>
              </a:rPr>
              <a:t> </a:t>
            </a:r>
            <a:endParaRPr lang="en-US" dirty="0"/>
          </a:p>
        </p:txBody>
      </p:sp>
      <p:grpSp>
        <p:nvGrpSpPr>
          <p:cNvPr id="22" name="Agrupar 21"/>
          <p:cNvGrpSpPr/>
          <p:nvPr/>
        </p:nvGrpSpPr>
        <p:grpSpPr>
          <a:xfrm>
            <a:off x="433895" y="677665"/>
            <a:ext cx="252000" cy="324000"/>
            <a:chOff x="3722405" y="2929355"/>
            <a:chExt cx="504000" cy="684000"/>
          </a:xfrm>
          <a:solidFill>
            <a:schemeClr val="bg1">
              <a:lumMod val="95000"/>
            </a:schemeClr>
          </a:solidFill>
        </p:grpSpPr>
        <p:sp>
          <p:nvSpPr>
            <p:cNvPr id="23" name="Canto Dobrado 2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4" name="Conector reto 2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Conector reto 2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Conector reto 2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8" name="CaixaDeTexto 27"/>
          <p:cNvSpPr txBox="1"/>
          <p:nvPr/>
        </p:nvSpPr>
        <p:spPr>
          <a:xfrm>
            <a:off x="884904" y="607330"/>
            <a:ext cx="914087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isão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validados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pelas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referente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uso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das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torres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Lemvig</a:t>
            </a:r>
            <a:r>
              <a:rPr lang="en-US" dirty="0">
                <a:solidFill>
                  <a:srgbClr val="4D4D4D"/>
                </a:solidFill>
              </a:rPr>
              <a:t> de </a:t>
            </a:r>
            <a:r>
              <a:rPr lang="en-US" dirty="0" err="1">
                <a:solidFill>
                  <a:srgbClr val="4D4D4D"/>
                </a:solidFill>
              </a:rPr>
              <a:t>seus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respectivos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Contempla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base fee, solo,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climatização</a:t>
            </a:r>
            <a:r>
              <a:rPr lang="en-US" dirty="0">
                <a:solidFill>
                  <a:srgbClr val="4D4D4D"/>
                </a:solidFill>
              </a:rPr>
              <a:t>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96" y="1174842"/>
            <a:ext cx="9196801" cy="5170676"/>
          </a:xfrm>
          <a:prstGeom prst="rect">
            <a:avLst/>
          </a:prstGeom>
        </p:spPr>
      </p:pic>
      <p:sp>
        <p:nvSpPr>
          <p:cNvPr id="13" name="Botão de ação: Início 12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6801803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9231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41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 err="1">
                <a:solidFill>
                  <a:srgbClr val="4D4D4D"/>
                </a:solidFill>
              </a:rPr>
              <a:t>Planilha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Engrenagem</a:t>
            </a:r>
            <a:endParaRPr lang="en-US" dirty="0"/>
          </a:p>
        </p:txBody>
      </p:sp>
      <p:grpSp>
        <p:nvGrpSpPr>
          <p:cNvPr id="11" name="Agrupar 10"/>
          <p:cNvGrpSpPr/>
          <p:nvPr/>
        </p:nvGrpSpPr>
        <p:grpSpPr>
          <a:xfrm>
            <a:off x="427995" y="677665"/>
            <a:ext cx="252000" cy="324000"/>
            <a:chOff x="3722405" y="2929355"/>
            <a:chExt cx="504000" cy="684000"/>
          </a:xfrm>
          <a:solidFill>
            <a:srgbClr val="FFFF00"/>
          </a:solidFill>
        </p:grpSpPr>
        <p:sp>
          <p:nvSpPr>
            <p:cNvPr id="13" name="Canto Dobrado 12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" name="Conector reto 1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Conector reto 1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onector reto 1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6" name="CaixaDeTexto 25"/>
          <p:cNvSpPr txBox="1"/>
          <p:nvPr/>
        </p:nvSpPr>
        <p:spPr>
          <a:xfrm>
            <a:off x="884903" y="607330"/>
            <a:ext cx="982242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isão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consolidada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validados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pelas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operadoras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referente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uso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das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torres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Lemvig</a:t>
            </a:r>
            <a:r>
              <a:rPr lang="en-US" dirty="0">
                <a:solidFill>
                  <a:srgbClr val="4D4D4D"/>
                </a:solidFill>
              </a:rPr>
              <a:t> de </a:t>
            </a:r>
            <a:r>
              <a:rPr lang="en-US" dirty="0" err="1">
                <a:solidFill>
                  <a:srgbClr val="4D4D4D"/>
                </a:solidFill>
              </a:rPr>
              <a:t>seus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respectivos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contratos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Contempla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valores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de base fee, solo,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climatização</a:t>
            </a:r>
            <a:r>
              <a:rPr lang="en-US" dirty="0">
                <a:solidFill>
                  <a:srgbClr val="4D4D4D"/>
                </a:solidFill>
              </a:rPr>
              <a:t>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5"/>
          <a:srcRect l="4811" t="6404" r="740" b="7722"/>
          <a:stretch/>
        </p:blipFill>
        <p:spPr>
          <a:xfrm>
            <a:off x="376971" y="1288142"/>
            <a:ext cx="9896168" cy="5058698"/>
          </a:xfrm>
          <a:prstGeom prst="rect">
            <a:avLst/>
          </a:prstGeom>
        </p:spPr>
      </p:pic>
      <p:sp>
        <p:nvSpPr>
          <p:cNvPr id="17" name="Botão de ação: Início 16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9042433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6423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42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hangingPunct="0"/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 err="1">
                <a:solidFill>
                  <a:srgbClr val="4D4D4D"/>
                </a:solidFill>
              </a:rPr>
              <a:t>Faturamento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consolidado</a:t>
            </a:r>
            <a:r>
              <a:rPr lang="en-US" dirty="0">
                <a:solidFill>
                  <a:srgbClr val="4D4D4D"/>
                </a:solidFill>
              </a:rPr>
              <a:t> dos </a:t>
            </a:r>
            <a:r>
              <a:rPr lang="en-US" dirty="0" err="1">
                <a:solidFill>
                  <a:srgbClr val="4D4D4D"/>
                </a:solidFill>
              </a:rPr>
              <a:t>contratos</a:t>
            </a:r>
            <a:r>
              <a:rPr lang="en-US" dirty="0">
                <a:solidFill>
                  <a:srgbClr val="4D4D4D"/>
                </a:solidFill>
              </a:rPr>
              <a:t> das </a:t>
            </a:r>
            <a:r>
              <a:rPr lang="en-US" dirty="0" err="1">
                <a:solidFill>
                  <a:srgbClr val="4D4D4D"/>
                </a:solidFill>
              </a:rPr>
              <a:t>operadoras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por</a:t>
            </a:r>
            <a:r>
              <a:rPr lang="en-US" dirty="0">
                <a:solidFill>
                  <a:srgbClr val="4D4D4D"/>
                </a:solidFill>
              </a:rPr>
              <a:t> UF </a:t>
            </a:r>
          </a:p>
        </p:txBody>
      </p:sp>
      <p:grpSp>
        <p:nvGrpSpPr>
          <p:cNvPr id="11" name="Agrupar 10"/>
          <p:cNvGrpSpPr/>
          <p:nvPr/>
        </p:nvGrpSpPr>
        <p:grpSpPr>
          <a:xfrm>
            <a:off x="427995" y="686659"/>
            <a:ext cx="262347" cy="298880"/>
            <a:chOff x="3722403" y="2929357"/>
            <a:chExt cx="504000" cy="684000"/>
          </a:xfrm>
          <a:solidFill>
            <a:srgbClr val="FFC000"/>
          </a:solidFill>
        </p:grpSpPr>
        <p:sp>
          <p:nvSpPr>
            <p:cNvPr id="13" name="Canto Dobrado 12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" name="Conector reto 1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Conector reto 1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onector reto 1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95" y="1249610"/>
            <a:ext cx="8958281" cy="5036574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38740" y="715241"/>
            <a:ext cx="48862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Input_VenusII_SB1_AAAAMMDD – aba CONSOLIDADO UF LEMVIG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7" name="Botão de ação: Início 16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94115500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1509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43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>
                <a:solidFill>
                  <a:srgbClr val="4D4D4D"/>
                </a:solidFill>
              </a:rPr>
              <a:t>Nota fiscal </a:t>
            </a:r>
            <a:r>
              <a:rPr lang="en-US" dirty="0" err="1">
                <a:solidFill>
                  <a:srgbClr val="4D4D4D"/>
                </a:solidFill>
              </a:rPr>
              <a:t>emitida</a:t>
            </a:r>
            <a:r>
              <a:rPr lang="en-US" dirty="0">
                <a:solidFill>
                  <a:srgbClr val="4D4D4D"/>
                </a:solidFill>
              </a:rPr>
              <a:t> para </a:t>
            </a:r>
            <a:r>
              <a:rPr lang="en-US" dirty="0" err="1">
                <a:solidFill>
                  <a:srgbClr val="4D4D4D"/>
                </a:solidFill>
              </a:rPr>
              <a:t>cada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contrato</a:t>
            </a:r>
            <a:r>
              <a:rPr lang="en-US" dirty="0">
                <a:solidFill>
                  <a:srgbClr val="4D4D4D"/>
                </a:solidFill>
              </a:rPr>
              <a:t> da </a:t>
            </a:r>
            <a:r>
              <a:rPr lang="en-US" dirty="0" err="1">
                <a:solidFill>
                  <a:srgbClr val="4D4D4D"/>
                </a:solidFill>
              </a:rPr>
              <a:t>operadora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por</a:t>
            </a:r>
            <a:r>
              <a:rPr lang="en-US" dirty="0">
                <a:solidFill>
                  <a:srgbClr val="4D4D4D"/>
                </a:solidFill>
              </a:rPr>
              <a:t> UF </a:t>
            </a:r>
            <a:br>
              <a:rPr lang="en-US" dirty="0">
                <a:solidFill>
                  <a:srgbClr val="4D4D4D"/>
                </a:solidFill>
              </a:rPr>
            </a:br>
            <a:endParaRPr lang="en-US" dirty="0"/>
          </a:p>
        </p:txBody>
      </p:sp>
      <p:grpSp>
        <p:nvGrpSpPr>
          <p:cNvPr id="20" name="Agrupar 19"/>
          <p:cNvGrpSpPr/>
          <p:nvPr/>
        </p:nvGrpSpPr>
        <p:grpSpPr>
          <a:xfrm>
            <a:off x="405560" y="686521"/>
            <a:ext cx="262800" cy="298800"/>
            <a:chOff x="3722403" y="2929357"/>
            <a:chExt cx="504000" cy="6840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1" name="Canto Dobrado 20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2" name="Conector reto 2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Conector reto 2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Conector reto 2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5"/>
          <a:srcRect l="23211" t="16834" r="45958" b="5343"/>
          <a:stretch/>
        </p:blipFill>
        <p:spPr>
          <a:xfrm>
            <a:off x="855406" y="677665"/>
            <a:ext cx="4011561" cy="5692878"/>
          </a:xfrm>
          <a:prstGeom prst="rect">
            <a:avLst/>
          </a:prstGeom>
        </p:spPr>
      </p:pic>
      <p:sp>
        <p:nvSpPr>
          <p:cNvPr id="13" name="Botão de ação: Início 12">
            <a:hlinkClick r:id="rId6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60154856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2409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44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>
                <a:solidFill>
                  <a:srgbClr val="4D4D4D"/>
                </a:solidFill>
              </a:rPr>
              <a:t>DEINF de </a:t>
            </a:r>
            <a:r>
              <a:rPr lang="en-US" dirty="0" err="1">
                <a:solidFill>
                  <a:srgbClr val="4D4D4D"/>
                </a:solidFill>
              </a:rPr>
              <a:t>Energia</a:t>
            </a:r>
            <a:endParaRPr lang="en-US" dirty="0">
              <a:solidFill>
                <a:srgbClr val="4D4D4D"/>
              </a:solidFill>
            </a:endParaRPr>
          </a:p>
        </p:txBody>
      </p:sp>
      <p:grpSp>
        <p:nvGrpSpPr>
          <p:cNvPr id="11" name="Agrupar 10"/>
          <p:cNvGrpSpPr/>
          <p:nvPr/>
        </p:nvGrpSpPr>
        <p:grpSpPr>
          <a:xfrm>
            <a:off x="427995" y="686659"/>
            <a:ext cx="262347" cy="298880"/>
            <a:chOff x="3722403" y="2929357"/>
            <a:chExt cx="504000" cy="684000"/>
          </a:xfrm>
          <a:solidFill>
            <a:schemeClr val="bg1"/>
          </a:solidFill>
        </p:grpSpPr>
        <p:sp>
          <p:nvSpPr>
            <p:cNvPr id="13" name="Canto Dobrado 12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14" name="Conector reto 13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Conector reto 14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onector reto 15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7" name="Botão de ação: Início 16">
            <a:hlinkClick r:id="rId5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6251303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23973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2" name="Objeto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45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: </a:t>
            </a:r>
            <a:r>
              <a:rPr lang="en-US" dirty="0">
                <a:solidFill>
                  <a:srgbClr val="4D4D4D"/>
                </a:solidFill>
              </a:rPr>
              <a:t>Nota de </a:t>
            </a:r>
            <a:r>
              <a:rPr lang="en-US" dirty="0" err="1">
                <a:solidFill>
                  <a:srgbClr val="4D4D4D"/>
                </a:solidFill>
              </a:rPr>
              <a:t>débito</a:t>
            </a:r>
            <a:r>
              <a:rPr lang="en-US" dirty="0">
                <a:solidFill>
                  <a:srgbClr val="4D4D4D"/>
                </a:solidFill>
              </a:rPr>
              <a:t> de </a:t>
            </a:r>
            <a:r>
              <a:rPr lang="en-US" dirty="0" err="1">
                <a:solidFill>
                  <a:srgbClr val="4D4D4D"/>
                </a:solidFill>
              </a:rPr>
              <a:t>repasse</a:t>
            </a:r>
            <a:r>
              <a:rPr lang="en-US" dirty="0">
                <a:solidFill>
                  <a:srgbClr val="4D4D4D"/>
                </a:solidFill>
              </a:rPr>
              <a:t> de </a:t>
            </a:r>
            <a:r>
              <a:rPr lang="en-US" dirty="0" err="1">
                <a:solidFill>
                  <a:srgbClr val="4D4D4D"/>
                </a:solidFill>
              </a:rPr>
              <a:t>energia</a:t>
            </a:r>
            <a:endParaRPr lang="en-US" dirty="0"/>
          </a:p>
        </p:txBody>
      </p:sp>
      <p:grpSp>
        <p:nvGrpSpPr>
          <p:cNvPr id="20" name="Agrupar 19"/>
          <p:cNvGrpSpPr/>
          <p:nvPr/>
        </p:nvGrpSpPr>
        <p:grpSpPr>
          <a:xfrm>
            <a:off x="405560" y="686521"/>
            <a:ext cx="262800" cy="298800"/>
            <a:chOff x="3722403" y="2929357"/>
            <a:chExt cx="504000" cy="6840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1" name="Canto Dobrado 20"/>
            <p:cNvSpPr/>
            <p:nvPr/>
          </p:nvSpPr>
          <p:spPr>
            <a:xfrm rot="16200000">
              <a:off x="3632403" y="3019357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22" name="Conector reto 21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Conector reto 22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Conector reto 23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1" name="Botão de ação: Início 10">
            <a:hlinkClick r:id="rId5" action="ppaction://hlinksldjump" highlightClick="1"/>
          </p:cNvPr>
          <p:cNvSpPr/>
          <p:nvPr/>
        </p:nvSpPr>
        <p:spPr>
          <a:xfrm>
            <a:off x="11845409" y="822774"/>
            <a:ext cx="216000" cy="215444"/>
          </a:xfrm>
          <a:prstGeom prst="actionButtonBeginning">
            <a:avLst/>
          </a:prstGeom>
          <a:solidFill>
            <a:schemeClr val="bg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6"/>
          <a:srcRect l="33708" t="22401" r="34986" b="5440"/>
          <a:stretch/>
        </p:blipFill>
        <p:spPr>
          <a:xfrm>
            <a:off x="405560" y="1090839"/>
            <a:ext cx="4073236" cy="5278582"/>
          </a:xfrm>
          <a:prstGeom prst="rect">
            <a:avLst/>
          </a:prstGeom>
          <a:ln>
            <a:solidFill>
              <a:srgbClr val="4D4D4D"/>
            </a:solidFill>
          </a:ln>
        </p:spPr>
      </p:pic>
      <p:sp>
        <p:nvSpPr>
          <p:cNvPr id="6" name="CaixaDeTexto 5"/>
          <p:cNvSpPr txBox="1"/>
          <p:nvPr/>
        </p:nvSpPr>
        <p:spPr>
          <a:xfrm>
            <a:off x="4611660" y="1090839"/>
            <a:ext cx="173758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Exemplo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gerado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para a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Calitéia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38591312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46</a:t>
            </a:fld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62001" y="613176"/>
            <a:ext cx="10742490" cy="518283"/>
          </a:xfrm>
        </p:spPr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faturados</a:t>
            </a:r>
            <a:r>
              <a:rPr lang="en-US" dirty="0"/>
              <a:t>, </a:t>
            </a:r>
            <a:r>
              <a:rPr lang="en-US" dirty="0" err="1"/>
              <a:t>Apurados</a:t>
            </a:r>
            <a:r>
              <a:rPr lang="en-US" dirty="0"/>
              <a:t> e </a:t>
            </a:r>
            <a:r>
              <a:rPr lang="en-US" dirty="0" err="1"/>
              <a:t>Acertos</a:t>
            </a:r>
            <a:r>
              <a:rPr lang="en-US" dirty="0"/>
              <a:t> a </a:t>
            </a:r>
            <a:r>
              <a:rPr lang="en-US" dirty="0" err="1"/>
              <a:t>executar</a:t>
            </a:r>
            <a:r>
              <a:rPr lang="en-US" dirty="0"/>
              <a:t> entre Oi e </a:t>
            </a:r>
            <a:r>
              <a:rPr lang="en-US" dirty="0" err="1"/>
              <a:t>Lemvig</a:t>
            </a:r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Fev</a:t>
            </a:r>
            <a:r>
              <a:rPr lang="en-US" dirty="0"/>
              <a:t>/23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Mar/23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Jan/23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ítulo 2"/>
          <p:cNvSpPr txBox="1">
            <a:spLocks/>
          </p:cNvSpPr>
          <p:nvPr/>
        </p:nvSpPr>
        <p:spPr>
          <a:xfrm>
            <a:off x="48009" y="106006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en-US" dirty="0" err="1"/>
              <a:t>Resumo</a:t>
            </a:r>
            <a:r>
              <a:rPr lang="en-US" dirty="0"/>
              <a:t> dos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consolidados</a:t>
            </a:r>
            <a:endParaRPr lang="en-US" dirty="0"/>
          </a:p>
        </p:txBody>
      </p:sp>
      <p:sp>
        <p:nvSpPr>
          <p:cNvPr id="3" name="CaixaDeTexto 2"/>
          <p:cNvSpPr txBox="1"/>
          <p:nvPr/>
        </p:nvSpPr>
        <p:spPr>
          <a:xfrm>
            <a:off x="10683369" y="1163702"/>
            <a:ext cx="2005781" cy="21544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Anderson</a:t>
            </a:r>
          </a:p>
        </p:txBody>
      </p:sp>
    </p:spTree>
    <p:extLst>
      <p:ext uri="{BB962C8B-B14F-4D97-AF65-F5344CB8AC3E}">
        <p14:creationId xmlns:p14="http://schemas.microsoft.com/office/powerpoint/2010/main" val="416726929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528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836559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tângulo 94"/>
          <p:cNvSpPr/>
          <p:nvPr/>
        </p:nvSpPr>
        <p:spPr>
          <a:xfrm>
            <a:off x="90812" y="814651"/>
            <a:ext cx="11952000" cy="16072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545998"/>
            <a:ext cx="11952000" cy="16072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3348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48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</a:t>
            </a:r>
            <a:r>
              <a:rPr lang="en-US" dirty="0" err="1"/>
              <a:t>fluxo</a:t>
            </a:r>
            <a:r>
              <a:rPr lang="en-US" dirty="0"/>
              <a:t> de </a:t>
            </a:r>
            <a:r>
              <a:rPr lang="en-US" dirty="0" err="1"/>
              <a:t>energia</a:t>
            </a:r>
            <a:r>
              <a:rPr lang="en-US" dirty="0"/>
              <a:t> | </a:t>
            </a:r>
            <a:r>
              <a:rPr lang="en-US" dirty="0" err="1"/>
              <a:t>Discutido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15.03.2023</a:t>
            </a:r>
          </a:p>
        </p:txBody>
      </p:sp>
      <p:graphicFrame>
        <p:nvGraphicFramePr>
          <p:cNvPr id="7" name="Diagrama 6"/>
          <p:cNvGraphicFramePr/>
          <p:nvPr/>
        </p:nvGraphicFramePr>
        <p:xfrm>
          <a:off x="1331564" y="2645947"/>
          <a:ext cx="1146164" cy="135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81099" y="2820099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Carolina </a:t>
            </a:r>
            <a:r>
              <a:rPr lang="en-US" dirty="0" err="1"/>
              <a:t>Arlota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Adriana </a:t>
            </a:r>
            <a:r>
              <a:rPr lang="en-US" dirty="0" err="1"/>
              <a:t>Lenine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11" name="Diagrama 10"/>
          <p:cNvGraphicFramePr/>
          <p:nvPr/>
        </p:nvGraphicFramePr>
        <p:xfrm>
          <a:off x="7673352" y="2645947"/>
          <a:ext cx="1158660" cy="1411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42" name="Seta para a Direita 4"/>
          <p:cNvSpPr txBox="1"/>
          <p:nvPr/>
        </p:nvSpPr>
        <p:spPr>
          <a:xfrm rot="5400000" flipV="1">
            <a:off x="11085162" y="3582406"/>
            <a:ext cx="579599" cy="19583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300" kern="1200" dirty="0"/>
          </a:p>
        </p:txBody>
      </p:sp>
      <p:sp>
        <p:nvSpPr>
          <p:cNvPr id="43" name="Retângulo 42"/>
          <p:cNvSpPr/>
          <p:nvPr/>
        </p:nvSpPr>
        <p:spPr>
          <a:xfrm>
            <a:off x="9222878" y="3175522"/>
            <a:ext cx="2232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1" name="CaixaDeTexto 50"/>
          <p:cNvSpPr txBox="1"/>
          <p:nvPr/>
        </p:nvSpPr>
        <p:spPr>
          <a:xfrm flipH="1">
            <a:off x="126621" y="4291455"/>
            <a:ext cx="12445241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  <a:endParaRPr lang="pt-BR" sz="1100" dirty="0">
              <a:solidFill>
                <a:srgbClr val="4D4D4D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Nota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débito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emitida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para a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Lemvig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só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considera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pelas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operadoras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.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serão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sym typeface="Simplon BP Regular"/>
              </a:rPr>
              <a:t>ônus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da Oi.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</a:t>
            </a:r>
          </a:p>
        </p:txBody>
      </p:sp>
      <p:grpSp>
        <p:nvGrpSpPr>
          <p:cNvPr id="58" name="Agrupar 57"/>
          <p:cNvGrpSpPr/>
          <p:nvPr/>
        </p:nvGrpSpPr>
        <p:grpSpPr>
          <a:xfrm>
            <a:off x="2346555" y="3744874"/>
            <a:ext cx="262347" cy="298880"/>
            <a:chOff x="3722405" y="2929355"/>
            <a:chExt cx="504000" cy="684000"/>
          </a:xfrm>
        </p:grpSpPr>
        <p:sp>
          <p:nvSpPr>
            <p:cNvPr id="60" name="Canto Dobrado 5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solidFill>
              <a:srgbClr val="FFFFFF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1" name="Conector reto 6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Conector reto 6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Conector reto 6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84" name="Agrupar 83"/>
          <p:cNvGrpSpPr/>
          <p:nvPr/>
        </p:nvGrpSpPr>
        <p:grpSpPr>
          <a:xfrm>
            <a:off x="8705128" y="3797177"/>
            <a:ext cx="262347" cy="298880"/>
            <a:chOff x="3722405" y="2929355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5" name="Canto Dobrado 84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6" name="Conector reto 85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7" name="Conector reto 8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8" name="Conector reto 8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6" name="CaixaDeTexto 95"/>
          <p:cNvSpPr txBox="1"/>
          <p:nvPr/>
        </p:nvSpPr>
        <p:spPr>
          <a:xfrm>
            <a:off x="239101" y="1399305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Atacado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Andre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Telles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chemeClr val="bg1">
                    <a:lumMod val="65000"/>
                  </a:schemeClr>
                </a:solidFill>
              </a:rPr>
              <a:t>Maria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Cecilia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239101" y="1068017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9" name="Agrupar 98"/>
          <p:cNvGrpSpPr/>
          <p:nvPr/>
        </p:nvGrpSpPr>
        <p:grpSpPr>
          <a:xfrm>
            <a:off x="1327274" y="968448"/>
            <a:ext cx="9070339" cy="1480341"/>
            <a:chOff x="1331564" y="3403393"/>
            <a:chExt cx="9070339" cy="1480341"/>
          </a:xfrm>
        </p:grpSpPr>
        <p:graphicFrame>
          <p:nvGraphicFramePr>
            <p:cNvPr id="100" name="Diagrama 99"/>
            <p:cNvGraphicFramePr/>
            <p:nvPr/>
          </p:nvGraphicFramePr>
          <p:xfrm>
            <a:off x="1331564" y="3403393"/>
            <a:ext cx="9070339" cy="131609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" r:lo="rId16" r:qs="rId17" r:cs="rId18"/>
            </a:graphicData>
          </a:graphic>
        </p:graphicFrame>
        <p:grpSp>
          <p:nvGrpSpPr>
            <p:cNvPr id="101" name="Agrupar 100"/>
            <p:cNvGrpSpPr/>
            <p:nvPr/>
          </p:nvGrpSpPr>
          <p:grpSpPr>
            <a:xfrm>
              <a:off x="2348857" y="4520834"/>
              <a:ext cx="262347" cy="298880"/>
              <a:chOff x="3722408" y="2929356"/>
              <a:chExt cx="504000" cy="684000"/>
            </a:xfrm>
            <a:solidFill>
              <a:srgbClr val="FFFF00"/>
            </a:solidFill>
          </p:grpSpPr>
          <p:sp>
            <p:nvSpPr>
              <p:cNvPr id="112" name="Canto Dobrado 111"/>
              <p:cNvSpPr/>
              <p:nvPr/>
            </p:nvSpPr>
            <p:spPr>
              <a:xfrm rot="16200000">
                <a:off x="3632408" y="3019356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13" name="Conector reto 112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4" name="Conector reto 113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5" name="Conector reto 114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2" name="Agrupar 101"/>
            <p:cNvGrpSpPr/>
            <p:nvPr/>
          </p:nvGrpSpPr>
          <p:grpSpPr>
            <a:xfrm>
              <a:off x="3961347" y="4525700"/>
              <a:ext cx="262347" cy="298880"/>
              <a:chOff x="3722408" y="2929356"/>
              <a:chExt cx="504000" cy="684000"/>
            </a:xfrm>
            <a:solidFill>
              <a:schemeClr val="bg1">
                <a:lumMod val="65000"/>
              </a:schemeClr>
            </a:solidFill>
          </p:grpSpPr>
          <p:sp>
            <p:nvSpPr>
              <p:cNvPr id="108" name="Canto Dobrado 107"/>
              <p:cNvSpPr/>
              <p:nvPr/>
            </p:nvSpPr>
            <p:spPr>
              <a:xfrm rot="16200000">
                <a:off x="3632408" y="3019356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09" name="Conector reto 108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0" name="Conector reto 109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1" name="Conector reto 110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3" name="Agrupar 102"/>
            <p:cNvGrpSpPr/>
            <p:nvPr/>
          </p:nvGrpSpPr>
          <p:grpSpPr>
            <a:xfrm>
              <a:off x="8688389" y="4584854"/>
              <a:ext cx="262347" cy="298880"/>
              <a:chOff x="3722406" y="2929358"/>
              <a:chExt cx="504000" cy="684000"/>
            </a:xfrm>
            <a:solidFill>
              <a:srgbClr val="FFC000"/>
            </a:solidFill>
          </p:grpSpPr>
          <p:sp>
            <p:nvSpPr>
              <p:cNvPr id="104" name="Canto Dobrado 103"/>
              <p:cNvSpPr/>
              <p:nvPr/>
            </p:nvSpPr>
            <p:spPr>
              <a:xfrm rot="16200000">
                <a:off x="3632406" y="3019358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05" name="Conector reto 104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6" name="Conector reto 105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7" name="Conector reto 106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119" name="Agrupar 118"/>
          <p:cNvGrpSpPr/>
          <p:nvPr/>
        </p:nvGrpSpPr>
        <p:grpSpPr>
          <a:xfrm rot="16200000">
            <a:off x="1760414" y="2304928"/>
            <a:ext cx="256379" cy="299915"/>
            <a:chOff x="6413377" y="679347"/>
            <a:chExt cx="256379" cy="299915"/>
          </a:xfrm>
        </p:grpSpPr>
        <p:sp>
          <p:nvSpPr>
            <p:cNvPr id="120" name="Seta para a Direita 11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1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25" name="Agrupar 124"/>
          <p:cNvGrpSpPr/>
          <p:nvPr/>
        </p:nvGrpSpPr>
        <p:grpSpPr>
          <a:xfrm rot="16200000" flipV="1">
            <a:off x="10951127" y="2611381"/>
            <a:ext cx="828000" cy="326383"/>
            <a:chOff x="6413377" y="679347"/>
            <a:chExt cx="256379" cy="299915"/>
          </a:xfrm>
        </p:grpSpPr>
        <p:sp>
          <p:nvSpPr>
            <p:cNvPr id="126" name="Seta para a Direita 12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aphicFrame>
        <p:nvGraphicFramePr>
          <p:cNvPr id="128" name="Diagrama 127"/>
          <p:cNvGraphicFramePr/>
          <p:nvPr/>
        </p:nvGraphicFramePr>
        <p:xfrm>
          <a:off x="10703618" y="968448"/>
          <a:ext cx="1209838" cy="1287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129" name="Retângulo 128"/>
          <p:cNvSpPr/>
          <p:nvPr/>
        </p:nvSpPr>
        <p:spPr>
          <a:xfrm rot="5400000">
            <a:off x="6097029" y="2793222"/>
            <a:ext cx="1116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30" name="Agrupar 129"/>
          <p:cNvGrpSpPr/>
          <p:nvPr/>
        </p:nvGrpSpPr>
        <p:grpSpPr>
          <a:xfrm>
            <a:off x="6762216" y="3200889"/>
            <a:ext cx="936000" cy="324000"/>
            <a:chOff x="6413377" y="679347"/>
            <a:chExt cx="256379" cy="299915"/>
          </a:xfrm>
        </p:grpSpPr>
        <p:sp>
          <p:nvSpPr>
            <p:cNvPr id="131" name="Seta para a Direita 130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grpSp>
        <p:nvGrpSpPr>
          <p:cNvPr id="6" name="Agrupar 5"/>
          <p:cNvGrpSpPr/>
          <p:nvPr/>
        </p:nvGrpSpPr>
        <p:grpSpPr>
          <a:xfrm>
            <a:off x="194617" y="5291361"/>
            <a:ext cx="5805151" cy="1208653"/>
            <a:chOff x="194617" y="5291361"/>
            <a:chExt cx="5805151" cy="1208653"/>
          </a:xfrm>
        </p:grpSpPr>
        <p:grpSp>
          <p:nvGrpSpPr>
            <p:cNvPr id="160" name="Agrupar 159"/>
            <p:cNvGrpSpPr/>
            <p:nvPr/>
          </p:nvGrpSpPr>
          <p:grpSpPr>
            <a:xfrm>
              <a:off x="194617" y="5291361"/>
              <a:ext cx="180000" cy="252000"/>
              <a:chOff x="3722405" y="2929355"/>
              <a:chExt cx="504000" cy="684000"/>
            </a:xfrm>
          </p:grpSpPr>
          <p:sp>
            <p:nvSpPr>
              <p:cNvPr id="161" name="Canto Dobrado 160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2" name="Conector reto 161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3" name="Conector reto 162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4" name="Conector reto 163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65" name="Agrupar 164"/>
            <p:cNvGrpSpPr/>
            <p:nvPr/>
          </p:nvGrpSpPr>
          <p:grpSpPr>
            <a:xfrm>
              <a:off x="194618" y="5645145"/>
              <a:ext cx="180000" cy="252000"/>
              <a:chOff x="3722405" y="2929355"/>
              <a:chExt cx="504000" cy="684000"/>
            </a:xfrm>
            <a:solidFill>
              <a:srgbClr val="FFFF00"/>
            </a:solidFill>
          </p:grpSpPr>
          <p:sp>
            <p:nvSpPr>
              <p:cNvPr id="166" name="Canto Dobrado 165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7" name="Conector reto 166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8" name="Conector reto 167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9" name="Conector reto 168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70" name="CaixaDeTexto 169"/>
            <p:cNvSpPr txBox="1"/>
            <p:nvPr/>
          </p:nvSpPr>
          <p:spPr>
            <a:xfrm>
              <a:off x="499290" y="5334420"/>
              <a:ext cx="5085062" cy="1615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DEINF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: 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valores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do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rateio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/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consumo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aberto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torre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71" name="CaixaDeTexto 170"/>
            <p:cNvSpPr txBox="1"/>
            <p:nvPr/>
          </p:nvSpPr>
          <p:spPr>
            <a:xfrm>
              <a:off x="499290" y="5612486"/>
              <a:ext cx="5500478" cy="3385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Planilha</a:t>
              </a:r>
              <a:r>
                <a:rPr kumimoji="0" lang="en-US" sz="11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Engrenagem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: 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valores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consolidados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com de/para das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torres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que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contempla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valores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de base fee, solo,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energia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e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climatização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por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operadora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,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contrato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/DEINF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Atacado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e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torre</a:t>
              </a:r>
              <a:r>
                <a:rPr lang="en-US" sz="1100" dirty="0">
                  <a:solidFill>
                    <a:srgbClr val="4D4D4D"/>
                  </a:solidFill>
                </a:rPr>
                <a:t>;</a:t>
              </a:r>
              <a:endPara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endParaRPr>
            </a:p>
          </p:txBody>
        </p:sp>
        <p:grpSp>
          <p:nvGrpSpPr>
            <p:cNvPr id="172" name="Agrupar 171"/>
            <p:cNvGrpSpPr/>
            <p:nvPr/>
          </p:nvGrpSpPr>
          <p:grpSpPr>
            <a:xfrm>
              <a:off x="194905" y="6015266"/>
              <a:ext cx="180000" cy="252000"/>
              <a:chOff x="3722405" y="2929355"/>
              <a:chExt cx="504000" cy="684000"/>
            </a:xfrm>
            <a:solidFill>
              <a:schemeClr val="bg1">
                <a:lumMod val="65000"/>
              </a:schemeClr>
            </a:solidFill>
          </p:grpSpPr>
          <p:sp>
            <p:nvSpPr>
              <p:cNvPr id="173" name="Canto Dobrado 172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74" name="Conector reto 173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5" name="Conector reto 174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6" name="Conector reto 175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77" name="CaixaDeTexto 176"/>
            <p:cNvSpPr txBox="1"/>
            <p:nvPr/>
          </p:nvSpPr>
          <p:spPr>
            <a:xfrm>
              <a:off x="499290" y="6015266"/>
              <a:ext cx="5500478" cy="484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Planilha</a:t>
              </a: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DEINF </a:t>
              </a:r>
              <a:r>
                <a:rPr kumimoji="0" lang="en-US" sz="105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contrato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/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: 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visão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dos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valores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a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faturar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torres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compartilhadas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em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seus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respectivos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contratos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.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Contempla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valores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base fee, solo,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climatização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.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9" name="Agrupar 8"/>
          <p:cNvGrpSpPr/>
          <p:nvPr/>
        </p:nvGrpSpPr>
        <p:grpSpPr>
          <a:xfrm>
            <a:off x="6292877" y="5294390"/>
            <a:ext cx="4801751" cy="619862"/>
            <a:chOff x="6292877" y="5294390"/>
            <a:chExt cx="4801751" cy="619862"/>
          </a:xfrm>
        </p:grpSpPr>
        <p:grpSp>
          <p:nvGrpSpPr>
            <p:cNvPr id="178" name="Agrupar 177"/>
            <p:cNvGrpSpPr/>
            <p:nvPr/>
          </p:nvGrpSpPr>
          <p:grpSpPr>
            <a:xfrm>
              <a:off x="6292877" y="5294390"/>
              <a:ext cx="180000" cy="252000"/>
              <a:chOff x="3722405" y="2929355"/>
              <a:chExt cx="504000" cy="684000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79" name="Canto Dobrado 178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80" name="Conector reto 179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1" name="Conector reto 180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2" name="Conector reto 181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83" name="CaixaDeTexto 182"/>
            <p:cNvSpPr txBox="1"/>
            <p:nvPr/>
          </p:nvSpPr>
          <p:spPr>
            <a:xfrm>
              <a:off x="6562572" y="5330945"/>
              <a:ext cx="4532056" cy="184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Nota de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débito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mensal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consolidada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todas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as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operadoras</a:t>
              </a: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grpSp>
          <p:nvGrpSpPr>
            <p:cNvPr id="184" name="Agrupar 183"/>
            <p:cNvGrpSpPr/>
            <p:nvPr/>
          </p:nvGrpSpPr>
          <p:grpSpPr>
            <a:xfrm>
              <a:off x="6292877" y="5662252"/>
              <a:ext cx="180000" cy="252000"/>
              <a:chOff x="3722403" y="2929357"/>
              <a:chExt cx="504000" cy="684000"/>
            </a:xfrm>
            <a:solidFill>
              <a:srgbClr val="FFC000"/>
            </a:solidFill>
          </p:grpSpPr>
          <p:sp>
            <p:nvSpPr>
              <p:cNvPr id="185" name="Canto Dobrado 184"/>
              <p:cNvSpPr/>
              <p:nvPr/>
            </p:nvSpPr>
            <p:spPr>
              <a:xfrm rot="16200000">
                <a:off x="3632403" y="3019357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86" name="Conector reto 185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7" name="Conector reto 186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8" name="Conector reto 187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89" name="CaixaDeTexto 188"/>
            <p:cNvSpPr txBox="1"/>
            <p:nvPr/>
          </p:nvSpPr>
          <p:spPr>
            <a:xfrm>
              <a:off x="6547029" y="5681696"/>
              <a:ext cx="3806014" cy="169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 err="1">
                  <a:solidFill>
                    <a:srgbClr val="4D4D4D"/>
                  </a:solidFill>
                </a:rPr>
                <a:t>Faturamento</a:t>
              </a:r>
              <a:r>
                <a:rPr lang="en-US" sz="1100" dirty="0">
                  <a:solidFill>
                    <a:srgbClr val="4D4D4D"/>
                  </a:solidFill>
                </a:rPr>
                <a:t> </a:t>
              </a:r>
              <a:r>
                <a:rPr lang="en-US" sz="1100" dirty="0" err="1">
                  <a:solidFill>
                    <a:srgbClr val="4D4D4D"/>
                  </a:solidFill>
                </a:rPr>
                <a:t>consolidado</a:t>
              </a:r>
              <a:r>
                <a:rPr lang="en-US" sz="1100" dirty="0">
                  <a:solidFill>
                    <a:srgbClr val="4D4D4D"/>
                  </a:solidFill>
                </a:rPr>
                <a:t> </a:t>
              </a:r>
              <a:r>
                <a:rPr lang="en-US" sz="1100" dirty="0" err="1">
                  <a:solidFill>
                    <a:srgbClr val="4D4D4D"/>
                  </a:solidFill>
                </a:rPr>
                <a:t>por</a:t>
              </a:r>
              <a:r>
                <a:rPr lang="en-US" sz="1100" dirty="0">
                  <a:solidFill>
                    <a:srgbClr val="4D4D4D"/>
                  </a:solidFill>
                </a:rPr>
                <a:t> </a:t>
              </a:r>
              <a:r>
                <a:rPr lang="en-US" sz="1100" dirty="0" err="1">
                  <a:solidFill>
                    <a:srgbClr val="4D4D4D"/>
                  </a:solidFill>
                </a:rPr>
                <a:t>Operadora</a:t>
              </a:r>
              <a:r>
                <a:rPr lang="en-US" sz="1100" dirty="0">
                  <a:solidFill>
                    <a:srgbClr val="4D4D4D"/>
                  </a:solidFill>
                </a:rPr>
                <a:t>, DEINF, </a:t>
              </a:r>
              <a:r>
                <a:rPr lang="en-US" sz="1100" dirty="0" err="1">
                  <a:solidFill>
                    <a:srgbClr val="4D4D4D"/>
                  </a:solidFill>
                </a:rPr>
                <a:t>Contrato</a:t>
              </a:r>
              <a:r>
                <a:rPr lang="en-US" sz="1100" dirty="0">
                  <a:solidFill>
                    <a:srgbClr val="4D4D4D"/>
                  </a:solidFill>
                </a:rPr>
                <a:t>, UF</a:t>
              </a:r>
              <a:endPara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endParaRPr>
            </a:p>
          </p:txBody>
        </p:sp>
      </p:grpSp>
      <p:sp>
        <p:nvSpPr>
          <p:cNvPr id="190" name="CaixaDeTexto 189"/>
          <p:cNvSpPr txBox="1"/>
          <p:nvPr/>
        </p:nvSpPr>
        <p:spPr>
          <a:xfrm flipH="1">
            <a:off x="142032" y="5081381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Legenda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: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105627975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tângulo 94"/>
          <p:cNvSpPr/>
          <p:nvPr/>
        </p:nvSpPr>
        <p:spPr>
          <a:xfrm>
            <a:off x="90812" y="814651"/>
            <a:ext cx="11952000" cy="16072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2545998"/>
            <a:ext cx="11952000" cy="16072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3348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49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</a:t>
            </a:r>
            <a:r>
              <a:rPr lang="en-US" dirty="0" err="1"/>
              <a:t>fluxo</a:t>
            </a:r>
            <a:r>
              <a:rPr lang="en-US" dirty="0"/>
              <a:t> de </a:t>
            </a:r>
            <a:r>
              <a:rPr lang="en-US" dirty="0" err="1"/>
              <a:t>energia</a:t>
            </a:r>
            <a:r>
              <a:rPr lang="en-US" dirty="0"/>
              <a:t> | </a:t>
            </a:r>
            <a:r>
              <a:rPr lang="en-US" dirty="0" err="1"/>
              <a:t>Discutido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15.03.2023</a:t>
            </a:r>
          </a:p>
        </p:txBody>
      </p:sp>
      <p:graphicFrame>
        <p:nvGraphicFramePr>
          <p:cNvPr id="7" name="Diagrama 6"/>
          <p:cNvGraphicFramePr/>
          <p:nvPr/>
        </p:nvGraphicFramePr>
        <p:xfrm>
          <a:off x="1331564" y="2645947"/>
          <a:ext cx="1146164" cy="135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81099" y="2820099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Carolina </a:t>
            </a:r>
            <a:r>
              <a:rPr lang="en-US" dirty="0" err="1"/>
              <a:t>Arlota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Adriana </a:t>
            </a:r>
            <a:r>
              <a:rPr lang="en-US" dirty="0" err="1"/>
              <a:t>Lenine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11" name="Diagrama 10"/>
          <p:cNvGraphicFramePr/>
          <p:nvPr/>
        </p:nvGraphicFramePr>
        <p:xfrm>
          <a:off x="7673352" y="2645947"/>
          <a:ext cx="1158660" cy="1411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42" name="Seta para a Direita 4"/>
          <p:cNvSpPr txBox="1"/>
          <p:nvPr/>
        </p:nvSpPr>
        <p:spPr>
          <a:xfrm rot="5400000" flipV="1">
            <a:off x="11085162" y="3582406"/>
            <a:ext cx="579599" cy="19583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300" kern="1200" dirty="0"/>
          </a:p>
        </p:txBody>
      </p:sp>
      <p:sp>
        <p:nvSpPr>
          <p:cNvPr id="43" name="Retângulo 42"/>
          <p:cNvSpPr/>
          <p:nvPr/>
        </p:nvSpPr>
        <p:spPr>
          <a:xfrm>
            <a:off x="9222878" y="3175522"/>
            <a:ext cx="2232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1" name="CaixaDeTexto 50"/>
          <p:cNvSpPr txBox="1"/>
          <p:nvPr/>
        </p:nvSpPr>
        <p:spPr>
          <a:xfrm flipH="1">
            <a:off x="126621" y="4291455"/>
            <a:ext cx="12445241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  <a:endParaRPr lang="pt-BR" sz="1100" dirty="0">
              <a:solidFill>
                <a:srgbClr val="4D4D4D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Nota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débito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emitida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para a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Lemvig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só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considera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pelas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operadoras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.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serão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sym typeface="Simplon BP Regular"/>
              </a:rPr>
              <a:t>ônus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da Oi.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</a:t>
            </a:r>
          </a:p>
        </p:txBody>
      </p:sp>
      <p:grpSp>
        <p:nvGrpSpPr>
          <p:cNvPr id="58" name="Agrupar 57"/>
          <p:cNvGrpSpPr/>
          <p:nvPr/>
        </p:nvGrpSpPr>
        <p:grpSpPr>
          <a:xfrm>
            <a:off x="2346555" y="3744874"/>
            <a:ext cx="262347" cy="298880"/>
            <a:chOff x="3722405" y="2929355"/>
            <a:chExt cx="504000" cy="684000"/>
          </a:xfrm>
        </p:grpSpPr>
        <p:sp>
          <p:nvSpPr>
            <p:cNvPr id="60" name="Canto Dobrado 5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solidFill>
              <a:srgbClr val="FFFFFF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1" name="Conector reto 6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Conector reto 6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Conector reto 6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84" name="Agrupar 83"/>
          <p:cNvGrpSpPr/>
          <p:nvPr/>
        </p:nvGrpSpPr>
        <p:grpSpPr>
          <a:xfrm>
            <a:off x="8705128" y="3797177"/>
            <a:ext cx="262347" cy="298880"/>
            <a:chOff x="3722405" y="2929355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5" name="Canto Dobrado 84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6" name="Conector reto 85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7" name="Conector reto 8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8" name="Conector reto 8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6" name="CaixaDeTexto 95"/>
          <p:cNvSpPr txBox="1"/>
          <p:nvPr/>
        </p:nvSpPr>
        <p:spPr>
          <a:xfrm>
            <a:off x="239101" y="1399305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Atacado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Andre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Telles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chemeClr val="bg1">
                    <a:lumMod val="65000"/>
                  </a:schemeClr>
                </a:solidFill>
              </a:rPr>
              <a:t>Maria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Cecilia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239101" y="1068017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9" name="Agrupar 98"/>
          <p:cNvGrpSpPr/>
          <p:nvPr/>
        </p:nvGrpSpPr>
        <p:grpSpPr>
          <a:xfrm>
            <a:off x="1327274" y="968448"/>
            <a:ext cx="9070339" cy="1480341"/>
            <a:chOff x="1331564" y="3403393"/>
            <a:chExt cx="9070339" cy="1480341"/>
          </a:xfrm>
        </p:grpSpPr>
        <p:graphicFrame>
          <p:nvGraphicFramePr>
            <p:cNvPr id="100" name="Diagrama 99"/>
            <p:cNvGraphicFramePr/>
            <p:nvPr/>
          </p:nvGraphicFramePr>
          <p:xfrm>
            <a:off x="1331564" y="3403393"/>
            <a:ext cx="9070339" cy="131609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" r:lo="rId16" r:qs="rId17" r:cs="rId18"/>
            </a:graphicData>
          </a:graphic>
        </p:graphicFrame>
        <p:grpSp>
          <p:nvGrpSpPr>
            <p:cNvPr id="101" name="Agrupar 100"/>
            <p:cNvGrpSpPr/>
            <p:nvPr/>
          </p:nvGrpSpPr>
          <p:grpSpPr>
            <a:xfrm>
              <a:off x="2348857" y="4520834"/>
              <a:ext cx="262347" cy="298880"/>
              <a:chOff x="3722408" y="2929356"/>
              <a:chExt cx="504000" cy="684000"/>
            </a:xfrm>
            <a:solidFill>
              <a:srgbClr val="FFFF00"/>
            </a:solidFill>
          </p:grpSpPr>
          <p:sp>
            <p:nvSpPr>
              <p:cNvPr id="112" name="Canto Dobrado 111"/>
              <p:cNvSpPr/>
              <p:nvPr/>
            </p:nvSpPr>
            <p:spPr>
              <a:xfrm rot="16200000">
                <a:off x="3632408" y="3019356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13" name="Conector reto 112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4" name="Conector reto 113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5" name="Conector reto 114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2" name="Agrupar 101"/>
            <p:cNvGrpSpPr/>
            <p:nvPr/>
          </p:nvGrpSpPr>
          <p:grpSpPr>
            <a:xfrm>
              <a:off x="3961347" y="4525700"/>
              <a:ext cx="262347" cy="298880"/>
              <a:chOff x="3722408" y="2929356"/>
              <a:chExt cx="504000" cy="684000"/>
            </a:xfrm>
            <a:solidFill>
              <a:schemeClr val="bg1">
                <a:lumMod val="65000"/>
              </a:schemeClr>
            </a:solidFill>
          </p:grpSpPr>
          <p:sp>
            <p:nvSpPr>
              <p:cNvPr id="108" name="Canto Dobrado 107"/>
              <p:cNvSpPr/>
              <p:nvPr/>
            </p:nvSpPr>
            <p:spPr>
              <a:xfrm rot="16200000">
                <a:off x="3632408" y="3019356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09" name="Conector reto 108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0" name="Conector reto 109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1" name="Conector reto 110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3" name="Agrupar 102"/>
            <p:cNvGrpSpPr/>
            <p:nvPr/>
          </p:nvGrpSpPr>
          <p:grpSpPr>
            <a:xfrm>
              <a:off x="8688389" y="4584854"/>
              <a:ext cx="262347" cy="298880"/>
              <a:chOff x="3722406" y="2929358"/>
              <a:chExt cx="504000" cy="684000"/>
            </a:xfrm>
            <a:solidFill>
              <a:srgbClr val="FFC000"/>
            </a:solidFill>
          </p:grpSpPr>
          <p:sp>
            <p:nvSpPr>
              <p:cNvPr id="104" name="Canto Dobrado 103"/>
              <p:cNvSpPr/>
              <p:nvPr/>
            </p:nvSpPr>
            <p:spPr>
              <a:xfrm rot="16200000">
                <a:off x="3632406" y="3019358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05" name="Conector reto 104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6" name="Conector reto 105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7" name="Conector reto 106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119" name="Agrupar 118"/>
          <p:cNvGrpSpPr/>
          <p:nvPr/>
        </p:nvGrpSpPr>
        <p:grpSpPr>
          <a:xfrm rot="16200000">
            <a:off x="1760414" y="2304928"/>
            <a:ext cx="256379" cy="299915"/>
            <a:chOff x="6413377" y="679347"/>
            <a:chExt cx="256379" cy="299915"/>
          </a:xfrm>
        </p:grpSpPr>
        <p:sp>
          <p:nvSpPr>
            <p:cNvPr id="120" name="Seta para a Direita 11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1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25" name="Agrupar 124"/>
          <p:cNvGrpSpPr/>
          <p:nvPr/>
        </p:nvGrpSpPr>
        <p:grpSpPr>
          <a:xfrm rot="16200000" flipV="1">
            <a:off x="10951127" y="2611381"/>
            <a:ext cx="828000" cy="326383"/>
            <a:chOff x="6413377" y="679347"/>
            <a:chExt cx="256379" cy="299915"/>
          </a:xfrm>
        </p:grpSpPr>
        <p:sp>
          <p:nvSpPr>
            <p:cNvPr id="126" name="Seta para a Direita 12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aphicFrame>
        <p:nvGraphicFramePr>
          <p:cNvPr id="128" name="Diagrama 127"/>
          <p:cNvGraphicFramePr/>
          <p:nvPr/>
        </p:nvGraphicFramePr>
        <p:xfrm>
          <a:off x="10703618" y="968448"/>
          <a:ext cx="1209838" cy="1287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129" name="Retângulo 128"/>
          <p:cNvSpPr/>
          <p:nvPr/>
        </p:nvSpPr>
        <p:spPr>
          <a:xfrm rot="5400000">
            <a:off x="6097029" y="2793222"/>
            <a:ext cx="1116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30" name="Agrupar 129"/>
          <p:cNvGrpSpPr/>
          <p:nvPr/>
        </p:nvGrpSpPr>
        <p:grpSpPr>
          <a:xfrm>
            <a:off x="6762216" y="3200889"/>
            <a:ext cx="936000" cy="324000"/>
            <a:chOff x="6413377" y="679347"/>
            <a:chExt cx="256379" cy="299915"/>
          </a:xfrm>
        </p:grpSpPr>
        <p:sp>
          <p:nvSpPr>
            <p:cNvPr id="131" name="Seta para a Direita 130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 dirty="0"/>
            </a:p>
          </p:txBody>
        </p:sp>
      </p:grpSp>
      <p:sp>
        <p:nvSpPr>
          <p:cNvPr id="136" name="Texto Explicativo Retangular com Cantos Arredondados 135"/>
          <p:cNvSpPr/>
          <p:nvPr/>
        </p:nvSpPr>
        <p:spPr>
          <a:xfrm>
            <a:off x="4906897" y="2963560"/>
            <a:ext cx="2307449" cy="953453"/>
          </a:xfrm>
          <a:prstGeom prst="wedgeRoundRectCallout">
            <a:avLst>
              <a:gd name="adj1" fmla="val 63120"/>
              <a:gd name="adj2" fmla="val 25390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Como </a:t>
            </a:r>
            <a:r>
              <a:rPr lang="en-US" dirty="0" err="1">
                <a:solidFill>
                  <a:srgbClr val="FFFFFF"/>
                </a:solidFill>
              </a:rPr>
              <a:t>será</a:t>
            </a:r>
            <a:r>
              <a:rPr lang="en-US" dirty="0">
                <a:solidFill>
                  <a:srgbClr val="FFFFFF"/>
                </a:solidFill>
              </a:rPr>
              <a:t> o </a:t>
            </a:r>
            <a:r>
              <a:rPr lang="en-US" dirty="0" err="1">
                <a:solidFill>
                  <a:srgbClr val="FFFFFF"/>
                </a:solidFill>
              </a:rPr>
              <a:t>processo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emissão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FFFFFF"/>
                </a:solidFill>
              </a:rPr>
              <a:t>cobrança</a:t>
            </a:r>
            <a:r>
              <a:rPr lang="en-US" dirty="0">
                <a:solidFill>
                  <a:srgbClr val="FFFFFF"/>
                </a:solidFill>
              </a:rPr>
              <a:t> dos </a:t>
            </a:r>
            <a:r>
              <a:rPr lang="en-US" dirty="0" err="1">
                <a:solidFill>
                  <a:srgbClr val="FFFFFF"/>
                </a:solidFill>
              </a:rPr>
              <a:t>valores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energia</a:t>
            </a:r>
            <a:r>
              <a:rPr lang="en-US" dirty="0">
                <a:solidFill>
                  <a:srgbClr val="FFFFFF"/>
                </a:solidFill>
              </a:rPr>
              <a:t> NÃO </a:t>
            </a:r>
            <a:r>
              <a:rPr lang="en-US" dirty="0" err="1">
                <a:solidFill>
                  <a:srgbClr val="FFFFFF"/>
                </a:solidFill>
              </a:rPr>
              <a:t>validados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pelas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operadoras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59" name="Texto Explicativo Retangular com Cantos Arredondados 158"/>
          <p:cNvSpPr/>
          <p:nvPr/>
        </p:nvSpPr>
        <p:spPr>
          <a:xfrm>
            <a:off x="2664372" y="2560657"/>
            <a:ext cx="2055882" cy="1668542"/>
          </a:xfrm>
          <a:prstGeom prst="wedgeRoundRectCallout">
            <a:avLst>
              <a:gd name="adj1" fmla="val -43818"/>
              <a:gd name="adj2" fmla="val -59464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Como </a:t>
            </a:r>
            <a:r>
              <a:rPr lang="en-US" dirty="0" err="1">
                <a:solidFill>
                  <a:srgbClr val="FFFFFF"/>
                </a:solidFill>
              </a:rPr>
              <a:t>será</a:t>
            </a:r>
            <a:r>
              <a:rPr lang="en-US" dirty="0">
                <a:solidFill>
                  <a:srgbClr val="FFFFFF"/>
                </a:solidFill>
              </a:rPr>
              <a:t> o </a:t>
            </a:r>
            <a:r>
              <a:rPr lang="en-US" dirty="0" err="1">
                <a:solidFill>
                  <a:srgbClr val="FFFFFF"/>
                </a:solidFill>
              </a:rPr>
              <a:t>processo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emissão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FFFFFF"/>
                </a:solidFill>
              </a:rPr>
              <a:t>cobrança</a:t>
            </a:r>
            <a:r>
              <a:rPr lang="en-US" dirty="0">
                <a:solidFill>
                  <a:srgbClr val="FFFFFF"/>
                </a:solidFill>
              </a:rPr>
              <a:t> dos </a:t>
            </a:r>
            <a:r>
              <a:rPr lang="en-US" dirty="0" err="1">
                <a:solidFill>
                  <a:srgbClr val="FFFFFF"/>
                </a:solidFill>
              </a:rPr>
              <a:t>valores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energia</a:t>
            </a:r>
            <a:r>
              <a:rPr lang="en-US" dirty="0">
                <a:solidFill>
                  <a:srgbClr val="FFFFFF"/>
                </a:solidFill>
              </a:rPr>
              <a:t> das </a:t>
            </a:r>
            <a:r>
              <a:rPr lang="en-US" dirty="0" err="1">
                <a:solidFill>
                  <a:srgbClr val="FFFFFF"/>
                </a:solidFill>
              </a:rPr>
              <a:t>torres</a:t>
            </a:r>
            <a:r>
              <a:rPr lang="en-US" dirty="0">
                <a:solidFill>
                  <a:srgbClr val="FFFFFF"/>
                </a:solidFill>
              </a:rPr>
              <a:t> da </a:t>
            </a:r>
            <a:r>
              <a:rPr lang="en-US" dirty="0" err="1">
                <a:solidFill>
                  <a:srgbClr val="FFFFFF"/>
                </a:solidFill>
              </a:rPr>
              <a:t>Lemvig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usadas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pelas</a:t>
            </a:r>
            <a:r>
              <a:rPr lang="en-US" dirty="0">
                <a:solidFill>
                  <a:srgbClr val="FFFFFF"/>
                </a:solidFill>
              </a:rPr>
              <a:t> SPEs. </a:t>
            </a:r>
            <a:r>
              <a:rPr lang="en-US" dirty="0" err="1">
                <a:solidFill>
                  <a:srgbClr val="FFFFFF"/>
                </a:solidFill>
              </a:rPr>
              <a:t>Quem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deveria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cobrar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energia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não</a:t>
            </a:r>
            <a:r>
              <a:rPr lang="en-US" dirty="0">
                <a:solidFill>
                  <a:srgbClr val="FFFFFF"/>
                </a:solidFill>
              </a:rPr>
              <a:t> é a </a:t>
            </a:r>
            <a:r>
              <a:rPr lang="en-US" dirty="0" err="1">
                <a:solidFill>
                  <a:srgbClr val="FFFFFF"/>
                </a:solidFill>
              </a:rPr>
              <a:t>Lemvig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</p:txBody>
      </p:sp>
      <p:grpSp>
        <p:nvGrpSpPr>
          <p:cNvPr id="6" name="Agrupar 5"/>
          <p:cNvGrpSpPr/>
          <p:nvPr/>
        </p:nvGrpSpPr>
        <p:grpSpPr>
          <a:xfrm>
            <a:off x="194617" y="5291361"/>
            <a:ext cx="5805151" cy="1208653"/>
            <a:chOff x="194617" y="5291361"/>
            <a:chExt cx="5805151" cy="1208653"/>
          </a:xfrm>
        </p:grpSpPr>
        <p:grpSp>
          <p:nvGrpSpPr>
            <p:cNvPr id="160" name="Agrupar 159"/>
            <p:cNvGrpSpPr/>
            <p:nvPr/>
          </p:nvGrpSpPr>
          <p:grpSpPr>
            <a:xfrm>
              <a:off x="194617" y="5291361"/>
              <a:ext cx="180000" cy="252000"/>
              <a:chOff x="3722405" y="2929355"/>
              <a:chExt cx="504000" cy="684000"/>
            </a:xfrm>
          </p:grpSpPr>
          <p:sp>
            <p:nvSpPr>
              <p:cNvPr id="161" name="Canto Dobrado 160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solidFill>
                <a:srgbClr val="FFFFFF"/>
              </a:solidFill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2" name="Conector reto 161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3" name="Conector reto 162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4" name="Conector reto 163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no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65" name="Agrupar 164"/>
            <p:cNvGrpSpPr/>
            <p:nvPr/>
          </p:nvGrpSpPr>
          <p:grpSpPr>
            <a:xfrm>
              <a:off x="194618" y="5645145"/>
              <a:ext cx="180000" cy="252000"/>
              <a:chOff x="3722405" y="2929355"/>
              <a:chExt cx="504000" cy="684000"/>
            </a:xfrm>
            <a:solidFill>
              <a:srgbClr val="FFFF00"/>
            </a:solidFill>
          </p:grpSpPr>
          <p:sp>
            <p:nvSpPr>
              <p:cNvPr id="166" name="Canto Dobrado 165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67" name="Conector reto 166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8" name="Conector reto 167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9" name="Conector reto 168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70" name="CaixaDeTexto 169"/>
            <p:cNvSpPr txBox="1"/>
            <p:nvPr/>
          </p:nvSpPr>
          <p:spPr>
            <a:xfrm>
              <a:off x="499290" y="5334420"/>
              <a:ext cx="5085062" cy="1615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DEINF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: 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valores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do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rateio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/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consumo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aberto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torre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71" name="CaixaDeTexto 170"/>
            <p:cNvSpPr txBox="1"/>
            <p:nvPr/>
          </p:nvSpPr>
          <p:spPr>
            <a:xfrm>
              <a:off x="499290" y="5612486"/>
              <a:ext cx="5500478" cy="3385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Planilha</a:t>
              </a:r>
              <a:r>
                <a:rPr kumimoji="0" lang="en-US" sz="11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Engrenagem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: 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valores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consolidados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com de/para das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torres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que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contempla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valores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de base fee, solo,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energia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e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climatização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por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operadora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,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contrato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/DEINF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Atacado</a:t>
              </a:r>
              <a:r>
                <a:rPr kumimoji="0" lang="en-US" sz="110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 e </a:t>
              </a:r>
              <a:r>
                <a:rPr kumimoji="0" lang="en-US" sz="110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sym typeface="Simplon BP Regular"/>
                </a:rPr>
                <a:t>torre</a:t>
              </a:r>
              <a:r>
                <a:rPr lang="en-US" sz="1100" dirty="0">
                  <a:solidFill>
                    <a:srgbClr val="4D4D4D"/>
                  </a:solidFill>
                </a:rPr>
                <a:t>;</a:t>
              </a:r>
              <a:endPara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endParaRPr>
            </a:p>
          </p:txBody>
        </p:sp>
        <p:grpSp>
          <p:nvGrpSpPr>
            <p:cNvPr id="172" name="Agrupar 171"/>
            <p:cNvGrpSpPr/>
            <p:nvPr/>
          </p:nvGrpSpPr>
          <p:grpSpPr>
            <a:xfrm>
              <a:off x="194905" y="6015266"/>
              <a:ext cx="180000" cy="252000"/>
              <a:chOff x="3722405" y="2929355"/>
              <a:chExt cx="504000" cy="684000"/>
            </a:xfrm>
            <a:solidFill>
              <a:schemeClr val="bg1">
                <a:lumMod val="65000"/>
              </a:schemeClr>
            </a:solidFill>
          </p:grpSpPr>
          <p:sp>
            <p:nvSpPr>
              <p:cNvPr id="173" name="Canto Dobrado 172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74" name="Conector reto 173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5" name="Conector reto 174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6" name="Conector reto 175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77" name="CaixaDeTexto 176"/>
            <p:cNvSpPr txBox="1"/>
            <p:nvPr/>
          </p:nvSpPr>
          <p:spPr>
            <a:xfrm>
              <a:off x="499290" y="6015266"/>
              <a:ext cx="5500478" cy="484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Planilha</a:t>
              </a:r>
              <a:r>
                <a:rPr kumimoji="0" lang="en-US" sz="105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DEINF </a:t>
              </a:r>
              <a:r>
                <a:rPr kumimoji="0" lang="en-US" sz="105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contrato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/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: 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visão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dos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valores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a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faturar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torres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compartilhadas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por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em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seus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respectivos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contratos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.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Contempla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valores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base fee, solo,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energia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e </a:t>
              </a:r>
              <a:r>
                <a:rPr kumimoji="0" lang="en-US" sz="1050" b="0" i="0" u="none" strike="noStrike" cap="none" spc="0" normalizeH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climatização</a:t>
              </a:r>
              <a:r>
                <a:rPr kumimoji="0" lang="en-US" sz="1050" b="0" i="0" u="none" strike="noStrike" cap="none" spc="0" normalizeH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.</a:t>
              </a:r>
              <a:endParaRPr kumimoji="0" lang="en-US" sz="105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grpSp>
        <p:nvGrpSpPr>
          <p:cNvPr id="9" name="Agrupar 8"/>
          <p:cNvGrpSpPr/>
          <p:nvPr/>
        </p:nvGrpSpPr>
        <p:grpSpPr>
          <a:xfrm>
            <a:off x="6292877" y="5294390"/>
            <a:ext cx="4801751" cy="619862"/>
            <a:chOff x="6292877" y="5294390"/>
            <a:chExt cx="4801751" cy="619862"/>
          </a:xfrm>
        </p:grpSpPr>
        <p:grpSp>
          <p:nvGrpSpPr>
            <p:cNvPr id="178" name="Agrupar 177"/>
            <p:cNvGrpSpPr/>
            <p:nvPr/>
          </p:nvGrpSpPr>
          <p:grpSpPr>
            <a:xfrm>
              <a:off x="6292877" y="5294390"/>
              <a:ext cx="180000" cy="252000"/>
              <a:chOff x="3722405" y="2929355"/>
              <a:chExt cx="504000" cy="684000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79" name="Canto Dobrado 178"/>
              <p:cNvSpPr/>
              <p:nvPr/>
            </p:nvSpPr>
            <p:spPr>
              <a:xfrm rot="16200000">
                <a:off x="3632405" y="3019355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80" name="Conector reto 179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1" name="Conector reto 180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2" name="Conector reto 181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83" name="CaixaDeTexto 182"/>
            <p:cNvSpPr txBox="1"/>
            <p:nvPr/>
          </p:nvSpPr>
          <p:spPr>
            <a:xfrm>
              <a:off x="6562572" y="5330945"/>
              <a:ext cx="4532056" cy="184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Nota de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débito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mensal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consolidada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de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todas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 as </a:t>
              </a:r>
              <a:r>
                <a:rPr kumimoji="0" lang="en-US" sz="1200" b="0" i="0" u="none" strike="noStrike" cap="none" spc="0" normalizeH="0" baseline="0" dirty="0" err="1">
                  <a:ln>
                    <a:noFill/>
                  </a:ln>
                  <a:solidFill>
                    <a:srgbClr val="4D4D4D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operadoras</a:t>
              </a: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grpSp>
          <p:nvGrpSpPr>
            <p:cNvPr id="184" name="Agrupar 183"/>
            <p:cNvGrpSpPr/>
            <p:nvPr/>
          </p:nvGrpSpPr>
          <p:grpSpPr>
            <a:xfrm>
              <a:off x="6292877" y="5662252"/>
              <a:ext cx="180000" cy="252000"/>
              <a:chOff x="3722403" y="2929357"/>
              <a:chExt cx="504000" cy="684000"/>
            </a:xfrm>
            <a:solidFill>
              <a:srgbClr val="FFC000"/>
            </a:solidFill>
          </p:grpSpPr>
          <p:sp>
            <p:nvSpPr>
              <p:cNvPr id="185" name="Canto Dobrado 184"/>
              <p:cNvSpPr/>
              <p:nvPr/>
            </p:nvSpPr>
            <p:spPr>
              <a:xfrm rot="16200000">
                <a:off x="3632403" y="3019357"/>
                <a:ext cx="684000" cy="50400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86" name="Conector reto 185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7" name="Conector reto 186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8" name="Conector reto 187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89" name="CaixaDeTexto 188"/>
            <p:cNvSpPr txBox="1"/>
            <p:nvPr/>
          </p:nvSpPr>
          <p:spPr>
            <a:xfrm>
              <a:off x="6547029" y="5681696"/>
              <a:ext cx="3806014" cy="169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 err="1">
                  <a:solidFill>
                    <a:srgbClr val="4D4D4D"/>
                  </a:solidFill>
                </a:rPr>
                <a:t>Faturamento</a:t>
              </a:r>
              <a:r>
                <a:rPr lang="en-US" sz="1100" dirty="0">
                  <a:solidFill>
                    <a:srgbClr val="4D4D4D"/>
                  </a:solidFill>
                </a:rPr>
                <a:t> </a:t>
              </a:r>
              <a:r>
                <a:rPr lang="en-US" sz="1100" dirty="0" err="1">
                  <a:solidFill>
                    <a:srgbClr val="4D4D4D"/>
                  </a:solidFill>
                </a:rPr>
                <a:t>consolidado</a:t>
              </a:r>
              <a:r>
                <a:rPr lang="en-US" sz="1100" dirty="0">
                  <a:solidFill>
                    <a:srgbClr val="4D4D4D"/>
                  </a:solidFill>
                </a:rPr>
                <a:t> </a:t>
              </a:r>
              <a:r>
                <a:rPr lang="en-US" sz="1100" dirty="0" err="1">
                  <a:solidFill>
                    <a:srgbClr val="4D4D4D"/>
                  </a:solidFill>
                </a:rPr>
                <a:t>por</a:t>
              </a:r>
              <a:r>
                <a:rPr lang="en-US" sz="1100" dirty="0">
                  <a:solidFill>
                    <a:srgbClr val="4D4D4D"/>
                  </a:solidFill>
                </a:rPr>
                <a:t> </a:t>
              </a:r>
              <a:r>
                <a:rPr lang="en-US" sz="1100" dirty="0" err="1">
                  <a:solidFill>
                    <a:srgbClr val="4D4D4D"/>
                  </a:solidFill>
                </a:rPr>
                <a:t>Operadora</a:t>
              </a:r>
              <a:r>
                <a:rPr lang="en-US" sz="1100" dirty="0">
                  <a:solidFill>
                    <a:srgbClr val="4D4D4D"/>
                  </a:solidFill>
                </a:rPr>
                <a:t>, DEINF, </a:t>
              </a:r>
              <a:r>
                <a:rPr lang="en-US" sz="1100" dirty="0" err="1">
                  <a:solidFill>
                    <a:srgbClr val="4D4D4D"/>
                  </a:solidFill>
                </a:rPr>
                <a:t>Contrato</a:t>
              </a:r>
              <a:r>
                <a:rPr lang="en-US" sz="1100" dirty="0">
                  <a:solidFill>
                    <a:srgbClr val="4D4D4D"/>
                  </a:solidFill>
                </a:rPr>
                <a:t>, UF</a:t>
              </a:r>
              <a:endPara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endParaRPr>
            </a:p>
          </p:txBody>
        </p:sp>
      </p:grpSp>
      <p:sp>
        <p:nvSpPr>
          <p:cNvPr id="190" name="CaixaDeTexto 189"/>
          <p:cNvSpPr txBox="1"/>
          <p:nvPr/>
        </p:nvSpPr>
        <p:spPr>
          <a:xfrm flipH="1">
            <a:off x="142032" y="5081381"/>
            <a:ext cx="12445241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Legenda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: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91" name="Texto Explicativo Retangular com Cantos Arredondados 190"/>
          <p:cNvSpPr/>
          <p:nvPr/>
        </p:nvSpPr>
        <p:spPr>
          <a:xfrm>
            <a:off x="1520476" y="4438876"/>
            <a:ext cx="2287791" cy="953453"/>
          </a:xfrm>
          <a:prstGeom prst="wedgeRoundRectCallout">
            <a:avLst>
              <a:gd name="adj1" fmla="val -29543"/>
              <a:gd name="adj2" fmla="val -88578"/>
              <a:gd name="adj3" fmla="val 16667"/>
            </a:avLst>
          </a:prstGeom>
          <a:solidFill>
            <a:srgbClr val="4D4D4D"/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Em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algum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momento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trocaremos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titularidade</a:t>
            </a:r>
            <a:r>
              <a:rPr lang="en-US" dirty="0">
                <a:solidFill>
                  <a:srgbClr val="FFFFFF"/>
                </a:solidFill>
              </a:rPr>
              <a:t> dos </a:t>
            </a:r>
            <a:r>
              <a:rPr lang="en-US" dirty="0" err="1">
                <a:solidFill>
                  <a:srgbClr val="FFFFFF"/>
                </a:solidFill>
              </a:rPr>
              <a:t>relógios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nos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terrenos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terceiros</a:t>
            </a:r>
            <a:r>
              <a:rPr lang="en-US" dirty="0">
                <a:solidFill>
                  <a:srgbClr val="FFFFFF"/>
                </a:solidFill>
              </a:rPr>
              <a:t> para </a:t>
            </a:r>
            <a:r>
              <a:rPr lang="en-US" dirty="0" err="1">
                <a:solidFill>
                  <a:srgbClr val="FFFFFF"/>
                </a:solidFill>
              </a:rPr>
              <a:t>Lemvig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30786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59" grpId="0" animBg="1"/>
      <p:bldP spid="19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etângulo 89"/>
          <p:cNvSpPr/>
          <p:nvPr/>
        </p:nvSpPr>
        <p:spPr>
          <a:xfrm>
            <a:off x="92958" y="2516499"/>
            <a:ext cx="11952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90812" y="814651"/>
            <a:ext cx="11952000" cy="16072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958" y="4006088"/>
            <a:ext cx="11952000" cy="16072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95102" y="807694"/>
            <a:ext cx="11952000" cy="4824000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50</a:t>
            </a:fld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009" y="106006"/>
            <a:ext cx="10756482" cy="558294"/>
          </a:xfrm>
        </p:spPr>
        <p:txBody>
          <a:bodyPr vert="horz"/>
          <a:lstStyle/>
          <a:p>
            <a:r>
              <a:rPr lang="en-US" dirty="0"/>
              <a:t>       </a:t>
            </a:r>
            <a:r>
              <a:rPr lang="en-US" dirty="0" err="1"/>
              <a:t>fluxo</a:t>
            </a:r>
            <a:r>
              <a:rPr lang="en-US" dirty="0"/>
              <a:t> de </a:t>
            </a:r>
            <a:r>
              <a:rPr lang="en-US" dirty="0" err="1"/>
              <a:t>energia</a:t>
            </a:r>
            <a:r>
              <a:rPr lang="en-US" dirty="0"/>
              <a:t> | </a:t>
            </a:r>
            <a:r>
              <a:rPr lang="en-US" dirty="0" err="1"/>
              <a:t>Ajustado</a:t>
            </a:r>
            <a:r>
              <a:rPr lang="en-US" dirty="0"/>
              <a:t> </a:t>
            </a:r>
            <a:r>
              <a:rPr lang="en-US" dirty="0" err="1"/>
              <a:t>após</a:t>
            </a:r>
            <a:r>
              <a:rPr lang="en-US" dirty="0"/>
              <a:t> </a:t>
            </a:r>
            <a:r>
              <a:rPr lang="en-US" dirty="0" err="1"/>
              <a:t>reunião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15.03.2023</a:t>
            </a:r>
          </a:p>
        </p:txBody>
      </p:sp>
      <p:graphicFrame>
        <p:nvGraphicFramePr>
          <p:cNvPr id="7" name="Diagrama 6"/>
          <p:cNvGraphicFramePr/>
          <p:nvPr/>
        </p:nvGraphicFramePr>
        <p:xfrm>
          <a:off x="1331564" y="4194608"/>
          <a:ext cx="1146164" cy="135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51603" y="4280189"/>
            <a:ext cx="106336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Energia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Carolina </a:t>
            </a:r>
            <a:r>
              <a:rPr lang="en-US" dirty="0" err="1"/>
              <a:t>Arlota</a:t>
            </a:r>
            <a:r>
              <a:rPr lang="en-US" dirty="0"/>
              <a:t>/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Adriana </a:t>
            </a:r>
            <a:r>
              <a:rPr lang="en-US" dirty="0" err="1"/>
              <a:t>Lenine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11" name="Diagrama 10"/>
          <p:cNvGraphicFramePr/>
          <p:nvPr/>
        </p:nvGraphicFramePr>
        <p:xfrm>
          <a:off x="6096309" y="4179526"/>
          <a:ext cx="1158660" cy="1411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42" name="Seta para a Direita 4"/>
          <p:cNvSpPr txBox="1"/>
          <p:nvPr/>
        </p:nvSpPr>
        <p:spPr>
          <a:xfrm rot="5400000" flipV="1">
            <a:off x="11085162" y="5042496"/>
            <a:ext cx="579599" cy="19583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300" kern="1200" dirty="0"/>
          </a:p>
        </p:txBody>
      </p:sp>
      <p:sp>
        <p:nvSpPr>
          <p:cNvPr id="43" name="Retângulo 42"/>
          <p:cNvSpPr/>
          <p:nvPr/>
        </p:nvSpPr>
        <p:spPr>
          <a:xfrm>
            <a:off x="7362935" y="4784923"/>
            <a:ext cx="4140000" cy="216000"/>
          </a:xfrm>
          <a:prstGeom prst="rect">
            <a:avLst/>
          </a:prstGeom>
          <a:solidFill>
            <a:srgbClr val="00D318">
              <a:alpha val="30196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95101" y="106006"/>
            <a:ext cx="2880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</a:t>
            </a:r>
          </a:p>
        </p:txBody>
      </p:sp>
      <p:grpSp>
        <p:nvGrpSpPr>
          <p:cNvPr id="58" name="Agrupar 57"/>
          <p:cNvGrpSpPr/>
          <p:nvPr/>
        </p:nvGrpSpPr>
        <p:grpSpPr>
          <a:xfrm>
            <a:off x="2346555" y="5293453"/>
            <a:ext cx="262347" cy="298880"/>
            <a:chOff x="3722405" y="2929355"/>
            <a:chExt cx="504000" cy="684000"/>
          </a:xfrm>
        </p:grpSpPr>
        <p:sp>
          <p:nvSpPr>
            <p:cNvPr id="60" name="Canto Dobrado 59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solidFill>
              <a:srgbClr val="FFFFFF"/>
            </a:solidFill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61" name="Conector reto 60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Conector reto 61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Conector reto 62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no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84" name="Agrupar 83"/>
          <p:cNvGrpSpPr/>
          <p:nvPr/>
        </p:nvGrpSpPr>
        <p:grpSpPr>
          <a:xfrm>
            <a:off x="7124868" y="5260069"/>
            <a:ext cx="262347" cy="298880"/>
            <a:chOff x="3722405" y="2929355"/>
            <a:chExt cx="504000" cy="684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5" name="Canto Dobrado 84"/>
            <p:cNvSpPr/>
            <p:nvPr/>
          </p:nvSpPr>
          <p:spPr>
            <a:xfrm rot="16200000">
              <a:off x="3632405" y="3019355"/>
              <a:ext cx="684000" cy="504000"/>
            </a:xfrm>
            <a:prstGeom prst="foldedCorner">
              <a:avLst>
                <a:gd name="adj" fmla="val 32545"/>
              </a:avLst>
            </a:prstGeom>
            <a:grpFill/>
            <a:ln w="25400" cap="flat">
              <a:solidFill>
                <a:srgbClr val="00D318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cxnSp>
          <p:nvCxnSpPr>
            <p:cNvPr id="86" name="Conector reto 85"/>
            <p:cNvCxnSpPr/>
            <p:nvPr/>
          </p:nvCxnSpPr>
          <p:spPr>
            <a:xfrm>
              <a:off x="3815380" y="31709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7" name="Conector reto 86"/>
            <p:cNvCxnSpPr/>
            <p:nvPr/>
          </p:nvCxnSpPr>
          <p:spPr>
            <a:xfrm>
              <a:off x="3815380" y="3323302"/>
              <a:ext cx="324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8" name="Conector reto 87"/>
            <p:cNvCxnSpPr/>
            <p:nvPr/>
          </p:nvCxnSpPr>
          <p:spPr>
            <a:xfrm>
              <a:off x="3815380" y="3456036"/>
              <a:ext cx="216000" cy="0"/>
            </a:xfrm>
            <a:prstGeom prst="line">
              <a:avLst/>
            </a:prstGeom>
            <a:grpFill/>
            <a:ln w="25400" cap="flat">
              <a:solidFill>
                <a:srgbClr val="4D4D4D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6" name="CaixaDeTexto 95"/>
          <p:cNvSpPr txBox="1"/>
          <p:nvPr/>
        </p:nvSpPr>
        <p:spPr>
          <a:xfrm>
            <a:off x="257337" y="1369042"/>
            <a:ext cx="1065647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Atacado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Andre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Telles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chemeClr val="bg1">
                    <a:lumMod val="65000"/>
                  </a:schemeClr>
                </a:solidFill>
              </a:rPr>
              <a:t>Maria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Cecilia TSA (?)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239101" y="1068017"/>
            <a:ext cx="55303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Lemvig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99" name="Agrupar 98"/>
          <p:cNvGrpSpPr/>
          <p:nvPr/>
        </p:nvGrpSpPr>
        <p:grpSpPr>
          <a:xfrm>
            <a:off x="1327274" y="968448"/>
            <a:ext cx="9070339" cy="1480342"/>
            <a:chOff x="1331564" y="3403393"/>
            <a:chExt cx="9070339" cy="1480342"/>
          </a:xfrm>
        </p:grpSpPr>
        <p:graphicFrame>
          <p:nvGraphicFramePr>
            <p:cNvPr id="100" name="Diagrama 99"/>
            <p:cNvGraphicFramePr/>
            <p:nvPr/>
          </p:nvGraphicFramePr>
          <p:xfrm>
            <a:off x="1331564" y="3403393"/>
            <a:ext cx="9070339" cy="131609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" r:lo="rId16" r:qs="rId17" r:cs="rId18"/>
            </a:graphicData>
          </a:graphic>
        </p:graphicFrame>
        <p:grpSp>
          <p:nvGrpSpPr>
            <p:cNvPr id="101" name="Agrupar 100"/>
            <p:cNvGrpSpPr/>
            <p:nvPr/>
          </p:nvGrpSpPr>
          <p:grpSpPr>
            <a:xfrm>
              <a:off x="2355283" y="4520835"/>
              <a:ext cx="249495" cy="298880"/>
              <a:chOff x="3734754" y="2929357"/>
              <a:chExt cx="479310" cy="684000"/>
            </a:xfrm>
            <a:solidFill>
              <a:srgbClr val="FFFF00"/>
            </a:solidFill>
          </p:grpSpPr>
          <p:sp>
            <p:nvSpPr>
              <p:cNvPr id="112" name="Canto Dobrado 111"/>
              <p:cNvSpPr/>
              <p:nvPr/>
            </p:nvSpPr>
            <p:spPr>
              <a:xfrm rot="16200000">
                <a:off x="3632409" y="3031702"/>
                <a:ext cx="684000" cy="47931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13" name="Conector reto 112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4" name="Conector reto 113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5" name="Conector reto 114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2" name="Agrupar 101"/>
            <p:cNvGrpSpPr/>
            <p:nvPr/>
          </p:nvGrpSpPr>
          <p:grpSpPr>
            <a:xfrm>
              <a:off x="3967773" y="4525701"/>
              <a:ext cx="249495" cy="298880"/>
              <a:chOff x="3734754" y="2929357"/>
              <a:chExt cx="479310" cy="684000"/>
            </a:xfrm>
            <a:solidFill>
              <a:schemeClr val="bg1">
                <a:lumMod val="65000"/>
              </a:schemeClr>
            </a:solidFill>
          </p:grpSpPr>
          <p:sp>
            <p:nvSpPr>
              <p:cNvPr id="108" name="Canto Dobrado 107"/>
              <p:cNvSpPr/>
              <p:nvPr/>
            </p:nvSpPr>
            <p:spPr>
              <a:xfrm rot="16200000">
                <a:off x="3632409" y="3031702"/>
                <a:ext cx="684000" cy="47931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09" name="Conector reto 108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0" name="Conector reto 109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1" name="Conector reto 110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3" name="Agrupar 102"/>
            <p:cNvGrpSpPr/>
            <p:nvPr/>
          </p:nvGrpSpPr>
          <p:grpSpPr>
            <a:xfrm>
              <a:off x="8694815" y="4584855"/>
              <a:ext cx="249495" cy="298880"/>
              <a:chOff x="3734752" y="2929359"/>
              <a:chExt cx="479310" cy="684000"/>
            </a:xfrm>
            <a:solidFill>
              <a:srgbClr val="FFC000"/>
            </a:solidFill>
          </p:grpSpPr>
          <p:sp>
            <p:nvSpPr>
              <p:cNvPr id="104" name="Canto Dobrado 103"/>
              <p:cNvSpPr/>
              <p:nvPr/>
            </p:nvSpPr>
            <p:spPr>
              <a:xfrm rot="16200000">
                <a:off x="3632407" y="3031704"/>
                <a:ext cx="684000" cy="479310"/>
              </a:xfrm>
              <a:prstGeom prst="foldedCorner">
                <a:avLst>
                  <a:gd name="adj" fmla="val 32545"/>
                </a:avLst>
              </a:prstGeom>
              <a:grpFill/>
              <a:ln w="25400" cap="flat">
                <a:solidFill>
                  <a:srgbClr val="00D318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cxnSp>
            <p:nvCxnSpPr>
              <p:cNvPr id="105" name="Conector reto 104"/>
              <p:cNvCxnSpPr/>
              <p:nvPr/>
            </p:nvCxnSpPr>
            <p:spPr>
              <a:xfrm>
                <a:off x="3815380" y="31709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6" name="Conector reto 105"/>
              <p:cNvCxnSpPr/>
              <p:nvPr/>
            </p:nvCxnSpPr>
            <p:spPr>
              <a:xfrm>
                <a:off x="3815380" y="3323302"/>
                <a:ext cx="324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7" name="Conector reto 106"/>
              <p:cNvCxnSpPr/>
              <p:nvPr/>
            </p:nvCxnSpPr>
            <p:spPr>
              <a:xfrm>
                <a:off x="3815380" y="3456036"/>
                <a:ext cx="216000" cy="0"/>
              </a:xfrm>
              <a:prstGeom prst="line">
                <a:avLst/>
              </a:prstGeom>
              <a:grpFill/>
              <a:ln w="25400" cap="flat">
                <a:solidFill>
                  <a:srgbClr val="4D4D4D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119" name="Agrupar 118"/>
          <p:cNvGrpSpPr/>
          <p:nvPr/>
        </p:nvGrpSpPr>
        <p:grpSpPr>
          <a:xfrm rot="16200000">
            <a:off x="1760414" y="2275432"/>
            <a:ext cx="256379" cy="299915"/>
            <a:chOff x="6413377" y="679347"/>
            <a:chExt cx="256379" cy="299915"/>
          </a:xfrm>
        </p:grpSpPr>
        <p:sp>
          <p:nvSpPr>
            <p:cNvPr id="120" name="Seta para a Direita 119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1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25" name="Agrupar 124"/>
          <p:cNvGrpSpPr/>
          <p:nvPr/>
        </p:nvGrpSpPr>
        <p:grpSpPr>
          <a:xfrm rot="16200000" flipV="1">
            <a:off x="10188623" y="3412203"/>
            <a:ext cx="2412000" cy="326383"/>
            <a:chOff x="6413377" y="679347"/>
            <a:chExt cx="256379" cy="299915"/>
          </a:xfrm>
        </p:grpSpPr>
        <p:sp>
          <p:nvSpPr>
            <p:cNvPr id="126" name="Seta para a Direita 125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7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aphicFrame>
        <p:nvGraphicFramePr>
          <p:cNvPr id="128" name="Diagrama 127"/>
          <p:cNvGraphicFramePr/>
          <p:nvPr/>
        </p:nvGraphicFramePr>
        <p:xfrm>
          <a:off x="10703618" y="968448"/>
          <a:ext cx="1209838" cy="1353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92" name="CaixaDeTexto 91"/>
          <p:cNvSpPr txBox="1"/>
          <p:nvPr/>
        </p:nvSpPr>
        <p:spPr>
          <a:xfrm>
            <a:off x="197309" y="2831986"/>
            <a:ext cx="10656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Atacado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Oi: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Andre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Telles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00D318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>
                <a:solidFill>
                  <a:srgbClr val="00D318"/>
                </a:solidFill>
              </a:rPr>
              <a:t>Maria</a:t>
            </a:r>
            <a:r>
              <a:rPr lang="en-US" dirty="0">
                <a:solidFill>
                  <a:srgbClr val="00D318"/>
                </a:solidFill>
              </a:rPr>
              <a:t> Cecilia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D318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93" name="Agrupar 92"/>
          <p:cNvGrpSpPr/>
          <p:nvPr/>
        </p:nvGrpSpPr>
        <p:grpSpPr>
          <a:xfrm>
            <a:off x="1337069" y="2583075"/>
            <a:ext cx="1146164" cy="1280424"/>
            <a:chOff x="0" y="13121"/>
            <a:chExt cx="1146164" cy="1333738"/>
          </a:xfrm>
        </p:grpSpPr>
        <p:sp>
          <p:nvSpPr>
            <p:cNvPr id="94" name="Retângulo Arredondado 93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8" name="CaixaDeTexto 97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Calcula o valor de energia, conforme o contrato de </a:t>
              </a:r>
              <a:r>
                <a:rPr lang="pt-BR" sz="1200" kern="1200" dirty="0" err="1">
                  <a:solidFill>
                    <a:srgbClr val="FFFFFF"/>
                  </a:solidFill>
                </a:rPr>
                <a:t>compartilha-mento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6" name="Agrupar 115"/>
          <p:cNvGrpSpPr/>
          <p:nvPr/>
        </p:nvGrpSpPr>
        <p:grpSpPr>
          <a:xfrm rot="16200000">
            <a:off x="1762856" y="3885975"/>
            <a:ext cx="256379" cy="299915"/>
            <a:chOff x="6413377" y="679347"/>
            <a:chExt cx="256379" cy="299915"/>
          </a:xfrm>
        </p:grpSpPr>
        <p:sp>
          <p:nvSpPr>
            <p:cNvPr id="117" name="Seta para a Direita 116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8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22" name="Agrupar 121"/>
          <p:cNvGrpSpPr/>
          <p:nvPr/>
        </p:nvGrpSpPr>
        <p:grpSpPr>
          <a:xfrm>
            <a:off x="6081947" y="2585182"/>
            <a:ext cx="1146164" cy="1280424"/>
            <a:chOff x="0" y="13121"/>
            <a:chExt cx="1146164" cy="1333738"/>
          </a:xfrm>
        </p:grpSpPr>
        <p:sp>
          <p:nvSpPr>
            <p:cNvPr id="123" name="Retângulo Arredondado 122"/>
            <p:cNvSpPr/>
            <p:nvPr/>
          </p:nvSpPr>
          <p:spPr>
            <a:xfrm>
              <a:off x="0" y="13121"/>
              <a:ext cx="1146164" cy="133373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4" name="CaixaDeTexto 123"/>
            <p:cNvSpPr txBox="1"/>
            <p:nvPr/>
          </p:nvSpPr>
          <p:spPr>
            <a:xfrm>
              <a:off x="33570" y="46691"/>
              <a:ext cx="1079024" cy="1266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200" kern="1200" dirty="0">
                  <a:solidFill>
                    <a:srgbClr val="FFFFFF"/>
                  </a:solidFill>
                </a:rPr>
                <a:t>Apurar valor calculado x validado e indicar valor da nota de débito para energia</a:t>
              </a:r>
              <a:endParaRPr lang="pt-BR" sz="1100" kern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3" name="Agrupar 132"/>
          <p:cNvGrpSpPr/>
          <p:nvPr/>
        </p:nvGrpSpPr>
        <p:grpSpPr>
          <a:xfrm rot="5400000" flipV="1">
            <a:off x="6554413" y="2293683"/>
            <a:ext cx="256379" cy="299915"/>
            <a:chOff x="6413377" y="679347"/>
            <a:chExt cx="256379" cy="299915"/>
          </a:xfrm>
        </p:grpSpPr>
        <p:sp>
          <p:nvSpPr>
            <p:cNvPr id="134" name="Seta para a Direita 133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5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grpSp>
        <p:nvGrpSpPr>
          <p:cNvPr id="137" name="Agrupar 136"/>
          <p:cNvGrpSpPr/>
          <p:nvPr/>
        </p:nvGrpSpPr>
        <p:grpSpPr>
          <a:xfrm rot="5400000" flipV="1">
            <a:off x="6556855" y="3874730"/>
            <a:ext cx="256379" cy="299915"/>
            <a:chOff x="6413377" y="679347"/>
            <a:chExt cx="256379" cy="299915"/>
          </a:xfrm>
        </p:grpSpPr>
        <p:sp>
          <p:nvSpPr>
            <p:cNvPr id="138" name="Seta para a Direita 137"/>
            <p:cNvSpPr/>
            <p:nvPr/>
          </p:nvSpPr>
          <p:spPr>
            <a:xfrm>
              <a:off x="6413377" y="679347"/>
              <a:ext cx="256379" cy="29991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9" name="Seta para a Direita 4"/>
            <p:cNvSpPr txBox="1"/>
            <p:nvPr/>
          </p:nvSpPr>
          <p:spPr>
            <a:xfrm>
              <a:off x="6413377" y="739330"/>
              <a:ext cx="179465" cy="179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1300" kern="1200"/>
            </a:p>
          </p:txBody>
        </p:sp>
      </p:grpSp>
      <p:sp>
        <p:nvSpPr>
          <p:cNvPr id="140" name="CaixaDeTexto 139"/>
          <p:cNvSpPr txBox="1"/>
          <p:nvPr/>
        </p:nvSpPr>
        <p:spPr>
          <a:xfrm flipH="1">
            <a:off x="126621" y="5648303"/>
            <a:ext cx="12445241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Nota: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1: </a:t>
            </a:r>
            <a:r>
              <a:rPr lang="en-US" sz="1100" dirty="0" err="1">
                <a:solidFill>
                  <a:srgbClr val="4D4D4D"/>
                </a:solidFill>
              </a:rPr>
              <a:t>Lemvig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emite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base fee, solo 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dos </a:t>
            </a:r>
            <a:r>
              <a:rPr lang="en-US" sz="1100" dirty="0" err="1">
                <a:solidFill>
                  <a:srgbClr val="4D4D4D"/>
                </a:solidFill>
              </a:rPr>
              <a:t>valores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validados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pelas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Operadoras</a:t>
            </a:r>
            <a:r>
              <a:rPr lang="en-US" sz="1100" dirty="0">
                <a:solidFill>
                  <a:srgbClr val="4D4D4D"/>
                </a:solidFill>
              </a:rPr>
              <a:t>. </a:t>
            </a:r>
            <a:r>
              <a:rPr lang="en-US" sz="1100" dirty="0" err="1">
                <a:solidFill>
                  <a:srgbClr val="4D4D4D"/>
                </a:solidFill>
              </a:rPr>
              <a:t>Exceto</a:t>
            </a:r>
            <a:r>
              <a:rPr lang="en-US" sz="1100" dirty="0">
                <a:solidFill>
                  <a:srgbClr val="4D4D4D"/>
                </a:solidFill>
              </a:rPr>
              <a:t>, </a:t>
            </a:r>
            <a:r>
              <a:rPr lang="en-US" sz="1100" dirty="0" err="1">
                <a:solidFill>
                  <a:srgbClr val="4D4D4D"/>
                </a:solidFill>
              </a:rPr>
              <a:t>casos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que </a:t>
            </a:r>
            <a:r>
              <a:rPr lang="en-US" sz="1100" dirty="0" err="1">
                <a:solidFill>
                  <a:srgbClr val="4D4D4D"/>
                </a:solidFill>
              </a:rPr>
              <a:t>operadora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não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realiza</a:t>
            </a:r>
            <a:r>
              <a:rPr lang="en-US" sz="1100" dirty="0">
                <a:solidFill>
                  <a:srgbClr val="4D4D4D"/>
                </a:solidFill>
              </a:rPr>
              <a:t> a </a:t>
            </a:r>
            <a:r>
              <a:rPr lang="en-US" sz="1100" dirty="0" err="1">
                <a:solidFill>
                  <a:srgbClr val="4D4D4D"/>
                </a:solidFill>
              </a:rPr>
              <a:t>validação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dentro</a:t>
            </a:r>
            <a:r>
              <a:rPr lang="en-US" sz="1100" dirty="0">
                <a:solidFill>
                  <a:srgbClr val="4D4D4D"/>
                </a:solidFill>
              </a:rPr>
              <a:t> do SLA </a:t>
            </a:r>
            <a:r>
              <a:rPr lang="en-US" sz="1100" dirty="0" err="1">
                <a:solidFill>
                  <a:srgbClr val="4D4D4D"/>
                </a:solidFill>
              </a:rPr>
              <a:t>acordado</a:t>
            </a:r>
            <a:r>
              <a:rPr lang="en-US" sz="1100" dirty="0">
                <a:solidFill>
                  <a:srgbClr val="4D4D4D"/>
                </a:solidFill>
              </a:rPr>
              <a:t> e </a:t>
            </a:r>
            <a:r>
              <a:rPr lang="en-US" sz="1100" dirty="0" err="1">
                <a:solidFill>
                  <a:srgbClr val="4D4D4D"/>
                </a:solidFill>
              </a:rPr>
              <a:t>caso</a:t>
            </a:r>
            <a:r>
              <a:rPr lang="en-US" sz="1100" dirty="0">
                <a:solidFill>
                  <a:srgbClr val="4D4D4D"/>
                </a:solidFill>
              </a:rPr>
              <a:t> da Tim.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4D4D4D"/>
                </a:solidFill>
              </a:rPr>
              <a:t>2: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</a:t>
            </a:r>
            <a:r>
              <a:rPr lang="en-US" sz="1100" dirty="0" err="1">
                <a:solidFill>
                  <a:srgbClr val="4D4D4D"/>
                </a:solidFill>
              </a:rPr>
              <a:t>energia</a:t>
            </a:r>
            <a:r>
              <a:rPr lang="en-US" sz="1100" dirty="0">
                <a:solidFill>
                  <a:srgbClr val="4D4D4D"/>
                </a:solidFill>
              </a:rPr>
              <a:t> da Tim é </a:t>
            </a:r>
            <a:r>
              <a:rPr lang="en-US" sz="1100" dirty="0" err="1">
                <a:solidFill>
                  <a:srgbClr val="4D4D4D"/>
                </a:solidFill>
              </a:rPr>
              <a:t>em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cima</a:t>
            </a:r>
            <a:r>
              <a:rPr lang="en-US" sz="1100" dirty="0">
                <a:solidFill>
                  <a:srgbClr val="4D4D4D"/>
                </a:solidFill>
              </a:rPr>
              <a:t> do valor total </a:t>
            </a:r>
            <a:r>
              <a:rPr lang="en-US" sz="1100" dirty="0" err="1">
                <a:solidFill>
                  <a:srgbClr val="4D4D4D"/>
                </a:solidFill>
              </a:rPr>
              <a:t>bruto</a:t>
            </a:r>
            <a:r>
              <a:rPr lang="en-US" sz="1100" dirty="0">
                <a:solidFill>
                  <a:srgbClr val="4D4D4D"/>
                </a:solidFill>
              </a:rPr>
              <a:t> e é </a:t>
            </a:r>
            <a:r>
              <a:rPr lang="en-US" sz="1100" dirty="0" err="1">
                <a:solidFill>
                  <a:srgbClr val="4D4D4D"/>
                </a:solidFill>
              </a:rPr>
              <a:t>realizado</a:t>
            </a:r>
            <a:r>
              <a:rPr lang="en-US" sz="1100" dirty="0">
                <a:solidFill>
                  <a:srgbClr val="4D4D4D"/>
                </a:solidFill>
              </a:rPr>
              <a:t> </a:t>
            </a:r>
            <a:r>
              <a:rPr lang="en-US" sz="1100" dirty="0" err="1">
                <a:solidFill>
                  <a:srgbClr val="4D4D4D"/>
                </a:solidFill>
              </a:rPr>
              <a:t>separado</a:t>
            </a:r>
            <a:r>
              <a:rPr lang="en-US" sz="1100" dirty="0">
                <a:solidFill>
                  <a:srgbClr val="4D4D4D"/>
                </a:solidFill>
              </a:rPr>
              <a:t> do </a:t>
            </a:r>
            <a:r>
              <a:rPr lang="en-US" sz="1100" dirty="0" err="1">
                <a:solidFill>
                  <a:srgbClr val="4D4D4D"/>
                </a:solidFill>
              </a:rPr>
              <a:t>faturamento</a:t>
            </a:r>
            <a:r>
              <a:rPr lang="en-US" sz="1100" dirty="0">
                <a:solidFill>
                  <a:srgbClr val="4D4D4D"/>
                </a:solidFill>
              </a:rPr>
              <a:t> de infra/solo, </a:t>
            </a:r>
            <a:r>
              <a:rPr lang="en-US" sz="1100" dirty="0" err="1">
                <a:solidFill>
                  <a:srgbClr val="4D4D4D"/>
                </a:solidFill>
              </a:rPr>
              <a:t>decorrente</a:t>
            </a:r>
            <a:r>
              <a:rPr lang="en-US" sz="1100" dirty="0">
                <a:solidFill>
                  <a:srgbClr val="4D4D4D"/>
                </a:solidFill>
              </a:rPr>
              <a:t> da </a:t>
            </a:r>
            <a:r>
              <a:rPr lang="en-US" sz="1100" dirty="0" err="1">
                <a:solidFill>
                  <a:srgbClr val="4D4D4D"/>
                </a:solidFill>
              </a:rPr>
              <a:t>discussão</a:t>
            </a:r>
            <a:r>
              <a:rPr lang="en-US" sz="1100" dirty="0">
                <a:solidFill>
                  <a:srgbClr val="4D4D4D"/>
                </a:solidFill>
              </a:rPr>
              <a:t> judicial.</a:t>
            </a:r>
            <a:endParaRPr lang="pt-BR" sz="1100" dirty="0">
              <a:solidFill>
                <a:srgbClr val="4D4D4D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3: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Nota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débito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energia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emitida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para a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Lemvig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só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considera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pelas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operadoras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.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Valores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não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validados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serão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100" b="0" i="0" u="none" strike="noStrike" cap="none" spc="0" normalizeH="0" dirty="0" err="1">
                <a:ln>
                  <a:noFill/>
                </a:ln>
                <a:solidFill>
                  <a:srgbClr val="00D318"/>
                </a:solidFill>
                <a:effectLst/>
                <a:uFillTx/>
                <a:sym typeface="Simplon BP Regular"/>
              </a:rPr>
              <a:t>ônus</a:t>
            </a:r>
            <a:r>
              <a:rPr kumimoji="0" lang="en-US" sz="1100" b="0" i="0" u="none" strike="noStrike" cap="none" spc="0" normalizeH="0" dirty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da Oi.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grpSp>
        <p:nvGrpSpPr>
          <p:cNvPr id="22" name="Agrupar 21"/>
          <p:cNvGrpSpPr/>
          <p:nvPr/>
        </p:nvGrpSpPr>
        <p:grpSpPr>
          <a:xfrm>
            <a:off x="9974107" y="164999"/>
            <a:ext cx="1224116" cy="302955"/>
            <a:chOff x="9974107" y="164999"/>
            <a:chExt cx="1224116" cy="302955"/>
          </a:xfrm>
        </p:grpSpPr>
        <p:sp>
          <p:nvSpPr>
            <p:cNvPr id="19" name="CaixaDeTexto 18"/>
            <p:cNvSpPr txBox="1"/>
            <p:nvPr/>
          </p:nvSpPr>
          <p:spPr>
            <a:xfrm>
              <a:off x="9974107" y="219240"/>
              <a:ext cx="1224116" cy="215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SIGN-OFF</a:t>
              </a:r>
            </a:p>
          </p:txBody>
        </p:sp>
        <p:cxnSp>
          <p:nvCxnSpPr>
            <p:cNvPr id="21" name="Conector reto 20"/>
            <p:cNvCxnSpPr/>
            <p:nvPr/>
          </p:nvCxnSpPr>
          <p:spPr>
            <a:xfrm>
              <a:off x="10087898" y="467954"/>
              <a:ext cx="962842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7" name="Conector reto 206"/>
            <p:cNvCxnSpPr/>
            <p:nvPr/>
          </p:nvCxnSpPr>
          <p:spPr>
            <a:xfrm>
              <a:off x="10104744" y="164999"/>
              <a:ext cx="962842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139585711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XwNI1XVqqv98OXIPcvZ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7D16E4E8EA8346889545BB3D9D1AF4" ma:contentTypeVersion="10" ma:contentTypeDescription="Crie um novo documento." ma:contentTypeScope="" ma:versionID="02f80721d8bc6b91e964b89ea03f1b2a">
  <xsd:schema xmlns:xsd="http://www.w3.org/2001/XMLSchema" xmlns:xs="http://www.w3.org/2001/XMLSchema" xmlns:p="http://schemas.microsoft.com/office/2006/metadata/properties" xmlns:ns2="b201cfed-d83b-4da9-bdf2-2e22e6d9296c" xmlns:ns3="a8be22c7-e23c-4101-b846-ca6143f2df7c" targetNamespace="http://schemas.microsoft.com/office/2006/metadata/properties" ma:root="true" ma:fieldsID="24de5a8316e1b38bf29957ca91d46fb9" ns2:_="" ns3:_="">
    <xsd:import namespace="b201cfed-d83b-4da9-bdf2-2e22e6d9296c"/>
    <xsd:import namespace="a8be22c7-e23c-4101-b846-ca6143f2df7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01cfed-d83b-4da9-bdf2-2e22e6d9296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e22c7-e23c-4101-b846-ca6143f2d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AD3463-7698-4F81-BAEB-2B2456A95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01cfed-d83b-4da9-bdf2-2e22e6d9296c"/>
    <ds:schemaRef ds:uri="a8be22c7-e23c-4101-b846-ca6143f2df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B9093C-052E-4A0D-9F7E-80AE13FD2621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a8be22c7-e23c-4101-b846-ca6143f2df7c"/>
    <ds:schemaRef ds:uri="b201cfed-d83b-4da9-bdf2-2e22e6d9296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17868</TotalTime>
  <Words>6119</Words>
  <Application>Microsoft Macintosh PowerPoint</Application>
  <PresentationFormat>Widescreen</PresentationFormat>
  <Paragraphs>1196</Paragraphs>
  <Slides>50</Slides>
  <Notes>0</Notes>
  <HiddenSlides>6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Arial</vt:lpstr>
      <vt:lpstr>Calibri</vt:lpstr>
      <vt:lpstr>Garamond</vt:lpstr>
      <vt:lpstr>Helvetica</vt:lpstr>
      <vt:lpstr>Roboto</vt:lpstr>
      <vt:lpstr>Simplon BP</vt:lpstr>
      <vt:lpstr>Simplon BP Bold</vt:lpstr>
      <vt:lpstr>Simplon BP Regular</vt:lpstr>
      <vt:lpstr>Simplon Oi Headline</vt:lpstr>
      <vt:lpstr>2_Tema do Office</vt:lpstr>
      <vt:lpstr>think-cell Slide</vt:lpstr>
      <vt:lpstr>Venus II</vt:lpstr>
      <vt:lpstr>Sumário</vt:lpstr>
      <vt:lpstr>Resumo dos processos</vt:lpstr>
      <vt:lpstr>Resumo dos processos</vt:lpstr>
      <vt:lpstr>     Pontos      Definidos</vt:lpstr>
      <vt:lpstr>     Pontos      a resolver</vt:lpstr>
      <vt:lpstr>Aluguel das Torres </vt:lpstr>
      <vt:lpstr>      Receita de Base fee das 8.000 Torres (Aluguel das Torres da Lemvig - Pagamento Oi)</vt:lpstr>
      <vt:lpstr>      Fluxo de Pagamento Oi para Lemvig com uso de valores da conta vinculada</vt:lpstr>
      <vt:lpstr>Fluxo financeiro para tratamento de valores vinculados acordado com Anatel</vt:lpstr>
      <vt:lpstr>Papéis e Responsabilidades – Processo Financeiro</vt:lpstr>
      <vt:lpstr>Despacho Anatel</vt:lpstr>
      <vt:lpstr>Premissa de uso dos recursos da conta corrente vinculada</vt:lpstr>
      <vt:lpstr>PowerPoint Presentation</vt:lpstr>
      <vt:lpstr>Receita Atacado Lemvig</vt:lpstr>
      <vt:lpstr>      Receita dos contratos de compartilhamento</vt:lpstr>
      <vt:lpstr>        Contestação de Valores (Não Validados) – Energia e Solo Oi </vt:lpstr>
      <vt:lpstr>        Contestação de Valores (Não Validados) – Infra e Solo Terceiros</vt:lpstr>
      <vt:lpstr>PowerPoint Presentation</vt:lpstr>
      <vt:lpstr>Pass through de Solo </vt:lpstr>
      <vt:lpstr>      Despesa de aluguel de solo de Terceiros</vt:lpstr>
      <vt:lpstr>       Despesa de aluguel de solo Oi com multilocatários</vt:lpstr>
      <vt:lpstr>        Receita de Aluguel de Solo dos contratos de compartilhamento</vt:lpstr>
      <vt:lpstr>        Receita de Rateio de Solo </vt:lpstr>
      <vt:lpstr>PowerPoint Presentation</vt:lpstr>
      <vt:lpstr>Pass through de Energia</vt:lpstr>
      <vt:lpstr>        Repasse da Receita de Energia da Lemvig para a Oi</vt:lpstr>
      <vt:lpstr>        Pagamento do Repasse de Energia pela Lemvig para a Oi</vt:lpstr>
      <vt:lpstr>PowerPoint Presentation</vt:lpstr>
      <vt:lpstr>Contas a Receber</vt:lpstr>
      <vt:lpstr>      Conciliação da receita – Valores Faturados x Valores Recebidos</vt:lpstr>
      <vt:lpstr>Arquivos dos processos</vt:lpstr>
      <vt:lpstr>Descritivo dos documentos usados nos fluxos </vt:lpstr>
      <vt:lpstr>Descritivo dos documentos usados nos fluxos </vt:lpstr>
      <vt:lpstr>Exemplo do Arquivo: Anexo 2 MLA</vt:lpstr>
      <vt:lpstr>Exemplo do Arquivo: Input_VenusII_SB1_AAAAMMDD</vt:lpstr>
      <vt:lpstr>Exemplo do Arquivo: Nota fiscal emitida pelo aluguel das Torres por UF </vt:lpstr>
      <vt:lpstr>Exemplo do Arquivo: Pagamento_ContaVinculada_AAAAMMDD</vt:lpstr>
      <vt:lpstr>Exemplo do Arquivo: Planilha DEINF de cada contrato/ operadora</vt:lpstr>
      <vt:lpstr>Exemplo do Arquivo: Planilha DEINF validada de cada contrato/operadora </vt:lpstr>
      <vt:lpstr>Exemplo do Arquivo: Planilha Engrenagem</vt:lpstr>
      <vt:lpstr>Exemplo do Arquivo: Faturamento consolidado dos contratos das operadoras por UF </vt:lpstr>
      <vt:lpstr>Exemplo do Arquivo: Nota fiscal emitida para cada contrato da operadora por UF  </vt:lpstr>
      <vt:lpstr>Exemplo do Arquivo: DEINF de Energia</vt:lpstr>
      <vt:lpstr>Exemplo do Arquivo: Nota de débito de repasse de energia</vt:lpstr>
      <vt:lpstr>PowerPoint Presentation</vt:lpstr>
      <vt:lpstr>PowerPoint Presentation</vt:lpstr>
      <vt:lpstr>       fluxo de energia | Discutido em 15.03.2023</vt:lpstr>
      <vt:lpstr>       fluxo de energia | Discutido em 15.03.2023</vt:lpstr>
      <vt:lpstr>       fluxo de energia | Ajustado após reunião em 15.03.2023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Alessandro Barbosa</cp:lastModifiedBy>
  <cp:revision>371</cp:revision>
  <dcterms:modified xsi:type="dcterms:W3CDTF">2023-03-29T18:48:31Z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0x010100C47D16E4E8EA8346889545BB3D9D1AF4</vt:lpwstr>
  </property>
</Properties>
</file>